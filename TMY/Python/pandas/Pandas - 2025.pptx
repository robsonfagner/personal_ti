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y="6858000" cx="12192000"/>
  <p:notesSz cx="7103725" cy="10234275"/>
  <p:embeddedFontLst>
    <p:embeddedFont>
      <p:font typeface="Montserrat SemiBold"/>
      <p:regular r:id="rId27"/>
      <p:bold r:id="rId28"/>
      <p:italic r:id="rId29"/>
      <p:boldItalic r:id="rId30"/>
    </p:embeddedFont>
    <p:embeddedFont>
      <p:font typeface="Montserrat"/>
      <p:regular r:id="rId31"/>
      <p:bold r:id="rId32"/>
      <p:italic r:id="rId33"/>
      <p:boldItalic r:id="rId34"/>
    </p:embeddedFont>
    <p:embeddedFont>
      <p:font typeface="Montserrat Medium"/>
      <p:regular r:id="rId35"/>
      <p:bold r:id="rId36"/>
      <p:italic r:id="rId37"/>
      <p:boldItalic r:id="rId38"/>
    </p:embeddedFont>
    <p:embeddedFont>
      <p:font typeface="Helvetica Neue"/>
      <p:regular r:id="rId39"/>
      <p:bold r:id="rId40"/>
      <p:italic r:id="rId41"/>
      <p:boldItalic r:id="rId42"/>
    </p:embeddedFont>
    <p:embeddedFont>
      <p:font typeface="Arial Black"/>
      <p:regular r:id="rId4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3758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74321DB-2B60-4C94-B504-84184C57A985}">
  <a:tblStyle styleId="{C74321DB-2B60-4C94-B504-84184C57A98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758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HelveticaNeue-bold.fntdata"/><Relationship Id="rId20" Type="http://schemas.openxmlformats.org/officeDocument/2006/relationships/slide" Target="slides/slide14.xml"/><Relationship Id="rId42" Type="http://schemas.openxmlformats.org/officeDocument/2006/relationships/font" Target="fonts/HelveticaNeue-boldItalic.fntdata"/><Relationship Id="rId41" Type="http://schemas.openxmlformats.org/officeDocument/2006/relationships/font" Target="fonts/HelveticaNeue-italic.fntdata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43" Type="http://schemas.openxmlformats.org/officeDocument/2006/relationships/font" Target="fonts/ArialBlack-regular.fntdata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font" Target="fonts/MontserratSemiBold-bold.fntdata"/><Relationship Id="rId27" Type="http://schemas.openxmlformats.org/officeDocument/2006/relationships/font" Target="fonts/MontserratSemiBold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MontserratSemiBold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Montserrat-regular.fntdata"/><Relationship Id="rId30" Type="http://schemas.openxmlformats.org/officeDocument/2006/relationships/font" Target="fonts/MontserratSemiBold-boldItalic.fntdata"/><Relationship Id="rId11" Type="http://schemas.openxmlformats.org/officeDocument/2006/relationships/slide" Target="slides/slide5.xml"/><Relationship Id="rId33" Type="http://schemas.openxmlformats.org/officeDocument/2006/relationships/font" Target="fonts/Montserrat-italic.fntdata"/><Relationship Id="rId10" Type="http://schemas.openxmlformats.org/officeDocument/2006/relationships/slide" Target="slides/slide4.xml"/><Relationship Id="rId32" Type="http://schemas.openxmlformats.org/officeDocument/2006/relationships/font" Target="fonts/Montserrat-bold.fntdata"/><Relationship Id="rId13" Type="http://schemas.openxmlformats.org/officeDocument/2006/relationships/slide" Target="slides/slide7.xml"/><Relationship Id="rId35" Type="http://schemas.openxmlformats.org/officeDocument/2006/relationships/font" Target="fonts/MontserratMedium-regular.fntdata"/><Relationship Id="rId12" Type="http://schemas.openxmlformats.org/officeDocument/2006/relationships/slide" Target="slides/slide6.xml"/><Relationship Id="rId34" Type="http://schemas.openxmlformats.org/officeDocument/2006/relationships/font" Target="fonts/Montserrat-boldItalic.fntdata"/><Relationship Id="rId15" Type="http://schemas.openxmlformats.org/officeDocument/2006/relationships/slide" Target="slides/slide9.xml"/><Relationship Id="rId37" Type="http://schemas.openxmlformats.org/officeDocument/2006/relationships/font" Target="fonts/MontserratMedium-italic.fntdata"/><Relationship Id="rId14" Type="http://schemas.openxmlformats.org/officeDocument/2006/relationships/slide" Target="slides/slide8.xml"/><Relationship Id="rId36" Type="http://schemas.openxmlformats.org/officeDocument/2006/relationships/font" Target="fonts/MontserratMedium-bold.fntdata"/><Relationship Id="rId17" Type="http://schemas.openxmlformats.org/officeDocument/2006/relationships/slide" Target="slides/slide11.xml"/><Relationship Id="rId39" Type="http://schemas.openxmlformats.org/officeDocument/2006/relationships/font" Target="fonts/HelveticaNeue-regular.fntdata"/><Relationship Id="rId16" Type="http://schemas.openxmlformats.org/officeDocument/2006/relationships/slide" Target="slides/slide10.xml"/><Relationship Id="rId38" Type="http://schemas.openxmlformats.org/officeDocument/2006/relationships/font" Target="fonts/MontserratMedium-boldItalic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78163" cy="512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024313" y="0"/>
            <a:ext cx="3078162" cy="512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482600" y="1279525"/>
            <a:ext cx="6140450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721850"/>
            <a:ext cx="3078163" cy="512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:notes"/>
          <p:cNvSpPr txBox="1"/>
          <p:nvPr>
            <p:ph idx="1" type="body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4" name="Google Shape;54;p1:notes"/>
          <p:cNvSpPr/>
          <p:nvPr>
            <p:ph idx="2" type="sldImg"/>
          </p:nvPr>
        </p:nvSpPr>
        <p:spPr>
          <a:xfrm>
            <a:off x="482600" y="1279525"/>
            <a:ext cx="6140450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2d8abb6aada_3_0:notes"/>
          <p:cNvSpPr/>
          <p:nvPr>
            <p:ph idx="2" type="sldImg"/>
          </p:nvPr>
        </p:nvSpPr>
        <p:spPr>
          <a:xfrm>
            <a:off x="394962" y="767571"/>
            <a:ext cx="6314400" cy="3837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2d8abb6aada_3_0:notes"/>
          <p:cNvSpPr txBox="1"/>
          <p:nvPr>
            <p:ph idx="1" type="body"/>
          </p:nvPr>
        </p:nvSpPr>
        <p:spPr>
          <a:xfrm>
            <a:off x="710372" y="4861281"/>
            <a:ext cx="5682900" cy="4605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d8abb6aada_3_69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0" name="Google Shape;90;g2d8abb6aada_3_69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2dd3397a8d0_0_0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g2dd3397a8d0_0_0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0" name="Google Shape;140;g2dd3397a8d0_0_0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1e4460966a3_0_227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g1e4460966a3_0_227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8" name="Google Shape;148;g1e4460966a3_0_227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2d8f332ff29_0_0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g2d8f332ff29_0_0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6" name="Google Shape;156;g2d8f332ff29_0_0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2d8f332ff29_0_54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g2d8f332ff29_0_54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8" name="Google Shape;168;g2d8f332ff29_0_54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2e3c335fa45_0_0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" name="Google Shape;175;g2e3c335fa45_0_0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6" name="Google Shape;176;g2e3c335fa45_0_0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2dd3397a8d0_0_73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3" name="Google Shape;183;g2dd3397a8d0_0_73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4" name="Google Shape;184;g2dd3397a8d0_0_73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2dd3397a8d0_0_50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2dd3397a8d0_0_50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g2dd3397a8d0_0_50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2dd3397a8d0_0_63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2dd3397a8d0_0_63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g2dd3397a8d0_0_63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2dd3397a8d0_0_83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2dd3397a8d0_0_83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g2dd3397a8d0_0_83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2dd3397a8d0_0_95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2dd3397a8d0_0_95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g2dd3397a8d0_0_95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2dd3397a8d0_0_105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2dd3397a8d0_0_105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g2dd3397a8d0_0_105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2e3c335fa45_0_8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2e3c335fa45_0_8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g2e3c335fa45_0_8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2e3c335fa45_0_22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2e3c335fa45_0_22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g2e3c335fa45_0_22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2e3c335fa45_0_29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2e3c335fa45_0_29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g2e3c335fa45_0_29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40fd22a904_1_0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340fd22a904_1_0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g340fd22a904_1_0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5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imSun"/>
              <a:buNone/>
            </a:pPr>
            <a:r>
              <a:t/>
            </a:r>
            <a:endParaRPr b="0" i="0" sz="2200" u="none" cap="none" strike="noStrike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71" name="Google Shape;271;p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1e4460966a3_0_24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1" name="Google Shape;291;g1e4460966a3_0_24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2" name="Google Shape;292;g1e4460966a3_0_24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mw-slides-bg-Artboard 1" id="13" name="Google Shape;13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9525" y="-5715"/>
            <a:ext cx="12211050" cy="68687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">
  <p:cSld name="Custom Layout_1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YT-capa-canal-fundo-v02" id="15" name="Google Shape;15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7780" y="-9390"/>
            <a:ext cx="12227563" cy="6876781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80000"/>
              </a:srgbClr>
            </a:outerShdw>
          </a:effectLst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YT-capa-canal-fundo-v02" id="17" name="Google Shape;17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7780" y="-9390"/>
            <a:ext cx="12227563" cy="6876781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80000"/>
              </a:srgbClr>
            </a:outerShdw>
          </a:effectLst>
        </p:spPr>
      </p:pic>
      <p:pic>
        <p:nvPicPr>
          <p:cNvPr descr="teomewhy-logo-interrogacao-v01_Prancheta 1" id="18" name="Google Shape;1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4130" y="6285865"/>
            <a:ext cx="686435" cy="584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505576" y="6171609"/>
            <a:ext cx="686425" cy="6863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mw-slides-bg-v2-Artboard 2 copy" id="21" name="Google Shape;21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24130" y="-12065"/>
            <a:ext cx="12240895" cy="68821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eomewhy-logo-interrogacao-v01_Prancheta 1" id="22" name="Google Shape;2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4130" y="6285865"/>
            <a:ext cx="686435" cy="584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3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505576" y="6171609"/>
            <a:ext cx="686425" cy="6863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Section Header" type="secHead">
  <p:cSld name="SECTION_HEADER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YT-capa-canal-fundo-v02" id="25" name="Google Shape;25;p6"/>
          <p:cNvPicPr preferRelativeResize="0"/>
          <p:nvPr/>
        </p:nvPicPr>
        <p:blipFill rotWithShape="1">
          <a:blip r:embed="rId2">
            <a:alphaModFix/>
          </a:blip>
          <a:srcRect b="0" l="49418" r="0" t="42986"/>
          <a:stretch/>
        </p:blipFill>
        <p:spPr>
          <a:xfrm>
            <a:off x="-26670" y="-10160"/>
            <a:ext cx="12244705" cy="68789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Section Header">
  <p:cSld name="2_Section Header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YT-capa-canal-fundo-v02" id="27" name="Google Shape;27;p7"/>
          <p:cNvPicPr preferRelativeResize="0"/>
          <p:nvPr/>
        </p:nvPicPr>
        <p:blipFill rotWithShape="1">
          <a:blip r:embed="rId2">
            <a:alphaModFix/>
          </a:blip>
          <a:srcRect b="17299" l="0" r="37672" t="19023"/>
          <a:stretch/>
        </p:blipFill>
        <p:spPr>
          <a:xfrm>
            <a:off x="-10160" y="-78740"/>
            <a:ext cx="12202160" cy="70123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ítulo e conteúdo">
  <p:cSld name="2_Título e conteúdo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mw-slides-bg-v2-Artboard 2" id="31" name="Google Shape;31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33655" y="-17145"/>
            <a:ext cx="12259310" cy="689229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eomewhy-logo-interrogacao-v01_Prancheta 1" id="32" name="Google Shape;32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4130" y="6285865"/>
            <a:ext cx="686435" cy="584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" name="Google Shape;33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505576" y="6171609"/>
            <a:ext cx="686425" cy="6863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ustom Layout">
  <p:cSld name="1_Custom Layou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YT-capa-canal-fundo-v02" id="35" name="Google Shape;35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7780" y="-10160"/>
            <a:ext cx="12227560" cy="68783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 1">
  <p:cSld name="TITLE_1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2"/>
          <p:cNvSpPr txBox="1"/>
          <p:nvPr>
            <p:ph type="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34275" spcFirstLastPara="1" rIns="342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Calibri"/>
              <a:buNone/>
              <a:defRPr sz="6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9pPr>
          </a:lstStyle>
          <a:p/>
        </p:txBody>
      </p:sp>
      <p:sp>
        <p:nvSpPr>
          <p:cNvPr id="38" name="Google Shape;38;p12"/>
          <p:cNvSpPr txBox="1"/>
          <p:nvPr>
            <p:ph idx="1" type="body"/>
          </p:nvPr>
        </p:nvSpPr>
        <p:spPr>
          <a:xfrm>
            <a:off x="1524000" y="3602037"/>
            <a:ext cx="9144000" cy="16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5136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2400"/>
            </a:lvl1pPr>
            <a:lvl2pPr indent="-228600" lvl="1" marL="914400" algn="ctr">
              <a:lnSpc>
                <a:spcPct val="90000"/>
              </a:lnSpc>
              <a:spcBef>
                <a:spcPts val="5136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2400"/>
            </a:lvl2pPr>
            <a:lvl3pPr indent="-228600" lvl="2" marL="1371600" algn="ctr">
              <a:lnSpc>
                <a:spcPct val="90000"/>
              </a:lnSpc>
              <a:spcBef>
                <a:spcPts val="5136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2400"/>
            </a:lvl3pPr>
            <a:lvl4pPr indent="-228600" lvl="3" marL="1828800" algn="ctr">
              <a:lnSpc>
                <a:spcPct val="90000"/>
              </a:lnSpc>
              <a:spcBef>
                <a:spcPts val="5136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2400"/>
            </a:lvl4pPr>
            <a:lvl5pPr indent="-228600" lvl="4" marL="2286000" algn="ctr">
              <a:lnSpc>
                <a:spcPct val="90000"/>
              </a:lnSpc>
              <a:spcBef>
                <a:spcPts val="5136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2400"/>
            </a:lvl5pPr>
            <a:lvl6pPr indent="-317500" lvl="5" marL="2743200" algn="l">
              <a:lnSpc>
                <a:spcPct val="90000"/>
              </a:lnSpc>
              <a:spcBef>
                <a:spcPts val="3852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3852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3852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3852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9" name="Google Shape;39;p12"/>
          <p:cNvSpPr txBox="1"/>
          <p:nvPr>
            <p:ph idx="12" type="sldNum"/>
          </p:nvPr>
        </p:nvSpPr>
        <p:spPr>
          <a:xfrm>
            <a:off x="11089817" y="6404292"/>
            <a:ext cx="264000" cy="2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>
  <p:cSld name="OBJECT_1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3"/>
          <p:cNvSpPr txBox="1"/>
          <p:nvPr>
            <p:ph type="title"/>
          </p:nvPr>
        </p:nvSpPr>
        <p:spPr>
          <a:xfrm>
            <a:off x="1484311" y="685800"/>
            <a:ext cx="10018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3"/>
          <p:cNvSpPr txBox="1"/>
          <p:nvPr>
            <p:ph idx="1" type="body"/>
          </p:nvPr>
        </p:nvSpPr>
        <p:spPr>
          <a:xfrm>
            <a:off x="1484310" y="2666999"/>
            <a:ext cx="10018800" cy="312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indent="-394335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5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5" lvl="8" marL="411480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43" name="Google Shape;43;p13"/>
          <p:cNvSpPr txBox="1"/>
          <p:nvPr>
            <p:ph idx="10" type="dt"/>
          </p:nvPr>
        </p:nvSpPr>
        <p:spPr>
          <a:xfrm>
            <a:off x="8677925" y="5883274"/>
            <a:ext cx="114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4" name="Google Shape;44;p13"/>
          <p:cNvSpPr txBox="1"/>
          <p:nvPr>
            <p:ph idx="11" type="ftr"/>
          </p:nvPr>
        </p:nvSpPr>
        <p:spPr>
          <a:xfrm>
            <a:off x="1484310" y="5883274"/>
            <a:ext cx="7084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5" name="Google Shape;45;p13"/>
          <p:cNvSpPr txBox="1"/>
          <p:nvPr>
            <p:ph idx="12" type="sldNum"/>
          </p:nvPr>
        </p:nvSpPr>
        <p:spPr>
          <a:xfrm>
            <a:off x="9930363" y="5883274"/>
            <a:ext cx="551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 1">
  <p:cSld name="OBJECT_2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4"/>
          <p:cNvSpPr txBox="1"/>
          <p:nvPr>
            <p:ph type="title"/>
          </p:nvPr>
        </p:nvSpPr>
        <p:spPr>
          <a:xfrm>
            <a:off x="1484311" y="685800"/>
            <a:ext cx="10018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4"/>
          <p:cNvSpPr txBox="1"/>
          <p:nvPr>
            <p:ph idx="1" type="body"/>
          </p:nvPr>
        </p:nvSpPr>
        <p:spPr>
          <a:xfrm>
            <a:off x="1484310" y="2666999"/>
            <a:ext cx="10018800" cy="312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indent="-394335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5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5" lvl="8" marL="411480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49" name="Google Shape;49;p14"/>
          <p:cNvSpPr txBox="1"/>
          <p:nvPr>
            <p:ph idx="10" type="dt"/>
          </p:nvPr>
        </p:nvSpPr>
        <p:spPr>
          <a:xfrm>
            <a:off x="8677925" y="5883274"/>
            <a:ext cx="114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0" name="Google Shape;50;p14"/>
          <p:cNvSpPr txBox="1"/>
          <p:nvPr>
            <p:ph idx="11" type="ftr"/>
          </p:nvPr>
        </p:nvSpPr>
        <p:spPr>
          <a:xfrm>
            <a:off x="1484310" y="5883274"/>
            <a:ext cx="7084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1" name="Google Shape;51;p14"/>
          <p:cNvSpPr txBox="1"/>
          <p:nvPr>
            <p:ph idx="12" type="sldNum"/>
          </p:nvPr>
        </p:nvSpPr>
        <p:spPr>
          <a:xfrm>
            <a:off x="9930363" y="5883274"/>
            <a:ext cx="551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 Black"/>
              <a:buNone/>
              <a:defRPr b="0" i="0" sz="40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55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transition>
    <p:fade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5.png"/><Relationship Id="rId4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image" Target="../media/image17.png"/><Relationship Id="rId5" Type="http://schemas.openxmlformats.org/officeDocument/2006/relationships/image" Target="../media/image19.png"/><Relationship Id="rId6" Type="http://schemas.openxmlformats.org/officeDocument/2006/relationships/image" Target="../media/image13.png"/></Relationships>
</file>

<file path=ppt/slides/_rels/slide3.xml.rels><?xml version="1.0" encoding="UTF-8" standalone="yes"?><Relationships xmlns="http://schemas.openxmlformats.org/package/2006/relationships"><Relationship Id="rId11" Type="http://schemas.openxmlformats.org/officeDocument/2006/relationships/image" Target="../media/image43.png"/><Relationship Id="rId10" Type="http://schemas.openxmlformats.org/officeDocument/2006/relationships/image" Target="../media/image4.png"/><Relationship Id="rId13" Type="http://schemas.openxmlformats.org/officeDocument/2006/relationships/image" Target="../media/image23.png"/><Relationship Id="rId1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21.png"/><Relationship Id="rId9" Type="http://schemas.openxmlformats.org/officeDocument/2006/relationships/image" Target="../media/image29.png"/><Relationship Id="rId15" Type="http://schemas.openxmlformats.org/officeDocument/2006/relationships/image" Target="../media/image30.png"/><Relationship Id="rId14" Type="http://schemas.openxmlformats.org/officeDocument/2006/relationships/image" Target="../media/image28.png"/><Relationship Id="rId5" Type="http://schemas.openxmlformats.org/officeDocument/2006/relationships/image" Target="../media/image26.png"/><Relationship Id="rId6" Type="http://schemas.openxmlformats.org/officeDocument/2006/relationships/image" Target="../media/image15.png"/><Relationship Id="rId7" Type="http://schemas.openxmlformats.org/officeDocument/2006/relationships/image" Target="../media/image41.png"/><Relationship Id="rId8" Type="http://schemas.openxmlformats.org/officeDocument/2006/relationships/image" Target="../media/image3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8.png"/><Relationship Id="rId4" Type="http://schemas.openxmlformats.org/officeDocument/2006/relationships/hyperlink" Target="http://comunidade.teomewhy.org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0.png"/><Relationship Id="rId4" Type="http://schemas.openxmlformats.org/officeDocument/2006/relationships/hyperlink" Target="https://www.anaconda.com/download" TargetMode="External"/><Relationship Id="rId5" Type="http://schemas.openxmlformats.org/officeDocument/2006/relationships/hyperlink" Target="https://code.visualstudio.com/" TargetMode="External"/><Relationship Id="rId6" Type="http://schemas.openxmlformats.org/officeDocument/2006/relationships/hyperlink" Target="https://marketplace.visualstudio.com/items?itemName=ms-toolsai.jupyter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0.png"/><Relationship Id="rId4" Type="http://schemas.openxmlformats.org/officeDocument/2006/relationships/hyperlink" Target="https://www.kaggle.com/datasets/teocalvo/teomewhy-loyalty-system" TargetMode="External"/><Relationship Id="rId5" Type="http://schemas.openxmlformats.org/officeDocument/2006/relationships/hyperlink" Target="https://drive.google.com/file/d/1qUfY4JK7e9AZFfxyK3-rvAkrHiOt0-9L/view?usp=sharing" TargetMode="External"/><Relationship Id="rId6" Type="http://schemas.openxmlformats.org/officeDocument/2006/relationships/hyperlink" Target="https://github.com/TeoMeWhy/pandas-2025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Relationship Id="rId4" Type="http://schemas.openxmlformats.org/officeDocument/2006/relationships/image" Target="../media/image45.png"/><Relationship Id="rId5" Type="http://schemas.openxmlformats.org/officeDocument/2006/relationships/image" Target="../media/image4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Relationship Id="rId4" Type="http://schemas.openxmlformats.org/officeDocument/2006/relationships/image" Target="../media/image3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Relationship Id="rId4" Type="http://schemas.openxmlformats.org/officeDocument/2006/relationships/image" Target="../media/image3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2.png"/><Relationship Id="rId4" Type="http://schemas.openxmlformats.org/officeDocument/2006/relationships/image" Target="../media/image3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7.png"/><Relationship Id="rId4" Type="http://schemas.openxmlformats.org/officeDocument/2006/relationships/image" Target="../media/image38.png"/><Relationship Id="rId5" Type="http://schemas.openxmlformats.org/officeDocument/2006/relationships/hyperlink" Target="http://www.linkedin.com/in/teocalvo" TargetMode="External"/><Relationship Id="rId6" Type="http://schemas.openxmlformats.org/officeDocument/2006/relationships/image" Target="../media/image35.png"/><Relationship Id="rId7" Type="http://schemas.openxmlformats.org/officeDocument/2006/relationships/image" Target="../media/image4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9.png"/><Relationship Id="rId4" Type="http://schemas.openxmlformats.org/officeDocument/2006/relationships/image" Target="../media/image18.png"/><Relationship Id="rId5" Type="http://schemas.openxmlformats.org/officeDocument/2006/relationships/image" Target="../media/image46.png"/><Relationship Id="rId6" Type="http://schemas.openxmlformats.org/officeDocument/2006/relationships/image" Target="../media/image20.png"/><Relationship Id="rId7" Type="http://schemas.openxmlformats.org/officeDocument/2006/relationships/image" Target="../media/image42.png"/><Relationship Id="rId8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5"/>
          <p:cNvSpPr txBox="1"/>
          <p:nvPr>
            <p:ph idx="4294967295" type="ctrTitle"/>
          </p:nvPr>
        </p:nvSpPr>
        <p:spPr>
          <a:xfrm>
            <a:off x="1379125" y="1285075"/>
            <a:ext cx="9354300" cy="6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200">
                <a:highlight>
                  <a:srgbClr val="FFFFFF"/>
                </a:highlight>
                <a:latin typeface="Montserrat Medium"/>
                <a:ea typeface="Montserrat Medium"/>
                <a:cs typeface="Montserrat Medium"/>
                <a:sym typeface="Montserrat Medium"/>
              </a:rPr>
              <a:t>Ensinando pandas</a:t>
            </a:r>
            <a:endParaRPr b="0" i="0" sz="3200" u="none" cap="none" strike="noStrike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57" name="Google Shape;57;p15"/>
          <p:cNvSpPr txBox="1"/>
          <p:nvPr/>
        </p:nvSpPr>
        <p:spPr>
          <a:xfrm>
            <a:off x="1665605" y="5718175"/>
            <a:ext cx="3697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10</a:t>
            </a:r>
            <a:r>
              <a:rPr b="0" i="0" lang="en-US" sz="2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/</a:t>
            </a:r>
            <a:r>
              <a:rPr lang="en-US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03</a:t>
            </a:r>
            <a:r>
              <a:rPr b="0" i="0" lang="en-US" sz="2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/202</a:t>
            </a:r>
            <a:r>
              <a:rPr lang="en-US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5</a:t>
            </a:r>
            <a:endParaRPr b="0" i="0" sz="2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teomewhy-logo-v01" id="58" name="Google Shape;5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36525" y="2687338"/>
            <a:ext cx="3415850" cy="2175173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54150" y="2711601"/>
            <a:ext cx="5216026" cy="2126649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5"/>
          <p:cNvSpPr txBox="1"/>
          <p:nvPr/>
        </p:nvSpPr>
        <p:spPr>
          <a:xfrm>
            <a:off x="3823925" y="5569675"/>
            <a:ext cx="6822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33333"/>
                </a:solidFill>
                <a:highlight>
                  <a:srgbClr val="FFFFFF"/>
                </a:highlight>
              </a:rPr>
              <a:t>Ensinando Pandas</a:t>
            </a:r>
            <a:r>
              <a:rPr lang="en-US" sz="1200">
                <a:solidFill>
                  <a:srgbClr val="333333"/>
                </a:solidFill>
                <a:highlight>
                  <a:srgbClr val="FFFFFF"/>
                </a:highlight>
              </a:rPr>
              <a:t>© 2025 by Téo Calvo is licensed under CC BY-NC-SA 4.0.</a:t>
            </a:r>
            <a:endParaRPr sz="12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33333"/>
                </a:solidFill>
                <a:highlight>
                  <a:srgbClr val="FFFFFF"/>
                </a:highlight>
              </a:rPr>
              <a:t>To view a copy of this license, visit https://creativecommons.org/licenses/by-nc-sa/4.0/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4067" y="832000"/>
            <a:ext cx="655433" cy="655433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6"/>
          <p:cNvSpPr txBox="1"/>
          <p:nvPr/>
        </p:nvSpPr>
        <p:spPr>
          <a:xfrm>
            <a:off x="1183733" y="806317"/>
            <a:ext cx="4837500" cy="70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rm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0">
                <a:latin typeface="Montserrat"/>
                <a:ea typeface="Montserrat"/>
                <a:cs typeface="Montserrat"/>
                <a:sym typeface="Montserrat"/>
              </a:rPr>
              <a:t>Quem</a:t>
            </a:r>
            <a:endParaRPr sz="43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67" name="Google Shape;67;p16"/>
          <p:cNvGrpSpPr/>
          <p:nvPr/>
        </p:nvGrpSpPr>
        <p:grpSpPr>
          <a:xfrm>
            <a:off x="517294" y="1750994"/>
            <a:ext cx="5197503" cy="563186"/>
            <a:chOff x="1188100" y="1677988"/>
            <a:chExt cx="3898225" cy="422400"/>
          </a:xfrm>
        </p:grpSpPr>
        <p:pic>
          <p:nvPicPr>
            <p:cNvPr id="68" name="Google Shape;68;p1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88100" y="1751038"/>
              <a:ext cx="276325" cy="2763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9" name="Google Shape;69;p16"/>
            <p:cNvSpPr txBox="1"/>
            <p:nvPr/>
          </p:nvSpPr>
          <p:spPr>
            <a:xfrm>
              <a:off x="1464425" y="1677988"/>
              <a:ext cx="3621900" cy="42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Teodoro “Téo” Calvo</a:t>
              </a:r>
              <a:endParaRPr b="1" sz="24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70" name="Google Shape;70;p16"/>
          <p:cNvGrpSpPr/>
          <p:nvPr/>
        </p:nvGrpSpPr>
        <p:grpSpPr>
          <a:xfrm>
            <a:off x="517294" y="2547359"/>
            <a:ext cx="6706266" cy="563186"/>
            <a:chOff x="1188100" y="2232825"/>
            <a:chExt cx="5029825" cy="422400"/>
          </a:xfrm>
        </p:grpSpPr>
        <p:pic>
          <p:nvPicPr>
            <p:cNvPr id="71" name="Google Shape;71;p1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88100" y="2305863"/>
              <a:ext cx="276325" cy="2763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2" name="Google Shape;72;p16"/>
            <p:cNvSpPr txBox="1"/>
            <p:nvPr/>
          </p:nvSpPr>
          <p:spPr>
            <a:xfrm>
              <a:off x="1464425" y="2232825"/>
              <a:ext cx="4753500" cy="42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Bacharel em Estatística - FCT UNESP</a:t>
              </a:r>
              <a:endParaRPr sz="24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73" name="Google Shape;73;p16"/>
          <p:cNvGrpSpPr/>
          <p:nvPr/>
        </p:nvGrpSpPr>
        <p:grpSpPr>
          <a:xfrm>
            <a:off x="517294" y="3343724"/>
            <a:ext cx="8509021" cy="563186"/>
            <a:chOff x="1188100" y="2787650"/>
            <a:chExt cx="6381925" cy="422400"/>
          </a:xfrm>
        </p:grpSpPr>
        <p:pic>
          <p:nvPicPr>
            <p:cNvPr id="74" name="Google Shape;74;p1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88100" y="2860688"/>
              <a:ext cx="276325" cy="2763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5" name="Google Shape;75;p16"/>
            <p:cNvSpPr txBox="1"/>
            <p:nvPr/>
          </p:nvSpPr>
          <p:spPr>
            <a:xfrm>
              <a:off x="1464425" y="2787650"/>
              <a:ext cx="6105600" cy="42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Especialista em Big Data &amp; Data Science - UFPR</a:t>
              </a:r>
              <a:endParaRPr sz="24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76" name="Google Shape;76;p16"/>
          <p:cNvGrpSpPr/>
          <p:nvPr/>
        </p:nvGrpSpPr>
        <p:grpSpPr>
          <a:xfrm>
            <a:off x="517292" y="4140089"/>
            <a:ext cx="8509021" cy="563186"/>
            <a:chOff x="1244325" y="3342475"/>
            <a:chExt cx="6381925" cy="422400"/>
          </a:xfrm>
        </p:grpSpPr>
        <p:pic>
          <p:nvPicPr>
            <p:cNvPr id="77" name="Google Shape;77;p1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44325" y="3415513"/>
              <a:ext cx="276325" cy="2763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8" name="Google Shape;78;p16"/>
            <p:cNvSpPr txBox="1"/>
            <p:nvPr/>
          </p:nvSpPr>
          <p:spPr>
            <a:xfrm>
              <a:off x="1520650" y="3342475"/>
              <a:ext cx="6105600" cy="42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Streamer - Twitch</a:t>
              </a:r>
              <a:endParaRPr sz="24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79" name="Google Shape;79;p16"/>
          <p:cNvGrpSpPr/>
          <p:nvPr/>
        </p:nvGrpSpPr>
        <p:grpSpPr>
          <a:xfrm>
            <a:off x="517292" y="4936453"/>
            <a:ext cx="8509021" cy="563186"/>
            <a:chOff x="1244325" y="3897300"/>
            <a:chExt cx="6381925" cy="422400"/>
          </a:xfrm>
        </p:grpSpPr>
        <p:pic>
          <p:nvPicPr>
            <p:cNvPr id="80" name="Google Shape;80;p1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44325" y="3970338"/>
              <a:ext cx="276325" cy="2763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1" name="Google Shape;81;p16"/>
            <p:cNvSpPr txBox="1"/>
            <p:nvPr/>
          </p:nvSpPr>
          <p:spPr>
            <a:xfrm>
              <a:off x="1520650" y="3897300"/>
              <a:ext cx="6105600" cy="42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Desenvolvedor Backend - Globo</a:t>
              </a:r>
              <a:endParaRPr sz="24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pic>
        <p:nvPicPr>
          <p:cNvPr id="82" name="Google Shape;8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681867" y="513400"/>
            <a:ext cx="2878600" cy="2878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3" name="Google Shape;83;p16"/>
          <p:cNvGrpSpPr/>
          <p:nvPr/>
        </p:nvGrpSpPr>
        <p:grpSpPr>
          <a:xfrm>
            <a:off x="517294" y="5732818"/>
            <a:ext cx="8509021" cy="563186"/>
            <a:chOff x="1188100" y="4452125"/>
            <a:chExt cx="6381925" cy="422400"/>
          </a:xfrm>
        </p:grpSpPr>
        <p:pic>
          <p:nvPicPr>
            <p:cNvPr id="84" name="Google Shape;84;p1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88100" y="4525163"/>
              <a:ext cx="276325" cy="2763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5" name="Google Shape;85;p16"/>
            <p:cNvSpPr txBox="1"/>
            <p:nvPr/>
          </p:nvSpPr>
          <p:spPr>
            <a:xfrm>
              <a:off x="1464425" y="4452125"/>
              <a:ext cx="6105600" cy="42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Membro e Instrutor - Instituto Aaron Swartz</a:t>
              </a:r>
              <a:endParaRPr sz="24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pic>
        <p:nvPicPr>
          <p:cNvPr id="86" name="Google Shape;86;p16"/>
          <p:cNvPicPr preferRelativeResize="0"/>
          <p:nvPr/>
        </p:nvPicPr>
        <p:blipFill rotWithShape="1">
          <a:blip r:embed="rId5">
            <a:alphaModFix/>
          </a:blip>
          <a:srcRect b="56687" l="23274" r="23258" t="0"/>
          <a:stretch/>
        </p:blipFill>
        <p:spPr>
          <a:xfrm>
            <a:off x="10212475" y="6129126"/>
            <a:ext cx="1979524" cy="728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6"/>
          <p:cNvPicPr preferRelativeResize="0"/>
          <p:nvPr/>
        </p:nvPicPr>
        <p:blipFill rotWithShape="1">
          <a:blip r:embed="rId6">
            <a:alphaModFix/>
          </a:blip>
          <a:srcRect b="7047" l="0" r="0" t="10911"/>
          <a:stretch/>
        </p:blipFill>
        <p:spPr>
          <a:xfrm>
            <a:off x="8481709" y="6129125"/>
            <a:ext cx="1692303" cy="728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7"/>
          <p:cNvSpPr txBox="1"/>
          <p:nvPr>
            <p:ph idx="4294967295" type="title"/>
          </p:nvPr>
        </p:nvSpPr>
        <p:spPr>
          <a:xfrm>
            <a:off x="800500" y="259715"/>
            <a:ext cx="6191400" cy="100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3600">
                <a:latin typeface="Montserrat"/>
                <a:ea typeface="Montserrat"/>
                <a:cs typeface="Montserrat"/>
                <a:sym typeface="Montserrat"/>
              </a:rPr>
              <a:t>Trajetória</a:t>
            </a:r>
            <a:endParaRPr sz="36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93" name="Google Shape;9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8450" y="417225"/>
            <a:ext cx="685800" cy="6858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4" name="Google Shape;94;p17"/>
          <p:cNvCxnSpPr/>
          <p:nvPr/>
        </p:nvCxnSpPr>
        <p:spPr>
          <a:xfrm>
            <a:off x="262690" y="1888351"/>
            <a:ext cx="0" cy="4929900"/>
          </a:xfrm>
          <a:prstGeom prst="straightConnector1">
            <a:avLst/>
          </a:prstGeom>
          <a:noFill/>
          <a:ln cap="flat" cmpd="sng" w="12700">
            <a:solidFill>
              <a:srgbClr val="3F3F3F"/>
            </a:solidFill>
            <a:prstDash val="dash"/>
            <a:miter lim="800000"/>
            <a:headEnd len="sm" w="sm" type="none"/>
            <a:tailEnd len="sm" w="sm" type="none"/>
          </a:ln>
        </p:spPr>
      </p:cxnSp>
      <p:cxnSp>
        <p:nvCxnSpPr>
          <p:cNvPr id="95" name="Google Shape;95;p17"/>
          <p:cNvCxnSpPr/>
          <p:nvPr/>
        </p:nvCxnSpPr>
        <p:spPr>
          <a:xfrm>
            <a:off x="8281422" y="1888351"/>
            <a:ext cx="0" cy="4929900"/>
          </a:xfrm>
          <a:prstGeom prst="straightConnector1">
            <a:avLst/>
          </a:prstGeom>
          <a:noFill/>
          <a:ln cap="flat" cmpd="sng" w="12700">
            <a:solidFill>
              <a:srgbClr val="3F3F3F"/>
            </a:solidFill>
            <a:prstDash val="dash"/>
            <a:miter lim="800000"/>
            <a:headEnd len="sm" w="sm" type="none"/>
            <a:tailEnd len="sm" w="sm" type="none"/>
          </a:ln>
        </p:spPr>
      </p:cxnSp>
      <p:sp>
        <p:nvSpPr>
          <p:cNvPr id="96" name="Google Shape;96;p17"/>
          <p:cNvSpPr txBox="1"/>
          <p:nvPr/>
        </p:nvSpPr>
        <p:spPr>
          <a:xfrm>
            <a:off x="383506" y="1689156"/>
            <a:ext cx="9039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2016</a:t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7"/>
          <p:cNvSpPr txBox="1"/>
          <p:nvPr/>
        </p:nvSpPr>
        <p:spPr>
          <a:xfrm>
            <a:off x="2674568" y="1689156"/>
            <a:ext cx="9039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201</a:t>
            </a:r>
            <a:r>
              <a:rPr b="1" lang="en-US" sz="1600"/>
              <a:t>8</a:t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7"/>
          <p:cNvSpPr txBox="1"/>
          <p:nvPr/>
        </p:nvSpPr>
        <p:spPr>
          <a:xfrm>
            <a:off x="1555874" y="1689156"/>
            <a:ext cx="9039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201</a:t>
            </a:r>
            <a:r>
              <a:rPr b="1" lang="en-US" sz="1600"/>
              <a:t>7</a:t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17"/>
          <p:cNvSpPr txBox="1"/>
          <p:nvPr/>
        </p:nvSpPr>
        <p:spPr>
          <a:xfrm>
            <a:off x="3820111" y="1689156"/>
            <a:ext cx="9039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2019</a:t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17"/>
          <p:cNvSpPr txBox="1"/>
          <p:nvPr/>
        </p:nvSpPr>
        <p:spPr>
          <a:xfrm>
            <a:off x="4965642" y="1689156"/>
            <a:ext cx="9039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2020</a:t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17"/>
          <p:cNvSpPr txBox="1"/>
          <p:nvPr/>
        </p:nvSpPr>
        <p:spPr>
          <a:xfrm>
            <a:off x="7291204" y="1689156"/>
            <a:ext cx="8349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2022</a:t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2" name="Google Shape;102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79575" y="2670925"/>
            <a:ext cx="1017498" cy="4093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3" name="Google Shape;103;p17"/>
          <p:cNvCxnSpPr/>
          <p:nvPr/>
        </p:nvCxnSpPr>
        <p:spPr>
          <a:xfrm>
            <a:off x="6322225" y="3403650"/>
            <a:ext cx="2268000" cy="0"/>
          </a:xfrm>
          <a:prstGeom prst="straightConnector1">
            <a:avLst/>
          </a:prstGeom>
          <a:noFill/>
          <a:ln cap="flat" cmpd="sng" w="38100">
            <a:solidFill>
              <a:srgbClr val="005196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gc" id="104" name="Google Shape;104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60987" y="2670933"/>
            <a:ext cx="714527" cy="70106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litch_Purple_RGB" id="105" name="Google Shape;105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820101" y="5915521"/>
            <a:ext cx="607507" cy="62509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6" name="Google Shape;106;p17"/>
          <p:cNvCxnSpPr/>
          <p:nvPr/>
        </p:nvCxnSpPr>
        <p:spPr>
          <a:xfrm>
            <a:off x="4500575" y="6668550"/>
            <a:ext cx="7809600" cy="0"/>
          </a:xfrm>
          <a:prstGeom prst="straightConnector1">
            <a:avLst/>
          </a:prstGeom>
          <a:noFill/>
          <a:ln cap="flat" cmpd="sng" w="38100">
            <a:solidFill>
              <a:srgbClr val="6441A4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7" name="Google Shape;107;p17"/>
          <p:cNvCxnSpPr/>
          <p:nvPr/>
        </p:nvCxnSpPr>
        <p:spPr>
          <a:xfrm>
            <a:off x="1408223" y="1888351"/>
            <a:ext cx="0" cy="4929900"/>
          </a:xfrm>
          <a:prstGeom prst="straightConnector1">
            <a:avLst/>
          </a:prstGeom>
          <a:noFill/>
          <a:ln cap="flat" cmpd="sng" w="12700">
            <a:solidFill>
              <a:srgbClr val="3F3F3F"/>
            </a:solidFill>
            <a:prstDash val="dash"/>
            <a:miter lim="800000"/>
            <a:headEnd len="sm" w="sm" type="none"/>
            <a:tailEnd len="sm" w="sm" type="none"/>
          </a:ln>
        </p:spPr>
      </p:cxnSp>
      <p:cxnSp>
        <p:nvCxnSpPr>
          <p:cNvPr id="108" name="Google Shape;108;p17"/>
          <p:cNvCxnSpPr/>
          <p:nvPr/>
        </p:nvCxnSpPr>
        <p:spPr>
          <a:xfrm>
            <a:off x="2553756" y="1888351"/>
            <a:ext cx="0" cy="4929900"/>
          </a:xfrm>
          <a:prstGeom prst="straightConnector1">
            <a:avLst/>
          </a:prstGeom>
          <a:noFill/>
          <a:ln cap="flat" cmpd="sng" w="12700">
            <a:solidFill>
              <a:srgbClr val="3F3F3F"/>
            </a:solidFill>
            <a:prstDash val="dash"/>
            <a:miter lim="800000"/>
            <a:headEnd len="sm" w="sm" type="none"/>
            <a:tailEnd len="sm" w="sm" type="none"/>
          </a:ln>
        </p:spPr>
      </p:cxnSp>
      <p:cxnSp>
        <p:nvCxnSpPr>
          <p:cNvPr id="109" name="Google Shape;109;p17"/>
          <p:cNvCxnSpPr/>
          <p:nvPr/>
        </p:nvCxnSpPr>
        <p:spPr>
          <a:xfrm>
            <a:off x="3699289" y="1888351"/>
            <a:ext cx="0" cy="4929900"/>
          </a:xfrm>
          <a:prstGeom prst="straightConnector1">
            <a:avLst/>
          </a:prstGeom>
          <a:noFill/>
          <a:ln cap="flat" cmpd="sng" w="12700">
            <a:solidFill>
              <a:srgbClr val="3F3F3F"/>
            </a:solidFill>
            <a:prstDash val="dash"/>
            <a:miter lim="800000"/>
            <a:headEnd len="sm" w="sm" type="none"/>
            <a:tailEnd len="sm" w="sm" type="none"/>
          </a:ln>
        </p:spPr>
      </p:cxnSp>
      <p:cxnSp>
        <p:nvCxnSpPr>
          <p:cNvPr id="110" name="Google Shape;110;p17"/>
          <p:cNvCxnSpPr/>
          <p:nvPr/>
        </p:nvCxnSpPr>
        <p:spPr>
          <a:xfrm>
            <a:off x="4844822" y="1888351"/>
            <a:ext cx="0" cy="4929900"/>
          </a:xfrm>
          <a:prstGeom prst="straightConnector1">
            <a:avLst/>
          </a:prstGeom>
          <a:noFill/>
          <a:ln cap="flat" cmpd="sng" w="12700">
            <a:solidFill>
              <a:srgbClr val="3F3F3F"/>
            </a:solidFill>
            <a:prstDash val="dash"/>
            <a:miter lim="800000"/>
            <a:headEnd len="sm" w="sm" type="none"/>
            <a:tailEnd len="sm" w="sm" type="none"/>
          </a:ln>
        </p:spPr>
      </p:cxnSp>
      <p:cxnSp>
        <p:nvCxnSpPr>
          <p:cNvPr id="111" name="Google Shape;111;p17"/>
          <p:cNvCxnSpPr/>
          <p:nvPr/>
        </p:nvCxnSpPr>
        <p:spPr>
          <a:xfrm>
            <a:off x="5990355" y="1888351"/>
            <a:ext cx="0" cy="4929900"/>
          </a:xfrm>
          <a:prstGeom prst="straightConnector1">
            <a:avLst/>
          </a:prstGeom>
          <a:noFill/>
          <a:ln cap="flat" cmpd="sng" w="12700">
            <a:solidFill>
              <a:srgbClr val="3F3F3F"/>
            </a:solidFill>
            <a:prstDash val="dash"/>
            <a:miter lim="800000"/>
            <a:headEnd len="sm" w="sm" type="none"/>
            <a:tailEnd len="sm" w="sm" type="none"/>
          </a:ln>
        </p:spPr>
      </p:cxnSp>
      <p:cxnSp>
        <p:nvCxnSpPr>
          <p:cNvPr id="112" name="Google Shape;112;p17"/>
          <p:cNvCxnSpPr/>
          <p:nvPr/>
        </p:nvCxnSpPr>
        <p:spPr>
          <a:xfrm>
            <a:off x="7135889" y="1888351"/>
            <a:ext cx="0" cy="4929900"/>
          </a:xfrm>
          <a:prstGeom prst="straightConnector1">
            <a:avLst/>
          </a:prstGeom>
          <a:noFill/>
          <a:ln cap="flat" cmpd="sng" w="12700">
            <a:solidFill>
              <a:srgbClr val="3F3F3F"/>
            </a:solidFill>
            <a:prstDash val="dash"/>
            <a:miter lim="800000"/>
            <a:headEnd len="sm" w="sm" type="none"/>
            <a:tailEnd len="sm" w="sm" type="none"/>
          </a:ln>
        </p:spPr>
      </p:cxnSp>
      <p:sp>
        <p:nvSpPr>
          <p:cNvPr id="113" name="Google Shape;113;p17"/>
          <p:cNvSpPr txBox="1"/>
          <p:nvPr/>
        </p:nvSpPr>
        <p:spPr>
          <a:xfrm>
            <a:off x="6111173" y="1689156"/>
            <a:ext cx="9039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2021</a:t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4" name="Google Shape;114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930229" y="2433380"/>
            <a:ext cx="974699" cy="6250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7"/>
          <p:cNvPicPr preferRelativeResize="0"/>
          <p:nvPr/>
        </p:nvPicPr>
        <p:blipFill rotWithShape="1">
          <a:blip r:embed="rId8">
            <a:alphaModFix/>
          </a:blip>
          <a:srcRect b="0" l="0" r="57155" t="0"/>
          <a:stretch/>
        </p:blipFill>
        <p:spPr>
          <a:xfrm>
            <a:off x="513877" y="2312970"/>
            <a:ext cx="714527" cy="6791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591427" y="2820796"/>
            <a:ext cx="1198682" cy="108493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7" name="Google Shape;117;p17"/>
          <p:cNvCxnSpPr/>
          <p:nvPr/>
        </p:nvCxnSpPr>
        <p:spPr>
          <a:xfrm>
            <a:off x="9426955" y="1888805"/>
            <a:ext cx="0" cy="4929900"/>
          </a:xfrm>
          <a:prstGeom prst="straightConnector1">
            <a:avLst/>
          </a:prstGeom>
          <a:noFill/>
          <a:ln cap="flat" cmpd="sng" w="12700">
            <a:solidFill>
              <a:srgbClr val="3F3F3F"/>
            </a:solidFill>
            <a:prstDash val="dash"/>
            <a:miter lim="800000"/>
            <a:headEnd len="sm" w="sm" type="none"/>
            <a:tailEnd len="sm" w="sm" type="none"/>
          </a:ln>
        </p:spPr>
      </p:cxnSp>
      <p:sp>
        <p:nvSpPr>
          <p:cNvPr id="118" name="Google Shape;118;p17"/>
          <p:cNvSpPr txBox="1"/>
          <p:nvPr/>
        </p:nvSpPr>
        <p:spPr>
          <a:xfrm>
            <a:off x="8436747" y="1689156"/>
            <a:ext cx="8349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2023</a:t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9" name="Google Shape;119;p17"/>
          <p:cNvCxnSpPr/>
          <p:nvPr/>
        </p:nvCxnSpPr>
        <p:spPr>
          <a:xfrm>
            <a:off x="3286125" y="2820800"/>
            <a:ext cx="1392900" cy="0"/>
          </a:xfrm>
          <a:prstGeom prst="straightConnector1">
            <a:avLst/>
          </a:prstGeom>
          <a:noFill/>
          <a:ln cap="flat" cmpd="sng" w="38100">
            <a:solidFill>
              <a:srgbClr val="F78222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0" name="Google Shape;120;p17"/>
          <p:cNvCxnSpPr/>
          <p:nvPr/>
        </p:nvCxnSpPr>
        <p:spPr>
          <a:xfrm>
            <a:off x="4688075" y="3112225"/>
            <a:ext cx="1500300" cy="0"/>
          </a:xfrm>
          <a:prstGeom prst="straightConnector1">
            <a:avLst/>
          </a:prstGeom>
          <a:noFill/>
          <a:ln cap="flat" cmpd="sng" w="38100">
            <a:solidFill>
              <a:srgbClr val="0CC5CA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1" name="Google Shape;121;p17"/>
          <p:cNvCxnSpPr/>
          <p:nvPr/>
        </p:nvCxnSpPr>
        <p:spPr>
          <a:xfrm>
            <a:off x="1655149" y="2529371"/>
            <a:ext cx="1577400" cy="0"/>
          </a:xfrm>
          <a:prstGeom prst="straightConnector1">
            <a:avLst/>
          </a:prstGeom>
          <a:noFill/>
          <a:ln cap="flat" cmpd="sng" w="38100">
            <a:solidFill>
              <a:srgbClr val="007CC2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2" name="Google Shape;122;p17"/>
          <p:cNvCxnSpPr/>
          <p:nvPr/>
        </p:nvCxnSpPr>
        <p:spPr>
          <a:xfrm>
            <a:off x="1228399" y="2237948"/>
            <a:ext cx="414600" cy="0"/>
          </a:xfrm>
          <a:prstGeom prst="straightConnector1">
            <a:avLst/>
          </a:prstGeom>
          <a:noFill/>
          <a:ln cap="flat" cmpd="sng" w="38100">
            <a:solidFill>
              <a:srgbClr val="20C3F3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23" name="Google Shape;123;p1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314500" y="4703181"/>
            <a:ext cx="903900" cy="88682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4" name="Google Shape;124;p17"/>
          <p:cNvCxnSpPr/>
          <p:nvPr/>
        </p:nvCxnSpPr>
        <p:spPr>
          <a:xfrm>
            <a:off x="8340325" y="5638800"/>
            <a:ext cx="39690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25" name="Google Shape;125;p1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494251" y="5202691"/>
            <a:ext cx="992197" cy="97350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6" name="Google Shape;126;p17"/>
          <p:cNvCxnSpPr/>
          <p:nvPr/>
        </p:nvCxnSpPr>
        <p:spPr>
          <a:xfrm>
            <a:off x="4857750" y="6102075"/>
            <a:ext cx="7452600" cy="0"/>
          </a:xfrm>
          <a:prstGeom prst="straightConnector1">
            <a:avLst/>
          </a:prstGeom>
          <a:noFill/>
          <a:ln cap="flat" cmpd="sng" w="38100">
            <a:solidFill>
              <a:srgbClr val="F90373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27" name="Google Shape;127;p17"/>
          <p:cNvPicPr preferRelativeResize="0"/>
          <p:nvPr/>
        </p:nvPicPr>
        <p:blipFill rotWithShape="1">
          <a:blip r:embed="rId12">
            <a:alphaModFix/>
          </a:blip>
          <a:srcRect b="20137" l="0" r="0" t="20250"/>
          <a:stretch/>
        </p:blipFill>
        <p:spPr>
          <a:xfrm>
            <a:off x="8254873" y="3702884"/>
            <a:ext cx="1198677" cy="70107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8" name="Google Shape;128;p17"/>
          <p:cNvCxnSpPr/>
          <p:nvPr/>
        </p:nvCxnSpPr>
        <p:spPr>
          <a:xfrm>
            <a:off x="9099350" y="3753775"/>
            <a:ext cx="339300" cy="0"/>
          </a:xfrm>
          <a:prstGeom prst="straightConnector1">
            <a:avLst/>
          </a:prstGeom>
          <a:noFill/>
          <a:ln cap="flat" cmpd="sng" w="38100">
            <a:solidFill>
              <a:srgbClr val="5400F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9" name="Google Shape;129;p17"/>
          <p:cNvSpPr txBox="1"/>
          <p:nvPr/>
        </p:nvSpPr>
        <p:spPr>
          <a:xfrm>
            <a:off x="9582278" y="1689156"/>
            <a:ext cx="8349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2024</a:t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0" name="Google Shape;130;p17"/>
          <p:cNvCxnSpPr/>
          <p:nvPr/>
        </p:nvCxnSpPr>
        <p:spPr>
          <a:xfrm>
            <a:off x="11718021" y="1888805"/>
            <a:ext cx="0" cy="4929900"/>
          </a:xfrm>
          <a:prstGeom prst="straightConnector1">
            <a:avLst/>
          </a:prstGeom>
          <a:noFill/>
          <a:ln cap="flat" cmpd="sng" w="12700">
            <a:solidFill>
              <a:srgbClr val="3F3F3F"/>
            </a:solidFill>
            <a:prstDash val="dash"/>
            <a:miter lim="800000"/>
            <a:headEnd len="sm" w="sm" type="none"/>
            <a:tailEnd len="sm" w="sm" type="none"/>
          </a:ln>
        </p:spPr>
      </p:cxnSp>
      <p:pic>
        <p:nvPicPr>
          <p:cNvPr id="131" name="Google Shape;131;p17"/>
          <p:cNvPicPr preferRelativeResize="0"/>
          <p:nvPr/>
        </p:nvPicPr>
        <p:blipFill rotWithShape="1">
          <a:blip r:embed="rId13">
            <a:alphaModFix/>
          </a:blip>
          <a:srcRect b="21604" l="9713" r="33620" t="21244"/>
          <a:stretch/>
        </p:blipFill>
        <p:spPr>
          <a:xfrm>
            <a:off x="9453550" y="6327502"/>
            <a:ext cx="339300" cy="30667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7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9693517" y="4356501"/>
            <a:ext cx="834759" cy="81903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3" name="Google Shape;133;p17"/>
          <p:cNvCxnSpPr/>
          <p:nvPr/>
        </p:nvCxnSpPr>
        <p:spPr>
          <a:xfrm>
            <a:off x="10304850" y="5227800"/>
            <a:ext cx="2006100" cy="0"/>
          </a:xfrm>
          <a:prstGeom prst="straightConnector1">
            <a:avLst/>
          </a:prstGeom>
          <a:noFill/>
          <a:ln cap="flat" cmpd="sng" w="38100">
            <a:solidFill>
              <a:srgbClr val="FF940D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4" name="Google Shape;134;p17"/>
          <p:cNvCxnSpPr/>
          <p:nvPr/>
        </p:nvCxnSpPr>
        <p:spPr>
          <a:xfrm>
            <a:off x="10572488" y="1888355"/>
            <a:ext cx="0" cy="4929900"/>
          </a:xfrm>
          <a:prstGeom prst="straightConnector1">
            <a:avLst/>
          </a:prstGeom>
          <a:noFill/>
          <a:ln cap="flat" cmpd="sng" w="12700">
            <a:solidFill>
              <a:srgbClr val="3F3F3F"/>
            </a:solidFill>
            <a:prstDash val="dash"/>
            <a:miter lim="800000"/>
            <a:headEnd len="sm" w="sm" type="none"/>
            <a:tailEnd len="sm" w="sm" type="none"/>
          </a:ln>
        </p:spPr>
      </p:cxnSp>
      <p:sp>
        <p:nvSpPr>
          <p:cNvPr id="135" name="Google Shape;135;p17"/>
          <p:cNvSpPr txBox="1"/>
          <p:nvPr/>
        </p:nvSpPr>
        <p:spPr>
          <a:xfrm>
            <a:off x="10727822" y="1689156"/>
            <a:ext cx="8349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202</a:t>
            </a:r>
            <a:r>
              <a:rPr b="1" lang="en-US" sz="1600"/>
              <a:t>5</a:t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6" name="Google Shape;136;p17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10233200" y="6311977"/>
            <a:ext cx="339300" cy="337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8450" y="417225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8"/>
          <p:cNvSpPr txBox="1"/>
          <p:nvPr>
            <p:ph idx="4294967295" type="title"/>
          </p:nvPr>
        </p:nvSpPr>
        <p:spPr>
          <a:xfrm>
            <a:off x="800500" y="259725"/>
            <a:ext cx="2534700" cy="100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3600">
                <a:latin typeface="Montserrat"/>
                <a:ea typeface="Montserrat"/>
                <a:cs typeface="Montserrat"/>
                <a:sym typeface="Montserrat"/>
              </a:rPr>
              <a:t>Ementa</a:t>
            </a:r>
            <a:endParaRPr sz="3600"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144" name="Google Shape;144;p18"/>
          <p:cNvGraphicFramePr/>
          <p:nvPr/>
        </p:nvGraphicFramePr>
        <p:xfrm>
          <a:off x="230575" y="1440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{C74321DB-2B60-4C94-B504-84184C57A985}</a:tableStyleId>
              </a:tblPr>
              <a:tblGrid>
                <a:gridCol w="3987150"/>
                <a:gridCol w="3987150"/>
                <a:gridCol w="39871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18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500">
                          <a:solidFill>
                            <a:srgbClr val="000000"/>
                          </a:solidFill>
                          <a:highlight>
                            <a:srgbClr val="B6D7A8"/>
                          </a:highlight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1. Principais objetos do Pandas</a:t>
                      </a:r>
                      <a:endParaRPr b="1" sz="1500">
                        <a:solidFill>
                          <a:srgbClr val="000000"/>
                        </a:solidFill>
                        <a:highlight>
                          <a:srgbClr val="B6D7A8"/>
                        </a:highlight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-317500" lvl="0" marL="457200" rtl="0" algn="l"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Montserrat Medium"/>
                        <a:buChar char="●"/>
                      </a:pPr>
                      <a:r>
                        <a:rPr lang="en-US">
                          <a:solidFill>
                            <a:srgbClr val="000000"/>
                          </a:solidFill>
                          <a:highlight>
                            <a:srgbClr val="B6D7A8"/>
                          </a:highlight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Series</a:t>
                      </a:r>
                      <a:endParaRPr>
                        <a:solidFill>
                          <a:srgbClr val="000000"/>
                        </a:solidFill>
                        <a:highlight>
                          <a:srgbClr val="B6D7A8"/>
                        </a:highlight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Montserrat Medium"/>
                        <a:buChar char="●"/>
                      </a:pPr>
                      <a:r>
                        <a:rPr lang="en-US">
                          <a:solidFill>
                            <a:srgbClr val="000000"/>
                          </a:solidFill>
                          <a:highlight>
                            <a:srgbClr val="B6D7A8"/>
                          </a:highlight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Dataframes</a:t>
                      </a:r>
                      <a:endParaRPr>
                        <a:solidFill>
                          <a:srgbClr val="000000"/>
                        </a:solidFill>
                        <a:highlight>
                          <a:srgbClr val="B6D7A8"/>
                        </a:highlight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18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500">
                          <a:solidFill>
                            <a:srgbClr val="000000"/>
                          </a:solidFill>
                          <a:highlight>
                            <a:srgbClr val="B6D7A8"/>
                          </a:highlight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4. Filtrando dados</a:t>
                      </a:r>
                      <a:endParaRPr b="1" sz="1500">
                        <a:solidFill>
                          <a:srgbClr val="000000"/>
                        </a:solidFill>
                        <a:highlight>
                          <a:srgbClr val="B6D7A8"/>
                        </a:highlight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-317500" lvl="0" marL="457200" rtl="0" algn="l"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Montserrat Medium"/>
                        <a:buChar char="●"/>
                      </a:pPr>
                      <a:r>
                        <a:rPr lang="en-US">
                          <a:solidFill>
                            <a:srgbClr val="000000"/>
                          </a:solidFill>
                          <a:highlight>
                            <a:srgbClr val="B6D7A8"/>
                          </a:highlight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Condições lógicas</a:t>
                      </a:r>
                      <a:endParaRPr>
                        <a:highlight>
                          <a:srgbClr val="B6D7A8"/>
                        </a:highlight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18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500">
                          <a:solidFill>
                            <a:srgbClr val="000000"/>
                          </a:solidFill>
                          <a:highlight>
                            <a:srgbClr val="B6D7A8"/>
                          </a:highlight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7. Cruzamento de dados</a:t>
                      </a:r>
                      <a:endParaRPr b="1" sz="1500">
                        <a:solidFill>
                          <a:srgbClr val="000000"/>
                        </a:solidFill>
                        <a:highlight>
                          <a:srgbClr val="B6D7A8"/>
                        </a:highlight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-317500" lvl="0" marL="457200" rtl="0" algn="l"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Montserrat Medium"/>
                        <a:buChar char="●"/>
                      </a:pPr>
                      <a:r>
                        <a:rPr lang="en-US">
                          <a:solidFill>
                            <a:srgbClr val="000000"/>
                          </a:solidFill>
                          <a:highlight>
                            <a:srgbClr val="B6D7A8"/>
                          </a:highlight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Merge</a:t>
                      </a:r>
                      <a:endParaRPr>
                        <a:solidFill>
                          <a:srgbClr val="000000"/>
                        </a:solidFill>
                        <a:highlight>
                          <a:srgbClr val="B6D7A8"/>
                        </a:highlight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Montserrat Medium"/>
                        <a:buChar char="●"/>
                      </a:pPr>
                      <a:r>
                        <a:rPr lang="en-US">
                          <a:solidFill>
                            <a:srgbClr val="000000"/>
                          </a:solidFill>
                          <a:highlight>
                            <a:srgbClr val="B6D7A8"/>
                          </a:highlight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Concat</a:t>
                      </a:r>
                      <a:endParaRPr>
                        <a:solidFill>
                          <a:srgbClr val="000000"/>
                        </a:solidFill>
                        <a:highlight>
                          <a:srgbClr val="B6D7A8"/>
                        </a:highlight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18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500">
                          <a:solidFill>
                            <a:srgbClr val="000000"/>
                          </a:solidFill>
                          <a:highlight>
                            <a:srgbClr val="B6D7A8"/>
                          </a:highlight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2. Importando arquivos com pandas</a:t>
                      </a:r>
                      <a:endParaRPr b="1" sz="1500">
                        <a:solidFill>
                          <a:srgbClr val="000000"/>
                        </a:solidFill>
                        <a:highlight>
                          <a:srgbClr val="B6D7A8"/>
                        </a:highlight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-317500" lvl="0" marL="457200" rtl="0" algn="l"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Montserrat Medium"/>
                        <a:buChar char="●"/>
                      </a:pPr>
                      <a:r>
                        <a:rPr lang="en-US">
                          <a:solidFill>
                            <a:srgbClr val="000000"/>
                          </a:solidFill>
                          <a:highlight>
                            <a:srgbClr val="B6D7A8"/>
                          </a:highlight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csv</a:t>
                      </a:r>
                      <a:endParaRPr>
                        <a:solidFill>
                          <a:srgbClr val="000000"/>
                        </a:solidFill>
                        <a:highlight>
                          <a:srgbClr val="B6D7A8"/>
                        </a:highlight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Montserrat Medium"/>
                        <a:buChar char="●"/>
                      </a:pPr>
                      <a:r>
                        <a:rPr lang="en-US">
                          <a:solidFill>
                            <a:srgbClr val="000000"/>
                          </a:solidFill>
                          <a:highlight>
                            <a:srgbClr val="B6D7A8"/>
                          </a:highlight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xlsx</a:t>
                      </a:r>
                      <a:endParaRPr>
                        <a:solidFill>
                          <a:srgbClr val="000000"/>
                        </a:solidFill>
                        <a:highlight>
                          <a:srgbClr val="B6D7A8"/>
                        </a:highlight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Montserrat Medium"/>
                        <a:buChar char="●"/>
                      </a:pPr>
                      <a:r>
                        <a:rPr lang="en-US">
                          <a:solidFill>
                            <a:srgbClr val="000000"/>
                          </a:solidFill>
                          <a:highlight>
                            <a:srgbClr val="B6D7A8"/>
                          </a:highlight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parquet</a:t>
                      </a:r>
                      <a:endParaRPr>
                        <a:highlight>
                          <a:srgbClr val="B6D7A8"/>
                        </a:highlight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18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500">
                          <a:solidFill>
                            <a:srgbClr val="000000"/>
                          </a:solidFill>
                          <a:highlight>
                            <a:srgbClr val="B6D7A8"/>
                          </a:highlight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5. Transformações e remoções</a:t>
                      </a:r>
                      <a:endParaRPr b="1" sz="1500">
                        <a:solidFill>
                          <a:srgbClr val="000000"/>
                        </a:solidFill>
                        <a:highlight>
                          <a:srgbClr val="B6D7A8"/>
                        </a:highlight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-317500" lvl="0" marL="457200" rtl="0" algn="l"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Montserrat Medium"/>
                        <a:buChar char="●"/>
                      </a:pPr>
                      <a:r>
                        <a:rPr lang="en-US">
                          <a:solidFill>
                            <a:srgbClr val="000000"/>
                          </a:solidFill>
                          <a:highlight>
                            <a:srgbClr val="B6D7A8"/>
                          </a:highlight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Criação de novas colunas</a:t>
                      </a:r>
                      <a:endParaRPr>
                        <a:solidFill>
                          <a:srgbClr val="000000"/>
                        </a:solidFill>
                        <a:highlight>
                          <a:srgbClr val="B6D7A8"/>
                        </a:highlight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Montserrat Medium"/>
                        <a:buChar char="●"/>
                      </a:pPr>
                      <a:r>
                        <a:rPr lang="en-US">
                          <a:solidFill>
                            <a:srgbClr val="000000"/>
                          </a:solidFill>
                          <a:highlight>
                            <a:srgbClr val="B6D7A8"/>
                          </a:highlight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Ordenação</a:t>
                      </a:r>
                      <a:endParaRPr>
                        <a:solidFill>
                          <a:srgbClr val="000000"/>
                        </a:solidFill>
                        <a:highlight>
                          <a:srgbClr val="B6D7A8"/>
                        </a:highlight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Montserrat Medium"/>
                        <a:buChar char="●"/>
                      </a:pPr>
                      <a:r>
                        <a:rPr lang="en-US">
                          <a:solidFill>
                            <a:srgbClr val="000000"/>
                          </a:solidFill>
                          <a:highlight>
                            <a:srgbClr val="B6D7A8"/>
                          </a:highlight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Conversão de tipos</a:t>
                      </a:r>
                      <a:endParaRPr>
                        <a:solidFill>
                          <a:srgbClr val="000000"/>
                        </a:solidFill>
                        <a:highlight>
                          <a:srgbClr val="B6D7A8"/>
                        </a:highlight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Montserrat Medium"/>
                        <a:buChar char="●"/>
                      </a:pPr>
                      <a:r>
                        <a:rPr lang="en-US">
                          <a:solidFill>
                            <a:srgbClr val="000000"/>
                          </a:solidFill>
                          <a:highlight>
                            <a:srgbClr val="B6D7A8"/>
                          </a:highlight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Aplicando funções em linhas e colunas</a:t>
                      </a:r>
                      <a:endParaRPr>
                        <a:solidFill>
                          <a:srgbClr val="000000"/>
                        </a:solidFill>
                        <a:highlight>
                          <a:srgbClr val="B6D7A8"/>
                        </a:highlight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Montserrat Medium"/>
                        <a:buChar char="●"/>
                      </a:pPr>
                      <a:r>
                        <a:rPr lang="en-US">
                          <a:solidFill>
                            <a:srgbClr val="000000"/>
                          </a:solidFill>
                          <a:highlight>
                            <a:srgbClr val="B6D7A8"/>
                          </a:highlight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Removendo Duplicatas</a:t>
                      </a:r>
                      <a:endParaRPr>
                        <a:solidFill>
                          <a:srgbClr val="000000"/>
                        </a:solidFill>
                        <a:highlight>
                          <a:srgbClr val="B6D7A8"/>
                        </a:highlight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Montserrat Medium"/>
                        <a:buChar char="●"/>
                      </a:pPr>
                      <a:r>
                        <a:rPr lang="en-US">
                          <a:solidFill>
                            <a:srgbClr val="000000"/>
                          </a:solidFill>
                          <a:highlight>
                            <a:srgbClr val="B6D7A8"/>
                          </a:highlight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Trabalhando com NAs</a:t>
                      </a:r>
                      <a:endParaRPr>
                        <a:highlight>
                          <a:srgbClr val="B6D7A8"/>
                        </a:highlight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Montserrat Medium"/>
                        <a:buChar char="●"/>
                      </a:pPr>
                      <a:r>
                        <a:rPr lang="en-US">
                          <a:highlight>
                            <a:srgbClr val="B6D7A8"/>
                          </a:highlight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Replace</a:t>
                      </a:r>
                      <a:endParaRPr>
                        <a:highlight>
                          <a:srgbClr val="B6D7A8"/>
                        </a:highlight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1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5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8. Manipulações adicionais</a:t>
                      </a:r>
                      <a:endParaRPr b="1" sz="15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-317500" lvl="0" marL="457200" rtl="0" algn="l"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Montserrat Medium"/>
                        <a:buChar char="●"/>
                      </a:pPr>
                      <a:r>
                        <a:rPr lang="en-US">
                          <a:solidFill>
                            <a:schemeClr val="dk1"/>
                          </a:solidFill>
                          <a:highlight>
                            <a:srgbClr val="B6D7A8"/>
                          </a:highlight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Stack</a:t>
                      </a:r>
                      <a:endParaRPr>
                        <a:solidFill>
                          <a:schemeClr val="dk1"/>
                        </a:solidFill>
                        <a:highlight>
                          <a:srgbClr val="B6D7A8"/>
                        </a:highlight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Montserrat Medium"/>
                        <a:buChar char="●"/>
                      </a:pPr>
                      <a:r>
                        <a:rPr lang="en-US">
                          <a:solidFill>
                            <a:schemeClr val="dk1"/>
                          </a:solidFill>
                          <a:highlight>
                            <a:srgbClr val="B6D7A8"/>
                          </a:highlight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Unstack</a:t>
                      </a:r>
                      <a:endParaRPr>
                        <a:solidFill>
                          <a:schemeClr val="dk1"/>
                        </a:solidFill>
                        <a:highlight>
                          <a:srgbClr val="B6D7A8"/>
                        </a:highlight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Montserrat Medium"/>
                        <a:buChar char="●"/>
                      </a:pPr>
                      <a:r>
                        <a:rPr lang="en-US">
                          <a:solidFill>
                            <a:schemeClr val="dk1"/>
                          </a:solidFill>
                          <a:highlight>
                            <a:srgbClr val="B6D7A8"/>
                          </a:highlight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Pivot Table</a:t>
                      </a:r>
                      <a:endParaRPr>
                        <a:solidFill>
                          <a:schemeClr val="dk1"/>
                        </a:solidFill>
                        <a:highlight>
                          <a:srgbClr val="B6D7A8"/>
                        </a:highlight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Montserrat Medium"/>
                        <a:buChar char="●"/>
                      </a:pPr>
                      <a:r>
                        <a:rPr lang="en-US">
                          <a:solidFill>
                            <a:schemeClr val="dk1"/>
                          </a:solidFill>
                          <a:highlight>
                            <a:srgbClr val="B6D7A8"/>
                          </a:highlight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Explode</a:t>
                      </a:r>
                      <a:endParaRPr>
                        <a:solidFill>
                          <a:schemeClr val="dk1"/>
                        </a:solidFill>
                        <a:highlight>
                          <a:srgbClr val="B6D7A8"/>
                        </a:highlight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18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500">
                          <a:solidFill>
                            <a:srgbClr val="000000"/>
                          </a:solidFill>
                          <a:highlight>
                            <a:srgbClr val="B6D7A8"/>
                          </a:highlight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3. Navegando pelos dados</a:t>
                      </a:r>
                      <a:endParaRPr b="1" sz="1500">
                        <a:solidFill>
                          <a:srgbClr val="000000"/>
                        </a:solidFill>
                        <a:highlight>
                          <a:srgbClr val="B6D7A8"/>
                        </a:highlight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-317500" lvl="0" marL="457200" rtl="0" algn="l"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Montserrat Medium"/>
                        <a:buChar char="●"/>
                      </a:pPr>
                      <a:r>
                        <a:rPr lang="en-US">
                          <a:solidFill>
                            <a:srgbClr val="000000"/>
                          </a:solidFill>
                          <a:highlight>
                            <a:srgbClr val="B6D7A8"/>
                          </a:highlight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Informações básicas</a:t>
                      </a:r>
                      <a:endParaRPr>
                        <a:solidFill>
                          <a:srgbClr val="000000"/>
                        </a:solidFill>
                        <a:highlight>
                          <a:srgbClr val="B6D7A8"/>
                        </a:highlight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Montserrat Medium"/>
                        <a:buChar char="●"/>
                      </a:pPr>
                      <a:r>
                        <a:rPr lang="en-US">
                          <a:solidFill>
                            <a:srgbClr val="000000"/>
                          </a:solidFill>
                          <a:highlight>
                            <a:srgbClr val="B6D7A8"/>
                          </a:highlight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Tipos de colunas</a:t>
                      </a:r>
                      <a:endParaRPr>
                        <a:solidFill>
                          <a:srgbClr val="000000"/>
                        </a:solidFill>
                        <a:highlight>
                          <a:srgbClr val="B6D7A8"/>
                        </a:highlight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Montserrat Medium"/>
                        <a:buChar char="●"/>
                      </a:pPr>
                      <a:r>
                        <a:rPr lang="en-US">
                          <a:solidFill>
                            <a:srgbClr val="000000"/>
                          </a:solidFill>
                          <a:highlight>
                            <a:srgbClr val="B6D7A8"/>
                          </a:highlight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Navegação em linhas e colunas</a:t>
                      </a:r>
                      <a:endParaRPr>
                        <a:solidFill>
                          <a:srgbClr val="000000"/>
                        </a:solidFill>
                        <a:highlight>
                          <a:srgbClr val="B6D7A8"/>
                        </a:highlight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Montserrat Medium"/>
                        <a:buChar char="●"/>
                      </a:pPr>
                      <a:r>
                        <a:rPr lang="en-US">
                          <a:solidFill>
                            <a:srgbClr val="000000"/>
                          </a:solidFill>
                          <a:highlight>
                            <a:srgbClr val="B6D7A8"/>
                          </a:highlight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Renomeando colunas</a:t>
                      </a:r>
                      <a:endParaRPr>
                        <a:highlight>
                          <a:srgbClr val="B6D7A8"/>
                        </a:highlight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500">
                          <a:solidFill>
                            <a:srgbClr val="000000"/>
                          </a:solidFill>
                          <a:highlight>
                            <a:srgbClr val="B6D7A8"/>
                          </a:highlight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6. GroupBy</a:t>
                      </a:r>
                      <a:endParaRPr b="1" sz="1500">
                        <a:solidFill>
                          <a:srgbClr val="000000"/>
                        </a:solidFill>
                        <a:highlight>
                          <a:srgbClr val="B6D7A8"/>
                        </a:highlight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Montserrat Medium"/>
                        <a:buChar char="●"/>
                      </a:pPr>
                      <a:r>
                        <a:rPr lang="en-US">
                          <a:highlight>
                            <a:srgbClr val="B6D7A8"/>
                          </a:highlight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Agregando dados</a:t>
                      </a:r>
                      <a:endParaRPr>
                        <a:highlight>
                          <a:srgbClr val="B6D7A8"/>
                        </a:highlight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Montserrat Medium"/>
                        <a:buChar char="●"/>
                      </a:pPr>
                      <a:r>
                        <a:rPr lang="en-US">
                          <a:solidFill>
                            <a:srgbClr val="000000"/>
                          </a:solidFill>
                          <a:highlight>
                            <a:srgbClr val="B6D7A8"/>
                          </a:highlight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O método agg</a:t>
                      </a:r>
                      <a:endParaRPr>
                        <a:solidFill>
                          <a:srgbClr val="000000"/>
                        </a:solidFill>
                        <a:highlight>
                          <a:srgbClr val="B6D7A8"/>
                        </a:highlight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Montserrat Medium"/>
                        <a:buChar char="●"/>
                      </a:pPr>
                      <a:r>
                        <a:rPr lang="en-US">
                          <a:solidFill>
                            <a:srgbClr val="000000"/>
                          </a:solidFill>
                          <a:highlight>
                            <a:srgbClr val="B6D7A8"/>
                          </a:highlight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Agregações personalizadas</a:t>
                      </a:r>
                      <a:endParaRPr>
                        <a:highlight>
                          <a:srgbClr val="B6D7A8"/>
                        </a:highlight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1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500">
                          <a:solidFill>
                            <a:schemeClr val="dk1"/>
                          </a:solidFill>
                          <a:highlight>
                            <a:srgbClr val="B6D7A8"/>
                          </a:highlight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9</a:t>
                      </a:r>
                      <a:r>
                        <a:rPr b="1" lang="en-US" sz="1500">
                          <a:solidFill>
                            <a:schemeClr val="dk1"/>
                          </a:solidFill>
                          <a:highlight>
                            <a:srgbClr val="B6D7A8"/>
                          </a:highlight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. Conectando com Bancos SQL</a:t>
                      </a:r>
                      <a:endParaRPr b="1" sz="1500">
                        <a:solidFill>
                          <a:schemeClr val="dk1"/>
                        </a:solidFill>
                        <a:highlight>
                          <a:srgbClr val="B6D7A8"/>
                        </a:highlight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-317500" lvl="0" marL="457200" rtl="0" algn="l"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Montserrat Medium"/>
                        <a:buChar char="●"/>
                      </a:pPr>
                      <a:r>
                        <a:rPr lang="en-US">
                          <a:solidFill>
                            <a:schemeClr val="dk1"/>
                          </a:solidFill>
                          <a:highlight>
                            <a:srgbClr val="B6D7A8"/>
                          </a:highlight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Importando dados</a:t>
                      </a:r>
                      <a:endParaRPr>
                        <a:solidFill>
                          <a:schemeClr val="dk1"/>
                        </a:solidFill>
                        <a:highlight>
                          <a:srgbClr val="B6D7A8"/>
                        </a:highlight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Montserrat Medium"/>
                        <a:buChar char="●"/>
                      </a:pPr>
                      <a:r>
                        <a:rPr lang="en-US">
                          <a:solidFill>
                            <a:schemeClr val="dk1"/>
                          </a:solidFill>
                          <a:highlight>
                            <a:srgbClr val="B6D7A8"/>
                          </a:highlight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Executando Queries</a:t>
                      </a:r>
                      <a:endParaRPr>
                        <a:solidFill>
                          <a:schemeClr val="dk1"/>
                        </a:solidFill>
                        <a:highlight>
                          <a:srgbClr val="B6D7A8"/>
                        </a:highlight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Montserrat Medium"/>
                        <a:buChar char="●"/>
                      </a:pPr>
                      <a:r>
                        <a:rPr lang="en-US">
                          <a:solidFill>
                            <a:schemeClr val="dk1"/>
                          </a:solidFill>
                          <a:highlight>
                            <a:srgbClr val="B6D7A8"/>
                          </a:highlight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Escrevendo dados</a:t>
                      </a:r>
                      <a:endParaRPr>
                        <a:highlight>
                          <a:srgbClr val="B6D7A8"/>
                        </a:highlight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8450" y="417225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9"/>
          <p:cNvSpPr txBox="1"/>
          <p:nvPr>
            <p:ph idx="4294967295" type="title"/>
          </p:nvPr>
        </p:nvSpPr>
        <p:spPr>
          <a:xfrm>
            <a:off x="800500" y="259715"/>
            <a:ext cx="6191400" cy="100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3600">
                <a:latin typeface="Montserrat"/>
                <a:ea typeface="Montserrat"/>
                <a:cs typeface="Montserrat"/>
                <a:sym typeface="Montserrat"/>
              </a:rPr>
              <a:t>Combinados</a:t>
            </a:r>
            <a:endParaRPr sz="36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2" name="Google Shape;152;p19"/>
          <p:cNvSpPr txBox="1"/>
          <p:nvPr/>
        </p:nvSpPr>
        <p:spPr>
          <a:xfrm>
            <a:off x="844250" y="1337675"/>
            <a:ext cx="11001300" cy="30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800"/>
              <a:buFont typeface="Montserrat"/>
              <a:buChar char="●"/>
            </a:pPr>
            <a:r>
              <a:rPr b="0" i="0" lang="en-US" sz="1800" u="none" cap="none" strike="noStrike">
                <a:solidFill>
                  <a:srgbClr val="374151"/>
                </a:solidFill>
                <a:latin typeface="Montserrat"/>
                <a:ea typeface="Montserrat"/>
                <a:cs typeface="Montserrat"/>
                <a:sym typeface="Montserrat"/>
              </a:rPr>
              <a:t>Sempre das </a:t>
            </a:r>
            <a:r>
              <a:rPr b="1" lang="en-US" sz="1800">
                <a:solidFill>
                  <a:srgbClr val="374151"/>
                </a:solidFill>
                <a:latin typeface="Montserrat"/>
                <a:ea typeface="Montserrat"/>
                <a:cs typeface="Montserrat"/>
                <a:sym typeface="Montserrat"/>
              </a:rPr>
              <a:t>8AM às ~10:30AM</a:t>
            </a:r>
            <a:r>
              <a:rPr b="0" i="0" lang="en-US" sz="1800" u="none" cap="none" strike="noStrike">
                <a:solidFill>
                  <a:srgbClr val="374151"/>
                </a:solidFill>
                <a:latin typeface="Montserrat"/>
                <a:ea typeface="Montserrat"/>
                <a:cs typeface="Montserrat"/>
                <a:sym typeface="Montserrat"/>
              </a:rPr>
              <a:t> estaremos online</a:t>
            </a:r>
            <a:endParaRPr b="0" i="0" sz="1800" u="none" cap="none" strike="noStrike">
              <a:solidFill>
                <a:srgbClr val="37415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37415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800"/>
              <a:buFont typeface="Montserrat"/>
              <a:buChar char="●"/>
            </a:pPr>
            <a:r>
              <a:rPr b="0" i="0" lang="en-US" sz="1800" u="none" cap="none" strike="noStrike">
                <a:solidFill>
                  <a:srgbClr val="374151"/>
                </a:solidFill>
                <a:latin typeface="Montserrat"/>
                <a:ea typeface="Montserrat"/>
                <a:cs typeface="Montserrat"/>
                <a:sym typeface="Montserrat"/>
              </a:rPr>
              <a:t>Notificações serão </a:t>
            </a:r>
            <a:r>
              <a:rPr b="1" i="0" lang="en-US" sz="1800" u="none" cap="none" strike="noStrike">
                <a:solidFill>
                  <a:srgbClr val="374151"/>
                </a:solidFill>
                <a:latin typeface="Montserrat"/>
                <a:ea typeface="Montserrat"/>
                <a:cs typeface="Montserrat"/>
                <a:sym typeface="Montserrat"/>
              </a:rPr>
              <a:t>desligadas</a:t>
            </a:r>
            <a:r>
              <a:rPr b="0" i="0" lang="en-US" sz="1800" u="none" cap="none" strike="noStrike">
                <a:solidFill>
                  <a:srgbClr val="374151"/>
                </a:solidFill>
                <a:latin typeface="Montserrat"/>
                <a:ea typeface="Montserrat"/>
                <a:cs typeface="Montserrat"/>
                <a:sym typeface="Montserrat"/>
              </a:rPr>
              <a:t>, mas sua contribuição é sempre bem-vinda</a:t>
            </a:r>
            <a:endParaRPr b="0" i="0" sz="1800" u="none" cap="none" strike="noStrike">
              <a:solidFill>
                <a:srgbClr val="37415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37415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800"/>
              <a:buFont typeface="Montserrat"/>
              <a:buChar char="●"/>
            </a:pPr>
            <a:r>
              <a:rPr b="0" i="0" lang="en-US" sz="1800" u="none" cap="none" strike="noStrike">
                <a:solidFill>
                  <a:srgbClr val="374151"/>
                </a:solidFill>
                <a:latin typeface="Montserrat"/>
                <a:ea typeface="Montserrat"/>
                <a:cs typeface="Montserrat"/>
                <a:sym typeface="Montserrat"/>
              </a:rPr>
              <a:t>Quando houver ADs, a explicação é </a:t>
            </a:r>
            <a:r>
              <a:rPr b="1" i="0" lang="en-US" sz="1800" u="none" cap="none" strike="noStrike">
                <a:solidFill>
                  <a:srgbClr val="374151"/>
                </a:solidFill>
                <a:latin typeface="Montserrat"/>
                <a:ea typeface="Montserrat"/>
                <a:cs typeface="Montserrat"/>
                <a:sym typeface="Montserrat"/>
              </a:rPr>
              <a:t>pausada</a:t>
            </a:r>
            <a:endParaRPr b="1" i="0" sz="1800" u="none" cap="none" strike="noStrike">
              <a:solidFill>
                <a:srgbClr val="37415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37415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800"/>
              <a:buFont typeface="Montserrat"/>
              <a:buChar char="●"/>
            </a:pPr>
            <a:r>
              <a:rPr b="0" i="0" lang="en-US" sz="1800" u="none" cap="none" strike="noStrike">
                <a:solidFill>
                  <a:srgbClr val="374151"/>
                </a:solidFill>
                <a:latin typeface="Montserrat"/>
                <a:ea typeface="Montserrat"/>
                <a:cs typeface="Montserrat"/>
                <a:sym typeface="Montserrat"/>
              </a:rPr>
              <a:t>Evite </a:t>
            </a:r>
            <a:r>
              <a:rPr b="1" i="0" lang="en-US" sz="1800" u="none" cap="none" strike="noStrike">
                <a:solidFill>
                  <a:srgbClr val="374151"/>
                </a:solidFill>
                <a:latin typeface="Montserrat"/>
                <a:ea typeface="Montserrat"/>
                <a:cs typeface="Montserrat"/>
                <a:sym typeface="Montserrat"/>
              </a:rPr>
              <a:t>spamar</a:t>
            </a:r>
            <a:r>
              <a:rPr b="0" i="0" lang="en-US" sz="1800" u="none" cap="none" strike="noStrike">
                <a:solidFill>
                  <a:srgbClr val="374151"/>
                </a:solidFill>
                <a:latin typeface="Montserrat"/>
                <a:ea typeface="Montserrat"/>
                <a:cs typeface="Montserrat"/>
                <a:sym typeface="Montserrat"/>
              </a:rPr>
              <a:t> a mesma coisa no chat, moderadores estarão de olho</a:t>
            </a:r>
            <a:endParaRPr b="0" i="0" sz="1800" u="none" cap="none" strike="noStrike">
              <a:solidFill>
                <a:srgbClr val="37415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37415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800"/>
              <a:buFont typeface="Montserrat"/>
              <a:buChar char="●"/>
            </a:pPr>
            <a:r>
              <a:rPr b="0" i="0" lang="en-US" sz="1800" u="none" cap="none" strike="noStrike">
                <a:solidFill>
                  <a:srgbClr val="374151"/>
                </a:solidFill>
                <a:latin typeface="Montserrat"/>
                <a:ea typeface="Montserrat"/>
                <a:cs typeface="Montserrat"/>
                <a:sym typeface="Montserrat"/>
              </a:rPr>
              <a:t>Comentários discriminatórios e babacas receberam </a:t>
            </a:r>
            <a:r>
              <a:rPr b="1" i="0" lang="en-US" sz="1800" u="none" cap="none" strike="noStrike">
                <a:solidFill>
                  <a:srgbClr val="374151"/>
                </a:solidFill>
                <a:latin typeface="Montserrat"/>
                <a:ea typeface="Montserrat"/>
                <a:cs typeface="Montserrat"/>
                <a:sym typeface="Montserrat"/>
              </a:rPr>
              <a:t>banimento</a:t>
            </a:r>
            <a:r>
              <a:rPr b="0" i="0" lang="en-US" sz="1800" u="none" cap="none" strike="noStrike">
                <a:solidFill>
                  <a:srgbClr val="374151"/>
                </a:solidFill>
                <a:latin typeface="Montserrat"/>
                <a:ea typeface="Montserrat"/>
                <a:cs typeface="Montserrat"/>
                <a:sym typeface="Montserrat"/>
              </a:rPr>
              <a:t> sem aviso prévio</a:t>
            </a:r>
            <a:endParaRPr b="0" i="0" sz="1800" u="none" cap="none" strike="noStrike">
              <a:solidFill>
                <a:srgbClr val="37415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8450" y="417225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20"/>
          <p:cNvSpPr txBox="1"/>
          <p:nvPr>
            <p:ph idx="4294967295" type="title"/>
          </p:nvPr>
        </p:nvSpPr>
        <p:spPr>
          <a:xfrm>
            <a:off x="800500" y="259715"/>
            <a:ext cx="6191400" cy="100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3600">
                <a:latin typeface="Montserrat"/>
                <a:ea typeface="Montserrat"/>
                <a:cs typeface="Montserrat"/>
                <a:sym typeface="Montserrat"/>
              </a:rPr>
              <a:t>Avisos</a:t>
            </a:r>
            <a:endParaRPr sz="36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0" name="Google Shape;160;p20"/>
          <p:cNvSpPr txBox="1"/>
          <p:nvPr/>
        </p:nvSpPr>
        <p:spPr>
          <a:xfrm>
            <a:off x="844250" y="1337675"/>
            <a:ext cx="11001300" cy="43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Char char="●"/>
            </a:pPr>
            <a:r>
              <a:rPr lang="en-US" sz="2000">
                <a:solidFill>
                  <a:srgbClr val="374151"/>
                </a:solidFill>
                <a:latin typeface="Montserrat"/>
                <a:ea typeface="Montserrat"/>
                <a:cs typeface="Montserrat"/>
                <a:sym typeface="Montserrat"/>
              </a:rPr>
              <a:t>Entre para nossa comunidade: </a:t>
            </a:r>
            <a:r>
              <a:rPr b="1" lang="en-US" sz="20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4"/>
              </a:rPr>
              <a:t>comunidade.teomewhy.org</a:t>
            </a:r>
            <a:endParaRPr b="1" sz="2000">
              <a:solidFill>
                <a:srgbClr val="37415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556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2000"/>
              <a:buFont typeface="Montserrat"/>
              <a:buChar char="●"/>
            </a:pPr>
            <a:r>
              <a:rPr b="0" i="0" lang="en-US" sz="2000" u="none" cap="none" strike="noStrike">
                <a:solidFill>
                  <a:srgbClr val="374151"/>
                </a:solidFill>
                <a:latin typeface="Montserrat"/>
                <a:ea typeface="Montserrat"/>
                <a:cs typeface="Montserrat"/>
                <a:sym typeface="Montserrat"/>
              </a:rPr>
              <a:t>Este é </a:t>
            </a:r>
            <a:r>
              <a:rPr lang="en-US" sz="2000">
                <a:solidFill>
                  <a:srgbClr val="374151"/>
                </a:solidFill>
                <a:latin typeface="Montserrat"/>
                <a:ea typeface="Montserrat"/>
                <a:cs typeface="Montserrat"/>
                <a:sym typeface="Montserrat"/>
              </a:rPr>
              <a:t>um</a:t>
            </a:r>
            <a:r>
              <a:rPr b="0" i="0" lang="en-US" sz="2000" u="none" cap="none" strike="noStrike">
                <a:solidFill>
                  <a:srgbClr val="374151"/>
                </a:solidFill>
                <a:latin typeface="Montserrat"/>
                <a:ea typeface="Montserrat"/>
                <a:cs typeface="Montserrat"/>
                <a:sym typeface="Montserrat"/>
              </a:rPr>
              <a:t> curso de </a:t>
            </a:r>
            <a:r>
              <a:rPr lang="en-US" sz="2000">
                <a:solidFill>
                  <a:srgbClr val="374151"/>
                </a:solidFill>
                <a:latin typeface="Montserrat"/>
                <a:ea typeface="Montserrat"/>
                <a:cs typeface="Montserrat"/>
                <a:sym typeface="Montserrat"/>
              </a:rPr>
              <a:t>Pandas </a:t>
            </a:r>
            <a:r>
              <a:rPr b="0" i="0" lang="en-US" sz="2000" u="none" cap="none" strike="noStrike">
                <a:solidFill>
                  <a:srgbClr val="374151"/>
                </a:solidFill>
                <a:latin typeface="Montserrat"/>
                <a:ea typeface="Montserrat"/>
                <a:cs typeface="Montserrat"/>
                <a:sym typeface="Montserrat"/>
              </a:rPr>
              <a:t>básico/iniciante, tenha paciência</a:t>
            </a:r>
            <a:endParaRPr b="0" i="0" sz="2000" u="none" cap="none" strike="noStrike">
              <a:solidFill>
                <a:srgbClr val="37415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556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2000"/>
              <a:buFont typeface="Montserrat"/>
              <a:buChar char="●"/>
            </a:pPr>
            <a:r>
              <a:rPr b="0" i="0" lang="en-US" sz="2000" u="none" cap="none" strike="noStrike">
                <a:solidFill>
                  <a:srgbClr val="374151"/>
                </a:solidFill>
                <a:latin typeface="Montserrat"/>
                <a:ea typeface="Montserrat"/>
                <a:cs typeface="Montserrat"/>
                <a:sym typeface="Montserrat"/>
              </a:rPr>
              <a:t>Nosso foco é o básico bem feito</a:t>
            </a:r>
            <a:endParaRPr b="0" i="0" sz="2000" u="none" cap="none" strike="noStrike">
              <a:solidFill>
                <a:srgbClr val="37415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37415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37415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37415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2000"/>
              <a:buFont typeface="Montserrat"/>
              <a:buChar char="●"/>
            </a:pPr>
            <a:r>
              <a:rPr b="0" i="0" lang="en-US" sz="2000" u="none" cap="none" strike="noStrike">
                <a:solidFill>
                  <a:srgbClr val="374151"/>
                </a:solidFill>
                <a:latin typeface="Montserrat"/>
                <a:ea typeface="Montserrat"/>
                <a:cs typeface="Montserrat"/>
                <a:sym typeface="Montserrat"/>
              </a:rPr>
              <a:t>Tem algo que não abordei?</a:t>
            </a:r>
            <a:endParaRPr b="1" i="0" sz="2000" u="none" cap="none" strike="noStrike">
              <a:solidFill>
                <a:srgbClr val="37415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37415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2000"/>
              <a:buFont typeface="Montserrat"/>
              <a:buChar char="●"/>
            </a:pPr>
            <a:r>
              <a:rPr b="0" i="0" lang="en-US" sz="2000" u="none" cap="none" strike="noStrike">
                <a:solidFill>
                  <a:srgbClr val="374151"/>
                </a:solidFill>
                <a:latin typeface="Montserrat"/>
                <a:ea typeface="Montserrat"/>
                <a:cs typeface="Montserrat"/>
                <a:sym typeface="Montserrat"/>
              </a:rPr>
              <a:t>Tem algo que você explicaria diferente?</a:t>
            </a:r>
            <a:endParaRPr b="0" i="0" sz="2000" u="none" cap="none" strike="noStrike">
              <a:solidFill>
                <a:srgbClr val="37415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37415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2000"/>
              <a:buFont typeface="Montserrat"/>
              <a:buChar char="●"/>
            </a:pPr>
            <a:r>
              <a:rPr b="0" i="0" lang="en-US" sz="2000" u="none" cap="none" strike="noStrike">
                <a:solidFill>
                  <a:srgbClr val="374151"/>
                </a:solidFill>
                <a:latin typeface="Montserrat"/>
                <a:ea typeface="Montserrat"/>
                <a:cs typeface="Montserrat"/>
                <a:sym typeface="Montserrat"/>
              </a:rPr>
              <a:t>Tem algo mais complexo que deixei passar?</a:t>
            </a:r>
            <a:endParaRPr b="0" i="0" sz="2000" u="none" cap="none" strike="noStrike">
              <a:solidFill>
                <a:srgbClr val="37415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61" name="Google Shape;161;p20"/>
          <p:cNvGrpSpPr/>
          <p:nvPr/>
        </p:nvGrpSpPr>
        <p:grpSpPr>
          <a:xfrm>
            <a:off x="7602950" y="4209475"/>
            <a:ext cx="4111950" cy="865800"/>
            <a:chOff x="7461925" y="3229650"/>
            <a:chExt cx="4111950" cy="865800"/>
          </a:xfrm>
        </p:grpSpPr>
        <p:sp>
          <p:nvSpPr>
            <p:cNvPr id="162" name="Google Shape;162;p20"/>
            <p:cNvSpPr/>
            <p:nvPr/>
          </p:nvSpPr>
          <p:spPr>
            <a:xfrm>
              <a:off x="7461925" y="3429000"/>
              <a:ext cx="934500" cy="467100"/>
            </a:xfrm>
            <a:prstGeom prst="notchedRightArrow">
              <a:avLst>
                <a:gd fmla="val 50000" name="adj1"/>
                <a:gd fmla="val 50000" name="adj2"/>
              </a:avLst>
            </a:prstGeom>
            <a:solidFill>
              <a:srgbClr val="D9D9D9"/>
            </a:solidFill>
            <a:ln cap="flat" cmpd="sng" w="28575">
              <a:solidFill>
                <a:srgbClr val="43434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" name="Google Shape;163;p20"/>
            <p:cNvSpPr txBox="1"/>
            <p:nvPr/>
          </p:nvSpPr>
          <p:spPr>
            <a:xfrm>
              <a:off x="8321275" y="3229650"/>
              <a:ext cx="3252600" cy="86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en-US" sz="2400" u="none" cap="none" strike="noStrike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Faça um vídeo/material</a:t>
              </a:r>
              <a:endParaRPr b="1" i="0" sz="2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164" name="Google Shape;164;p20"/>
          <p:cNvSpPr/>
          <p:nvPr/>
        </p:nvSpPr>
        <p:spPr>
          <a:xfrm>
            <a:off x="7170450" y="3731100"/>
            <a:ext cx="326100" cy="18264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Google Shape;17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8450" y="417225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21"/>
          <p:cNvSpPr txBox="1"/>
          <p:nvPr>
            <p:ph idx="4294967295" type="title"/>
          </p:nvPr>
        </p:nvSpPr>
        <p:spPr>
          <a:xfrm>
            <a:off x="800500" y="259715"/>
            <a:ext cx="6191400" cy="100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3600">
                <a:latin typeface="Montserrat"/>
                <a:ea typeface="Montserrat"/>
                <a:cs typeface="Montserrat"/>
                <a:sym typeface="Montserrat"/>
              </a:rPr>
              <a:t>Avisos</a:t>
            </a:r>
            <a:endParaRPr sz="36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2" name="Google Shape;172;p21"/>
          <p:cNvSpPr txBox="1"/>
          <p:nvPr/>
        </p:nvSpPr>
        <p:spPr>
          <a:xfrm>
            <a:off x="844250" y="1337675"/>
            <a:ext cx="11001300" cy="327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900">
                <a:solidFill>
                  <a:srgbClr val="374151"/>
                </a:solidFill>
                <a:latin typeface="Montserrat"/>
                <a:ea typeface="Montserrat"/>
                <a:cs typeface="Montserrat"/>
                <a:sym typeface="Montserrat"/>
              </a:rPr>
              <a:t>Vai ficar gravado?</a:t>
            </a:r>
            <a:endParaRPr b="1" sz="2900">
              <a:solidFill>
                <a:srgbClr val="37415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37415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374151"/>
                </a:solidFill>
                <a:latin typeface="Montserrat"/>
                <a:ea typeface="Montserrat"/>
                <a:cs typeface="Montserrat"/>
                <a:sym typeface="Montserrat"/>
              </a:rPr>
              <a:t>Sim!</a:t>
            </a:r>
            <a:endParaRPr sz="2800">
              <a:solidFill>
                <a:srgbClr val="37415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37415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2000"/>
              <a:buFont typeface="Montserrat"/>
              <a:buChar char="●"/>
            </a:pPr>
            <a:r>
              <a:rPr lang="en-US" sz="2000">
                <a:solidFill>
                  <a:srgbClr val="374151"/>
                </a:solidFill>
                <a:latin typeface="Montserrat"/>
                <a:ea typeface="Montserrat"/>
                <a:cs typeface="Montserrat"/>
                <a:sym typeface="Montserrat"/>
              </a:rPr>
              <a:t>As gravações irão para o YouTube e estarão no VODs da Twitch;</a:t>
            </a:r>
            <a:endParaRPr sz="2000">
              <a:solidFill>
                <a:srgbClr val="37415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2000"/>
              <a:buFont typeface="Montserrat"/>
              <a:buChar char="●"/>
            </a:pPr>
            <a:r>
              <a:rPr lang="en-US" sz="2000">
                <a:solidFill>
                  <a:srgbClr val="374151"/>
                </a:solidFill>
                <a:latin typeface="Montserrat"/>
                <a:ea typeface="Montserrat"/>
                <a:cs typeface="Montserrat"/>
                <a:sym typeface="Montserrat"/>
              </a:rPr>
              <a:t>Membros e Subs terão acesso antecipado;</a:t>
            </a:r>
            <a:endParaRPr sz="2000">
              <a:solidFill>
                <a:srgbClr val="37415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2000"/>
              <a:buFont typeface="Montserrat"/>
              <a:buChar char="●"/>
            </a:pPr>
            <a:r>
              <a:rPr lang="en-US" sz="2000">
                <a:solidFill>
                  <a:srgbClr val="374151"/>
                </a:solidFill>
                <a:latin typeface="Montserrat"/>
                <a:ea typeface="Montserrat"/>
                <a:cs typeface="Montserrat"/>
                <a:sym typeface="Montserrat"/>
              </a:rPr>
              <a:t>Semana que vem, liberamos todas as gravações</a:t>
            </a:r>
            <a:endParaRPr sz="2000">
              <a:solidFill>
                <a:srgbClr val="37415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8450" y="417225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22"/>
          <p:cNvSpPr txBox="1"/>
          <p:nvPr>
            <p:ph idx="4294967295" type="title"/>
          </p:nvPr>
        </p:nvSpPr>
        <p:spPr>
          <a:xfrm>
            <a:off x="800500" y="259715"/>
            <a:ext cx="6191400" cy="100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3600">
                <a:latin typeface="Montserrat SemiBold"/>
                <a:ea typeface="Montserrat SemiBold"/>
                <a:cs typeface="Montserrat SemiBold"/>
                <a:sym typeface="Montserrat SemiBold"/>
              </a:rPr>
              <a:t>Instalação</a:t>
            </a:r>
            <a:endParaRPr sz="36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80" name="Google Shape;180;p22"/>
          <p:cNvSpPr txBox="1"/>
          <p:nvPr/>
        </p:nvSpPr>
        <p:spPr>
          <a:xfrm>
            <a:off x="938725" y="1315650"/>
            <a:ext cx="10054200" cy="36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2000"/>
              <a:buFont typeface="Montserrat"/>
              <a:buChar char="●"/>
            </a:pPr>
            <a:r>
              <a:rPr b="1" lang="en-US" sz="2000">
                <a:solidFill>
                  <a:srgbClr val="374151"/>
                </a:solidFill>
                <a:latin typeface="Montserrat"/>
                <a:ea typeface="Montserrat"/>
                <a:cs typeface="Montserrat"/>
                <a:sym typeface="Montserrat"/>
              </a:rPr>
              <a:t>Downloads:</a:t>
            </a:r>
            <a:endParaRPr b="1" sz="2000">
              <a:solidFill>
                <a:srgbClr val="37415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556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2000"/>
              <a:buFont typeface="Montserrat"/>
              <a:buChar char="○"/>
            </a:pPr>
            <a:r>
              <a:rPr b="1" lang="en-US" sz="2000">
                <a:solidFill>
                  <a:srgbClr val="374151"/>
                </a:solidFill>
                <a:latin typeface="Montserrat"/>
                <a:ea typeface="Montserrat"/>
                <a:cs typeface="Montserrat"/>
                <a:sym typeface="Montserrat"/>
              </a:rPr>
              <a:t>Anaconda: </a:t>
            </a:r>
            <a:r>
              <a:rPr lang="en-US" sz="20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4"/>
              </a:rPr>
              <a:t>www.anaconda.com/download</a:t>
            </a:r>
            <a:endParaRPr sz="2000">
              <a:solidFill>
                <a:srgbClr val="37415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556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2000"/>
              <a:buFont typeface="Montserrat"/>
              <a:buChar char="○"/>
            </a:pPr>
            <a:r>
              <a:rPr b="1" lang="en-US" sz="2000">
                <a:solidFill>
                  <a:srgbClr val="374151"/>
                </a:solidFill>
                <a:latin typeface="Montserrat"/>
                <a:ea typeface="Montserrat"/>
                <a:cs typeface="Montserrat"/>
                <a:sym typeface="Montserrat"/>
              </a:rPr>
              <a:t>Visual Studio Code:</a:t>
            </a:r>
            <a:r>
              <a:rPr lang="en-US" sz="2000">
                <a:solidFill>
                  <a:srgbClr val="37415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0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5"/>
              </a:rPr>
              <a:t>code.visualstudio.com/</a:t>
            </a:r>
            <a:endParaRPr b="1" sz="2000">
              <a:solidFill>
                <a:srgbClr val="37415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556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2000"/>
              <a:buFont typeface="Montserrat"/>
              <a:buChar char="○"/>
            </a:pPr>
            <a:r>
              <a:rPr b="1" lang="en-US" sz="2000">
                <a:solidFill>
                  <a:srgbClr val="374151"/>
                </a:solidFill>
                <a:latin typeface="Montserrat"/>
                <a:ea typeface="Montserrat"/>
                <a:cs typeface="Montserrat"/>
                <a:sym typeface="Montserrat"/>
              </a:rPr>
              <a:t>Extensão Jupyter Notebook:</a:t>
            </a:r>
            <a:r>
              <a:rPr lang="en-US" sz="2000">
                <a:solidFill>
                  <a:srgbClr val="37415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0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6"/>
              </a:rPr>
              <a:t>marketplace.visualstudio.com/items?itemName=ms-toolsai.jupyter</a:t>
            </a:r>
            <a:endParaRPr sz="16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-3556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2000"/>
              <a:buFont typeface="Montserrat"/>
              <a:buChar char="●"/>
            </a:pPr>
            <a:r>
              <a:rPr b="1" lang="en-US" sz="2000">
                <a:solidFill>
                  <a:srgbClr val="374151"/>
                </a:solidFill>
                <a:latin typeface="Montserrat"/>
                <a:ea typeface="Montserrat"/>
                <a:cs typeface="Montserrat"/>
                <a:sym typeface="Montserrat"/>
              </a:rPr>
              <a:t>Instalação:</a:t>
            </a:r>
            <a:endParaRPr b="1" sz="2000">
              <a:solidFill>
                <a:srgbClr val="37415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556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2000"/>
              <a:buFont typeface="Montserrat Medium"/>
              <a:buChar char="○"/>
            </a:pPr>
            <a:r>
              <a:rPr lang="en-US" sz="2000">
                <a:solidFill>
                  <a:srgbClr val="37415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pip install pandas</a:t>
            </a:r>
            <a:endParaRPr sz="2000">
              <a:solidFill>
                <a:srgbClr val="37415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8450" y="3008025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3"/>
          <p:cNvSpPr txBox="1"/>
          <p:nvPr>
            <p:ph idx="4294967295" type="title"/>
          </p:nvPr>
        </p:nvSpPr>
        <p:spPr>
          <a:xfrm>
            <a:off x="800500" y="2850515"/>
            <a:ext cx="6191400" cy="100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3600">
                <a:latin typeface="Montserrat SemiBold"/>
                <a:ea typeface="Montserrat SemiBold"/>
                <a:cs typeface="Montserrat SemiBold"/>
                <a:sym typeface="Montserrat SemiBold"/>
              </a:rPr>
              <a:t>Dados</a:t>
            </a:r>
            <a:endParaRPr sz="36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88" name="Google Shape;188;p23"/>
          <p:cNvSpPr txBox="1"/>
          <p:nvPr/>
        </p:nvSpPr>
        <p:spPr>
          <a:xfrm>
            <a:off x="938725" y="3906450"/>
            <a:ext cx="10918500" cy="22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374151"/>
                </a:solidFill>
                <a:latin typeface="Montserrat"/>
                <a:ea typeface="Montserrat"/>
                <a:cs typeface="Montserrat"/>
                <a:sym typeface="Montserrat"/>
              </a:rPr>
              <a:t>Vamos utilizar a base de dados do nosso sistema de pontos.</a:t>
            </a:r>
            <a:endParaRPr b="1" sz="2000">
              <a:solidFill>
                <a:srgbClr val="37415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374151"/>
                </a:solidFill>
                <a:latin typeface="Montserrat"/>
                <a:ea typeface="Montserrat"/>
                <a:cs typeface="Montserrat"/>
                <a:sym typeface="Montserrat"/>
              </a:rPr>
              <a:t>Para isso, baixe os dados no kaggle:</a:t>
            </a:r>
            <a:endParaRPr b="1" sz="2000">
              <a:solidFill>
                <a:srgbClr val="37415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4"/>
              </a:rPr>
              <a:t>https://www.kaggle.com/datasets/teocalvo/teomewhy-loyalty-system</a:t>
            </a:r>
            <a:endParaRPr sz="1800">
              <a:solidFill>
                <a:srgbClr val="37415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374151"/>
                </a:solidFill>
                <a:latin typeface="Montserrat"/>
                <a:ea typeface="Montserrat"/>
                <a:cs typeface="Montserrat"/>
                <a:sym typeface="Montserrat"/>
              </a:rPr>
              <a:t>Vamos utiliza também um database em SQLite:</a:t>
            </a:r>
            <a:endParaRPr b="1" sz="2000">
              <a:solidFill>
                <a:srgbClr val="37415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5"/>
              </a:rPr>
              <a:t>https://drive.google.com/file/d/1qUfY4JK7e9AZFfxyK3-rvAkrHiOt0-9L/view?usp=sharing</a:t>
            </a:r>
            <a:endParaRPr sz="1800">
              <a:solidFill>
                <a:srgbClr val="37415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89" name="Google Shape;189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8450" y="264825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3"/>
          <p:cNvSpPr txBox="1"/>
          <p:nvPr>
            <p:ph idx="4294967295" type="title"/>
          </p:nvPr>
        </p:nvSpPr>
        <p:spPr>
          <a:xfrm>
            <a:off x="800500" y="107315"/>
            <a:ext cx="6191400" cy="100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3600">
                <a:latin typeface="Montserrat SemiBold"/>
                <a:ea typeface="Montserrat SemiBold"/>
                <a:cs typeface="Montserrat SemiBold"/>
                <a:sym typeface="Montserrat SemiBold"/>
              </a:rPr>
              <a:t>Código</a:t>
            </a:r>
            <a:endParaRPr sz="36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91" name="Google Shape;191;p23"/>
          <p:cNvSpPr txBox="1"/>
          <p:nvPr/>
        </p:nvSpPr>
        <p:spPr>
          <a:xfrm>
            <a:off x="938725" y="1163250"/>
            <a:ext cx="10054200" cy="13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374151"/>
                </a:solidFill>
                <a:latin typeface="Montserrat"/>
                <a:ea typeface="Montserrat"/>
                <a:cs typeface="Montserrat"/>
                <a:sym typeface="Montserrat"/>
              </a:rPr>
              <a:t>Todo código realizado durante o treinamento está disponível no GitHub:</a:t>
            </a:r>
            <a:endParaRPr b="1" sz="2000">
              <a:solidFill>
                <a:srgbClr val="37415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6"/>
              </a:rPr>
              <a:t>https://github.com/TeoMeWhy/pandas-2025</a:t>
            </a:r>
            <a:endParaRPr sz="1800">
              <a:solidFill>
                <a:srgbClr val="37415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37415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Google Shape;197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8450" y="417225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4"/>
          <p:cNvSpPr txBox="1"/>
          <p:nvPr>
            <p:ph idx="4294967295" type="title"/>
          </p:nvPr>
        </p:nvSpPr>
        <p:spPr>
          <a:xfrm>
            <a:off x="800500" y="259715"/>
            <a:ext cx="6191400" cy="100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3600">
                <a:latin typeface="Montserrat SemiBold"/>
                <a:ea typeface="Montserrat SemiBold"/>
                <a:cs typeface="Montserrat SemiBold"/>
                <a:sym typeface="Montserrat SemiBold"/>
              </a:rPr>
              <a:t>Estruturas essenciais</a:t>
            </a:r>
            <a:endParaRPr sz="36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99" name="Google Shape;199;p24"/>
          <p:cNvSpPr txBox="1"/>
          <p:nvPr>
            <p:ph idx="4294967295" type="title"/>
          </p:nvPr>
        </p:nvSpPr>
        <p:spPr>
          <a:xfrm>
            <a:off x="844250" y="2402240"/>
            <a:ext cx="6191400" cy="100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2700">
                <a:latin typeface="Montserrat Medium"/>
                <a:ea typeface="Montserrat Medium"/>
                <a:cs typeface="Montserrat Medium"/>
                <a:sym typeface="Montserrat Medium"/>
              </a:rPr>
              <a:t>Series</a:t>
            </a:r>
            <a:endParaRPr sz="27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200" name="Google Shape;200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4250" y="3223021"/>
            <a:ext cx="3581150" cy="149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4"/>
          <p:cNvSpPr txBox="1"/>
          <p:nvPr>
            <p:ph idx="4294967295" type="title"/>
          </p:nvPr>
        </p:nvSpPr>
        <p:spPr>
          <a:xfrm>
            <a:off x="7149200" y="2402240"/>
            <a:ext cx="6191400" cy="100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2700">
                <a:latin typeface="Montserrat Medium"/>
                <a:ea typeface="Montserrat Medium"/>
                <a:cs typeface="Montserrat Medium"/>
                <a:sym typeface="Montserrat Medium"/>
              </a:rPr>
              <a:t>Dataframe</a:t>
            </a:r>
            <a:endParaRPr sz="27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202" name="Google Shape;202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49200" y="3223021"/>
            <a:ext cx="3581150" cy="149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" name="Google Shape;208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8450" y="417225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5"/>
          <p:cNvSpPr txBox="1"/>
          <p:nvPr>
            <p:ph idx="4294967295" type="title"/>
          </p:nvPr>
        </p:nvSpPr>
        <p:spPr>
          <a:xfrm>
            <a:off x="800500" y="259715"/>
            <a:ext cx="6191400" cy="100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3600">
                <a:latin typeface="Montserrat SemiBold"/>
                <a:ea typeface="Montserrat SemiBold"/>
                <a:cs typeface="Montserrat SemiBold"/>
                <a:sym typeface="Montserrat SemiBold"/>
              </a:rPr>
              <a:t>Estruturas essenciais</a:t>
            </a:r>
            <a:endParaRPr sz="36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10" name="Google Shape;210;p25"/>
          <p:cNvSpPr txBox="1"/>
          <p:nvPr>
            <p:ph idx="4294967295" type="title"/>
          </p:nvPr>
        </p:nvSpPr>
        <p:spPr>
          <a:xfrm>
            <a:off x="844250" y="2402240"/>
            <a:ext cx="6191400" cy="100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2700">
                <a:latin typeface="Montserrat Medium"/>
                <a:ea typeface="Montserrat Medium"/>
                <a:cs typeface="Montserrat Medium"/>
                <a:sym typeface="Montserrat Medium"/>
              </a:rPr>
              <a:t>Series</a:t>
            </a:r>
            <a:endParaRPr sz="27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211" name="Google Shape;211;p25"/>
          <p:cNvPicPr preferRelativeResize="0"/>
          <p:nvPr/>
        </p:nvPicPr>
        <p:blipFill rotWithShape="1">
          <a:blip r:embed="rId4">
            <a:alphaModFix/>
          </a:blip>
          <a:srcRect b="0" l="-12062" r="-4815" t="0"/>
          <a:stretch/>
        </p:blipFill>
        <p:spPr>
          <a:xfrm>
            <a:off x="158450" y="3223025"/>
            <a:ext cx="6083550" cy="1956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" name="Google Shape;217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8450" y="417225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26"/>
          <p:cNvSpPr txBox="1"/>
          <p:nvPr>
            <p:ph idx="4294967295" type="title"/>
          </p:nvPr>
        </p:nvSpPr>
        <p:spPr>
          <a:xfrm>
            <a:off x="800500" y="259715"/>
            <a:ext cx="6191400" cy="100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3600">
                <a:latin typeface="Montserrat SemiBold"/>
                <a:ea typeface="Montserrat SemiBold"/>
                <a:cs typeface="Montserrat SemiBold"/>
                <a:sym typeface="Montserrat SemiBold"/>
              </a:rPr>
              <a:t>Estruturas essenciais</a:t>
            </a:r>
            <a:endParaRPr sz="36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19" name="Google Shape;219;p26"/>
          <p:cNvSpPr txBox="1"/>
          <p:nvPr>
            <p:ph idx="4294967295" type="title"/>
          </p:nvPr>
        </p:nvSpPr>
        <p:spPr>
          <a:xfrm>
            <a:off x="844250" y="1183040"/>
            <a:ext cx="6191400" cy="100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2700">
                <a:latin typeface="Montserrat Medium"/>
                <a:ea typeface="Montserrat Medium"/>
                <a:cs typeface="Montserrat Medium"/>
                <a:sym typeface="Montserrat Medium"/>
              </a:rPr>
              <a:t>Dataframe</a:t>
            </a:r>
            <a:endParaRPr sz="27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220" name="Google Shape;220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0500" y="2045875"/>
            <a:ext cx="6083550" cy="402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Google Shape;226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8450" y="417225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7"/>
          <p:cNvSpPr txBox="1"/>
          <p:nvPr>
            <p:ph idx="4294967295" type="title"/>
          </p:nvPr>
        </p:nvSpPr>
        <p:spPr>
          <a:xfrm>
            <a:off x="800500" y="259725"/>
            <a:ext cx="9325800" cy="100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3600">
                <a:latin typeface="Montserrat SemiBold"/>
                <a:ea typeface="Montserrat SemiBold"/>
                <a:cs typeface="Montserrat SemiBold"/>
                <a:sym typeface="Montserrat SemiBold"/>
              </a:rPr>
              <a:t>Lendo e escrevendo arquivos</a:t>
            </a:r>
            <a:endParaRPr sz="36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228" name="Google Shape;228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4250" y="2413025"/>
            <a:ext cx="5121576" cy="21274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Google Shape;234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8450" y="417225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8"/>
          <p:cNvSpPr txBox="1"/>
          <p:nvPr>
            <p:ph idx="4294967295" type="title"/>
          </p:nvPr>
        </p:nvSpPr>
        <p:spPr>
          <a:xfrm>
            <a:off x="800500" y="259725"/>
            <a:ext cx="9325800" cy="100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3600">
                <a:latin typeface="Montserrat SemiBold"/>
                <a:ea typeface="Montserrat SemiBold"/>
                <a:cs typeface="Montserrat SemiBold"/>
                <a:sym typeface="Montserrat SemiBold"/>
              </a:rPr>
              <a:t>Exercícios 02</a:t>
            </a:r>
            <a:endParaRPr sz="36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36" name="Google Shape;236;p28"/>
          <p:cNvSpPr txBox="1"/>
          <p:nvPr>
            <p:ph idx="4294967295" type="title"/>
          </p:nvPr>
        </p:nvSpPr>
        <p:spPr>
          <a:xfrm>
            <a:off x="844250" y="2090900"/>
            <a:ext cx="9325800" cy="231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Font typeface="Montserrat"/>
              <a:buChar char="-"/>
            </a:pPr>
            <a:r>
              <a:rPr lang="en-US" sz="2200">
                <a:latin typeface="Montserrat"/>
                <a:ea typeface="Montserrat"/>
                <a:cs typeface="Montserrat"/>
                <a:sym typeface="Montserrat"/>
              </a:rPr>
              <a:t>Leia o arquivo </a:t>
            </a:r>
            <a:r>
              <a:rPr b="1" lang="en-US" sz="2200">
                <a:latin typeface="Montserrat"/>
                <a:ea typeface="Montserrat"/>
                <a:cs typeface="Montserrat"/>
                <a:sym typeface="Montserrat"/>
              </a:rPr>
              <a:t>transacoes.csv</a:t>
            </a:r>
            <a:r>
              <a:rPr lang="en-US" sz="2200">
                <a:latin typeface="Montserrat"/>
                <a:ea typeface="Montserrat"/>
                <a:cs typeface="Montserrat"/>
                <a:sym typeface="Montserrat"/>
              </a:rPr>
              <a:t> com a formatação correta;</a:t>
            </a:r>
            <a:endParaRPr sz="2200">
              <a:latin typeface="Montserrat"/>
              <a:ea typeface="Montserrat"/>
              <a:cs typeface="Montserrat"/>
              <a:sym typeface="Montserrat"/>
            </a:endParaRPr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Font typeface="Montserrat"/>
              <a:buChar char="-"/>
            </a:pPr>
            <a:r>
              <a:rPr lang="en-US" sz="2200">
                <a:latin typeface="Montserrat"/>
                <a:ea typeface="Montserrat"/>
                <a:cs typeface="Montserrat"/>
                <a:sym typeface="Montserrat"/>
              </a:rPr>
              <a:t>Adicione uma coluna com </a:t>
            </a:r>
            <a:r>
              <a:rPr b="1" lang="en-US" sz="2200">
                <a:latin typeface="Montserrat"/>
                <a:ea typeface="Montserrat"/>
                <a:cs typeface="Montserrat"/>
                <a:sym typeface="Montserrat"/>
              </a:rPr>
              <a:t>valores 1</a:t>
            </a:r>
            <a:r>
              <a:rPr lang="en-US" sz="2200">
                <a:latin typeface="Montserrat"/>
                <a:ea typeface="Montserrat"/>
                <a:cs typeface="Montserrat"/>
                <a:sym typeface="Montserrat"/>
              </a:rPr>
              <a:t>;</a:t>
            </a:r>
            <a:endParaRPr sz="2200">
              <a:latin typeface="Montserrat"/>
              <a:ea typeface="Montserrat"/>
              <a:cs typeface="Montserrat"/>
              <a:sym typeface="Montserrat"/>
            </a:endParaRPr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Font typeface="Montserrat"/>
              <a:buChar char="-"/>
            </a:pPr>
            <a:r>
              <a:rPr lang="en-US" sz="2200">
                <a:latin typeface="Montserrat"/>
                <a:ea typeface="Montserrat"/>
                <a:cs typeface="Montserrat"/>
                <a:sym typeface="Montserrat"/>
              </a:rPr>
              <a:t>Salve o dataframe com nome: </a:t>
            </a:r>
            <a:r>
              <a:rPr b="1" lang="en-US" sz="2200">
                <a:latin typeface="Montserrat"/>
                <a:ea typeface="Montserrat"/>
                <a:cs typeface="Montserrat"/>
                <a:sym typeface="Montserrat"/>
              </a:rPr>
              <a:t>transacoes_1.csv</a:t>
            </a:r>
            <a:endParaRPr b="1" sz="22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2" name="Google Shape;242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8450" y="417225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9"/>
          <p:cNvSpPr txBox="1"/>
          <p:nvPr>
            <p:ph idx="4294967295" type="title"/>
          </p:nvPr>
        </p:nvSpPr>
        <p:spPr>
          <a:xfrm>
            <a:off x="800500" y="259725"/>
            <a:ext cx="9325800" cy="100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3600">
                <a:latin typeface="Montserrat SemiBold"/>
                <a:ea typeface="Montserrat SemiBold"/>
                <a:cs typeface="Montserrat SemiBold"/>
                <a:sym typeface="Montserrat SemiBold"/>
              </a:rPr>
              <a:t>Exercícios 03</a:t>
            </a:r>
            <a:endParaRPr sz="36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44" name="Google Shape;244;p29"/>
          <p:cNvSpPr txBox="1"/>
          <p:nvPr>
            <p:ph idx="4294967295" type="title"/>
          </p:nvPr>
        </p:nvSpPr>
        <p:spPr>
          <a:xfrm>
            <a:off x="844250" y="1523250"/>
            <a:ext cx="112791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Font typeface="Montserrat"/>
              <a:buChar char="●"/>
            </a:pPr>
            <a:r>
              <a:rPr lang="en-US" sz="2200">
                <a:latin typeface="Montserrat"/>
                <a:ea typeface="Montserrat"/>
                <a:cs typeface="Montserrat"/>
                <a:sym typeface="Montserrat"/>
              </a:rPr>
              <a:t>03.01 - Quantas linhas há no arquivo </a:t>
            </a:r>
            <a:r>
              <a:rPr b="1" lang="en-US" sz="2200">
                <a:latin typeface="Montserrat"/>
                <a:ea typeface="Montserrat"/>
                <a:cs typeface="Montserrat"/>
                <a:sym typeface="Montserrat"/>
              </a:rPr>
              <a:t>clientes.csv</a:t>
            </a:r>
            <a:r>
              <a:rPr lang="en-US" sz="2200">
                <a:latin typeface="Montserrat"/>
                <a:ea typeface="Montserrat"/>
                <a:cs typeface="Montserrat"/>
                <a:sym typeface="Montserrat"/>
              </a:rPr>
              <a:t> ?</a:t>
            </a:r>
            <a:endParaRPr sz="2200">
              <a:latin typeface="Montserrat"/>
              <a:ea typeface="Montserrat"/>
              <a:cs typeface="Montserrat"/>
              <a:sym typeface="Montserrat"/>
            </a:endParaRPr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Font typeface="Montserrat"/>
              <a:buChar char="●"/>
            </a:pPr>
            <a:r>
              <a:rPr lang="en-US" sz="2200">
                <a:latin typeface="Montserrat"/>
                <a:ea typeface="Montserrat"/>
                <a:cs typeface="Montserrat"/>
                <a:sym typeface="Montserrat"/>
              </a:rPr>
              <a:t>03.02 - Quantas colunas do tipo </a:t>
            </a:r>
            <a:r>
              <a:rPr b="1" lang="en-US" sz="2200">
                <a:latin typeface="Montserrat"/>
                <a:ea typeface="Montserrat"/>
                <a:cs typeface="Montserrat"/>
                <a:sym typeface="Montserrat"/>
              </a:rPr>
              <a:t>int</a:t>
            </a:r>
            <a:r>
              <a:rPr lang="en-US" sz="2200">
                <a:latin typeface="Montserrat"/>
                <a:ea typeface="Montserrat"/>
                <a:cs typeface="Montserrat"/>
                <a:sym typeface="Montserrat"/>
              </a:rPr>
              <a:t> há no arquivo </a:t>
            </a:r>
            <a:r>
              <a:rPr b="1" lang="en-US" sz="2200">
                <a:latin typeface="Montserrat"/>
                <a:ea typeface="Montserrat"/>
                <a:cs typeface="Montserrat"/>
                <a:sym typeface="Montserrat"/>
              </a:rPr>
              <a:t>transacoes.csv</a:t>
            </a:r>
            <a:r>
              <a:rPr lang="en-US" sz="2200">
                <a:latin typeface="Montserrat"/>
                <a:ea typeface="Montserrat"/>
                <a:cs typeface="Montserrat"/>
                <a:sym typeface="Montserrat"/>
              </a:rPr>
              <a:t> ?</a:t>
            </a:r>
            <a:endParaRPr sz="2200">
              <a:latin typeface="Montserrat"/>
              <a:ea typeface="Montserrat"/>
              <a:cs typeface="Montserrat"/>
              <a:sym typeface="Montserrat"/>
            </a:endParaRPr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Font typeface="Montserrat"/>
              <a:buChar char="●"/>
            </a:pPr>
            <a:r>
              <a:rPr lang="en-US" sz="2200">
                <a:latin typeface="Montserrat"/>
                <a:ea typeface="Montserrat"/>
                <a:cs typeface="Montserrat"/>
                <a:sym typeface="Montserrat"/>
              </a:rPr>
              <a:t>03.03 - Quantas colunas do tipo object há no arquivo </a:t>
            </a:r>
            <a:r>
              <a:rPr b="1" lang="en-US" sz="2200">
                <a:latin typeface="Montserrat"/>
                <a:ea typeface="Montserrat"/>
                <a:cs typeface="Montserrat"/>
                <a:sym typeface="Montserrat"/>
              </a:rPr>
              <a:t>produtos.csv</a:t>
            </a:r>
            <a:r>
              <a:rPr lang="en-US" sz="2200">
                <a:latin typeface="Montserrat"/>
                <a:ea typeface="Montserrat"/>
                <a:cs typeface="Montserrat"/>
                <a:sym typeface="Montserrat"/>
              </a:rPr>
              <a:t> ?</a:t>
            </a:r>
            <a:endParaRPr sz="2200">
              <a:latin typeface="Montserrat"/>
              <a:ea typeface="Montserrat"/>
              <a:cs typeface="Montserrat"/>
              <a:sym typeface="Montserrat"/>
            </a:endParaRPr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Font typeface="Montserrat"/>
              <a:buChar char="●"/>
            </a:pPr>
            <a:r>
              <a:rPr lang="en-US" sz="2200">
                <a:latin typeface="Montserrat"/>
                <a:ea typeface="Montserrat"/>
                <a:cs typeface="Montserrat"/>
                <a:sym typeface="Montserrat"/>
              </a:rPr>
              <a:t>03.04 - Qual o id do cliente no índice 4 no arquivo </a:t>
            </a:r>
            <a:r>
              <a:rPr b="1" lang="en-US" sz="2200">
                <a:latin typeface="Montserrat"/>
                <a:ea typeface="Montserrat"/>
                <a:cs typeface="Montserrat"/>
                <a:sym typeface="Montserrat"/>
              </a:rPr>
              <a:t>clientes.csv</a:t>
            </a:r>
            <a:r>
              <a:rPr lang="en-US" sz="2200">
                <a:latin typeface="Montserrat"/>
                <a:ea typeface="Montserrat"/>
                <a:cs typeface="Montserrat"/>
                <a:sym typeface="Montserrat"/>
              </a:rPr>
              <a:t> ?</a:t>
            </a:r>
            <a:endParaRPr sz="2200">
              <a:latin typeface="Montserrat"/>
              <a:ea typeface="Montserrat"/>
              <a:cs typeface="Montserrat"/>
              <a:sym typeface="Montserrat"/>
            </a:endParaRPr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Font typeface="Montserrat"/>
              <a:buChar char="●"/>
            </a:pPr>
            <a:r>
              <a:rPr lang="en-US" sz="2200">
                <a:latin typeface="Montserrat"/>
                <a:ea typeface="Montserrat"/>
                <a:cs typeface="Montserrat"/>
                <a:sym typeface="Montserrat"/>
              </a:rPr>
              <a:t>03.05 - Qual o saldo de pontos do cliente na 10a posição (sem ordenar) do arquivo </a:t>
            </a:r>
            <a:r>
              <a:rPr b="1" lang="en-US" sz="2200">
                <a:latin typeface="Montserrat"/>
                <a:ea typeface="Montserrat"/>
                <a:cs typeface="Montserrat"/>
                <a:sym typeface="Montserrat"/>
              </a:rPr>
              <a:t>clientes.csv</a:t>
            </a:r>
            <a:r>
              <a:rPr lang="en-US" sz="2200">
                <a:latin typeface="Montserrat"/>
                <a:ea typeface="Montserrat"/>
                <a:cs typeface="Montserrat"/>
                <a:sym typeface="Montserrat"/>
              </a:rPr>
              <a:t> ?</a:t>
            </a:r>
            <a:endParaRPr sz="22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0" name="Google Shape;250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8450" y="417225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30"/>
          <p:cNvSpPr txBox="1"/>
          <p:nvPr>
            <p:ph idx="4294967295" type="title"/>
          </p:nvPr>
        </p:nvSpPr>
        <p:spPr>
          <a:xfrm>
            <a:off x="800500" y="259725"/>
            <a:ext cx="9325800" cy="100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3600">
                <a:latin typeface="Montserrat SemiBold"/>
                <a:ea typeface="Montserrat SemiBold"/>
                <a:cs typeface="Montserrat SemiBold"/>
                <a:sym typeface="Montserrat SemiBold"/>
              </a:rPr>
              <a:t>Exercícios 04</a:t>
            </a:r>
            <a:endParaRPr sz="36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52" name="Google Shape;252;p30"/>
          <p:cNvSpPr txBox="1"/>
          <p:nvPr>
            <p:ph idx="4294967295" type="title"/>
          </p:nvPr>
        </p:nvSpPr>
        <p:spPr>
          <a:xfrm>
            <a:off x="844250" y="2090900"/>
            <a:ext cx="11279100" cy="231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Font typeface="Montserrat"/>
              <a:buChar char="●"/>
            </a:pPr>
            <a:r>
              <a:rPr lang="en-US" sz="2200">
                <a:latin typeface="Montserrat"/>
                <a:ea typeface="Montserrat"/>
                <a:cs typeface="Montserrat"/>
                <a:sym typeface="Montserrat"/>
              </a:rPr>
              <a:t>04.01 - Quantos clientes tem vínculo com a Twitch?</a:t>
            </a:r>
            <a:endParaRPr sz="2200">
              <a:latin typeface="Montserrat"/>
              <a:ea typeface="Montserrat"/>
              <a:cs typeface="Montserrat"/>
              <a:sym typeface="Montserrat"/>
            </a:endParaRPr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Font typeface="Montserrat"/>
              <a:buChar char="●"/>
            </a:pPr>
            <a:r>
              <a:rPr lang="en-US" sz="2200">
                <a:latin typeface="Montserrat"/>
                <a:ea typeface="Montserrat"/>
                <a:cs typeface="Montserrat"/>
                <a:sym typeface="Montserrat"/>
              </a:rPr>
              <a:t>04.02 - Quantos clientes tem um saldo de pontos maior que 1000?</a:t>
            </a:r>
            <a:endParaRPr sz="2200">
              <a:latin typeface="Montserrat"/>
              <a:ea typeface="Montserrat"/>
              <a:cs typeface="Montserrat"/>
              <a:sym typeface="Montserrat"/>
            </a:endParaRPr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Font typeface="Montserrat"/>
              <a:buChar char="●"/>
            </a:pPr>
            <a:r>
              <a:rPr lang="en-US" sz="2200">
                <a:latin typeface="Montserrat"/>
                <a:ea typeface="Montserrat"/>
                <a:cs typeface="Montserrat"/>
                <a:sym typeface="Montserrat"/>
              </a:rPr>
              <a:t>04.03 - Quantas transaç</a:t>
            </a:r>
            <a:r>
              <a:rPr lang="en-US" sz="2200">
                <a:latin typeface="Montserrat"/>
                <a:ea typeface="Montserrat"/>
                <a:cs typeface="Montserrat"/>
                <a:sym typeface="Montserrat"/>
              </a:rPr>
              <a:t>ões ocorreram no dia 2025-02-01?</a:t>
            </a:r>
            <a:endParaRPr sz="22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8" name="Google Shape;258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8450" y="417225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31"/>
          <p:cNvSpPr txBox="1"/>
          <p:nvPr>
            <p:ph idx="4294967295" type="title"/>
          </p:nvPr>
        </p:nvSpPr>
        <p:spPr>
          <a:xfrm>
            <a:off x="800500" y="259725"/>
            <a:ext cx="9325800" cy="100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3600">
                <a:latin typeface="Montserrat SemiBold"/>
                <a:ea typeface="Montserrat SemiBold"/>
                <a:cs typeface="Montserrat SemiBold"/>
                <a:sym typeface="Montserrat SemiBold"/>
              </a:rPr>
              <a:t>Exercícios 05</a:t>
            </a:r>
            <a:endParaRPr sz="36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60" name="Google Shape;260;p31"/>
          <p:cNvSpPr txBox="1"/>
          <p:nvPr>
            <p:ph idx="4294967295" type="title"/>
          </p:nvPr>
        </p:nvSpPr>
        <p:spPr>
          <a:xfrm>
            <a:off x="844250" y="2090900"/>
            <a:ext cx="11279100" cy="323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-35433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Montserrat"/>
              <a:buChar char="●"/>
            </a:pPr>
            <a:r>
              <a:rPr lang="en-US" sz="2200">
                <a:latin typeface="Montserrat"/>
                <a:ea typeface="Montserrat"/>
                <a:cs typeface="Montserrat"/>
                <a:sym typeface="Montserrat"/>
              </a:rPr>
              <a:t>05.01 - Crie uma coluna nova “twitch_points” que e resultado da multiplicaç</a:t>
            </a:r>
            <a:r>
              <a:rPr lang="en-US" sz="2200">
                <a:latin typeface="Montserrat"/>
                <a:ea typeface="Montserrat"/>
                <a:cs typeface="Montserrat"/>
                <a:sym typeface="Montserrat"/>
              </a:rPr>
              <a:t>ão do saldo de pontos e a marcação da twitch</a:t>
            </a:r>
            <a:endParaRPr sz="2200">
              <a:latin typeface="Montserrat"/>
              <a:ea typeface="Montserrat"/>
              <a:cs typeface="Montserrat"/>
              <a:sym typeface="Montserrat"/>
            </a:endParaRPr>
          </a:p>
          <a:p>
            <a:pPr indent="-35433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Montserrat"/>
              <a:buChar char="●"/>
            </a:pPr>
            <a:r>
              <a:rPr lang="en-US" sz="2200">
                <a:latin typeface="Montserrat"/>
                <a:ea typeface="Montserrat"/>
                <a:cs typeface="Montserrat"/>
                <a:sym typeface="Montserrat"/>
              </a:rPr>
              <a:t>05.02 - Aplique o log na coluna de saldo de pontos, criando uma coluna nova</a:t>
            </a:r>
            <a:endParaRPr sz="2200">
              <a:latin typeface="Montserrat"/>
              <a:ea typeface="Montserrat"/>
              <a:cs typeface="Montserrat"/>
              <a:sym typeface="Montserrat"/>
            </a:endParaRPr>
          </a:p>
          <a:p>
            <a:pPr indent="-35433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Montserrat"/>
              <a:buChar char="●"/>
            </a:pPr>
            <a:r>
              <a:rPr lang="en-US" sz="2200">
                <a:latin typeface="Montserrat"/>
                <a:ea typeface="Montserrat"/>
                <a:cs typeface="Montserrat"/>
                <a:sym typeface="Montserrat"/>
              </a:rPr>
              <a:t>05.03 - Crie uma coluna que sinalize se a pessoa tem vínculo com alguma (qualquer uma) plataforma de rede social.</a:t>
            </a:r>
            <a:endParaRPr sz="2200">
              <a:latin typeface="Montserrat"/>
              <a:ea typeface="Montserrat"/>
              <a:cs typeface="Montserrat"/>
              <a:sym typeface="Montserrat"/>
            </a:endParaRPr>
          </a:p>
          <a:p>
            <a:pPr indent="-35433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Montserrat"/>
              <a:buChar char="●"/>
            </a:pPr>
            <a:r>
              <a:rPr lang="en-US" sz="2200">
                <a:latin typeface="Montserrat"/>
                <a:ea typeface="Montserrat"/>
                <a:cs typeface="Montserrat"/>
                <a:sym typeface="Montserrat"/>
              </a:rPr>
              <a:t>05.04 - Qual é o id de cliente que tem maior saldo de pontos? E o menor?</a:t>
            </a:r>
            <a:endParaRPr sz="2200">
              <a:latin typeface="Montserrat"/>
              <a:ea typeface="Montserrat"/>
              <a:cs typeface="Montserrat"/>
              <a:sym typeface="Montserrat"/>
            </a:endParaRPr>
          </a:p>
          <a:p>
            <a:pPr indent="-35433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Montserrat"/>
              <a:buChar char="●"/>
            </a:pPr>
            <a:r>
              <a:rPr lang="en-US" sz="2200">
                <a:latin typeface="Montserrat"/>
                <a:ea typeface="Montserrat"/>
                <a:cs typeface="Montserrat"/>
                <a:sym typeface="Montserrat"/>
              </a:rPr>
              <a:t>05.05 - Selecione a primeira transaç</a:t>
            </a:r>
            <a:r>
              <a:rPr lang="en-US" sz="2200">
                <a:latin typeface="Montserrat"/>
                <a:ea typeface="Montserrat"/>
                <a:cs typeface="Montserrat"/>
                <a:sym typeface="Montserrat"/>
              </a:rPr>
              <a:t>ã</a:t>
            </a:r>
            <a:r>
              <a:rPr lang="en-US" sz="2200">
                <a:latin typeface="Montserrat"/>
                <a:ea typeface="Montserrat"/>
                <a:cs typeface="Montserrat"/>
                <a:sym typeface="Montserrat"/>
              </a:rPr>
              <a:t>o diária de cada cliente.</a:t>
            </a:r>
            <a:endParaRPr sz="22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" name="Google Shape;266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8450" y="417225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32"/>
          <p:cNvSpPr txBox="1"/>
          <p:nvPr>
            <p:ph idx="4294967295" type="title"/>
          </p:nvPr>
        </p:nvSpPr>
        <p:spPr>
          <a:xfrm>
            <a:off x="800500" y="259725"/>
            <a:ext cx="9325800" cy="100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3600">
                <a:latin typeface="Montserrat SemiBold"/>
                <a:ea typeface="Montserrat SemiBold"/>
                <a:cs typeface="Montserrat SemiBold"/>
                <a:sym typeface="Montserrat SemiBold"/>
              </a:rPr>
              <a:t>Exercícios 06</a:t>
            </a:r>
            <a:endParaRPr sz="36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68" name="Google Shape;268;p32"/>
          <p:cNvSpPr txBox="1"/>
          <p:nvPr>
            <p:ph idx="4294967295" type="title"/>
          </p:nvPr>
        </p:nvSpPr>
        <p:spPr>
          <a:xfrm>
            <a:off x="844250" y="1366250"/>
            <a:ext cx="11279100" cy="49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Font typeface="Montserrat"/>
              <a:buChar char="●"/>
            </a:pPr>
            <a:r>
              <a:rPr lang="en-US" sz="2200">
                <a:latin typeface="Montserrat"/>
                <a:ea typeface="Montserrat"/>
                <a:cs typeface="Montserrat"/>
                <a:sym typeface="Montserrat"/>
              </a:rPr>
              <a:t>06.01 - Qual a quantidade média de redes sociais dos usuários? E a Vari</a:t>
            </a:r>
            <a:r>
              <a:rPr lang="en-US" sz="2200">
                <a:latin typeface="Montserrat"/>
                <a:ea typeface="Montserrat"/>
                <a:cs typeface="Montserrat"/>
                <a:sym typeface="Montserrat"/>
              </a:rPr>
              <a:t>ância? E o máximo?</a:t>
            </a:r>
            <a:endParaRPr sz="2200">
              <a:latin typeface="Montserrat"/>
              <a:ea typeface="Montserrat"/>
              <a:cs typeface="Montserrat"/>
              <a:sym typeface="Montserrat"/>
            </a:endParaRPr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Font typeface="Montserrat"/>
              <a:buChar char="●"/>
            </a:pPr>
            <a:r>
              <a:rPr lang="en-US" sz="2200">
                <a:latin typeface="Montserrat"/>
                <a:ea typeface="Montserrat"/>
                <a:cs typeface="Montserrat"/>
                <a:sym typeface="Montserrat"/>
              </a:rPr>
              <a:t>06.02 - Quais s</a:t>
            </a:r>
            <a:r>
              <a:rPr lang="en-US" sz="2200">
                <a:latin typeface="Montserrat"/>
                <a:ea typeface="Montserrat"/>
                <a:cs typeface="Montserrat"/>
                <a:sym typeface="Montserrat"/>
              </a:rPr>
              <a:t>ão os usuários que mais fizeram transações? Considere os 10 primeiros.</a:t>
            </a:r>
            <a:endParaRPr sz="2200">
              <a:latin typeface="Montserrat"/>
              <a:ea typeface="Montserrat"/>
              <a:cs typeface="Montserrat"/>
              <a:sym typeface="Montserrat"/>
            </a:endParaRPr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Font typeface="Montserrat"/>
              <a:buChar char="●"/>
            </a:pPr>
            <a:r>
              <a:rPr lang="en-US" sz="2200">
                <a:latin typeface="Montserrat"/>
                <a:ea typeface="Montserrat"/>
                <a:cs typeface="Montserrat"/>
                <a:sym typeface="Montserrat"/>
              </a:rPr>
              <a:t>06.03 - Qual usuário teve maior quantidade de pontos debitados?</a:t>
            </a:r>
            <a:endParaRPr sz="2200">
              <a:latin typeface="Montserrat"/>
              <a:ea typeface="Montserrat"/>
              <a:cs typeface="Montserrat"/>
              <a:sym typeface="Montserrat"/>
            </a:endParaRPr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Font typeface="Montserrat"/>
              <a:buChar char="●"/>
            </a:pPr>
            <a:r>
              <a:rPr lang="en-US" sz="2200">
                <a:latin typeface="Montserrat"/>
                <a:ea typeface="Montserrat"/>
                <a:cs typeface="Montserrat"/>
                <a:sym typeface="Montserrat"/>
              </a:rPr>
              <a:t>06.04 - Quem teve mais transaç</a:t>
            </a:r>
            <a:r>
              <a:rPr lang="en-US" sz="2200">
                <a:latin typeface="Montserrat"/>
                <a:ea typeface="Montserrat"/>
                <a:cs typeface="Montserrat"/>
                <a:sym typeface="Montserrat"/>
              </a:rPr>
              <a:t>ões de Streak?</a:t>
            </a:r>
            <a:endParaRPr sz="2200">
              <a:latin typeface="Montserrat"/>
              <a:ea typeface="Montserrat"/>
              <a:cs typeface="Montserrat"/>
              <a:sym typeface="Montserrat"/>
            </a:endParaRPr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Font typeface="Montserrat"/>
              <a:buChar char="●"/>
            </a:pPr>
            <a:r>
              <a:rPr lang="en-US" sz="2200">
                <a:latin typeface="Montserrat"/>
                <a:ea typeface="Montserrat"/>
                <a:cs typeface="Montserrat"/>
                <a:sym typeface="Montserrat"/>
              </a:rPr>
              <a:t>06.05 - Qual a média de transaç</a:t>
            </a:r>
            <a:r>
              <a:rPr lang="en-US" sz="2200">
                <a:latin typeface="Montserrat"/>
                <a:ea typeface="Montserrat"/>
                <a:cs typeface="Montserrat"/>
                <a:sym typeface="Montserrat"/>
              </a:rPr>
              <a:t>ões / dia?</a:t>
            </a:r>
            <a:endParaRPr sz="2200">
              <a:latin typeface="Montserrat"/>
              <a:ea typeface="Montserrat"/>
              <a:cs typeface="Montserrat"/>
              <a:sym typeface="Montserrat"/>
            </a:endParaRPr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Font typeface="Montserrat"/>
              <a:buChar char="●"/>
            </a:pPr>
            <a:r>
              <a:rPr lang="en-US" sz="2200">
                <a:latin typeface="Montserrat"/>
                <a:ea typeface="Montserrat"/>
                <a:cs typeface="Montserrat"/>
                <a:sym typeface="Montserrat"/>
              </a:rPr>
              <a:t>06.06 - Como podemos calcular as estatísticas descritivas dos pontos das transações de cada usuário?</a:t>
            </a:r>
            <a:endParaRPr sz="22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3"/>
          <p:cNvSpPr txBox="1"/>
          <p:nvPr/>
        </p:nvSpPr>
        <p:spPr>
          <a:xfrm>
            <a:off x="17407" y="-209439"/>
            <a:ext cx="1460700" cy="1323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91425" spcFirstLastPara="1" rIns="91425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0"/>
              <a:buFont typeface="Arial"/>
              <a:buNone/>
            </a:pPr>
            <a:r>
              <a:rPr b="0" i="0" lang="en-US" sz="8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Big</a:t>
            </a:r>
            <a:endParaRPr b="0" i="0" sz="14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4" name="Google Shape;274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577" cy="5801332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33"/>
          <p:cNvSpPr/>
          <p:nvPr/>
        </p:nvSpPr>
        <p:spPr>
          <a:xfrm>
            <a:off x="352425" y="1937886"/>
            <a:ext cx="3486450" cy="6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91425" spcFirstLastPara="1" rIns="91425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0"/>
              <a:buFont typeface="Arial"/>
              <a:buNone/>
            </a:pPr>
            <a:r>
              <a:rPr b="0" i="0" lang="en-US" sz="3500" u="none" cap="none" strike="noStrike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stories need</a:t>
            </a:r>
            <a:endParaRPr b="0" i="0" sz="3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33"/>
          <p:cNvSpPr txBox="1"/>
          <p:nvPr/>
        </p:nvSpPr>
        <p:spPr>
          <a:xfrm>
            <a:off x="352425" y="590283"/>
            <a:ext cx="2933850" cy="1200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91425" spcFirstLastPara="1" rIns="91425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0"/>
              <a:buFont typeface="Arial"/>
              <a:buNone/>
            </a:pPr>
            <a:r>
              <a:rPr b="0" i="0" lang="en-US" sz="7250" u="none" cap="none" strike="noStrike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“Big </a:t>
            </a:r>
            <a:endParaRPr b="0" i="0" sz="7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33"/>
          <p:cNvSpPr/>
          <p:nvPr/>
        </p:nvSpPr>
        <p:spPr>
          <a:xfrm>
            <a:off x="1423988" y="2492058"/>
            <a:ext cx="4032568" cy="1092518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91425" spcFirstLastPara="1" rIns="91425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100"/>
              <a:buFont typeface="Arial"/>
              <a:buNone/>
            </a:pPr>
            <a:r>
              <a:rPr b="1" i="0" lang="en-US" sz="6050" u="none" cap="none" strike="noStrike">
                <a:solidFill>
                  <a:srgbClr val="3C78D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human</a:t>
            </a:r>
            <a:endParaRPr b="1" i="0" sz="6050" u="none" cap="none" strike="noStrike">
              <a:solidFill>
                <a:srgbClr val="3C78D8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78" name="Google Shape;278;p33"/>
          <p:cNvSpPr/>
          <p:nvPr/>
        </p:nvSpPr>
        <p:spPr>
          <a:xfrm>
            <a:off x="352434" y="3392960"/>
            <a:ext cx="2933850" cy="7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91425" spcFirstLastPara="1" rIns="91425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0"/>
              <a:buFont typeface="Arial"/>
              <a:buNone/>
            </a:pPr>
            <a:r>
              <a:rPr b="0" i="0" lang="en-US" sz="3500" u="none" cap="none" strike="noStrike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stakes”</a:t>
            </a:r>
            <a:endParaRPr b="0" i="0" sz="3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33"/>
          <p:cNvSpPr/>
          <p:nvPr/>
        </p:nvSpPr>
        <p:spPr>
          <a:xfrm>
            <a:off x="1424074" y="4286107"/>
            <a:ext cx="251445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91425" spcFirstLastPara="1" rIns="91425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Aaron Swartz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80" name="Google Shape;280;p33"/>
          <p:cNvGrpSpPr/>
          <p:nvPr/>
        </p:nvGrpSpPr>
        <p:grpSpPr>
          <a:xfrm>
            <a:off x="456198" y="6132566"/>
            <a:ext cx="3278947" cy="503232"/>
            <a:chOff x="360945" y="5025600"/>
            <a:chExt cx="2711105" cy="416100"/>
          </a:xfrm>
        </p:grpSpPr>
        <p:pic>
          <p:nvPicPr>
            <p:cNvPr id="281" name="Google Shape;281;p3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60945" y="5056650"/>
              <a:ext cx="354001" cy="3539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2" name="Google Shape;282;p33"/>
            <p:cNvSpPr txBox="1"/>
            <p:nvPr/>
          </p:nvSpPr>
          <p:spPr>
            <a:xfrm>
              <a:off x="714950" y="5025600"/>
              <a:ext cx="2357100" cy="41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10575" lIns="110575" spcFirstLastPara="1" rIns="110575" wrap="square" tIns="110575">
              <a:no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1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teo@teomewhy.org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83" name="Google Shape;283;p33"/>
          <p:cNvGrpSpPr/>
          <p:nvPr/>
        </p:nvGrpSpPr>
        <p:grpSpPr>
          <a:xfrm>
            <a:off x="4727967" y="6163767"/>
            <a:ext cx="3977005" cy="428129"/>
            <a:chOff x="3436149" y="5025599"/>
            <a:chExt cx="3288301" cy="354001"/>
          </a:xfrm>
        </p:grpSpPr>
        <p:sp>
          <p:nvSpPr>
            <p:cNvPr id="284" name="Google Shape;284;p33"/>
            <p:cNvSpPr txBox="1"/>
            <p:nvPr/>
          </p:nvSpPr>
          <p:spPr>
            <a:xfrm>
              <a:off x="3790150" y="5025600"/>
              <a:ext cx="2934300" cy="35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675" lIns="91425" spcFirstLastPara="1" rIns="91425" wrap="square" tIns="45675">
              <a:no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4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3C78D8"/>
                  </a:solidFill>
                  <a:uFill>
                    <a:noFill/>
                  </a:uFill>
                  <a:latin typeface="Arial"/>
                  <a:ea typeface="Arial"/>
                  <a:cs typeface="Arial"/>
                  <a:sym typeface="Arial"/>
                  <a:hlinkClick r:id="rId5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/teocalvo</a:t>
              </a:r>
              <a:endParaRPr b="0" i="0" sz="1600" u="none" cap="none" strike="noStrike">
                <a:solidFill>
                  <a:srgbClr val="3C78D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85" name="Google Shape;285;p3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3436149" y="5025599"/>
              <a:ext cx="354001" cy="35400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86" name="Google Shape;286;p33"/>
          <p:cNvGrpSpPr/>
          <p:nvPr/>
        </p:nvGrpSpPr>
        <p:grpSpPr>
          <a:xfrm>
            <a:off x="8625915" y="6163507"/>
            <a:ext cx="3416935" cy="441360"/>
            <a:chOff x="7131625" y="5020134"/>
            <a:chExt cx="2825400" cy="364941"/>
          </a:xfrm>
        </p:grpSpPr>
        <p:sp>
          <p:nvSpPr>
            <p:cNvPr id="287" name="Google Shape;287;p33"/>
            <p:cNvSpPr txBox="1"/>
            <p:nvPr/>
          </p:nvSpPr>
          <p:spPr>
            <a:xfrm>
              <a:off x="7485625" y="5049900"/>
              <a:ext cx="2471400" cy="30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10575" lIns="110575" spcFirstLastPara="1" rIns="110575" wrap="square" tIns="110575">
              <a:no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1" i="0" lang="en-US" sz="1400" u="none" cap="none" strike="noStrike">
                  <a:solidFill>
                    <a:srgbClr val="3C78D8"/>
                  </a:solidFill>
                  <a:latin typeface="Arial"/>
                  <a:ea typeface="Arial"/>
                  <a:cs typeface="Arial"/>
                  <a:sym typeface="Arial"/>
                </a:rPr>
                <a:t>/teomewhy</a:t>
              </a:r>
              <a:endParaRPr b="1" i="0" sz="1400" u="none" cap="none" strike="noStrike">
                <a:solidFill>
                  <a:srgbClr val="3C78D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88" name="Google Shape;288;p33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7131625" y="5020134"/>
              <a:ext cx="354000" cy="364941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4" name="Google Shape;294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78100" y="458475"/>
            <a:ext cx="685800" cy="68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" name="Google Shape;295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016300" y="458475"/>
            <a:ext cx="685800" cy="68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p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56400" y="4080100"/>
            <a:ext cx="685800" cy="68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p3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178100" y="1296675"/>
            <a:ext cx="685800" cy="68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" name="Google Shape;298;p3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694600" y="4080100"/>
            <a:ext cx="685800" cy="68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3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733000" y="152400"/>
            <a:ext cx="685800" cy="68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