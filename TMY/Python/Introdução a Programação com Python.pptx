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Lst>
  <p:sldSz cx="12192000" cy="6858000"/>
  <p:notesSz cx="7104063" cy="10234613"/>
  <p:embeddedFontLst>
    <p:embeddedFont>
      <p:font typeface="Arial Black" panose="020B0A04020102020204" pitchFamily="34" charset="0"/>
      <p:regular r:id="rId75"/>
      <p:bold r:id="rId76"/>
    </p:embeddedFont>
    <p:embeddedFont>
      <p:font typeface="Helvetica Neue" panose="020B0604020202020204" charset="0"/>
      <p:regular r:id="rId77"/>
      <p:bold r:id="rId78"/>
      <p:italic r:id="rId79"/>
      <p:boldItalic r:id="rId80"/>
    </p:embeddedFont>
    <p:embeddedFont>
      <p:font typeface="Montserrat" panose="00000500000000000000" pitchFamily="2" charset="0"/>
      <p:regular r:id="rId81"/>
      <p:bold r:id="rId82"/>
      <p:italic r:id="rId83"/>
      <p:boldItalic r:id="rId84"/>
    </p:embeddedFont>
    <p:embeddedFont>
      <p:font typeface="Montserrat Medium" panose="00000600000000000000" pitchFamily="2" charset="0"/>
      <p:regular r:id="rId85"/>
      <p:bold r:id="rId86"/>
      <p:italic r:id="rId87"/>
      <p:boldItalic r:id="rId88"/>
    </p:embeddedFont>
    <p:embeddedFont>
      <p:font typeface="Montserrat SemiBold" panose="00000700000000000000" pitchFamily="2" charset="0"/>
      <p:regular r:id="rId89"/>
      <p:bold r:id="rId90"/>
      <p:italic r:id="rId91"/>
      <p:boldItalic r:id="rId9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758">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guide orient="horz" pos="2160"/>
        <p:guide pos="375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0.fntdata"/><Relationship Id="rId89" Type="http://schemas.openxmlformats.org/officeDocument/2006/relationships/font" Target="fonts/font1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notesMaster" Target="notesMasters/notesMaster1.xml"/><Relationship Id="rId79"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font" Target="fonts/font16.fntdata"/><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font" Target="fonts/font6.fntdata"/><Relationship Id="rId85"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1.fntdata"/><Relationship Id="rId83" Type="http://schemas.openxmlformats.org/officeDocument/2006/relationships/font" Target="fonts/font9.fntdata"/><Relationship Id="rId88" Type="http://schemas.openxmlformats.org/officeDocument/2006/relationships/font" Target="fonts/font14.fntdata"/><Relationship Id="rId91" Type="http://schemas.openxmlformats.org/officeDocument/2006/relationships/font" Target="fonts/font17.fntdata"/><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4.fntdata"/><Relationship Id="rId81" Type="http://schemas.openxmlformats.org/officeDocument/2006/relationships/font" Target="fonts/font7.fntdata"/><Relationship Id="rId86" Type="http://schemas.openxmlformats.org/officeDocument/2006/relationships/font" Target="fonts/font12.fntdata"/><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2.fntdata"/><Relationship Id="rId97"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son Fagner" userId="766083af60d28191" providerId="LiveId" clId="{D87C208A-15A3-4EC7-964F-7E65DC55BFEE}"/>
    <pc:docChg chg="modSld">
      <pc:chgData name="Robson Fagner" userId="766083af60d28191" providerId="LiveId" clId="{D87C208A-15A3-4EC7-964F-7E65DC55BFEE}" dt="2026-06-28T08:54:16.339" v="5" actId="13926"/>
      <pc:docMkLst>
        <pc:docMk/>
      </pc:docMkLst>
      <pc:sldChg chg="modSp mod">
        <pc:chgData name="Robson Fagner" userId="766083af60d28191" providerId="LiveId" clId="{D87C208A-15A3-4EC7-964F-7E65DC55BFEE}" dt="2026-05-31T22:36:58.075" v="3" actId="13926"/>
        <pc:sldMkLst>
          <pc:docMk/>
          <pc:sldMk cId="0" sldId="280"/>
        </pc:sldMkLst>
        <pc:spChg chg="mod">
          <ac:chgData name="Robson Fagner" userId="766083af60d28191" providerId="LiveId" clId="{D87C208A-15A3-4EC7-964F-7E65DC55BFEE}" dt="2026-05-31T22:36:58.075" v="3" actId="13926"/>
          <ac:spMkLst>
            <pc:docMk/>
            <pc:sldMk cId="0" sldId="280"/>
            <ac:spMk id="402" creationId="{00000000-0000-0000-0000-000000000000}"/>
          </ac:spMkLst>
        </pc:spChg>
      </pc:sldChg>
      <pc:sldChg chg="modSp mod">
        <pc:chgData name="Robson Fagner" userId="766083af60d28191" providerId="LiveId" clId="{D87C208A-15A3-4EC7-964F-7E65DC55BFEE}" dt="2026-06-28T08:54:16.339" v="5" actId="13926"/>
        <pc:sldMkLst>
          <pc:docMk/>
          <pc:sldMk cId="0" sldId="292"/>
        </pc:sldMkLst>
        <pc:spChg chg="mod">
          <ac:chgData name="Robson Fagner" userId="766083af60d28191" providerId="LiveId" clId="{D87C208A-15A3-4EC7-964F-7E65DC55BFEE}" dt="2026-06-28T08:54:16.339" v="5" actId="13926"/>
          <ac:spMkLst>
            <pc:docMk/>
            <pc:sldMk cId="0" sldId="292"/>
            <ac:spMk id="49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8163" cy="51276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9pPr>
          </a:lstStyle>
          <a:p>
            <a:endParaRPr/>
          </a:p>
        </p:txBody>
      </p:sp>
      <p:sp>
        <p:nvSpPr>
          <p:cNvPr id="4" name="Google Shape;4;n"/>
          <p:cNvSpPr txBox="1">
            <a:spLocks noGrp="1"/>
          </p:cNvSpPr>
          <p:nvPr>
            <p:ph type="dt" idx="10"/>
          </p:nvPr>
        </p:nvSpPr>
        <p:spPr>
          <a:xfrm>
            <a:off x="4024313" y="0"/>
            <a:ext cx="3078162" cy="51276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9pPr>
          </a:lstStyle>
          <a:p>
            <a:endParaRPr/>
          </a:p>
        </p:txBody>
      </p:sp>
      <p:sp>
        <p:nvSpPr>
          <p:cNvPr id="5" name="Google Shape;5;n"/>
          <p:cNvSpPr>
            <a:spLocks noGrp="1" noRot="1" noChangeAspect="1"/>
          </p:cNvSpPr>
          <p:nvPr>
            <p:ph type="sldImg" idx="3"/>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9pPr>
          </a:lstStyle>
          <a:p>
            <a:endParaRPr/>
          </a:p>
        </p:txBody>
      </p:sp>
      <p:sp>
        <p:nvSpPr>
          <p:cNvPr id="7" name="Google Shape;7;n"/>
          <p:cNvSpPr txBox="1">
            <a:spLocks noGrp="1"/>
          </p:cNvSpPr>
          <p:nvPr>
            <p:ph type="ftr" idx="11"/>
          </p:nvPr>
        </p:nvSpPr>
        <p:spPr>
          <a:xfrm>
            <a:off x="0" y="9721850"/>
            <a:ext cx="3078163" cy="51276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SimSun"/>
                <a:ea typeface="SimSun"/>
                <a:cs typeface="SimSun"/>
                <a:sym typeface="SimSu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SimSun"/>
                <a:ea typeface="SimSun"/>
                <a:cs typeface="SimSun"/>
                <a:sym typeface="SimSun"/>
              </a:defRPr>
            </a:lvl9pPr>
          </a:lstStyle>
          <a:p>
            <a:endParaRPr/>
          </a:p>
        </p:txBody>
      </p:sp>
      <p:sp>
        <p:nvSpPr>
          <p:cNvPr id="8" name="Google Shape;8;n"/>
          <p:cNvSpPr txBox="1">
            <a:spLocks noGrp="1"/>
          </p:cNvSpPr>
          <p:nvPr>
            <p:ph type="sldNum" idx="12"/>
          </p:nvPr>
        </p:nvSpPr>
        <p:spPr>
          <a:xfrm>
            <a:off x="4024313" y="9721850"/>
            <a:ext cx="3078162" cy="51276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SimSun"/>
                <a:ea typeface="SimSun"/>
                <a:cs typeface="SimSun"/>
                <a:sym typeface="SimSun"/>
              </a:rPr>
              <a:t>‹#›</a:t>
            </a:fld>
            <a:endParaRPr sz="1200" b="0" i="0" u="none" strike="noStrike" cap="none">
              <a:solidFill>
                <a:schemeClr val="dk1"/>
              </a:solidFill>
              <a:latin typeface="SimSun"/>
              <a:ea typeface="SimSun"/>
              <a:cs typeface="SimSun"/>
              <a:sym typeface="SimSu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 name="Google Shape;54;p1: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d8abb6aada_3_0:notes"/>
          <p:cNvSpPr>
            <a:spLocks noGrp="1" noRot="1" noChangeAspect="1"/>
          </p:cNvSpPr>
          <p:nvPr>
            <p:ph type="sldImg" idx="2"/>
          </p:nvPr>
        </p:nvSpPr>
        <p:spPr>
          <a:xfrm>
            <a:off x="394962" y="767571"/>
            <a:ext cx="6314400" cy="38379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d8abb6aada_3_0:notes"/>
          <p:cNvSpPr txBox="1">
            <a:spLocks noGrp="1"/>
          </p:cNvSpPr>
          <p:nvPr>
            <p:ph type="body" idx="1"/>
          </p:nvPr>
        </p:nvSpPr>
        <p:spPr>
          <a:xfrm>
            <a:off x="710372" y="4861281"/>
            <a:ext cx="5682900" cy="4605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d8abb6aada_3_69: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 name="Google Shape;90;g2d8abb6aada_3_69: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1e4460966a3_0_13: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1e4460966a3_0_13: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g1e4460966a3_0_13: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e4460966a3_0_44: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g1e4460966a3_0_44: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g1e4460966a3_0_44: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e4460966a3_0_5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g1e4460966a3_0_52: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g1e4460966a3_0_52: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e4460966a3_0_22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1e4460966a3_0_227: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g1e4460966a3_0_227: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8f332ff29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2d8f332ff29_0_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 name="Google Shape;177;g2d8f332ff29_0_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2d8f332ff29_0_54: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g2d8f332ff29_0_54: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9" name="Google Shape;189;g2d8f332ff29_0_54: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e46857342d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g1e46857342d_0_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7" name="Google Shape;197;g1e46857342d_0_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txBox="1">
            <a:spLocks noGrp="1"/>
          </p:cNvSpPr>
          <p:nvPr>
            <p:ph type="body" idx="1"/>
          </p:nvPr>
        </p:nvSpPr>
        <p:spPr>
          <a:xfrm>
            <a:off x="711200" y="4926013"/>
            <a:ext cx="5683250" cy="40290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9: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e4460966a3_0_69: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2" name="Google Shape;212;g1e4460966a3_0_69: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e4460966a3_0_109: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g1e4460966a3_0_109: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e4460966a3_0_155: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g1e4460966a3_0_155: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1e4460966a3_0_18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g1e4460966a3_0_18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e4460966a3_0_208: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1e4460966a3_0_208: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1e4460966a3_0_208: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e4460966a3_0_21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g1e4460966a3_0_217: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g1e4460966a3_0_217: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f2c37e2905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1f2c37e2905_0_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1f2c37e2905_0_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1f2c37e2905_0_3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g1f2c37e2905_0_3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0" name="Google Shape;320;g1f2c37e2905_0_3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g1f2c37e2905_0_54: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g1f2c37e2905_0_54: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g1f2c37e2905_0_54: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1e4489fb4dc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g1e4489fb4dc_0_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4" name="Google Shape;364;g1e4489fb4dc_0_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1e4489fb4dc_0_15: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5" name="Google Shape;375;g1e4489fb4dc_0_15: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g1e4489fb4dc_0_15: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2bc8a8ce9cd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2bc8a8ce9cd_0_0: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g2bc8a8ce9cd_0_0: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f1b607fe51_0_9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1" name="Google Shape;391;g1f1b607fe51_0_92: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g1f1b607fe51_0_92: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f1b607fe51_0_103: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7" name="Google Shape;397;g1f1b607fe51_0_103: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8" name="Google Shape;398;g1f1b607fe51_0_103: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1f1b607fe51_0_11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5" name="Google Shape;405;g1f1b607fe51_0_112: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6" name="Google Shape;406;g1f1b607fe51_0_112: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2d8abb6aada_3_161: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4" name="Google Shape;414;g2d8abb6aada_3_161: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5" name="Google Shape;415;g2d8abb6aada_3_161: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8abb6aada_3_16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8abb6aada_3_167: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g2d8abb6aada_3_167: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d8abb6aada_3_175: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d8abb6aada_3_175: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0" name="Google Shape;430;g2d8abb6aada_3_175: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d8abb6aada_3_18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d8abb6aada_3_182: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g2d8abb6aada_3_182: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1f1b607fe51_0_12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g1f1b607fe51_0_122: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6" name="Google Shape;446;g1f1b607fe51_0_122: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1f1b607fe51_0_139: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g1f1b607fe51_0_139: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4" name="Google Shape;454;g1f1b607fe51_0_139: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2d8abb6aada_3_211: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2d8abb6aada_3_211: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2" name="Google Shape;462;g2d8abb6aada_3_211: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2d8abb6aada_3_218: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2d8abb6aada_3_218: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0" name="Google Shape;470;g2d8abb6aada_3_218: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d8abb6aada_3_196: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2d8abb6aada_3_196: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2d8abb6aada_3_196: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2d8abb6aada_3_204: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2d8abb6aada_3_204: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g2d8abb6aada_3_204: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2d8abb6aada_3_225: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g2d8abb6aada_3_225: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g2d8abb6aada_3_225: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8abb6aada_3_232: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8abb6aada_3_232: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g2d8abb6aada_3_232: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d8abb6aada_3_23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2d8abb6aada_3_237: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g2d8abb6aada_3_237: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d8abb6aada_3_24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d8abb6aada_3_247: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g2d8abb6aada_3_247: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g2d8abb6aada_3_257: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5" name="Google Shape;525;g2d8abb6aada_3_257:notes"/>
          <p:cNvSpPr txBox="1">
            <a:spLocks noGrp="1"/>
          </p:cNvSpPr>
          <p:nvPr>
            <p:ph type="body" idx="1"/>
          </p:nvPr>
        </p:nvSpPr>
        <p:spPr>
          <a:xfrm>
            <a:off x="711200" y="4926013"/>
            <a:ext cx="5683200" cy="4029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g2d8abb6aada_3_257:notes"/>
          <p:cNvSpPr txBox="1">
            <a:spLocks noGrp="1"/>
          </p:cNvSpPr>
          <p:nvPr>
            <p:ph type="sldNum" idx="12"/>
          </p:nvPr>
        </p:nvSpPr>
        <p:spPr>
          <a:xfrm>
            <a:off x="4024313" y="9721850"/>
            <a:ext cx="3078300" cy="512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1e455315dbc_0_0: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g1e455315dbc_0_0: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5" name="Google Shape;535;g1e455315dbc_0_0: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1e455315dbc_0_6: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g1e455315dbc_0_6: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g1e455315dbc_0_1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g1e455315dbc_0_1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1e455315dbc_0_16: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3" name="Google Shape;553;g1e455315dbc_0_16: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1e455315dbc_0_2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9" name="Google Shape;559;g1e455315dbc_0_2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g1e455315dbc_0_26: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5" name="Google Shape;565;g1e455315dbc_0_26: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g1e455315dbc_0_4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1" name="Google Shape;571;g1e455315dbc_0_4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e455315dbc_0_356: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g1e455315dbc_0_356: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8" name="Google Shape;578;g1e455315dbc_0_356: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2bc8a8ce9cd_0_8: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g2bc8a8ce9cd_0_8: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2bc8a8ce9cd_0_13: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g2bc8a8ce9cd_0_13: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g2570cad1f5f_0_34: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6" name="Google Shape;596;g2570cad1f5f_0_34: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g2570cad1f5f_0_19: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2" name="Google Shape;602;g2570cad1f5f_0_19: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2570cad1f5f_0_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g2570cad1f5f_0_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2570cad1f5f_0_6: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4" name="Google Shape;614;g2570cad1f5f_0_6: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g2570cad1f5f_0_1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0" name="Google Shape;620;g2570cad1f5f_0_1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e455315dbc_0_177: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9" name="Google Shape;629;g1e455315dbc_0_177: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g1e455315dbc_0_192: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5" name="Google Shape;635;g1e455315dbc_0_192: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1e455315dbc_0_197: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g1e455315dbc_0_197: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e455315dbc_0_207: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7" name="Google Shape;647;g1e455315dbc_0_207: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g1e455315dbc_0_212: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3" name="Google Shape;653;g1e455315dbc_0_212: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1e455315dbc_0_217: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1e455315dbc_0_217: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1e455315dbc_0_222: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1e455315dbc_0_222: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g1e461ede57e_0_0: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g1e461ede57e_0_0: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e461ede57e_0_29: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7" name="Google Shape;677;g1e461ede57e_0_29: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1e461ede57e_0_35: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g1e461ede57e_0_35: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3344f682a89_88_3: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9" name="Google Shape;689;g3344f682a89_88_3: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570cad1f5f_0_39: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570cad1f5f_0_39: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2d8abb6aada_3_266: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g2d8abb6aada_3_266: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d8abb6aada_3_271:notes"/>
          <p:cNvSpPr txBox="1">
            <a:spLocks noGrp="1"/>
          </p:cNvSpPr>
          <p:nvPr>
            <p:ph type="body" idx="1"/>
          </p:nvPr>
        </p:nvSpPr>
        <p:spPr>
          <a:xfrm>
            <a:off x="710372" y="4861281"/>
            <a:ext cx="5682900" cy="4605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g2d8abb6aada_3_271:notes"/>
          <p:cNvSpPr>
            <a:spLocks noGrp="1" noRot="1" noChangeAspect="1"/>
          </p:cNvSpPr>
          <p:nvPr>
            <p:ph type="sldImg" idx="2"/>
          </p:nvPr>
        </p:nvSpPr>
        <p:spPr>
          <a:xfrm>
            <a:off x="1184187" y="767571"/>
            <a:ext cx="4736100" cy="3837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53:notes"/>
          <p:cNvSpPr txBox="1">
            <a:spLocks noGrp="1"/>
          </p:cNvSpPr>
          <p:nvPr>
            <p:ph type="body" idx="1"/>
          </p:nvPr>
        </p:nvSpPr>
        <p:spPr>
          <a:xfrm>
            <a:off x="685800" y="4400550"/>
            <a:ext cx="5486400" cy="3600600"/>
          </a:xfrm>
          <a:prstGeom prst="rect">
            <a:avLst/>
          </a:prstGeom>
          <a:noFill/>
          <a:ln>
            <a:noFill/>
          </a:ln>
        </p:spPr>
        <p:txBody>
          <a:bodyPr spcFirstLastPara="1" wrap="square" lIns="81350" tIns="81350" rIns="81350" bIns="81350" anchor="t" anchorCtr="0">
            <a:noAutofit/>
          </a:bodyPr>
          <a:lstStyle/>
          <a:p>
            <a:pPr marL="0" lvl="0" indent="0" algn="l" rtl="0">
              <a:lnSpc>
                <a:spcPct val="100000"/>
              </a:lnSpc>
              <a:spcBef>
                <a:spcPts val="0"/>
              </a:spcBef>
              <a:spcAft>
                <a:spcPts val="0"/>
              </a:spcAft>
              <a:buClr>
                <a:schemeClr val="dk1"/>
              </a:buClr>
              <a:buSzPts val="1000"/>
              <a:buFont typeface="SimSun"/>
              <a:buNone/>
            </a:pPr>
            <a:endParaRPr sz="2200" b="0" i="0" u="none" strike="noStrike" cap="none">
              <a:latin typeface="Helvetica Neue"/>
              <a:ea typeface="Helvetica Neue"/>
              <a:cs typeface="Helvetica Neue"/>
              <a:sym typeface="Helvetica Neue"/>
            </a:endParaRPr>
          </a:p>
        </p:txBody>
      </p:sp>
      <p:sp>
        <p:nvSpPr>
          <p:cNvPr id="713" name="Google Shape;71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g1e4460966a3_0_24:notes"/>
          <p:cNvSpPr>
            <a:spLocks noGrp="1" noRot="1" noChangeAspect="1"/>
          </p:cNvSpPr>
          <p:nvPr>
            <p:ph type="sldImg" idx="2"/>
          </p:nvPr>
        </p:nvSpPr>
        <p:spPr>
          <a:xfrm>
            <a:off x="482600" y="1279525"/>
            <a:ext cx="6140400" cy="3454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3" name="Google Shape;733;g1e4460966a3_0_24:notes"/>
          <p:cNvSpPr txBox="1">
            <a:spLocks noGrp="1"/>
          </p:cNvSpPr>
          <p:nvPr>
            <p:ph type="body" idx="1"/>
          </p:nvPr>
        </p:nvSpPr>
        <p:spPr>
          <a:xfrm>
            <a:off x="711200" y="4926013"/>
            <a:ext cx="5683200" cy="4029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4" name="Google Shape;734;g1e4460966a3_0_24:notes"/>
          <p:cNvSpPr txBox="1">
            <a:spLocks noGrp="1"/>
          </p:cNvSpPr>
          <p:nvPr>
            <p:ph type="sldNum" idx="12"/>
          </p:nvPr>
        </p:nvSpPr>
        <p:spPr>
          <a:xfrm>
            <a:off x="4024313" y="9721850"/>
            <a:ext cx="3078300" cy="512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2" descr="tmw-slides-bg-Artboard 1"/>
          <p:cNvPicPr preferRelativeResize="0"/>
          <p:nvPr/>
        </p:nvPicPr>
        <p:blipFill rotWithShape="1">
          <a:blip r:embed="rId2">
            <a:alphaModFix/>
          </a:blip>
          <a:srcRect/>
          <a:stretch/>
        </p:blipFill>
        <p:spPr>
          <a:xfrm>
            <a:off x="-9525" y="-5715"/>
            <a:ext cx="12211050" cy="68687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ustom Layout 1">
  <p:cSld name="Custom Layout_1">
    <p:spTree>
      <p:nvGrpSpPr>
        <p:cNvPr id="1" name="Shape 14"/>
        <p:cNvGrpSpPr/>
        <p:nvPr/>
      </p:nvGrpSpPr>
      <p:grpSpPr>
        <a:xfrm>
          <a:off x="0" y="0"/>
          <a:ext cx="0" cy="0"/>
          <a:chOff x="0" y="0"/>
          <a:chExt cx="0" cy="0"/>
        </a:xfrm>
      </p:grpSpPr>
      <p:pic>
        <p:nvPicPr>
          <p:cNvPr id="15" name="Google Shape;15;p3" descr="YT-capa-canal-fundo-v02"/>
          <p:cNvPicPr preferRelativeResize="0"/>
          <p:nvPr/>
        </p:nvPicPr>
        <p:blipFill rotWithShape="1">
          <a:blip r:embed="rId2">
            <a:alphaModFix/>
          </a:blip>
          <a:srcRect/>
          <a:stretch/>
        </p:blipFill>
        <p:spPr>
          <a:xfrm>
            <a:off x="-17780" y="-9390"/>
            <a:ext cx="12227563" cy="6876781"/>
          </a:xfrm>
          <a:prstGeom prst="rect">
            <a:avLst/>
          </a:prstGeom>
          <a:noFill/>
          <a:ln>
            <a:noFill/>
          </a:ln>
          <a:effectLst>
            <a:outerShdw blurRad="57150" dist="19050" dir="5400000" algn="bl" rotWithShape="0">
              <a:srgbClr val="000000">
                <a:alpha val="80000"/>
              </a:srgbClr>
            </a:outerShdw>
          </a:effec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6"/>
        <p:cNvGrpSpPr/>
        <p:nvPr/>
      </p:nvGrpSpPr>
      <p:grpSpPr>
        <a:xfrm>
          <a:off x="0" y="0"/>
          <a:ext cx="0" cy="0"/>
          <a:chOff x="0" y="0"/>
          <a:chExt cx="0" cy="0"/>
        </a:xfrm>
      </p:grpSpPr>
      <p:pic>
        <p:nvPicPr>
          <p:cNvPr id="17" name="Google Shape;17;p4" descr="YT-capa-canal-fundo-v02"/>
          <p:cNvPicPr preferRelativeResize="0"/>
          <p:nvPr/>
        </p:nvPicPr>
        <p:blipFill rotWithShape="1">
          <a:blip r:embed="rId2">
            <a:alphaModFix/>
          </a:blip>
          <a:srcRect/>
          <a:stretch/>
        </p:blipFill>
        <p:spPr>
          <a:xfrm>
            <a:off x="-17780" y="-9390"/>
            <a:ext cx="12227563" cy="6876781"/>
          </a:xfrm>
          <a:prstGeom prst="rect">
            <a:avLst/>
          </a:prstGeom>
          <a:noFill/>
          <a:ln>
            <a:noFill/>
          </a:ln>
          <a:effectLst>
            <a:outerShdw blurRad="57150" dist="19050" dir="5400000" algn="bl" rotWithShape="0">
              <a:srgbClr val="000000">
                <a:alpha val="80000"/>
              </a:srgbClr>
            </a:outerShdw>
          </a:effectLst>
        </p:spPr>
      </p:pic>
      <p:pic>
        <p:nvPicPr>
          <p:cNvPr id="18" name="Google Shape;18;p4" descr="teomewhy-logo-interrogacao-v01_Prancheta 1"/>
          <p:cNvPicPr preferRelativeResize="0"/>
          <p:nvPr/>
        </p:nvPicPr>
        <p:blipFill rotWithShape="1">
          <a:blip r:embed="rId3">
            <a:alphaModFix/>
          </a:blip>
          <a:srcRect/>
          <a:stretch/>
        </p:blipFill>
        <p:spPr>
          <a:xfrm>
            <a:off x="-24130" y="6285865"/>
            <a:ext cx="686435" cy="584200"/>
          </a:xfrm>
          <a:prstGeom prst="rect">
            <a:avLst/>
          </a:prstGeom>
          <a:noFill/>
          <a:ln>
            <a:noFill/>
          </a:ln>
        </p:spPr>
      </p:pic>
      <p:pic>
        <p:nvPicPr>
          <p:cNvPr id="19" name="Google Shape;19;p4"/>
          <p:cNvPicPr preferRelativeResize="0"/>
          <p:nvPr/>
        </p:nvPicPr>
        <p:blipFill rotWithShape="1">
          <a:blip r:embed="rId4">
            <a:alphaModFix/>
          </a:blip>
          <a:srcRect/>
          <a:stretch/>
        </p:blipFill>
        <p:spPr>
          <a:xfrm>
            <a:off x="11505576" y="6171609"/>
            <a:ext cx="686425" cy="68639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pic>
        <p:nvPicPr>
          <p:cNvPr id="21" name="Google Shape;21;p5" descr="tmw-slides-bg-v2-Artboard 2 copy"/>
          <p:cNvPicPr preferRelativeResize="0"/>
          <p:nvPr/>
        </p:nvPicPr>
        <p:blipFill rotWithShape="1">
          <a:blip r:embed="rId2">
            <a:alphaModFix/>
          </a:blip>
          <a:srcRect/>
          <a:stretch/>
        </p:blipFill>
        <p:spPr>
          <a:xfrm>
            <a:off x="-24130" y="-12065"/>
            <a:ext cx="12240895" cy="6882130"/>
          </a:xfrm>
          <a:prstGeom prst="rect">
            <a:avLst/>
          </a:prstGeom>
          <a:noFill/>
          <a:ln>
            <a:noFill/>
          </a:ln>
        </p:spPr>
      </p:pic>
      <p:pic>
        <p:nvPicPr>
          <p:cNvPr id="22" name="Google Shape;22;p5" descr="teomewhy-logo-interrogacao-v01_Prancheta 1"/>
          <p:cNvPicPr preferRelativeResize="0"/>
          <p:nvPr/>
        </p:nvPicPr>
        <p:blipFill rotWithShape="1">
          <a:blip r:embed="rId3">
            <a:alphaModFix/>
          </a:blip>
          <a:srcRect/>
          <a:stretch/>
        </p:blipFill>
        <p:spPr>
          <a:xfrm>
            <a:off x="-24130" y="6285865"/>
            <a:ext cx="686435" cy="584200"/>
          </a:xfrm>
          <a:prstGeom prst="rect">
            <a:avLst/>
          </a:prstGeom>
          <a:noFill/>
          <a:ln>
            <a:noFill/>
          </a:ln>
        </p:spPr>
      </p:pic>
      <p:pic>
        <p:nvPicPr>
          <p:cNvPr id="23" name="Google Shape;23;p5"/>
          <p:cNvPicPr preferRelativeResize="0"/>
          <p:nvPr/>
        </p:nvPicPr>
        <p:blipFill rotWithShape="1">
          <a:blip r:embed="rId4">
            <a:alphaModFix/>
          </a:blip>
          <a:srcRect/>
          <a:stretch/>
        </p:blipFill>
        <p:spPr>
          <a:xfrm>
            <a:off x="11505576" y="6171609"/>
            <a:ext cx="686425" cy="68639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Section Header" type="secHead">
  <p:cSld name="SECTION_HEADER">
    <p:spTree>
      <p:nvGrpSpPr>
        <p:cNvPr id="1" name="Shape 24"/>
        <p:cNvGrpSpPr/>
        <p:nvPr/>
      </p:nvGrpSpPr>
      <p:grpSpPr>
        <a:xfrm>
          <a:off x="0" y="0"/>
          <a:ext cx="0" cy="0"/>
          <a:chOff x="0" y="0"/>
          <a:chExt cx="0" cy="0"/>
        </a:xfrm>
      </p:grpSpPr>
      <p:pic>
        <p:nvPicPr>
          <p:cNvPr id="25" name="Google Shape;25;p6" descr="YT-capa-canal-fundo-v02"/>
          <p:cNvPicPr preferRelativeResize="0"/>
          <p:nvPr/>
        </p:nvPicPr>
        <p:blipFill rotWithShape="1">
          <a:blip r:embed="rId2">
            <a:alphaModFix/>
          </a:blip>
          <a:srcRect l="49418" t="42986"/>
          <a:stretch/>
        </p:blipFill>
        <p:spPr>
          <a:xfrm>
            <a:off x="-26670" y="-10160"/>
            <a:ext cx="12244705" cy="68789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26"/>
        <p:cNvGrpSpPr/>
        <p:nvPr/>
      </p:nvGrpSpPr>
      <p:grpSpPr>
        <a:xfrm>
          <a:off x="0" y="0"/>
          <a:ext cx="0" cy="0"/>
          <a:chOff x="0" y="0"/>
          <a:chExt cx="0" cy="0"/>
        </a:xfrm>
      </p:grpSpPr>
      <p:pic>
        <p:nvPicPr>
          <p:cNvPr id="27" name="Google Shape;27;p7" descr="YT-capa-canal-fundo-v02"/>
          <p:cNvPicPr preferRelativeResize="0"/>
          <p:nvPr/>
        </p:nvPicPr>
        <p:blipFill rotWithShape="1">
          <a:blip r:embed="rId2">
            <a:alphaModFix/>
          </a:blip>
          <a:srcRect t="19023" r="37672" b="17299"/>
          <a:stretch/>
        </p:blipFill>
        <p:spPr>
          <a:xfrm>
            <a:off x="-10160" y="-78740"/>
            <a:ext cx="12202160" cy="701230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ítulo e conteúdo">
  <p:cSld name="2_Título e conteúdo">
    <p:spTree>
      <p:nvGrpSpPr>
        <p:cNvPr id="1" name="Shape 28"/>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pic>
        <p:nvPicPr>
          <p:cNvPr id="31" name="Google Shape;31;p10" descr="tmw-slides-bg-v2-Artboard 2"/>
          <p:cNvPicPr preferRelativeResize="0"/>
          <p:nvPr/>
        </p:nvPicPr>
        <p:blipFill rotWithShape="1">
          <a:blip r:embed="rId2">
            <a:alphaModFix/>
          </a:blip>
          <a:srcRect/>
          <a:stretch/>
        </p:blipFill>
        <p:spPr>
          <a:xfrm>
            <a:off x="-33655" y="-17145"/>
            <a:ext cx="12259310" cy="6892290"/>
          </a:xfrm>
          <a:prstGeom prst="rect">
            <a:avLst/>
          </a:prstGeom>
          <a:noFill/>
          <a:ln>
            <a:noFill/>
          </a:ln>
        </p:spPr>
      </p:pic>
      <p:pic>
        <p:nvPicPr>
          <p:cNvPr id="32" name="Google Shape;32;p10" descr="teomewhy-logo-interrogacao-v01_Prancheta 1"/>
          <p:cNvPicPr preferRelativeResize="0"/>
          <p:nvPr/>
        </p:nvPicPr>
        <p:blipFill rotWithShape="1">
          <a:blip r:embed="rId3">
            <a:alphaModFix/>
          </a:blip>
          <a:srcRect/>
          <a:stretch/>
        </p:blipFill>
        <p:spPr>
          <a:xfrm>
            <a:off x="-24130" y="6285865"/>
            <a:ext cx="686435" cy="584200"/>
          </a:xfrm>
          <a:prstGeom prst="rect">
            <a:avLst/>
          </a:prstGeom>
          <a:noFill/>
          <a:ln>
            <a:noFill/>
          </a:ln>
        </p:spPr>
      </p:pic>
      <p:pic>
        <p:nvPicPr>
          <p:cNvPr id="33" name="Google Shape;33;p10"/>
          <p:cNvPicPr preferRelativeResize="0"/>
          <p:nvPr/>
        </p:nvPicPr>
        <p:blipFill rotWithShape="1">
          <a:blip r:embed="rId4">
            <a:alphaModFix/>
          </a:blip>
          <a:srcRect/>
          <a:stretch/>
        </p:blipFill>
        <p:spPr>
          <a:xfrm>
            <a:off x="11505576" y="6171609"/>
            <a:ext cx="686425" cy="68639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4"/>
        <p:cNvGrpSpPr/>
        <p:nvPr/>
      </p:nvGrpSpPr>
      <p:grpSpPr>
        <a:xfrm>
          <a:off x="0" y="0"/>
          <a:ext cx="0" cy="0"/>
          <a:chOff x="0" y="0"/>
          <a:chExt cx="0" cy="0"/>
        </a:xfrm>
      </p:grpSpPr>
      <p:pic>
        <p:nvPicPr>
          <p:cNvPr id="35" name="Google Shape;35;p11" descr="YT-capa-canal-fundo-v02"/>
          <p:cNvPicPr preferRelativeResize="0"/>
          <p:nvPr/>
        </p:nvPicPr>
        <p:blipFill rotWithShape="1">
          <a:blip r:embed="rId2">
            <a:alphaModFix/>
          </a:blip>
          <a:srcRect/>
          <a:stretch/>
        </p:blipFill>
        <p:spPr>
          <a:xfrm>
            <a:off x="-17780" y="-10160"/>
            <a:ext cx="12227560" cy="687832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lide de Título 1">
  <p:cSld name="TITLE_1">
    <p:spTree>
      <p:nvGrpSpPr>
        <p:cNvPr id="1" name="Shape 36"/>
        <p:cNvGrpSpPr/>
        <p:nvPr/>
      </p:nvGrpSpPr>
      <p:grpSpPr>
        <a:xfrm>
          <a:off x="0" y="0"/>
          <a:ext cx="0" cy="0"/>
          <a:chOff x="0" y="0"/>
          <a:chExt cx="0" cy="0"/>
        </a:xfrm>
      </p:grpSpPr>
      <p:sp>
        <p:nvSpPr>
          <p:cNvPr id="37" name="Google Shape;37;p12"/>
          <p:cNvSpPr txBox="1">
            <a:spLocks noGrp="1"/>
          </p:cNvSpPr>
          <p:nvPr>
            <p:ph type="title"/>
          </p:nvPr>
        </p:nvSpPr>
        <p:spPr>
          <a:xfrm>
            <a:off x="1524000" y="1122363"/>
            <a:ext cx="9144000" cy="2387600"/>
          </a:xfrm>
          <a:prstGeom prst="rect">
            <a:avLst/>
          </a:prstGeom>
          <a:noFill/>
          <a:ln>
            <a:noFill/>
          </a:ln>
        </p:spPr>
        <p:txBody>
          <a:bodyPr spcFirstLastPara="1" wrap="square" lIns="34275" tIns="34275" rIns="34275" bIns="34275" anchor="b" anchorCtr="0">
            <a:normAutofit/>
          </a:bodyPr>
          <a:lstStyle>
            <a:lvl1pPr lvl="0" algn="ctr">
              <a:lnSpc>
                <a:spcPct val="90000"/>
              </a:lnSpc>
              <a:spcBef>
                <a:spcPts val="0"/>
              </a:spcBef>
              <a:spcAft>
                <a:spcPts val="0"/>
              </a:spcAft>
              <a:buClr>
                <a:srgbClr val="000000"/>
              </a:buClr>
              <a:buSzPts val="4500"/>
              <a:buFont typeface="Calibri"/>
              <a:buNone/>
              <a:defRPr sz="6000"/>
            </a:lvl1pPr>
            <a:lvl2pPr lvl="1" algn="l">
              <a:lnSpc>
                <a:spcPct val="90000"/>
              </a:lnSpc>
              <a:spcBef>
                <a:spcPts val="0"/>
              </a:spcBef>
              <a:spcAft>
                <a:spcPts val="0"/>
              </a:spcAft>
              <a:buClr>
                <a:srgbClr val="000000"/>
              </a:buClr>
              <a:buSzPts val="1400"/>
              <a:buNone/>
              <a:defRPr/>
            </a:lvl2pPr>
            <a:lvl3pPr lvl="2" algn="l">
              <a:lnSpc>
                <a:spcPct val="90000"/>
              </a:lnSpc>
              <a:spcBef>
                <a:spcPts val="0"/>
              </a:spcBef>
              <a:spcAft>
                <a:spcPts val="0"/>
              </a:spcAft>
              <a:buClr>
                <a:srgbClr val="000000"/>
              </a:buClr>
              <a:buSzPts val="1400"/>
              <a:buNone/>
              <a:defRPr/>
            </a:lvl3pPr>
            <a:lvl4pPr lvl="3" algn="l">
              <a:lnSpc>
                <a:spcPct val="90000"/>
              </a:lnSpc>
              <a:spcBef>
                <a:spcPts val="0"/>
              </a:spcBef>
              <a:spcAft>
                <a:spcPts val="0"/>
              </a:spcAft>
              <a:buClr>
                <a:srgbClr val="000000"/>
              </a:buClr>
              <a:buSzPts val="1400"/>
              <a:buNone/>
              <a:defRPr/>
            </a:lvl4pPr>
            <a:lvl5pPr lvl="4" algn="l">
              <a:lnSpc>
                <a:spcPct val="90000"/>
              </a:lnSpc>
              <a:spcBef>
                <a:spcPts val="0"/>
              </a:spcBef>
              <a:spcAft>
                <a:spcPts val="0"/>
              </a:spcAft>
              <a:buClr>
                <a:srgbClr val="000000"/>
              </a:buClr>
              <a:buSzPts val="1400"/>
              <a:buNone/>
              <a:defRPr/>
            </a:lvl5pPr>
            <a:lvl6pPr lvl="5" algn="l">
              <a:lnSpc>
                <a:spcPct val="90000"/>
              </a:lnSpc>
              <a:spcBef>
                <a:spcPts val="0"/>
              </a:spcBef>
              <a:spcAft>
                <a:spcPts val="0"/>
              </a:spcAft>
              <a:buClr>
                <a:srgbClr val="000000"/>
              </a:buClr>
              <a:buSzPts val="1400"/>
              <a:buNone/>
              <a:defRPr/>
            </a:lvl6pPr>
            <a:lvl7pPr lvl="6" algn="l">
              <a:lnSpc>
                <a:spcPct val="90000"/>
              </a:lnSpc>
              <a:spcBef>
                <a:spcPts val="0"/>
              </a:spcBef>
              <a:spcAft>
                <a:spcPts val="0"/>
              </a:spcAft>
              <a:buClr>
                <a:srgbClr val="000000"/>
              </a:buClr>
              <a:buSzPts val="1400"/>
              <a:buNone/>
              <a:defRPr/>
            </a:lvl7pPr>
            <a:lvl8pPr lvl="7" algn="l">
              <a:lnSpc>
                <a:spcPct val="90000"/>
              </a:lnSpc>
              <a:spcBef>
                <a:spcPts val="0"/>
              </a:spcBef>
              <a:spcAft>
                <a:spcPts val="0"/>
              </a:spcAft>
              <a:buClr>
                <a:srgbClr val="000000"/>
              </a:buClr>
              <a:buSzPts val="1400"/>
              <a:buNone/>
              <a:defRPr/>
            </a:lvl8pPr>
            <a:lvl9pPr lvl="8" algn="l">
              <a:lnSpc>
                <a:spcPct val="90000"/>
              </a:lnSpc>
              <a:spcBef>
                <a:spcPts val="0"/>
              </a:spcBef>
              <a:spcAft>
                <a:spcPts val="0"/>
              </a:spcAft>
              <a:buClr>
                <a:srgbClr val="000000"/>
              </a:buClr>
              <a:buSzPts val="1400"/>
              <a:buNone/>
              <a:defRPr/>
            </a:lvl9pPr>
          </a:lstStyle>
          <a:p>
            <a:endParaRPr/>
          </a:p>
        </p:txBody>
      </p:sp>
      <p:sp>
        <p:nvSpPr>
          <p:cNvPr id="38" name="Google Shape;38;p12"/>
          <p:cNvSpPr txBox="1">
            <a:spLocks noGrp="1"/>
          </p:cNvSpPr>
          <p:nvPr>
            <p:ph type="body" idx="1"/>
          </p:nvPr>
        </p:nvSpPr>
        <p:spPr>
          <a:xfrm>
            <a:off x="1524000" y="3602037"/>
            <a:ext cx="9144000" cy="1655600"/>
          </a:xfrm>
          <a:prstGeom prst="rect">
            <a:avLst/>
          </a:prstGeom>
          <a:noFill/>
          <a:ln>
            <a:noFill/>
          </a:ln>
        </p:spPr>
        <p:txBody>
          <a:bodyPr spcFirstLastPara="1" wrap="square" lIns="34275" tIns="34275" rIns="34275" bIns="34275" anchor="t" anchorCtr="0">
            <a:normAutofit/>
          </a:bodyPr>
          <a:lstStyle>
            <a:lvl1pPr marL="457200" lvl="0" indent="-228600" algn="ctr">
              <a:lnSpc>
                <a:spcPct val="90000"/>
              </a:lnSpc>
              <a:spcBef>
                <a:spcPts val="5136"/>
              </a:spcBef>
              <a:spcAft>
                <a:spcPts val="0"/>
              </a:spcAft>
              <a:buClr>
                <a:srgbClr val="000000"/>
              </a:buClr>
              <a:buSzPts val="1800"/>
              <a:buFont typeface="Calibri"/>
              <a:buNone/>
              <a:defRPr sz="2400"/>
            </a:lvl1pPr>
            <a:lvl2pPr marL="914400" lvl="1" indent="-228600" algn="ctr">
              <a:lnSpc>
                <a:spcPct val="90000"/>
              </a:lnSpc>
              <a:spcBef>
                <a:spcPts val="5136"/>
              </a:spcBef>
              <a:spcAft>
                <a:spcPts val="0"/>
              </a:spcAft>
              <a:buClr>
                <a:srgbClr val="000000"/>
              </a:buClr>
              <a:buSzPts val="1800"/>
              <a:buFont typeface="Calibri"/>
              <a:buNone/>
              <a:defRPr sz="2400"/>
            </a:lvl2pPr>
            <a:lvl3pPr marL="1371600" lvl="2" indent="-228600" algn="ctr">
              <a:lnSpc>
                <a:spcPct val="90000"/>
              </a:lnSpc>
              <a:spcBef>
                <a:spcPts val="5136"/>
              </a:spcBef>
              <a:spcAft>
                <a:spcPts val="0"/>
              </a:spcAft>
              <a:buClr>
                <a:srgbClr val="000000"/>
              </a:buClr>
              <a:buSzPts val="1800"/>
              <a:buFont typeface="Calibri"/>
              <a:buNone/>
              <a:defRPr sz="2400"/>
            </a:lvl3pPr>
            <a:lvl4pPr marL="1828800" lvl="3" indent="-228600" algn="ctr">
              <a:lnSpc>
                <a:spcPct val="90000"/>
              </a:lnSpc>
              <a:spcBef>
                <a:spcPts val="5136"/>
              </a:spcBef>
              <a:spcAft>
                <a:spcPts val="0"/>
              </a:spcAft>
              <a:buClr>
                <a:srgbClr val="000000"/>
              </a:buClr>
              <a:buSzPts val="1800"/>
              <a:buFont typeface="Calibri"/>
              <a:buNone/>
              <a:defRPr sz="2400"/>
            </a:lvl4pPr>
            <a:lvl5pPr marL="2286000" lvl="4" indent="-228600" algn="ctr">
              <a:lnSpc>
                <a:spcPct val="90000"/>
              </a:lnSpc>
              <a:spcBef>
                <a:spcPts val="5136"/>
              </a:spcBef>
              <a:spcAft>
                <a:spcPts val="0"/>
              </a:spcAft>
              <a:buClr>
                <a:srgbClr val="000000"/>
              </a:buClr>
              <a:buSzPts val="1800"/>
              <a:buFont typeface="Calibri"/>
              <a:buNone/>
              <a:defRPr sz="2400"/>
            </a:lvl5pPr>
            <a:lvl6pPr marL="2743200" lvl="5" indent="-317500" algn="l">
              <a:lnSpc>
                <a:spcPct val="90000"/>
              </a:lnSpc>
              <a:spcBef>
                <a:spcPts val="3852"/>
              </a:spcBef>
              <a:spcAft>
                <a:spcPts val="0"/>
              </a:spcAft>
              <a:buClr>
                <a:srgbClr val="000000"/>
              </a:buClr>
              <a:buSzPts val="1400"/>
              <a:buChar char="•"/>
              <a:defRPr/>
            </a:lvl6pPr>
            <a:lvl7pPr marL="3200400" lvl="6" indent="-317500" algn="l">
              <a:lnSpc>
                <a:spcPct val="90000"/>
              </a:lnSpc>
              <a:spcBef>
                <a:spcPts val="3852"/>
              </a:spcBef>
              <a:spcAft>
                <a:spcPts val="0"/>
              </a:spcAft>
              <a:buClr>
                <a:srgbClr val="000000"/>
              </a:buClr>
              <a:buSzPts val="1400"/>
              <a:buChar char="•"/>
              <a:defRPr/>
            </a:lvl7pPr>
            <a:lvl8pPr marL="3657600" lvl="7" indent="-317500" algn="l">
              <a:lnSpc>
                <a:spcPct val="90000"/>
              </a:lnSpc>
              <a:spcBef>
                <a:spcPts val="3852"/>
              </a:spcBef>
              <a:spcAft>
                <a:spcPts val="0"/>
              </a:spcAft>
              <a:buClr>
                <a:srgbClr val="000000"/>
              </a:buClr>
              <a:buSzPts val="1400"/>
              <a:buChar char="•"/>
              <a:defRPr/>
            </a:lvl8pPr>
            <a:lvl9pPr marL="4114800" lvl="8" indent="-317500" algn="l">
              <a:lnSpc>
                <a:spcPct val="90000"/>
              </a:lnSpc>
              <a:spcBef>
                <a:spcPts val="3852"/>
              </a:spcBef>
              <a:spcAft>
                <a:spcPts val="0"/>
              </a:spcAft>
              <a:buClr>
                <a:srgbClr val="000000"/>
              </a:buClr>
              <a:buSzPts val="1400"/>
              <a:buChar char="•"/>
              <a:defRPr/>
            </a:lvl9pPr>
          </a:lstStyle>
          <a:p>
            <a:endParaRPr/>
          </a:p>
        </p:txBody>
      </p:sp>
      <p:sp>
        <p:nvSpPr>
          <p:cNvPr id="39" name="Google Shape;39;p12"/>
          <p:cNvSpPr txBox="1">
            <a:spLocks noGrp="1"/>
          </p:cNvSpPr>
          <p:nvPr>
            <p:ph type="sldNum" idx="12"/>
          </p:nvPr>
        </p:nvSpPr>
        <p:spPr>
          <a:xfrm>
            <a:off x="11089817" y="6404292"/>
            <a:ext cx="264000" cy="269200"/>
          </a:xfrm>
          <a:prstGeom prst="rect">
            <a:avLst/>
          </a:prstGeom>
          <a:noFill/>
          <a:ln>
            <a:noFill/>
          </a:ln>
        </p:spPr>
        <p:txBody>
          <a:bodyPr spcFirstLastPara="1" wrap="square" lIns="34275" tIns="34275" rIns="34275" bIns="34275" anchor="ctr" anchorCtr="0">
            <a:spAutoFit/>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e conteúdo">
  <p:cSld name="OBJECT_1">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1484311" y="685800"/>
            <a:ext cx="10018800" cy="1752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1484310" y="2666999"/>
            <a:ext cx="10018800" cy="3124200"/>
          </a:xfrm>
          <a:prstGeom prst="rect">
            <a:avLst/>
          </a:prstGeom>
          <a:noFill/>
          <a:ln>
            <a:noFill/>
          </a:ln>
        </p:spPr>
        <p:txBody>
          <a:bodyPr spcFirstLastPara="1" wrap="square" lIns="91425" tIns="45700" rIns="91425" bIns="45700" anchor="ctr" anchorCtr="0">
            <a:normAutofit/>
          </a:bodyPr>
          <a:lstStyle>
            <a:lvl1pPr marL="457200" lvl="0" indent="-394335" algn="l">
              <a:lnSpc>
                <a:spcPct val="90000"/>
              </a:lnSpc>
              <a:spcBef>
                <a:spcPts val="360"/>
              </a:spcBef>
              <a:spcAft>
                <a:spcPts val="0"/>
              </a:spcAft>
              <a:buSzPts val="2610"/>
              <a:buChar char="•"/>
              <a:defRPr/>
            </a:lvl1pPr>
            <a:lvl2pPr marL="914400" lvl="1" indent="-394335" algn="l">
              <a:lnSpc>
                <a:spcPct val="90000"/>
              </a:lnSpc>
              <a:spcBef>
                <a:spcPts val="600"/>
              </a:spcBef>
              <a:spcAft>
                <a:spcPts val="0"/>
              </a:spcAft>
              <a:buSzPts val="2610"/>
              <a:buChar char="•"/>
              <a:defRPr/>
            </a:lvl2pPr>
            <a:lvl3pPr marL="1371600" lvl="2" indent="-394335" algn="l">
              <a:lnSpc>
                <a:spcPct val="90000"/>
              </a:lnSpc>
              <a:spcBef>
                <a:spcPts val="600"/>
              </a:spcBef>
              <a:spcAft>
                <a:spcPts val="0"/>
              </a:spcAft>
              <a:buSzPts val="2610"/>
              <a:buChar char="•"/>
              <a:defRPr/>
            </a:lvl3pPr>
            <a:lvl4pPr marL="1828800" lvl="3" indent="-394335" algn="l">
              <a:lnSpc>
                <a:spcPct val="90000"/>
              </a:lnSpc>
              <a:spcBef>
                <a:spcPts val="600"/>
              </a:spcBef>
              <a:spcAft>
                <a:spcPts val="0"/>
              </a:spcAft>
              <a:buSzPts val="2610"/>
              <a:buChar char="•"/>
              <a:defRPr/>
            </a:lvl4pPr>
            <a:lvl5pPr marL="2286000" lvl="4" indent="-394335" algn="l">
              <a:lnSpc>
                <a:spcPct val="90000"/>
              </a:lnSpc>
              <a:spcBef>
                <a:spcPts val="600"/>
              </a:spcBef>
              <a:spcAft>
                <a:spcPts val="0"/>
              </a:spcAft>
              <a:buSzPts val="2610"/>
              <a:buChar char="•"/>
              <a:defRPr/>
            </a:lvl5pPr>
            <a:lvl6pPr marL="2743200" lvl="5" indent="-394335" algn="l">
              <a:lnSpc>
                <a:spcPct val="90000"/>
              </a:lnSpc>
              <a:spcBef>
                <a:spcPts val="600"/>
              </a:spcBef>
              <a:spcAft>
                <a:spcPts val="0"/>
              </a:spcAft>
              <a:buSzPts val="2610"/>
              <a:buChar char="•"/>
              <a:defRPr/>
            </a:lvl6pPr>
            <a:lvl7pPr marL="3200400" lvl="6" indent="-394335" algn="l">
              <a:lnSpc>
                <a:spcPct val="90000"/>
              </a:lnSpc>
              <a:spcBef>
                <a:spcPts val="600"/>
              </a:spcBef>
              <a:spcAft>
                <a:spcPts val="0"/>
              </a:spcAft>
              <a:buSzPts val="2610"/>
              <a:buChar char="•"/>
              <a:defRPr/>
            </a:lvl7pPr>
            <a:lvl8pPr marL="3657600" lvl="7" indent="-394335" algn="l">
              <a:lnSpc>
                <a:spcPct val="90000"/>
              </a:lnSpc>
              <a:spcBef>
                <a:spcPts val="600"/>
              </a:spcBef>
              <a:spcAft>
                <a:spcPts val="0"/>
              </a:spcAft>
              <a:buSzPts val="2610"/>
              <a:buChar char="•"/>
              <a:defRPr/>
            </a:lvl8pPr>
            <a:lvl9pPr marL="4114800" lvl="8" indent="-394335" algn="l">
              <a:lnSpc>
                <a:spcPct val="90000"/>
              </a:lnSpc>
              <a:spcBef>
                <a:spcPts val="600"/>
              </a:spcBef>
              <a:spcAft>
                <a:spcPts val="600"/>
              </a:spcAft>
              <a:buSzPts val="2610"/>
              <a:buChar char="•"/>
              <a:defRPr/>
            </a:lvl9pPr>
          </a:lstStyle>
          <a:p>
            <a:endParaRPr/>
          </a:p>
        </p:txBody>
      </p:sp>
      <p:sp>
        <p:nvSpPr>
          <p:cNvPr id="43" name="Google Shape;43;p13"/>
          <p:cNvSpPr txBox="1">
            <a:spLocks noGrp="1"/>
          </p:cNvSpPr>
          <p:nvPr>
            <p:ph type="dt" idx="10"/>
          </p:nvPr>
        </p:nvSpPr>
        <p:spPr>
          <a:xfrm>
            <a:off x="8677925" y="5883274"/>
            <a:ext cx="1143000" cy="3651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p13"/>
          <p:cNvSpPr txBox="1">
            <a:spLocks noGrp="1"/>
          </p:cNvSpPr>
          <p:nvPr>
            <p:ph type="ftr" idx="11"/>
          </p:nvPr>
        </p:nvSpPr>
        <p:spPr>
          <a:xfrm>
            <a:off x="1484310" y="5883274"/>
            <a:ext cx="7084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5" name="Google Shape;45;p13"/>
          <p:cNvSpPr txBox="1">
            <a:spLocks noGrp="1"/>
          </p:cNvSpPr>
          <p:nvPr>
            <p:ph type="sldNum" idx="12"/>
          </p:nvPr>
        </p:nvSpPr>
        <p:spPr>
          <a:xfrm>
            <a:off x="9930363" y="5883274"/>
            <a:ext cx="551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e conteúdo 1">
  <p:cSld name="OBJECT_2">
    <p:spTree>
      <p:nvGrpSpPr>
        <p:cNvPr id="1" name="Shape 46"/>
        <p:cNvGrpSpPr/>
        <p:nvPr/>
      </p:nvGrpSpPr>
      <p:grpSpPr>
        <a:xfrm>
          <a:off x="0" y="0"/>
          <a:ext cx="0" cy="0"/>
          <a:chOff x="0" y="0"/>
          <a:chExt cx="0" cy="0"/>
        </a:xfrm>
      </p:grpSpPr>
      <p:sp>
        <p:nvSpPr>
          <p:cNvPr id="47" name="Google Shape;47;p14"/>
          <p:cNvSpPr txBox="1">
            <a:spLocks noGrp="1"/>
          </p:cNvSpPr>
          <p:nvPr>
            <p:ph type="title"/>
          </p:nvPr>
        </p:nvSpPr>
        <p:spPr>
          <a:xfrm>
            <a:off x="1484311" y="685800"/>
            <a:ext cx="10018800" cy="17526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1484310" y="2666999"/>
            <a:ext cx="10018800" cy="3124200"/>
          </a:xfrm>
          <a:prstGeom prst="rect">
            <a:avLst/>
          </a:prstGeom>
          <a:noFill/>
          <a:ln>
            <a:noFill/>
          </a:ln>
        </p:spPr>
        <p:txBody>
          <a:bodyPr spcFirstLastPara="1" wrap="square" lIns="91425" tIns="45700" rIns="91425" bIns="45700" anchor="ctr" anchorCtr="0">
            <a:normAutofit/>
          </a:bodyPr>
          <a:lstStyle>
            <a:lvl1pPr marL="457200" lvl="0" indent="-394335" algn="l">
              <a:lnSpc>
                <a:spcPct val="90000"/>
              </a:lnSpc>
              <a:spcBef>
                <a:spcPts val="360"/>
              </a:spcBef>
              <a:spcAft>
                <a:spcPts val="0"/>
              </a:spcAft>
              <a:buSzPts val="2610"/>
              <a:buChar char="•"/>
              <a:defRPr/>
            </a:lvl1pPr>
            <a:lvl2pPr marL="914400" lvl="1" indent="-394335" algn="l">
              <a:lnSpc>
                <a:spcPct val="90000"/>
              </a:lnSpc>
              <a:spcBef>
                <a:spcPts val="600"/>
              </a:spcBef>
              <a:spcAft>
                <a:spcPts val="0"/>
              </a:spcAft>
              <a:buSzPts val="2610"/>
              <a:buChar char="•"/>
              <a:defRPr/>
            </a:lvl2pPr>
            <a:lvl3pPr marL="1371600" lvl="2" indent="-394335" algn="l">
              <a:lnSpc>
                <a:spcPct val="90000"/>
              </a:lnSpc>
              <a:spcBef>
                <a:spcPts val="600"/>
              </a:spcBef>
              <a:spcAft>
                <a:spcPts val="0"/>
              </a:spcAft>
              <a:buSzPts val="2610"/>
              <a:buChar char="•"/>
              <a:defRPr/>
            </a:lvl3pPr>
            <a:lvl4pPr marL="1828800" lvl="3" indent="-394335" algn="l">
              <a:lnSpc>
                <a:spcPct val="90000"/>
              </a:lnSpc>
              <a:spcBef>
                <a:spcPts val="600"/>
              </a:spcBef>
              <a:spcAft>
                <a:spcPts val="0"/>
              </a:spcAft>
              <a:buSzPts val="2610"/>
              <a:buChar char="•"/>
              <a:defRPr/>
            </a:lvl4pPr>
            <a:lvl5pPr marL="2286000" lvl="4" indent="-394335" algn="l">
              <a:lnSpc>
                <a:spcPct val="90000"/>
              </a:lnSpc>
              <a:spcBef>
                <a:spcPts val="600"/>
              </a:spcBef>
              <a:spcAft>
                <a:spcPts val="0"/>
              </a:spcAft>
              <a:buSzPts val="2610"/>
              <a:buChar char="•"/>
              <a:defRPr/>
            </a:lvl5pPr>
            <a:lvl6pPr marL="2743200" lvl="5" indent="-394335" algn="l">
              <a:lnSpc>
                <a:spcPct val="90000"/>
              </a:lnSpc>
              <a:spcBef>
                <a:spcPts val="600"/>
              </a:spcBef>
              <a:spcAft>
                <a:spcPts val="0"/>
              </a:spcAft>
              <a:buSzPts val="2610"/>
              <a:buChar char="•"/>
              <a:defRPr/>
            </a:lvl6pPr>
            <a:lvl7pPr marL="3200400" lvl="6" indent="-394335" algn="l">
              <a:lnSpc>
                <a:spcPct val="90000"/>
              </a:lnSpc>
              <a:spcBef>
                <a:spcPts val="600"/>
              </a:spcBef>
              <a:spcAft>
                <a:spcPts val="0"/>
              </a:spcAft>
              <a:buSzPts val="2610"/>
              <a:buChar char="•"/>
              <a:defRPr/>
            </a:lvl7pPr>
            <a:lvl8pPr marL="3657600" lvl="7" indent="-394335" algn="l">
              <a:lnSpc>
                <a:spcPct val="90000"/>
              </a:lnSpc>
              <a:spcBef>
                <a:spcPts val="600"/>
              </a:spcBef>
              <a:spcAft>
                <a:spcPts val="0"/>
              </a:spcAft>
              <a:buSzPts val="2610"/>
              <a:buChar char="•"/>
              <a:defRPr/>
            </a:lvl8pPr>
            <a:lvl9pPr marL="4114800" lvl="8" indent="-394335" algn="l">
              <a:lnSpc>
                <a:spcPct val="90000"/>
              </a:lnSpc>
              <a:spcBef>
                <a:spcPts val="600"/>
              </a:spcBef>
              <a:spcAft>
                <a:spcPts val="600"/>
              </a:spcAft>
              <a:buSzPts val="2610"/>
              <a:buChar char="•"/>
              <a:defRPr/>
            </a:lvl9pPr>
          </a:lstStyle>
          <a:p>
            <a:endParaRPr/>
          </a:p>
        </p:txBody>
      </p:sp>
      <p:sp>
        <p:nvSpPr>
          <p:cNvPr id="49" name="Google Shape;49;p14"/>
          <p:cNvSpPr txBox="1">
            <a:spLocks noGrp="1"/>
          </p:cNvSpPr>
          <p:nvPr>
            <p:ph type="dt" idx="10"/>
          </p:nvPr>
        </p:nvSpPr>
        <p:spPr>
          <a:xfrm>
            <a:off x="8677925" y="5883274"/>
            <a:ext cx="1143000" cy="3651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0" name="Google Shape;50;p14"/>
          <p:cNvSpPr txBox="1">
            <a:spLocks noGrp="1"/>
          </p:cNvSpPr>
          <p:nvPr>
            <p:ph type="ftr" idx="11"/>
          </p:nvPr>
        </p:nvSpPr>
        <p:spPr>
          <a:xfrm>
            <a:off x="1484310" y="5883274"/>
            <a:ext cx="7084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1" name="Google Shape;51;p14"/>
          <p:cNvSpPr txBox="1">
            <a:spLocks noGrp="1"/>
          </p:cNvSpPr>
          <p:nvPr>
            <p:ph type="sldNum" idx="12"/>
          </p:nvPr>
        </p:nvSpPr>
        <p:spPr>
          <a:xfrm>
            <a:off x="9930363" y="5883274"/>
            <a:ext cx="5511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Arial Black"/>
              <a:buNone/>
              <a:defRPr sz="4000" b="0" i="0" u="none" strike="noStrike" cap="none">
                <a:solidFill>
                  <a:schemeClr val="dk1"/>
                </a:solidFill>
                <a:latin typeface="Arial Black"/>
                <a:ea typeface="Arial Black"/>
                <a:cs typeface="Arial Black"/>
                <a:sym typeface="Arial Blac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p:fad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image" Target="../media/image10.pn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png"/><Relationship Id="rId15" Type="http://schemas.openxmlformats.org/officeDocument/2006/relationships/image" Target="../media/image24.png"/><Relationship Id="rId10" Type="http://schemas.openxmlformats.org/officeDocument/2006/relationships/image" Target="../media/image4.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3.png"/></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comunidade.teomewhy.org"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www.youtube.com/watch?v=nKIu9yen5nc"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6.jp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7.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5.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32.png"/><Relationship Id="rId10" Type="http://schemas.openxmlformats.org/officeDocument/2006/relationships/image" Target="../media/image36.png"/><Relationship Id="rId4" Type="http://schemas.openxmlformats.org/officeDocument/2006/relationships/image" Target="../media/image28.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hyperlink" Target="https://code.visualstudio.com" TargetMode="External"/><Relationship Id="rId5" Type="http://schemas.openxmlformats.org/officeDocument/2006/relationships/hyperlink" Target="https://anaconda.org/" TargetMode="External"/><Relationship Id="rId4" Type="http://schemas.openxmlformats.org/officeDocument/2006/relationships/hyperlink" Target="https://www.python.or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44.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44.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55.png"/></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0.xml"/><Relationship Id="rId1" Type="http://schemas.openxmlformats.org/officeDocument/2006/relationships/slideLayout" Target="../slideLayouts/slideLayout9.xml"/><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1.xml"/><Relationship Id="rId1" Type="http://schemas.openxmlformats.org/officeDocument/2006/relationships/slideLayout" Target="../slideLayouts/slideLayout9.xml"/><Relationship Id="rId4" Type="http://schemas.openxmlformats.org/officeDocument/2006/relationships/image" Target="../media/image5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hyperlink" Target="https://www.beecrowd.com.br/judge/pt/login" TargetMode="External"/><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71.xml"/><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hyperlink" Target="http://www.linkedin.com/in/teocalvo" TargetMode="External"/><Relationship Id="rId4" Type="http://schemas.openxmlformats.org/officeDocument/2006/relationships/image" Target="../media/image59.png"/></Relationships>
</file>

<file path=ppt/slides/_rels/slide7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3.png"/><Relationship Id="rId7" Type="http://schemas.openxmlformats.org/officeDocument/2006/relationships/image" Target="../media/image28.png"/><Relationship Id="rId2" Type="http://schemas.openxmlformats.org/officeDocument/2006/relationships/notesSlide" Target="../notesSlides/notesSlide72.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54.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5"/>
          <p:cNvSpPr txBox="1">
            <a:spLocks noGrp="1"/>
          </p:cNvSpPr>
          <p:nvPr>
            <p:ph type="ctrTitle" idx="4294967295"/>
          </p:nvPr>
        </p:nvSpPr>
        <p:spPr>
          <a:xfrm>
            <a:off x="1379125" y="1285075"/>
            <a:ext cx="9354300" cy="695100"/>
          </a:xfrm>
          <a:prstGeom prst="rect">
            <a:avLst/>
          </a:prstGeom>
          <a:noFill/>
          <a:ln>
            <a:noFill/>
          </a:ln>
        </p:spPr>
        <p:txBody>
          <a:bodyPr spcFirstLastPara="1" wrap="square" lIns="91425" tIns="45700" rIns="91425" bIns="45700" anchor="t" anchorCtr="0">
            <a:normAutofit/>
          </a:bodyPr>
          <a:lstStyle/>
          <a:p>
            <a:pPr marL="0" marR="0" lvl="0" indent="0" algn="l" rtl="0">
              <a:lnSpc>
                <a:spcPct val="137500"/>
              </a:lnSpc>
              <a:spcBef>
                <a:spcPts val="0"/>
              </a:spcBef>
              <a:spcAft>
                <a:spcPts val="0"/>
              </a:spcAft>
              <a:buClr>
                <a:schemeClr val="dk1"/>
              </a:buClr>
              <a:buSzPts val="1100"/>
              <a:buFont typeface="Arial"/>
              <a:buNone/>
            </a:pPr>
            <a:r>
              <a:rPr lang="en-US" sz="3200" b="0" i="0" u="none" strike="noStrike" cap="none">
                <a:solidFill>
                  <a:schemeClr val="dk1"/>
                </a:solidFill>
                <a:highlight>
                  <a:srgbClr val="FFFFFF"/>
                </a:highlight>
                <a:latin typeface="Montserrat Medium"/>
                <a:ea typeface="Montserrat Medium"/>
                <a:cs typeface="Montserrat Medium"/>
                <a:sym typeface="Montserrat Medium"/>
              </a:rPr>
              <a:t>Introdução </a:t>
            </a:r>
            <a:r>
              <a:rPr lang="en-US" sz="3200">
                <a:highlight>
                  <a:srgbClr val="FFFFFF"/>
                </a:highlight>
                <a:latin typeface="Montserrat Medium"/>
                <a:ea typeface="Montserrat Medium"/>
                <a:cs typeface="Montserrat Medium"/>
                <a:sym typeface="Montserrat Medium"/>
              </a:rPr>
              <a:t>à</a:t>
            </a:r>
            <a:r>
              <a:rPr lang="en-US" sz="3200" b="0" i="0" u="none" strike="noStrike" cap="none">
                <a:solidFill>
                  <a:schemeClr val="dk1"/>
                </a:solidFill>
                <a:highlight>
                  <a:srgbClr val="FFFFFF"/>
                </a:highlight>
                <a:latin typeface="Montserrat Medium"/>
                <a:ea typeface="Montserrat Medium"/>
                <a:cs typeface="Montserrat Medium"/>
                <a:sym typeface="Montserrat Medium"/>
              </a:rPr>
              <a:t> Programação com Python</a:t>
            </a:r>
            <a:endParaRPr sz="3200" b="0" i="0" u="none" strike="noStrike" cap="none">
              <a:solidFill>
                <a:schemeClr val="dk1"/>
              </a:solidFill>
              <a:latin typeface="Montserrat Medium"/>
              <a:ea typeface="Montserrat Medium"/>
              <a:cs typeface="Montserrat Medium"/>
              <a:sym typeface="Montserrat Medium"/>
            </a:endParaRPr>
          </a:p>
        </p:txBody>
      </p:sp>
      <p:sp>
        <p:nvSpPr>
          <p:cNvPr id="57" name="Google Shape;57;p15"/>
          <p:cNvSpPr txBox="1"/>
          <p:nvPr/>
        </p:nvSpPr>
        <p:spPr>
          <a:xfrm>
            <a:off x="1665605" y="5718175"/>
            <a:ext cx="36975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a:solidFill>
                  <a:schemeClr val="dk1"/>
                </a:solidFill>
                <a:latin typeface="Montserrat"/>
                <a:ea typeface="Montserrat"/>
                <a:cs typeface="Montserrat"/>
                <a:sym typeface="Montserrat"/>
              </a:rPr>
              <a:t>10</a:t>
            </a:r>
            <a:r>
              <a:rPr lang="en-US" sz="2000" b="0" i="0" u="none" strike="noStrike" cap="none">
                <a:solidFill>
                  <a:schemeClr val="dk1"/>
                </a:solidFill>
                <a:latin typeface="Montserrat"/>
                <a:ea typeface="Montserrat"/>
                <a:cs typeface="Montserrat"/>
                <a:sym typeface="Montserrat"/>
              </a:rPr>
              <a:t>/</a:t>
            </a:r>
            <a:r>
              <a:rPr lang="en-US" sz="2000">
                <a:solidFill>
                  <a:schemeClr val="dk1"/>
                </a:solidFill>
                <a:latin typeface="Montserrat"/>
                <a:ea typeface="Montserrat"/>
                <a:cs typeface="Montserrat"/>
                <a:sym typeface="Montserrat"/>
              </a:rPr>
              <a:t>02</a:t>
            </a:r>
            <a:r>
              <a:rPr lang="en-US" sz="2000" b="0" i="0" u="none" strike="noStrike" cap="none">
                <a:solidFill>
                  <a:schemeClr val="dk1"/>
                </a:solidFill>
                <a:latin typeface="Montserrat"/>
                <a:ea typeface="Montserrat"/>
                <a:cs typeface="Montserrat"/>
                <a:sym typeface="Montserrat"/>
              </a:rPr>
              <a:t>/202</a:t>
            </a:r>
            <a:r>
              <a:rPr lang="en-US" sz="2000">
                <a:solidFill>
                  <a:schemeClr val="dk1"/>
                </a:solidFill>
                <a:latin typeface="Montserrat"/>
                <a:ea typeface="Montserrat"/>
                <a:cs typeface="Montserrat"/>
                <a:sym typeface="Montserrat"/>
              </a:rPr>
              <a:t>5</a:t>
            </a:r>
            <a:endParaRPr sz="2000" b="0" i="0" u="none" strike="noStrike" cap="none">
              <a:solidFill>
                <a:schemeClr val="dk1"/>
              </a:solidFill>
              <a:latin typeface="Montserrat"/>
              <a:ea typeface="Montserrat"/>
              <a:cs typeface="Montserrat"/>
              <a:sym typeface="Montserrat"/>
            </a:endParaRPr>
          </a:p>
        </p:txBody>
      </p:sp>
      <p:pic>
        <p:nvPicPr>
          <p:cNvPr id="58" name="Google Shape;58;p15" descr="teomewhy-logo-v01"/>
          <p:cNvPicPr preferRelativeResize="0"/>
          <p:nvPr/>
        </p:nvPicPr>
        <p:blipFill rotWithShape="1">
          <a:blip r:embed="rId3">
            <a:alphaModFix/>
          </a:blip>
          <a:srcRect/>
          <a:stretch/>
        </p:blipFill>
        <p:spPr>
          <a:xfrm>
            <a:off x="7636525" y="2687338"/>
            <a:ext cx="3415850" cy="2175173"/>
          </a:xfrm>
          <a:prstGeom prst="rect">
            <a:avLst/>
          </a:prstGeom>
          <a:noFill/>
          <a:ln>
            <a:noFill/>
          </a:ln>
        </p:spPr>
      </p:pic>
      <p:pic>
        <p:nvPicPr>
          <p:cNvPr id="59" name="Google Shape;59;p15"/>
          <p:cNvPicPr preferRelativeResize="0"/>
          <p:nvPr/>
        </p:nvPicPr>
        <p:blipFill rotWithShape="1">
          <a:blip r:embed="rId4">
            <a:alphaModFix/>
          </a:blip>
          <a:srcRect/>
          <a:stretch/>
        </p:blipFill>
        <p:spPr>
          <a:xfrm>
            <a:off x="1154150" y="2711601"/>
            <a:ext cx="5216026" cy="2126649"/>
          </a:xfrm>
          <a:prstGeom prst="rect">
            <a:avLst/>
          </a:prstGeom>
          <a:noFill/>
          <a:ln>
            <a:noFill/>
          </a:ln>
        </p:spPr>
      </p:pic>
      <p:sp>
        <p:nvSpPr>
          <p:cNvPr id="60" name="Google Shape;60;p15"/>
          <p:cNvSpPr txBox="1"/>
          <p:nvPr/>
        </p:nvSpPr>
        <p:spPr>
          <a:xfrm>
            <a:off x="3823925" y="5569675"/>
            <a:ext cx="68223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200">
                <a:solidFill>
                  <a:srgbClr val="333333"/>
                </a:solidFill>
                <a:highlight>
                  <a:srgbClr val="FFFFFF"/>
                </a:highlight>
              </a:rPr>
              <a:t>Introdução à Programação com Python © 2025 by Téo Calvo is licensed under CC BY-NC-SA 4.0.</a:t>
            </a:r>
            <a:endParaRPr sz="1200">
              <a:solidFill>
                <a:srgbClr val="333333"/>
              </a:solidFill>
              <a:highlight>
                <a:srgbClr val="FFFFFF"/>
              </a:highlight>
            </a:endParaRPr>
          </a:p>
          <a:p>
            <a:pPr marL="0" lvl="0" indent="0" algn="l" rtl="0">
              <a:spcBef>
                <a:spcPts val="0"/>
              </a:spcBef>
              <a:spcAft>
                <a:spcPts val="0"/>
              </a:spcAft>
              <a:buNone/>
            </a:pPr>
            <a:r>
              <a:rPr lang="en-US" sz="1200">
                <a:solidFill>
                  <a:srgbClr val="333333"/>
                </a:solidFill>
                <a:highlight>
                  <a:srgbClr val="FFFFFF"/>
                </a:highlight>
              </a:rPr>
              <a:t>To view a copy of this license, visit https://creativecommons.org/licenses/by-nc-sa/4.0/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16"/>
          <p:cNvPicPr preferRelativeResize="0"/>
          <p:nvPr/>
        </p:nvPicPr>
        <p:blipFill rotWithShape="1">
          <a:blip r:embed="rId3">
            <a:alphaModFix/>
          </a:blip>
          <a:srcRect/>
          <a:stretch/>
        </p:blipFill>
        <p:spPr>
          <a:xfrm>
            <a:off x="394067" y="832000"/>
            <a:ext cx="655433" cy="655433"/>
          </a:xfrm>
          <a:prstGeom prst="rect">
            <a:avLst/>
          </a:prstGeom>
          <a:noFill/>
          <a:ln>
            <a:noFill/>
          </a:ln>
        </p:spPr>
      </p:pic>
      <p:sp>
        <p:nvSpPr>
          <p:cNvPr id="66" name="Google Shape;66;p16"/>
          <p:cNvSpPr txBox="1"/>
          <p:nvPr/>
        </p:nvSpPr>
        <p:spPr>
          <a:xfrm>
            <a:off x="1183733" y="806317"/>
            <a:ext cx="4837500" cy="706800"/>
          </a:xfrm>
          <a:prstGeom prst="rect">
            <a:avLst/>
          </a:prstGeom>
          <a:noFill/>
          <a:ln>
            <a:noFill/>
          </a:ln>
        </p:spPr>
        <p:txBody>
          <a:bodyPr spcFirstLastPara="1" wrap="square" lIns="121900" tIns="60925" rIns="121900" bIns="60925" anchor="ctr" anchorCtr="0">
            <a:normAutofit/>
          </a:bodyPr>
          <a:lstStyle/>
          <a:p>
            <a:pPr marL="0" lvl="0" indent="0" algn="l" rtl="0">
              <a:lnSpc>
                <a:spcPct val="70000"/>
              </a:lnSpc>
              <a:spcBef>
                <a:spcPts val="0"/>
              </a:spcBef>
              <a:spcAft>
                <a:spcPts val="0"/>
              </a:spcAft>
              <a:buNone/>
            </a:pPr>
            <a:r>
              <a:rPr lang="en-US" sz="4300">
                <a:latin typeface="Montserrat"/>
                <a:ea typeface="Montserrat"/>
                <a:cs typeface="Montserrat"/>
                <a:sym typeface="Montserrat"/>
              </a:rPr>
              <a:t>Quem</a:t>
            </a:r>
            <a:endParaRPr sz="4300">
              <a:solidFill>
                <a:srgbClr val="000000"/>
              </a:solidFill>
              <a:latin typeface="Montserrat"/>
              <a:ea typeface="Montserrat"/>
              <a:cs typeface="Montserrat"/>
              <a:sym typeface="Montserrat"/>
            </a:endParaRPr>
          </a:p>
        </p:txBody>
      </p:sp>
      <p:grpSp>
        <p:nvGrpSpPr>
          <p:cNvPr id="67" name="Google Shape;67;p16"/>
          <p:cNvGrpSpPr/>
          <p:nvPr/>
        </p:nvGrpSpPr>
        <p:grpSpPr>
          <a:xfrm>
            <a:off x="517294" y="1750994"/>
            <a:ext cx="5197503" cy="563186"/>
            <a:chOff x="1188100" y="1677988"/>
            <a:chExt cx="3898225" cy="422400"/>
          </a:xfrm>
        </p:grpSpPr>
        <p:pic>
          <p:nvPicPr>
            <p:cNvPr id="68" name="Google Shape;68;p16"/>
            <p:cNvPicPr preferRelativeResize="0"/>
            <p:nvPr/>
          </p:nvPicPr>
          <p:blipFill rotWithShape="1">
            <a:blip r:embed="rId3">
              <a:alphaModFix/>
            </a:blip>
            <a:srcRect/>
            <a:stretch/>
          </p:blipFill>
          <p:spPr>
            <a:xfrm>
              <a:off x="1188100" y="1751038"/>
              <a:ext cx="276325" cy="276325"/>
            </a:xfrm>
            <a:prstGeom prst="rect">
              <a:avLst/>
            </a:prstGeom>
            <a:noFill/>
            <a:ln>
              <a:noFill/>
            </a:ln>
          </p:spPr>
        </p:pic>
        <p:sp>
          <p:nvSpPr>
            <p:cNvPr id="69" name="Google Shape;69;p16"/>
            <p:cNvSpPr txBox="1"/>
            <p:nvPr/>
          </p:nvSpPr>
          <p:spPr>
            <a:xfrm>
              <a:off x="1464425" y="1677988"/>
              <a:ext cx="36219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b="1">
                  <a:solidFill>
                    <a:schemeClr val="dk2"/>
                  </a:solidFill>
                  <a:latin typeface="Montserrat"/>
                  <a:ea typeface="Montserrat"/>
                  <a:cs typeface="Montserrat"/>
                  <a:sym typeface="Montserrat"/>
                </a:rPr>
                <a:t>Teodoro “Téo” Calvo</a:t>
              </a:r>
              <a:endParaRPr sz="2400" b="1">
                <a:solidFill>
                  <a:schemeClr val="dk2"/>
                </a:solidFill>
                <a:latin typeface="Montserrat"/>
                <a:ea typeface="Montserrat"/>
                <a:cs typeface="Montserrat"/>
                <a:sym typeface="Montserrat"/>
              </a:endParaRPr>
            </a:p>
          </p:txBody>
        </p:sp>
      </p:grpSp>
      <p:grpSp>
        <p:nvGrpSpPr>
          <p:cNvPr id="70" name="Google Shape;70;p16"/>
          <p:cNvGrpSpPr/>
          <p:nvPr/>
        </p:nvGrpSpPr>
        <p:grpSpPr>
          <a:xfrm>
            <a:off x="517294" y="2547359"/>
            <a:ext cx="6706266" cy="563186"/>
            <a:chOff x="1188100" y="2232825"/>
            <a:chExt cx="5029825" cy="422400"/>
          </a:xfrm>
        </p:grpSpPr>
        <p:pic>
          <p:nvPicPr>
            <p:cNvPr id="71" name="Google Shape;71;p16"/>
            <p:cNvPicPr preferRelativeResize="0"/>
            <p:nvPr/>
          </p:nvPicPr>
          <p:blipFill rotWithShape="1">
            <a:blip r:embed="rId3">
              <a:alphaModFix/>
            </a:blip>
            <a:srcRect/>
            <a:stretch/>
          </p:blipFill>
          <p:spPr>
            <a:xfrm>
              <a:off x="1188100" y="2305863"/>
              <a:ext cx="276325" cy="276325"/>
            </a:xfrm>
            <a:prstGeom prst="rect">
              <a:avLst/>
            </a:prstGeom>
            <a:noFill/>
            <a:ln>
              <a:noFill/>
            </a:ln>
          </p:spPr>
        </p:pic>
        <p:sp>
          <p:nvSpPr>
            <p:cNvPr id="72" name="Google Shape;72;p16"/>
            <p:cNvSpPr txBox="1"/>
            <p:nvPr/>
          </p:nvSpPr>
          <p:spPr>
            <a:xfrm>
              <a:off x="1464425" y="2232825"/>
              <a:ext cx="47535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a:solidFill>
                    <a:schemeClr val="dk2"/>
                  </a:solidFill>
                  <a:latin typeface="Montserrat"/>
                  <a:ea typeface="Montserrat"/>
                  <a:cs typeface="Montserrat"/>
                  <a:sym typeface="Montserrat"/>
                </a:rPr>
                <a:t>Bacharel em Estatística - FCT UNESP</a:t>
              </a:r>
              <a:endParaRPr sz="2400">
                <a:solidFill>
                  <a:schemeClr val="dk2"/>
                </a:solidFill>
                <a:latin typeface="Montserrat"/>
                <a:ea typeface="Montserrat"/>
                <a:cs typeface="Montserrat"/>
                <a:sym typeface="Montserrat"/>
              </a:endParaRPr>
            </a:p>
          </p:txBody>
        </p:sp>
      </p:grpSp>
      <p:grpSp>
        <p:nvGrpSpPr>
          <p:cNvPr id="73" name="Google Shape;73;p16"/>
          <p:cNvGrpSpPr/>
          <p:nvPr/>
        </p:nvGrpSpPr>
        <p:grpSpPr>
          <a:xfrm>
            <a:off x="517294" y="3343724"/>
            <a:ext cx="8509021" cy="563186"/>
            <a:chOff x="1188100" y="2787650"/>
            <a:chExt cx="6381925" cy="422400"/>
          </a:xfrm>
        </p:grpSpPr>
        <p:pic>
          <p:nvPicPr>
            <p:cNvPr id="74" name="Google Shape;74;p16"/>
            <p:cNvPicPr preferRelativeResize="0"/>
            <p:nvPr/>
          </p:nvPicPr>
          <p:blipFill rotWithShape="1">
            <a:blip r:embed="rId3">
              <a:alphaModFix/>
            </a:blip>
            <a:srcRect/>
            <a:stretch/>
          </p:blipFill>
          <p:spPr>
            <a:xfrm>
              <a:off x="1188100" y="2860688"/>
              <a:ext cx="276325" cy="276325"/>
            </a:xfrm>
            <a:prstGeom prst="rect">
              <a:avLst/>
            </a:prstGeom>
            <a:noFill/>
            <a:ln>
              <a:noFill/>
            </a:ln>
          </p:spPr>
        </p:pic>
        <p:sp>
          <p:nvSpPr>
            <p:cNvPr id="75" name="Google Shape;75;p16"/>
            <p:cNvSpPr txBox="1"/>
            <p:nvPr/>
          </p:nvSpPr>
          <p:spPr>
            <a:xfrm>
              <a:off x="1464425" y="2787650"/>
              <a:ext cx="61056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a:solidFill>
                    <a:schemeClr val="dk2"/>
                  </a:solidFill>
                  <a:latin typeface="Montserrat"/>
                  <a:ea typeface="Montserrat"/>
                  <a:cs typeface="Montserrat"/>
                  <a:sym typeface="Montserrat"/>
                </a:rPr>
                <a:t>Especialista em Big Data &amp; Data Science - UFPR</a:t>
              </a:r>
              <a:endParaRPr sz="2400">
                <a:solidFill>
                  <a:schemeClr val="dk2"/>
                </a:solidFill>
                <a:latin typeface="Montserrat"/>
                <a:ea typeface="Montserrat"/>
                <a:cs typeface="Montserrat"/>
                <a:sym typeface="Montserrat"/>
              </a:endParaRPr>
            </a:p>
          </p:txBody>
        </p:sp>
      </p:grpSp>
      <p:grpSp>
        <p:nvGrpSpPr>
          <p:cNvPr id="76" name="Google Shape;76;p16"/>
          <p:cNvGrpSpPr/>
          <p:nvPr/>
        </p:nvGrpSpPr>
        <p:grpSpPr>
          <a:xfrm>
            <a:off x="517292" y="4140089"/>
            <a:ext cx="8509021" cy="563186"/>
            <a:chOff x="1244325" y="3342475"/>
            <a:chExt cx="6381925" cy="422400"/>
          </a:xfrm>
        </p:grpSpPr>
        <p:pic>
          <p:nvPicPr>
            <p:cNvPr id="77" name="Google Shape;77;p16"/>
            <p:cNvPicPr preferRelativeResize="0"/>
            <p:nvPr/>
          </p:nvPicPr>
          <p:blipFill rotWithShape="1">
            <a:blip r:embed="rId3">
              <a:alphaModFix/>
            </a:blip>
            <a:srcRect/>
            <a:stretch/>
          </p:blipFill>
          <p:spPr>
            <a:xfrm>
              <a:off x="1244325" y="3415513"/>
              <a:ext cx="276325" cy="276325"/>
            </a:xfrm>
            <a:prstGeom prst="rect">
              <a:avLst/>
            </a:prstGeom>
            <a:noFill/>
            <a:ln>
              <a:noFill/>
            </a:ln>
          </p:spPr>
        </p:pic>
        <p:sp>
          <p:nvSpPr>
            <p:cNvPr id="78" name="Google Shape;78;p16"/>
            <p:cNvSpPr txBox="1"/>
            <p:nvPr/>
          </p:nvSpPr>
          <p:spPr>
            <a:xfrm>
              <a:off x="1520650" y="3342475"/>
              <a:ext cx="61056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a:solidFill>
                    <a:schemeClr val="dk2"/>
                  </a:solidFill>
                  <a:latin typeface="Montserrat"/>
                  <a:ea typeface="Montserrat"/>
                  <a:cs typeface="Montserrat"/>
                  <a:sym typeface="Montserrat"/>
                </a:rPr>
                <a:t>Streamer - Twitch</a:t>
              </a:r>
              <a:endParaRPr sz="2400">
                <a:solidFill>
                  <a:schemeClr val="dk2"/>
                </a:solidFill>
                <a:latin typeface="Montserrat"/>
                <a:ea typeface="Montserrat"/>
                <a:cs typeface="Montserrat"/>
                <a:sym typeface="Montserrat"/>
              </a:endParaRPr>
            </a:p>
          </p:txBody>
        </p:sp>
      </p:grpSp>
      <p:grpSp>
        <p:nvGrpSpPr>
          <p:cNvPr id="79" name="Google Shape;79;p16"/>
          <p:cNvGrpSpPr/>
          <p:nvPr/>
        </p:nvGrpSpPr>
        <p:grpSpPr>
          <a:xfrm>
            <a:off x="517292" y="4936453"/>
            <a:ext cx="8509021" cy="563186"/>
            <a:chOff x="1244325" y="3897300"/>
            <a:chExt cx="6381925" cy="422400"/>
          </a:xfrm>
        </p:grpSpPr>
        <p:pic>
          <p:nvPicPr>
            <p:cNvPr id="80" name="Google Shape;80;p16"/>
            <p:cNvPicPr preferRelativeResize="0"/>
            <p:nvPr/>
          </p:nvPicPr>
          <p:blipFill rotWithShape="1">
            <a:blip r:embed="rId3">
              <a:alphaModFix/>
            </a:blip>
            <a:srcRect/>
            <a:stretch/>
          </p:blipFill>
          <p:spPr>
            <a:xfrm>
              <a:off x="1244325" y="3970338"/>
              <a:ext cx="276325" cy="276325"/>
            </a:xfrm>
            <a:prstGeom prst="rect">
              <a:avLst/>
            </a:prstGeom>
            <a:noFill/>
            <a:ln>
              <a:noFill/>
            </a:ln>
          </p:spPr>
        </p:pic>
        <p:sp>
          <p:nvSpPr>
            <p:cNvPr id="81" name="Google Shape;81;p16"/>
            <p:cNvSpPr txBox="1"/>
            <p:nvPr/>
          </p:nvSpPr>
          <p:spPr>
            <a:xfrm>
              <a:off x="1520650" y="3897300"/>
              <a:ext cx="61056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a:solidFill>
                    <a:schemeClr val="dk2"/>
                  </a:solidFill>
                  <a:latin typeface="Montserrat"/>
                  <a:ea typeface="Montserrat"/>
                  <a:cs typeface="Montserrat"/>
                  <a:sym typeface="Montserrat"/>
                </a:rPr>
                <a:t>Desenvolvedor Backend - Globo</a:t>
              </a:r>
              <a:endParaRPr sz="2400">
                <a:solidFill>
                  <a:schemeClr val="dk2"/>
                </a:solidFill>
                <a:latin typeface="Montserrat"/>
                <a:ea typeface="Montserrat"/>
                <a:cs typeface="Montserrat"/>
                <a:sym typeface="Montserrat"/>
              </a:endParaRPr>
            </a:p>
          </p:txBody>
        </p:sp>
      </p:grpSp>
      <p:pic>
        <p:nvPicPr>
          <p:cNvPr id="82" name="Google Shape;82;p16"/>
          <p:cNvPicPr preferRelativeResize="0"/>
          <p:nvPr/>
        </p:nvPicPr>
        <p:blipFill>
          <a:blip r:embed="rId4">
            <a:alphaModFix/>
          </a:blip>
          <a:stretch>
            <a:fillRect/>
          </a:stretch>
        </p:blipFill>
        <p:spPr>
          <a:xfrm>
            <a:off x="8681867" y="513400"/>
            <a:ext cx="2878600" cy="2878600"/>
          </a:xfrm>
          <a:prstGeom prst="rect">
            <a:avLst/>
          </a:prstGeom>
          <a:noFill/>
          <a:ln>
            <a:noFill/>
          </a:ln>
        </p:spPr>
      </p:pic>
      <p:grpSp>
        <p:nvGrpSpPr>
          <p:cNvPr id="83" name="Google Shape;83;p16"/>
          <p:cNvGrpSpPr/>
          <p:nvPr/>
        </p:nvGrpSpPr>
        <p:grpSpPr>
          <a:xfrm>
            <a:off x="517294" y="5732818"/>
            <a:ext cx="8509021" cy="563186"/>
            <a:chOff x="1188100" y="4452125"/>
            <a:chExt cx="6381925" cy="422400"/>
          </a:xfrm>
        </p:grpSpPr>
        <p:pic>
          <p:nvPicPr>
            <p:cNvPr id="84" name="Google Shape;84;p16"/>
            <p:cNvPicPr preferRelativeResize="0"/>
            <p:nvPr/>
          </p:nvPicPr>
          <p:blipFill rotWithShape="1">
            <a:blip r:embed="rId3">
              <a:alphaModFix/>
            </a:blip>
            <a:srcRect/>
            <a:stretch/>
          </p:blipFill>
          <p:spPr>
            <a:xfrm>
              <a:off x="1188100" y="4525163"/>
              <a:ext cx="276325" cy="276325"/>
            </a:xfrm>
            <a:prstGeom prst="rect">
              <a:avLst/>
            </a:prstGeom>
            <a:noFill/>
            <a:ln>
              <a:noFill/>
            </a:ln>
          </p:spPr>
        </p:pic>
        <p:sp>
          <p:nvSpPr>
            <p:cNvPr id="85" name="Google Shape;85;p16"/>
            <p:cNvSpPr txBox="1"/>
            <p:nvPr/>
          </p:nvSpPr>
          <p:spPr>
            <a:xfrm>
              <a:off x="1464425" y="4452125"/>
              <a:ext cx="6105600" cy="422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sz="2400">
                  <a:solidFill>
                    <a:schemeClr val="dk2"/>
                  </a:solidFill>
                  <a:latin typeface="Montserrat"/>
                  <a:ea typeface="Montserrat"/>
                  <a:cs typeface="Montserrat"/>
                  <a:sym typeface="Montserrat"/>
                </a:rPr>
                <a:t>Membro e Instrutor - Instituto Aaron Swartz</a:t>
              </a:r>
              <a:endParaRPr sz="2400">
                <a:solidFill>
                  <a:schemeClr val="dk2"/>
                </a:solidFill>
                <a:latin typeface="Montserrat"/>
                <a:ea typeface="Montserrat"/>
                <a:cs typeface="Montserrat"/>
                <a:sym typeface="Montserrat"/>
              </a:endParaRPr>
            </a:p>
          </p:txBody>
        </p:sp>
      </p:grpSp>
      <p:pic>
        <p:nvPicPr>
          <p:cNvPr id="86" name="Google Shape;86;p16"/>
          <p:cNvPicPr preferRelativeResize="0"/>
          <p:nvPr/>
        </p:nvPicPr>
        <p:blipFill rotWithShape="1">
          <a:blip r:embed="rId5">
            <a:alphaModFix/>
          </a:blip>
          <a:srcRect l="23274" r="23258" b="56687"/>
          <a:stretch/>
        </p:blipFill>
        <p:spPr>
          <a:xfrm>
            <a:off x="10212475" y="6129126"/>
            <a:ext cx="1979524" cy="728875"/>
          </a:xfrm>
          <a:prstGeom prst="rect">
            <a:avLst/>
          </a:prstGeom>
          <a:noFill/>
          <a:ln>
            <a:noFill/>
          </a:ln>
        </p:spPr>
      </p:pic>
      <p:pic>
        <p:nvPicPr>
          <p:cNvPr id="87" name="Google Shape;87;p16"/>
          <p:cNvPicPr preferRelativeResize="0"/>
          <p:nvPr/>
        </p:nvPicPr>
        <p:blipFill rotWithShape="1">
          <a:blip r:embed="rId6">
            <a:alphaModFix/>
          </a:blip>
          <a:srcRect t="10911" b="7047"/>
          <a:stretch/>
        </p:blipFill>
        <p:spPr>
          <a:xfrm>
            <a:off x="8481709" y="6129125"/>
            <a:ext cx="1692303" cy="728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7"/>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Trajetória</a:t>
            </a:r>
            <a:endParaRPr sz="3600">
              <a:latin typeface="Montserrat"/>
              <a:ea typeface="Montserrat"/>
              <a:cs typeface="Montserrat"/>
              <a:sym typeface="Montserrat"/>
            </a:endParaRPr>
          </a:p>
        </p:txBody>
      </p:sp>
      <p:pic>
        <p:nvPicPr>
          <p:cNvPr id="93" name="Google Shape;93;p17"/>
          <p:cNvPicPr preferRelativeResize="0"/>
          <p:nvPr/>
        </p:nvPicPr>
        <p:blipFill rotWithShape="1">
          <a:blip r:embed="rId3">
            <a:alphaModFix/>
          </a:blip>
          <a:srcRect/>
          <a:stretch/>
        </p:blipFill>
        <p:spPr>
          <a:xfrm>
            <a:off x="158450" y="417225"/>
            <a:ext cx="685800" cy="685800"/>
          </a:xfrm>
          <a:prstGeom prst="rect">
            <a:avLst/>
          </a:prstGeom>
          <a:noFill/>
          <a:ln>
            <a:noFill/>
          </a:ln>
        </p:spPr>
      </p:pic>
      <p:cxnSp>
        <p:nvCxnSpPr>
          <p:cNvPr id="94" name="Google Shape;94;p17"/>
          <p:cNvCxnSpPr/>
          <p:nvPr/>
        </p:nvCxnSpPr>
        <p:spPr>
          <a:xfrm>
            <a:off x="262690"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95" name="Google Shape;95;p17"/>
          <p:cNvCxnSpPr/>
          <p:nvPr/>
        </p:nvCxnSpPr>
        <p:spPr>
          <a:xfrm>
            <a:off x="8281422" y="1888351"/>
            <a:ext cx="0" cy="4929900"/>
          </a:xfrm>
          <a:prstGeom prst="straightConnector1">
            <a:avLst/>
          </a:prstGeom>
          <a:noFill/>
          <a:ln w="12700" cap="flat" cmpd="sng">
            <a:solidFill>
              <a:srgbClr val="3F3F3F"/>
            </a:solidFill>
            <a:prstDash val="dash"/>
            <a:miter lim="800000"/>
            <a:headEnd type="none" w="sm" len="sm"/>
            <a:tailEnd type="none" w="sm" len="sm"/>
          </a:ln>
        </p:spPr>
      </p:cxnSp>
      <p:sp>
        <p:nvSpPr>
          <p:cNvPr id="96" name="Google Shape;96;p17"/>
          <p:cNvSpPr txBox="1"/>
          <p:nvPr/>
        </p:nvSpPr>
        <p:spPr>
          <a:xfrm>
            <a:off x="383506"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2016</a:t>
            </a:r>
            <a:endParaRPr sz="1600" b="1" i="0" u="none" strike="noStrike" cap="none">
              <a:solidFill>
                <a:srgbClr val="000000"/>
              </a:solidFill>
              <a:latin typeface="Arial"/>
              <a:ea typeface="Arial"/>
              <a:cs typeface="Arial"/>
              <a:sym typeface="Arial"/>
            </a:endParaRPr>
          </a:p>
        </p:txBody>
      </p:sp>
      <p:sp>
        <p:nvSpPr>
          <p:cNvPr id="97" name="Google Shape;97;p17"/>
          <p:cNvSpPr txBox="1"/>
          <p:nvPr/>
        </p:nvSpPr>
        <p:spPr>
          <a:xfrm>
            <a:off x="2674568"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201</a:t>
            </a:r>
            <a:r>
              <a:rPr lang="en-US" sz="1600" b="1"/>
              <a:t>8</a:t>
            </a:r>
            <a:endParaRPr sz="1600" b="1" i="0" u="none" strike="noStrike" cap="none">
              <a:solidFill>
                <a:srgbClr val="000000"/>
              </a:solidFill>
              <a:latin typeface="Arial"/>
              <a:ea typeface="Arial"/>
              <a:cs typeface="Arial"/>
              <a:sym typeface="Arial"/>
            </a:endParaRPr>
          </a:p>
        </p:txBody>
      </p:sp>
      <p:sp>
        <p:nvSpPr>
          <p:cNvPr id="98" name="Google Shape;98;p17"/>
          <p:cNvSpPr txBox="1"/>
          <p:nvPr/>
        </p:nvSpPr>
        <p:spPr>
          <a:xfrm>
            <a:off x="1555874"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201</a:t>
            </a:r>
            <a:r>
              <a:rPr lang="en-US" sz="1600" b="1"/>
              <a:t>7</a:t>
            </a:r>
            <a:endParaRPr sz="1600" b="1" i="0" u="none" strike="noStrike" cap="none">
              <a:solidFill>
                <a:srgbClr val="000000"/>
              </a:solidFill>
              <a:latin typeface="Arial"/>
              <a:ea typeface="Arial"/>
              <a:cs typeface="Arial"/>
              <a:sym typeface="Arial"/>
            </a:endParaRPr>
          </a:p>
        </p:txBody>
      </p:sp>
      <p:sp>
        <p:nvSpPr>
          <p:cNvPr id="99" name="Google Shape;99;p17"/>
          <p:cNvSpPr txBox="1"/>
          <p:nvPr/>
        </p:nvSpPr>
        <p:spPr>
          <a:xfrm>
            <a:off x="3820111"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2019</a:t>
            </a:r>
            <a:endParaRPr sz="1600" b="1" i="0" u="none" strike="noStrike" cap="none">
              <a:solidFill>
                <a:srgbClr val="000000"/>
              </a:solidFill>
              <a:latin typeface="Arial"/>
              <a:ea typeface="Arial"/>
              <a:cs typeface="Arial"/>
              <a:sym typeface="Arial"/>
            </a:endParaRPr>
          </a:p>
        </p:txBody>
      </p:sp>
      <p:sp>
        <p:nvSpPr>
          <p:cNvPr id="100" name="Google Shape;100;p17"/>
          <p:cNvSpPr txBox="1"/>
          <p:nvPr/>
        </p:nvSpPr>
        <p:spPr>
          <a:xfrm>
            <a:off x="4965642"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2020</a:t>
            </a:r>
            <a:endParaRPr sz="1600" b="1" i="0" u="none" strike="noStrike" cap="none">
              <a:solidFill>
                <a:srgbClr val="000000"/>
              </a:solidFill>
              <a:latin typeface="Arial"/>
              <a:ea typeface="Arial"/>
              <a:cs typeface="Arial"/>
              <a:sym typeface="Arial"/>
            </a:endParaRPr>
          </a:p>
        </p:txBody>
      </p:sp>
      <p:sp>
        <p:nvSpPr>
          <p:cNvPr id="101" name="Google Shape;101;p17"/>
          <p:cNvSpPr txBox="1"/>
          <p:nvPr/>
        </p:nvSpPr>
        <p:spPr>
          <a:xfrm>
            <a:off x="7291204" y="1689156"/>
            <a:ext cx="834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2022</a:t>
            </a:r>
            <a:endParaRPr sz="1600" b="1" i="0" u="none" strike="noStrike" cap="none">
              <a:solidFill>
                <a:srgbClr val="000000"/>
              </a:solidFill>
              <a:latin typeface="Arial"/>
              <a:ea typeface="Arial"/>
              <a:cs typeface="Arial"/>
              <a:sym typeface="Arial"/>
            </a:endParaRPr>
          </a:p>
        </p:txBody>
      </p:sp>
      <p:pic>
        <p:nvPicPr>
          <p:cNvPr id="102" name="Google Shape;102;p17"/>
          <p:cNvPicPr preferRelativeResize="0"/>
          <p:nvPr/>
        </p:nvPicPr>
        <p:blipFill rotWithShape="1">
          <a:blip r:embed="rId4">
            <a:alphaModFix/>
          </a:blip>
          <a:srcRect/>
          <a:stretch/>
        </p:blipFill>
        <p:spPr>
          <a:xfrm>
            <a:off x="1479575" y="2670925"/>
            <a:ext cx="1017498" cy="409325"/>
          </a:xfrm>
          <a:prstGeom prst="rect">
            <a:avLst/>
          </a:prstGeom>
          <a:noFill/>
          <a:ln>
            <a:noFill/>
          </a:ln>
        </p:spPr>
      </p:pic>
      <p:cxnSp>
        <p:nvCxnSpPr>
          <p:cNvPr id="103" name="Google Shape;103;p17"/>
          <p:cNvCxnSpPr/>
          <p:nvPr/>
        </p:nvCxnSpPr>
        <p:spPr>
          <a:xfrm>
            <a:off x="6322225" y="3403650"/>
            <a:ext cx="2268000" cy="0"/>
          </a:xfrm>
          <a:prstGeom prst="straightConnector1">
            <a:avLst/>
          </a:prstGeom>
          <a:noFill/>
          <a:ln w="38100" cap="flat" cmpd="sng">
            <a:solidFill>
              <a:srgbClr val="005196"/>
            </a:solidFill>
            <a:prstDash val="solid"/>
            <a:miter lim="800000"/>
            <a:headEnd type="none" w="sm" len="sm"/>
            <a:tailEnd type="none" w="sm" len="sm"/>
          </a:ln>
        </p:spPr>
      </p:cxnSp>
      <p:pic>
        <p:nvPicPr>
          <p:cNvPr id="104" name="Google Shape;104;p17" descr="gc"/>
          <p:cNvPicPr preferRelativeResize="0"/>
          <p:nvPr/>
        </p:nvPicPr>
        <p:blipFill rotWithShape="1">
          <a:blip r:embed="rId5">
            <a:alphaModFix/>
          </a:blip>
          <a:srcRect/>
          <a:stretch/>
        </p:blipFill>
        <p:spPr>
          <a:xfrm>
            <a:off x="6360987" y="2670933"/>
            <a:ext cx="714527" cy="701067"/>
          </a:xfrm>
          <a:prstGeom prst="rect">
            <a:avLst/>
          </a:prstGeom>
          <a:noFill/>
          <a:ln>
            <a:noFill/>
          </a:ln>
        </p:spPr>
      </p:pic>
      <p:pic>
        <p:nvPicPr>
          <p:cNvPr id="105" name="Google Shape;105;p17" descr="Glitch_Purple_RGB"/>
          <p:cNvPicPr preferRelativeResize="0"/>
          <p:nvPr/>
        </p:nvPicPr>
        <p:blipFill rotWithShape="1">
          <a:blip r:embed="rId6">
            <a:alphaModFix/>
          </a:blip>
          <a:srcRect/>
          <a:stretch/>
        </p:blipFill>
        <p:spPr>
          <a:xfrm>
            <a:off x="3820101" y="5915521"/>
            <a:ext cx="607507" cy="625091"/>
          </a:xfrm>
          <a:prstGeom prst="rect">
            <a:avLst/>
          </a:prstGeom>
          <a:noFill/>
          <a:ln>
            <a:noFill/>
          </a:ln>
        </p:spPr>
      </p:pic>
      <p:cxnSp>
        <p:nvCxnSpPr>
          <p:cNvPr id="106" name="Google Shape;106;p17"/>
          <p:cNvCxnSpPr/>
          <p:nvPr/>
        </p:nvCxnSpPr>
        <p:spPr>
          <a:xfrm>
            <a:off x="4500575" y="6668550"/>
            <a:ext cx="7809600" cy="0"/>
          </a:xfrm>
          <a:prstGeom prst="straightConnector1">
            <a:avLst/>
          </a:prstGeom>
          <a:noFill/>
          <a:ln w="38100" cap="flat" cmpd="sng">
            <a:solidFill>
              <a:srgbClr val="6441A4"/>
            </a:solidFill>
            <a:prstDash val="solid"/>
            <a:miter lim="800000"/>
            <a:headEnd type="none" w="sm" len="sm"/>
            <a:tailEnd type="none" w="sm" len="sm"/>
          </a:ln>
        </p:spPr>
      </p:cxnSp>
      <p:cxnSp>
        <p:nvCxnSpPr>
          <p:cNvPr id="107" name="Google Shape;107;p17"/>
          <p:cNvCxnSpPr/>
          <p:nvPr/>
        </p:nvCxnSpPr>
        <p:spPr>
          <a:xfrm>
            <a:off x="1408223"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108" name="Google Shape;108;p17"/>
          <p:cNvCxnSpPr/>
          <p:nvPr/>
        </p:nvCxnSpPr>
        <p:spPr>
          <a:xfrm>
            <a:off x="2553756"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109" name="Google Shape;109;p17"/>
          <p:cNvCxnSpPr/>
          <p:nvPr/>
        </p:nvCxnSpPr>
        <p:spPr>
          <a:xfrm>
            <a:off x="3699289"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110" name="Google Shape;110;p17"/>
          <p:cNvCxnSpPr/>
          <p:nvPr/>
        </p:nvCxnSpPr>
        <p:spPr>
          <a:xfrm>
            <a:off x="4844822"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111" name="Google Shape;111;p17"/>
          <p:cNvCxnSpPr/>
          <p:nvPr/>
        </p:nvCxnSpPr>
        <p:spPr>
          <a:xfrm>
            <a:off x="5990355" y="1888351"/>
            <a:ext cx="0" cy="4929900"/>
          </a:xfrm>
          <a:prstGeom prst="straightConnector1">
            <a:avLst/>
          </a:prstGeom>
          <a:noFill/>
          <a:ln w="12700" cap="flat" cmpd="sng">
            <a:solidFill>
              <a:srgbClr val="3F3F3F"/>
            </a:solidFill>
            <a:prstDash val="dash"/>
            <a:miter lim="800000"/>
            <a:headEnd type="none" w="sm" len="sm"/>
            <a:tailEnd type="none" w="sm" len="sm"/>
          </a:ln>
        </p:spPr>
      </p:cxnSp>
      <p:cxnSp>
        <p:nvCxnSpPr>
          <p:cNvPr id="112" name="Google Shape;112;p17"/>
          <p:cNvCxnSpPr/>
          <p:nvPr/>
        </p:nvCxnSpPr>
        <p:spPr>
          <a:xfrm>
            <a:off x="7135889" y="1888351"/>
            <a:ext cx="0" cy="4929900"/>
          </a:xfrm>
          <a:prstGeom prst="straightConnector1">
            <a:avLst/>
          </a:prstGeom>
          <a:noFill/>
          <a:ln w="12700" cap="flat" cmpd="sng">
            <a:solidFill>
              <a:srgbClr val="3F3F3F"/>
            </a:solidFill>
            <a:prstDash val="dash"/>
            <a:miter lim="800000"/>
            <a:headEnd type="none" w="sm" len="sm"/>
            <a:tailEnd type="none" w="sm" len="sm"/>
          </a:ln>
        </p:spPr>
      </p:cxnSp>
      <p:sp>
        <p:nvSpPr>
          <p:cNvPr id="113" name="Google Shape;113;p17"/>
          <p:cNvSpPr txBox="1"/>
          <p:nvPr/>
        </p:nvSpPr>
        <p:spPr>
          <a:xfrm>
            <a:off x="6111173" y="1689156"/>
            <a:ext cx="903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2021</a:t>
            </a:r>
            <a:endParaRPr sz="1600" b="1" i="0" u="none" strike="noStrike" cap="none">
              <a:solidFill>
                <a:srgbClr val="000000"/>
              </a:solidFill>
              <a:latin typeface="Arial"/>
              <a:ea typeface="Arial"/>
              <a:cs typeface="Arial"/>
              <a:sym typeface="Arial"/>
            </a:endParaRPr>
          </a:p>
        </p:txBody>
      </p:sp>
      <p:pic>
        <p:nvPicPr>
          <p:cNvPr id="114" name="Google Shape;114;p17"/>
          <p:cNvPicPr preferRelativeResize="0"/>
          <p:nvPr/>
        </p:nvPicPr>
        <p:blipFill rotWithShape="1">
          <a:blip r:embed="rId7">
            <a:alphaModFix/>
          </a:blip>
          <a:srcRect/>
          <a:stretch/>
        </p:blipFill>
        <p:spPr>
          <a:xfrm>
            <a:off x="4930229" y="2433380"/>
            <a:ext cx="974699" cy="625097"/>
          </a:xfrm>
          <a:prstGeom prst="rect">
            <a:avLst/>
          </a:prstGeom>
          <a:noFill/>
          <a:ln>
            <a:noFill/>
          </a:ln>
        </p:spPr>
      </p:pic>
      <p:pic>
        <p:nvPicPr>
          <p:cNvPr id="115" name="Google Shape;115;p17"/>
          <p:cNvPicPr preferRelativeResize="0"/>
          <p:nvPr/>
        </p:nvPicPr>
        <p:blipFill rotWithShape="1">
          <a:blip r:embed="rId8">
            <a:alphaModFix/>
          </a:blip>
          <a:srcRect r="57155"/>
          <a:stretch/>
        </p:blipFill>
        <p:spPr>
          <a:xfrm>
            <a:off x="513877" y="2312970"/>
            <a:ext cx="714527" cy="679161"/>
          </a:xfrm>
          <a:prstGeom prst="rect">
            <a:avLst/>
          </a:prstGeom>
          <a:noFill/>
          <a:ln>
            <a:noFill/>
          </a:ln>
        </p:spPr>
      </p:pic>
      <p:pic>
        <p:nvPicPr>
          <p:cNvPr id="116" name="Google Shape;116;p17"/>
          <p:cNvPicPr preferRelativeResize="0"/>
          <p:nvPr/>
        </p:nvPicPr>
        <p:blipFill rotWithShape="1">
          <a:blip r:embed="rId9">
            <a:alphaModFix/>
          </a:blip>
          <a:srcRect/>
          <a:stretch/>
        </p:blipFill>
        <p:spPr>
          <a:xfrm>
            <a:off x="2591427" y="2820796"/>
            <a:ext cx="1198682" cy="1084930"/>
          </a:xfrm>
          <a:prstGeom prst="rect">
            <a:avLst/>
          </a:prstGeom>
          <a:noFill/>
          <a:ln>
            <a:noFill/>
          </a:ln>
        </p:spPr>
      </p:pic>
      <p:cxnSp>
        <p:nvCxnSpPr>
          <p:cNvPr id="117" name="Google Shape;117;p17"/>
          <p:cNvCxnSpPr/>
          <p:nvPr/>
        </p:nvCxnSpPr>
        <p:spPr>
          <a:xfrm>
            <a:off x="9426955" y="1888805"/>
            <a:ext cx="0" cy="4929900"/>
          </a:xfrm>
          <a:prstGeom prst="straightConnector1">
            <a:avLst/>
          </a:prstGeom>
          <a:noFill/>
          <a:ln w="12700" cap="flat" cmpd="sng">
            <a:solidFill>
              <a:srgbClr val="3F3F3F"/>
            </a:solidFill>
            <a:prstDash val="dash"/>
            <a:miter lim="800000"/>
            <a:headEnd type="none" w="sm" len="sm"/>
            <a:tailEnd type="none" w="sm" len="sm"/>
          </a:ln>
        </p:spPr>
      </p:cxnSp>
      <p:sp>
        <p:nvSpPr>
          <p:cNvPr id="118" name="Google Shape;118;p17"/>
          <p:cNvSpPr txBox="1"/>
          <p:nvPr/>
        </p:nvSpPr>
        <p:spPr>
          <a:xfrm>
            <a:off x="8436747" y="1689156"/>
            <a:ext cx="834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2023</a:t>
            </a:r>
            <a:endParaRPr sz="1600" b="1" i="0" u="none" strike="noStrike" cap="none">
              <a:solidFill>
                <a:srgbClr val="000000"/>
              </a:solidFill>
              <a:latin typeface="Arial"/>
              <a:ea typeface="Arial"/>
              <a:cs typeface="Arial"/>
              <a:sym typeface="Arial"/>
            </a:endParaRPr>
          </a:p>
        </p:txBody>
      </p:sp>
      <p:cxnSp>
        <p:nvCxnSpPr>
          <p:cNvPr id="119" name="Google Shape;119;p17"/>
          <p:cNvCxnSpPr/>
          <p:nvPr/>
        </p:nvCxnSpPr>
        <p:spPr>
          <a:xfrm>
            <a:off x="3286125" y="2820800"/>
            <a:ext cx="1392900" cy="0"/>
          </a:xfrm>
          <a:prstGeom prst="straightConnector1">
            <a:avLst/>
          </a:prstGeom>
          <a:noFill/>
          <a:ln w="38100" cap="flat" cmpd="sng">
            <a:solidFill>
              <a:srgbClr val="F78222"/>
            </a:solidFill>
            <a:prstDash val="solid"/>
            <a:miter lim="800000"/>
            <a:headEnd type="none" w="sm" len="sm"/>
            <a:tailEnd type="none" w="sm" len="sm"/>
          </a:ln>
        </p:spPr>
      </p:cxnSp>
      <p:cxnSp>
        <p:nvCxnSpPr>
          <p:cNvPr id="120" name="Google Shape;120;p17"/>
          <p:cNvCxnSpPr/>
          <p:nvPr/>
        </p:nvCxnSpPr>
        <p:spPr>
          <a:xfrm>
            <a:off x="4688075" y="3112225"/>
            <a:ext cx="1500300" cy="0"/>
          </a:xfrm>
          <a:prstGeom prst="straightConnector1">
            <a:avLst/>
          </a:prstGeom>
          <a:noFill/>
          <a:ln w="38100" cap="flat" cmpd="sng">
            <a:solidFill>
              <a:srgbClr val="0CC5CA"/>
            </a:solidFill>
            <a:prstDash val="solid"/>
            <a:miter lim="800000"/>
            <a:headEnd type="none" w="sm" len="sm"/>
            <a:tailEnd type="none" w="sm" len="sm"/>
          </a:ln>
        </p:spPr>
      </p:cxnSp>
      <p:cxnSp>
        <p:nvCxnSpPr>
          <p:cNvPr id="121" name="Google Shape;121;p17"/>
          <p:cNvCxnSpPr/>
          <p:nvPr/>
        </p:nvCxnSpPr>
        <p:spPr>
          <a:xfrm>
            <a:off x="1655149" y="2529371"/>
            <a:ext cx="1577400" cy="0"/>
          </a:xfrm>
          <a:prstGeom prst="straightConnector1">
            <a:avLst/>
          </a:prstGeom>
          <a:noFill/>
          <a:ln w="38100" cap="flat" cmpd="sng">
            <a:solidFill>
              <a:srgbClr val="007CC2"/>
            </a:solidFill>
            <a:prstDash val="solid"/>
            <a:miter lim="800000"/>
            <a:headEnd type="none" w="sm" len="sm"/>
            <a:tailEnd type="none" w="sm" len="sm"/>
          </a:ln>
        </p:spPr>
      </p:cxnSp>
      <p:cxnSp>
        <p:nvCxnSpPr>
          <p:cNvPr id="122" name="Google Shape;122;p17"/>
          <p:cNvCxnSpPr/>
          <p:nvPr/>
        </p:nvCxnSpPr>
        <p:spPr>
          <a:xfrm>
            <a:off x="1228399" y="2237948"/>
            <a:ext cx="414600" cy="0"/>
          </a:xfrm>
          <a:prstGeom prst="straightConnector1">
            <a:avLst/>
          </a:prstGeom>
          <a:noFill/>
          <a:ln w="38100" cap="flat" cmpd="sng">
            <a:solidFill>
              <a:srgbClr val="20C3F3"/>
            </a:solidFill>
            <a:prstDash val="solid"/>
            <a:miter lim="800000"/>
            <a:headEnd type="none" w="sm" len="sm"/>
            <a:tailEnd type="none" w="sm" len="sm"/>
          </a:ln>
        </p:spPr>
      </p:cxnSp>
      <p:pic>
        <p:nvPicPr>
          <p:cNvPr id="123" name="Google Shape;123;p17"/>
          <p:cNvPicPr preferRelativeResize="0"/>
          <p:nvPr/>
        </p:nvPicPr>
        <p:blipFill rotWithShape="1">
          <a:blip r:embed="rId10">
            <a:alphaModFix/>
          </a:blip>
          <a:srcRect/>
          <a:stretch/>
        </p:blipFill>
        <p:spPr>
          <a:xfrm>
            <a:off x="8314500" y="4703181"/>
            <a:ext cx="903900" cy="886820"/>
          </a:xfrm>
          <a:prstGeom prst="rect">
            <a:avLst/>
          </a:prstGeom>
          <a:noFill/>
          <a:ln>
            <a:noFill/>
          </a:ln>
        </p:spPr>
      </p:pic>
      <p:cxnSp>
        <p:nvCxnSpPr>
          <p:cNvPr id="124" name="Google Shape;124;p17"/>
          <p:cNvCxnSpPr/>
          <p:nvPr/>
        </p:nvCxnSpPr>
        <p:spPr>
          <a:xfrm>
            <a:off x="8340325" y="5638800"/>
            <a:ext cx="3969000" cy="0"/>
          </a:xfrm>
          <a:prstGeom prst="straightConnector1">
            <a:avLst/>
          </a:prstGeom>
          <a:noFill/>
          <a:ln w="38100" cap="flat" cmpd="sng">
            <a:solidFill>
              <a:srgbClr val="000000"/>
            </a:solidFill>
            <a:prstDash val="solid"/>
            <a:miter lim="800000"/>
            <a:headEnd type="none" w="sm" len="sm"/>
            <a:tailEnd type="none" w="sm" len="sm"/>
          </a:ln>
        </p:spPr>
      </p:cxnSp>
      <p:pic>
        <p:nvPicPr>
          <p:cNvPr id="125" name="Google Shape;125;p17"/>
          <p:cNvPicPr preferRelativeResize="0"/>
          <p:nvPr/>
        </p:nvPicPr>
        <p:blipFill rotWithShape="1">
          <a:blip r:embed="rId11">
            <a:alphaModFix/>
          </a:blip>
          <a:srcRect/>
          <a:stretch/>
        </p:blipFill>
        <p:spPr>
          <a:xfrm>
            <a:off x="5494251" y="5202691"/>
            <a:ext cx="992197" cy="973504"/>
          </a:xfrm>
          <a:prstGeom prst="rect">
            <a:avLst/>
          </a:prstGeom>
          <a:noFill/>
          <a:ln>
            <a:noFill/>
          </a:ln>
        </p:spPr>
      </p:pic>
      <p:cxnSp>
        <p:nvCxnSpPr>
          <p:cNvPr id="126" name="Google Shape;126;p17"/>
          <p:cNvCxnSpPr/>
          <p:nvPr/>
        </p:nvCxnSpPr>
        <p:spPr>
          <a:xfrm>
            <a:off x="4857750" y="6102075"/>
            <a:ext cx="7452600" cy="0"/>
          </a:xfrm>
          <a:prstGeom prst="straightConnector1">
            <a:avLst/>
          </a:prstGeom>
          <a:noFill/>
          <a:ln w="38100" cap="flat" cmpd="sng">
            <a:solidFill>
              <a:srgbClr val="F90373"/>
            </a:solidFill>
            <a:prstDash val="solid"/>
            <a:miter lim="800000"/>
            <a:headEnd type="none" w="sm" len="sm"/>
            <a:tailEnd type="none" w="sm" len="sm"/>
          </a:ln>
        </p:spPr>
      </p:cxnSp>
      <p:pic>
        <p:nvPicPr>
          <p:cNvPr id="127" name="Google Shape;127;p17"/>
          <p:cNvPicPr preferRelativeResize="0"/>
          <p:nvPr/>
        </p:nvPicPr>
        <p:blipFill rotWithShape="1">
          <a:blip r:embed="rId12">
            <a:alphaModFix/>
          </a:blip>
          <a:srcRect t="20250" b="20137"/>
          <a:stretch/>
        </p:blipFill>
        <p:spPr>
          <a:xfrm>
            <a:off x="8254873" y="3702884"/>
            <a:ext cx="1198677" cy="701070"/>
          </a:xfrm>
          <a:prstGeom prst="rect">
            <a:avLst/>
          </a:prstGeom>
          <a:noFill/>
          <a:ln>
            <a:noFill/>
          </a:ln>
        </p:spPr>
      </p:pic>
      <p:cxnSp>
        <p:nvCxnSpPr>
          <p:cNvPr id="128" name="Google Shape;128;p17"/>
          <p:cNvCxnSpPr/>
          <p:nvPr/>
        </p:nvCxnSpPr>
        <p:spPr>
          <a:xfrm>
            <a:off x="9099350" y="3753775"/>
            <a:ext cx="339300" cy="0"/>
          </a:xfrm>
          <a:prstGeom prst="straightConnector1">
            <a:avLst/>
          </a:prstGeom>
          <a:noFill/>
          <a:ln w="38100" cap="flat" cmpd="sng">
            <a:solidFill>
              <a:srgbClr val="5400FF"/>
            </a:solidFill>
            <a:prstDash val="solid"/>
            <a:miter lim="800000"/>
            <a:headEnd type="none" w="sm" len="sm"/>
            <a:tailEnd type="none" w="sm" len="sm"/>
          </a:ln>
        </p:spPr>
      </p:cxnSp>
      <p:sp>
        <p:nvSpPr>
          <p:cNvPr id="129" name="Google Shape;129;p17"/>
          <p:cNvSpPr txBox="1"/>
          <p:nvPr/>
        </p:nvSpPr>
        <p:spPr>
          <a:xfrm>
            <a:off x="9582278" y="1689156"/>
            <a:ext cx="834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2024</a:t>
            </a:r>
            <a:endParaRPr sz="1600" b="1" i="0" u="none" strike="noStrike" cap="none">
              <a:solidFill>
                <a:srgbClr val="000000"/>
              </a:solidFill>
              <a:latin typeface="Arial"/>
              <a:ea typeface="Arial"/>
              <a:cs typeface="Arial"/>
              <a:sym typeface="Arial"/>
            </a:endParaRPr>
          </a:p>
        </p:txBody>
      </p:sp>
      <p:cxnSp>
        <p:nvCxnSpPr>
          <p:cNvPr id="130" name="Google Shape;130;p17"/>
          <p:cNvCxnSpPr/>
          <p:nvPr/>
        </p:nvCxnSpPr>
        <p:spPr>
          <a:xfrm>
            <a:off x="11718021" y="1888805"/>
            <a:ext cx="0" cy="4929900"/>
          </a:xfrm>
          <a:prstGeom prst="straightConnector1">
            <a:avLst/>
          </a:prstGeom>
          <a:noFill/>
          <a:ln w="12700" cap="flat" cmpd="sng">
            <a:solidFill>
              <a:srgbClr val="3F3F3F"/>
            </a:solidFill>
            <a:prstDash val="dash"/>
            <a:miter lim="800000"/>
            <a:headEnd type="none" w="sm" len="sm"/>
            <a:tailEnd type="none" w="sm" len="sm"/>
          </a:ln>
        </p:spPr>
      </p:cxnSp>
      <p:pic>
        <p:nvPicPr>
          <p:cNvPr id="131" name="Google Shape;131;p17"/>
          <p:cNvPicPr preferRelativeResize="0"/>
          <p:nvPr/>
        </p:nvPicPr>
        <p:blipFill rotWithShape="1">
          <a:blip r:embed="rId13">
            <a:alphaModFix/>
          </a:blip>
          <a:srcRect l="9713" t="21244" r="33620" b="21604"/>
          <a:stretch/>
        </p:blipFill>
        <p:spPr>
          <a:xfrm>
            <a:off x="9453550" y="6327502"/>
            <a:ext cx="339300" cy="306672"/>
          </a:xfrm>
          <a:prstGeom prst="rect">
            <a:avLst/>
          </a:prstGeom>
          <a:noFill/>
          <a:ln>
            <a:noFill/>
          </a:ln>
        </p:spPr>
      </p:pic>
      <p:pic>
        <p:nvPicPr>
          <p:cNvPr id="132" name="Google Shape;132;p17"/>
          <p:cNvPicPr preferRelativeResize="0"/>
          <p:nvPr/>
        </p:nvPicPr>
        <p:blipFill>
          <a:blip r:embed="rId14">
            <a:alphaModFix/>
          </a:blip>
          <a:stretch>
            <a:fillRect/>
          </a:stretch>
        </p:blipFill>
        <p:spPr>
          <a:xfrm>
            <a:off x="9693517" y="4356501"/>
            <a:ext cx="834759" cy="819034"/>
          </a:xfrm>
          <a:prstGeom prst="rect">
            <a:avLst/>
          </a:prstGeom>
          <a:noFill/>
          <a:ln>
            <a:noFill/>
          </a:ln>
        </p:spPr>
      </p:pic>
      <p:cxnSp>
        <p:nvCxnSpPr>
          <p:cNvPr id="133" name="Google Shape;133;p17"/>
          <p:cNvCxnSpPr/>
          <p:nvPr/>
        </p:nvCxnSpPr>
        <p:spPr>
          <a:xfrm>
            <a:off x="10304850" y="5227800"/>
            <a:ext cx="2006100" cy="0"/>
          </a:xfrm>
          <a:prstGeom prst="straightConnector1">
            <a:avLst/>
          </a:prstGeom>
          <a:noFill/>
          <a:ln w="38100" cap="flat" cmpd="sng">
            <a:solidFill>
              <a:srgbClr val="FF940D"/>
            </a:solidFill>
            <a:prstDash val="solid"/>
            <a:miter lim="800000"/>
            <a:headEnd type="none" w="sm" len="sm"/>
            <a:tailEnd type="none" w="sm" len="sm"/>
          </a:ln>
        </p:spPr>
      </p:cxnSp>
      <p:cxnSp>
        <p:nvCxnSpPr>
          <p:cNvPr id="134" name="Google Shape;134;p17"/>
          <p:cNvCxnSpPr/>
          <p:nvPr/>
        </p:nvCxnSpPr>
        <p:spPr>
          <a:xfrm>
            <a:off x="10572488" y="1888355"/>
            <a:ext cx="0" cy="4929900"/>
          </a:xfrm>
          <a:prstGeom prst="straightConnector1">
            <a:avLst/>
          </a:prstGeom>
          <a:noFill/>
          <a:ln w="12700" cap="flat" cmpd="sng">
            <a:solidFill>
              <a:srgbClr val="3F3F3F"/>
            </a:solidFill>
            <a:prstDash val="dash"/>
            <a:miter lim="800000"/>
            <a:headEnd type="none" w="sm" len="sm"/>
            <a:tailEnd type="none" w="sm" len="sm"/>
          </a:ln>
        </p:spPr>
      </p:cxnSp>
      <p:sp>
        <p:nvSpPr>
          <p:cNvPr id="135" name="Google Shape;135;p17"/>
          <p:cNvSpPr txBox="1"/>
          <p:nvPr/>
        </p:nvSpPr>
        <p:spPr>
          <a:xfrm>
            <a:off x="10727822" y="1689156"/>
            <a:ext cx="834900" cy="315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600" b="1" i="0" u="none" strike="noStrike" cap="none">
                <a:solidFill>
                  <a:srgbClr val="000000"/>
                </a:solidFill>
                <a:latin typeface="Arial"/>
                <a:ea typeface="Arial"/>
                <a:cs typeface="Arial"/>
                <a:sym typeface="Arial"/>
              </a:rPr>
              <a:t>202</a:t>
            </a:r>
            <a:r>
              <a:rPr lang="en-US" sz="1600" b="1"/>
              <a:t>5</a:t>
            </a:r>
            <a:endParaRPr sz="1600" b="1" i="0" u="none" strike="noStrike" cap="none">
              <a:solidFill>
                <a:srgbClr val="000000"/>
              </a:solidFill>
              <a:latin typeface="Arial"/>
              <a:ea typeface="Arial"/>
              <a:cs typeface="Arial"/>
              <a:sym typeface="Arial"/>
            </a:endParaRPr>
          </a:p>
        </p:txBody>
      </p:sp>
      <p:pic>
        <p:nvPicPr>
          <p:cNvPr id="136" name="Google Shape;136;p17"/>
          <p:cNvPicPr preferRelativeResize="0"/>
          <p:nvPr/>
        </p:nvPicPr>
        <p:blipFill>
          <a:blip r:embed="rId15">
            <a:alphaModFix/>
          </a:blip>
          <a:stretch>
            <a:fillRect/>
          </a:stretch>
        </p:blipFill>
        <p:spPr>
          <a:xfrm>
            <a:off x="10233200" y="6311977"/>
            <a:ext cx="339300" cy="3377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18"/>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43" name="Google Shape;143;p18"/>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Ementa (⅓)</a:t>
            </a:r>
            <a:endParaRPr sz="3600">
              <a:latin typeface="Montserrat"/>
              <a:ea typeface="Montserrat"/>
              <a:cs typeface="Montserrat"/>
              <a:sym typeface="Montserrat"/>
            </a:endParaRPr>
          </a:p>
        </p:txBody>
      </p:sp>
      <p:sp>
        <p:nvSpPr>
          <p:cNvPr id="144" name="Google Shape;144;p18"/>
          <p:cNvSpPr txBox="1"/>
          <p:nvPr/>
        </p:nvSpPr>
        <p:spPr>
          <a:xfrm>
            <a:off x="844250" y="1337675"/>
            <a:ext cx="9175800" cy="5352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Montserrat"/>
                <a:ea typeface="Montserrat"/>
                <a:cs typeface="Montserrat"/>
                <a:sym typeface="Montserrat"/>
              </a:rPr>
              <a:t>Introdução ao Python</a:t>
            </a:r>
            <a:endParaRPr sz="1800" b="1"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Introdução à programação e ao Python</a:t>
            </a:r>
            <a:endParaRPr sz="18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Configurando o ambiente de desenvolvimento</a:t>
            </a:r>
            <a:endParaRPr sz="18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Olá mundo!</a:t>
            </a:r>
            <a:endParaRPr sz="18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Montserrat"/>
                <a:ea typeface="Montserrat"/>
                <a:cs typeface="Montserrat"/>
                <a:sym typeface="Montserrat"/>
              </a:rPr>
              <a:t>Tipos básicos de dados</a:t>
            </a: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Textos </a:t>
            </a:r>
            <a:endParaRPr sz="1800">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Números</a:t>
            </a: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Python como uma calculadora</a:t>
            </a: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chemeClr val="dk1"/>
                </a:solidFill>
                <a:latin typeface="Montserrat"/>
                <a:ea typeface="Montserrat"/>
                <a:cs typeface="Montserrat"/>
                <a:sym typeface="Montserrat"/>
              </a:rPr>
              <a:t>Variáveis</a:t>
            </a:r>
            <a:endParaRPr sz="1800" b="1"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chemeClr val="dk1"/>
                </a:solidFill>
                <a:latin typeface="Montserrat"/>
                <a:ea typeface="Montserrat"/>
                <a:cs typeface="Montserrat"/>
                <a:sym typeface="Montserrat"/>
              </a:rPr>
              <a:t>- Como armazenar resultados e entradas do usuário</a:t>
            </a: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chemeClr val="dk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1" i="0" u="none" strike="noStrike" cap="none">
                <a:solidFill>
                  <a:srgbClr val="374151"/>
                </a:solidFill>
                <a:latin typeface="Montserrat"/>
                <a:ea typeface="Montserrat"/>
                <a:cs typeface="Montserrat"/>
                <a:sym typeface="Montserrat"/>
              </a:rPr>
              <a:t>Estruturas de Controle</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Estruturas condicionais (if, else, elif)</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Estruturas de repetição (while, for, break, continue)</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Exceções (try, except)</a:t>
            </a:r>
            <a:endParaRPr sz="1800" b="0" i="0" u="none" strike="noStrike" cap="none">
              <a:solidFill>
                <a:schemeClr val="dk1"/>
              </a:solidFill>
              <a:latin typeface="Montserrat"/>
              <a:ea typeface="Montserrat"/>
              <a:cs typeface="Montserrat"/>
              <a:sym typeface="Montserrat"/>
            </a:endParaRPr>
          </a:p>
        </p:txBody>
      </p:sp>
      <p:sp>
        <p:nvSpPr>
          <p:cNvPr id="145" name="Google Shape;145;p18"/>
          <p:cNvSpPr/>
          <p:nvPr/>
        </p:nvSpPr>
        <p:spPr>
          <a:xfrm>
            <a:off x="6746200" y="4705575"/>
            <a:ext cx="1537488" cy="624348"/>
          </a:xfrm>
          <a:prstGeom prst="cloud">
            <a:avLst/>
          </a:prstGeom>
          <a:solidFill>
            <a:srgbClr val="C9DAF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Exercícios</a:t>
            </a:r>
            <a:endParaRPr/>
          </a:p>
        </p:txBody>
      </p:sp>
      <p:sp>
        <p:nvSpPr>
          <p:cNvPr id="146" name="Google Shape;146;p18"/>
          <p:cNvSpPr/>
          <p:nvPr/>
        </p:nvSpPr>
        <p:spPr>
          <a:xfrm>
            <a:off x="6746200" y="6065325"/>
            <a:ext cx="1537488" cy="624348"/>
          </a:xfrm>
          <a:prstGeom prst="cloud">
            <a:avLst/>
          </a:prstGeom>
          <a:solidFill>
            <a:srgbClr val="C9DAF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Exercícios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p19"/>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53" name="Google Shape;153;p19"/>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Ementa (⅔)</a:t>
            </a:r>
            <a:endParaRPr sz="3600">
              <a:latin typeface="Montserrat"/>
              <a:ea typeface="Montserrat"/>
              <a:cs typeface="Montserrat"/>
              <a:sym typeface="Montserrat"/>
            </a:endParaRPr>
          </a:p>
        </p:txBody>
      </p:sp>
      <p:sp>
        <p:nvSpPr>
          <p:cNvPr id="154" name="Google Shape;154;p19"/>
          <p:cNvSpPr txBox="1"/>
          <p:nvPr/>
        </p:nvSpPr>
        <p:spPr>
          <a:xfrm>
            <a:off x="844250" y="1337675"/>
            <a:ext cx="9175800" cy="30108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chemeClr val="dk1"/>
              </a:buClr>
              <a:buSzPts val="1100"/>
              <a:buFont typeface="Arial"/>
              <a:buNone/>
            </a:pPr>
            <a:r>
              <a:rPr lang="en-US" sz="1800" b="1" i="0" u="none" strike="noStrike" cap="none">
                <a:solidFill>
                  <a:srgbClr val="374151"/>
                </a:solidFill>
                <a:latin typeface="Montserrat"/>
                <a:ea typeface="Montserrat"/>
                <a:cs typeface="Montserrat"/>
                <a:sym typeface="Montserrat"/>
              </a:rPr>
              <a:t>Listas e Tuplas</a:t>
            </a:r>
            <a:endParaRPr sz="18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Introdução às listas e suas operações (criação, acesso, modificação)</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Funções de lista (len, append, remove, sort)</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Introdução às tuplas e suas características</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1" i="0" u="none" strike="noStrike" cap="none">
                <a:solidFill>
                  <a:srgbClr val="374151"/>
                </a:solidFill>
                <a:latin typeface="Montserrat"/>
                <a:ea typeface="Montserrat"/>
                <a:cs typeface="Montserrat"/>
                <a:sym typeface="Montserrat"/>
              </a:rPr>
              <a:t>Dicionários</a:t>
            </a:r>
            <a:endParaRPr sz="18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criação</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acesso</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chemeClr val="dk1"/>
              </a:buClr>
              <a:buSzPts val="1100"/>
              <a:buFont typeface="Arial"/>
              <a:buNone/>
            </a:pPr>
            <a:r>
              <a:rPr lang="en-US" sz="1800" b="0" i="0" u="none" strike="noStrike" cap="none">
                <a:solidFill>
                  <a:srgbClr val="374151"/>
                </a:solidFill>
                <a:latin typeface="Montserrat"/>
                <a:ea typeface="Montserrat"/>
                <a:cs typeface="Montserrat"/>
                <a:sym typeface="Montserrat"/>
              </a:rPr>
              <a:t>- modificação</a:t>
            </a:r>
            <a:endParaRPr sz="1800" b="1" i="0" u="none" strike="noStrike" cap="none">
              <a:solidFill>
                <a:schemeClr val="dk1"/>
              </a:solidFill>
              <a:latin typeface="Montserrat"/>
              <a:ea typeface="Montserrat"/>
              <a:cs typeface="Montserrat"/>
              <a:sym typeface="Montserrat"/>
            </a:endParaRPr>
          </a:p>
        </p:txBody>
      </p:sp>
      <p:sp>
        <p:nvSpPr>
          <p:cNvPr id="155" name="Google Shape;155;p19"/>
          <p:cNvSpPr/>
          <p:nvPr/>
        </p:nvSpPr>
        <p:spPr>
          <a:xfrm>
            <a:off x="6991900" y="3724125"/>
            <a:ext cx="1537488" cy="624348"/>
          </a:xfrm>
          <a:prstGeom prst="cloud">
            <a:avLst/>
          </a:prstGeom>
          <a:solidFill>
            <a:srgbClr val="C9DAF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Exercícios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20"/>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62" name="Google Shape;162;p20"/>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Ementa (3/3)</a:t>
            </a:r>
            <a:endParaRPr sz="3600">
              <a:latin typeface="Montserrat"/>
              <a:ea typeface="Montserrat"/>
              <a:cs typeface="Montserrat"/>
              <a:sym typeface="Montserrat"/>
            </a:endParaRPr>
          </a:p>
        </p:txBody>
      </p:sp>
      <p:sp>
        <p:nvSpPr>
          <p:cNvPr id="163" name="Google Shape;163;p20"/>
          <p:cNvSpPr txBox="1"/>
          <p:nvPr/>
        </p:nvSpPr>
        <p:spPr>
          <a:xfrm>
            <a:off x="844250" y="1337675"/>
            <a:ext cx="9175800" cy="5241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374151"/>
                </a:solidFill>
                <a:latin typeface="Montserrat"/>
                <a:ea typeface="Montserrat"/>
                <a:cs typeface="Montserrat"/>
                <a:sym typeface="Montserrat"/>
              </a:rPr>
              <a:t>Funções</a:t>
            </a:r>
            <a:endParaRPr sz="18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Definindo funções em Python</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Parâmetros e argumentos</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Retorno de valores</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374151"/>
                </a:solidFill>
                <a:latin typeface="Montserrat"/>
                <a:ea typeface="Montserrat"/>
                <a:cs typeface="Montserrat"/>
                <a:sym typeface="Montserrat"/>
              </a:rPr>
              <a:t>Módulos e Bibliotecas</a:t>
            </a:r>
            <a:endParaRPr sz="18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Importando e usando módulos em Python</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Explorando bibliotecas populares (exemplo: math, random, datetime)</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1" i="0" u="none" strike="noStrike" cap="none">
                <a:solidFill>
                  <a:srgbClr val="374151"/>
                </a:solidFill>
                <a:latin typeface="Montserrat"/>
                <a:ea typeface="Montserrat"/>
                <a:cs typeface="Montserrat"/>
                <a:sym typeface="Montserrat"/>
              </a:rPr>
              <a:t>Manipulação de Arquivos</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Leitura e escrita de arquivos em Python</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r>
              <a:rPr lang="en-US" sz="1800" b="0" i="0" u="none" strike="noStrike" cap="none">
                <a:solidFill>
                  <a:srgbClr val="374151"/>
                </a:solidFill>
                <a:latin typeface="Montserrat"/>
                <a:ea typeface="Montserrat"/>
                <a:cs typeface="Montserrat"/>
                <a:sym typeface="Montserrat"/>
              </a:rPr>
              <a:t>- Trabalhando com arquivos CSV</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a:solidFill>
                <a:srgbClr val="374151"/>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800"/>
              <a:buFont typeface="Arial"/>
              <a:buNone/>
            </a:pPr>
            <a:r>
              <a:rPr lang="en-US" sz="1800" b="1">
                <a:solidFill>
                  <a:srgbClr val="374151"/>
                </a:solidFill>
                <a:latin typeface="Montserrat"/>
                <a:ea typeface="Montserrat"/>
                <a:cs typeface="Montserrat"/>
                <a:sym typeface="Montserrat"/>
              </a:rPr>
              <a:t>Tópicos especiais</a:t>
            </a:r>
            <a:endParaRPr sz="1800" b="1">
              <a:solidFill>
                <a:srgbClr val="374151"/>
              </a:solidFill>
              <a:latin typeface="Montserrat"/>
              <a:ea typeface="Montserrat"/>
              <a:cs typeface="Montserrat"/>
              <a:sym typeface="Montserrat"/>
            </a:endParaRPr>
          </a:p>
          <a:p>
            <a:pPr marL="457200" lvl="0" indent="-342900" algn="l" rtl="0">
              <a:lnSpc>
                <a:spcPct val="115000"/>
              </a:lnSpc>
              <a:spcBef>
                <a:spcPts val="0"/>
              </a:spcBef>
              <a:spcAft>
                <a:spcPts val="0"/>
              </a:spcAft>
              <a:buClr>
                <a:srgbClr val="374151"/>
              </a:buClr>
              <a:buSzPts val="1800"/>
              <a:buFont typeface="Montserrat"/>
              <a:buChar char="-"/>
            </a:pPr>
            <a:r>
              <a:rPr lang="en-US" sz="1800">
                <a:solidFill>
                  <a:srgbClr val="374151"/>
                </a:solidFill>
                <a:latin typeface="Montserrat"/>
                <a:ea typeface="Montserrat"/>
                <a:cs typeface="Montserrat"/>
                <a:sym typeface="Montserrat"/>
              </a:rPr>
              <a:t>Streamlit</a:t>
            </a:r>
            <a:endParaRPr sz="1800">
              <a:solidFill>
                <a:srgbClr val="374151"/>
              </a:solidFill>
              <a:latin typeface="Montserrat"/>
              <a:ea typeface="Montserrat"/>
              <a:cs typeface="Montserrat"/>
              <a:sym typeface="Montserrat"/>
            </a:endParaRPr>
          </a:p>
          <a:p>
            <a:pPr marL="457200" lvl="0" indent="-342900" algn="l" rtl="0">
              <a:lnSpc>
                <a:spcPct val="115000"/>
              </a:lnSpc>
              <a:spcBef>
                <a:spcPts val="0"/>
              </a:spcBef>
              <a:spcAft>
                <a:spcPts val="0"/>
              </a:spcAft>
              <a:buClr>
                <a:srgbClr val="374151"/>
              </a:buClr>
              <a:buSzPts val="1800"/>
              <a:buFont typeface="Montserrat"/>
              <a:buChar char="-"/>
            </a:pPr>
            <a:r>
              <a:rPr lang="en-US" sz="1800">
                <a:solidFill>
                  <a:srgbClr val="374151"/>
                </a:solidFill>
                <a:latin typeface="Montserrat"/>
                <a:ea typeface="Montserrat"/>
                <a:cs typeface="Montserrat"/>
                <a:sym typeface="Montserrat"/>
              </a:rPr>
              <a:t>APIs</a:t>
            </a:r>
            <a:endParaRPr sz="1800">
              <a:solidFill>
                <a:srgbClr val="374151"/>
              </a:solidFill>
              <a:latin typeface="Montserrat"/>
              <a:ea typeface="Montserrat"/>
              <a:cs typeface="Montserrat"/>
              <a:sym typeface="Montserrat"/>
            </a:endParaRPr>
          </a:p>
        </p:txBody>
      </p:sp>
      <p:sp>
        <p:nvSpPr>
          <p:cNvPr id="164" name="Google Shape;164;p20"/>
          <p:cNvSpPr/>
          <p:nvPr/>
        </p:nvSpPr>
        <p:spPr>
          <a:xfrm>
            <a:off x="6746200" y="2102925"/>
            <a:ext cx="1537488" cy="624348"/>
          </a:xfrm>
          <a:prstGeom prst="cloud">
            <a:avLst/>
          </a:prstGeom>
          <a:solidFill>
            <a:srgbClr val="C9DAF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Exercícios</a:t>
            </a:r>
            <a:endParaRPr/>
          </a:p>
        </p:txBody>
      </p:sp>
      <p:sp>
        <p:nvSpPr>
          <p:cNvPr id="165" name="Google Shape;165;p20"/>
          <p:cNvSpPr/>
          <p:nvPr/>
        </p:nvSpPr>
        <p:spPr>
          <a:xfrm>
            <a:off x="6746200" y="3926950"/>
            <a:ext cx="1537488" cy="624348"/>
          </a:xfrm>
          <a:prstGeom prst="cloud">
            <a:avLst/>
          </a:prstGeom>
          <a:solidFill>
            <a:srgbClr val="C9DAF8"/>
          </a:solidFill>
          <a:ln w="28575" cap="flat" cmpd="sng">
            <a:solidFill>
              <a:srgbClr val="1C458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US"/>
              <a:t>Exercícios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1"/>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72" name="Google Shape;172;p21"/>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Combinados</a:t>
            </a:r>
            <a:endParaRPr sz="3600">
              <a:latin typeface="Montserrat"/>
              <a:ea typeface="Montserrat"/>
              <a:cs typeface="Montserrat"/>
              <a:sym typeface="Montserrat"/>
            </a:endParaRPr>
          </a:p>
        </p:txBody>
      </p:sp>
      <p:sp>
        <p:nvSpPr>
          <p:cNvPr id="173" name="Google Shape;173;p21"/>
          <p:cNvSpPr txBox="1"/>
          <p:nvPr/>
        </p:nvSpPr>
        <p:spPr>
          <a:xfrm>
            <a:off x="844250" y="1337675"/>
            <a:ext cx="11001300" cy="30108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rgbClr val="374151"/>
              </a:buClr>
              <a:buSzPts val="1800"/>
              <a:buFont typeface="Montserrat"/>
              <a:buChar char="●"/>
            </a:pPr>
            <a:r>
              <a:rPr lang="en-US" sz="1800" b="0" i="0" u="none" strike="noStrike" cap="none">
                <a:solidFill>
                  <a:srgbClr val="374151"/>
                </a:solidFill>
                <a:latin typeface="Montserrat"/>
                <a:ea typeface="Montserrat"/>
                <a:cs typeface="Montserrat"/>
                <a:sym typeface="Montserrat"/>
              </a:rPr>
              <a:t>Sempre das </a:t>
            </a:r>
            <a:r>
              <a:rPr lang="en-US" sz="1800" b="1">
                <a:solidFill>
                  <a:srgbClr val="374151"/>
                </a:solidFill>
                <a:latin typeface="Montserrat"/>
                <a:ea typeface="Montserrat"/>
                <a:cs typeface="Montserrat"/>
                <a:sym typeface="Montserrat"/>
              </a:rPr>
              <a:t>8AM às ~10:30AM</a:t>
            </a:r>
            <a:r>
              <a:rPr lang="en-US" sz="1800" b="0" i="0" u="none" strike="noStrike" cap="none">
                <a:solidFill>
                  <a:srgbClr val="374151"/>
                </a:solidFill>
                <a:latin typeface="Montserrat"/>
                <a:ea typeface="Montserrat"/>
                <a:cs typeface="Montserrat"/>
                <a:sym typeface="Montserrat"/>
              </a:rPr>
              <a:t> estaremos online</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374151"/>
              </a:buClr>
              <a:buSzPts val="1800"/>
              <a:buFont typeface="Montserrat"/>
              <a:buChar char="●"/>
            </a:pPr>
            <a:r>
              <a:rPr lang="en-US" sz="1800" b="0" i="0" u="none" strike="noStrike" cap="none">
                <a:solidFill>
                  <a:srgbClr val="374151"/>
                </a:solidFill>
                <a:latin typeface="Montserrat"/>
                <a:ea typeface="Montserrat"/>
                <a:cs typeface="Montserrat"/>
                <a:sym typeface="Montserrat"/>
              </a:rPr>
              <a:t>Notificações serão </a:t>
            </a:r>
            <a:r>
              <a:rPr lang="en-US" sz="1800" b="1" i="0" u="none" strike="noStrike" cap="none">
                <a:solidFill>
                  <a:srgbClr val="374151"/>
                </a:solidFill>
                <a:latin typeface="Montserrat"/>
                <a:ea typeface="Montserrat"/>
                <a:cs typeface="Montserrat"/>
                <a:sym typeface="Montserrat"/>
              </a:rPr>
              <a:t>desligadas</a:t>
            </a:r>
            <a:r>
              <a:rPr lang="en-US" sz="1800" b="0" i="0" u="none" strike="noStrike" cap="none">
                <a:solidFill>
                  <a:srgbClr val="374151"/>
                </a:solidFill>
                <a:latin typeface="Montserrat"/>
                <a:ea typeface="Montserrat"/>
                <a:cs typeface="Montserrat"/>
                <a:sym typeface="Montserrat"/>
              </a:rPr>
              <a:t>, mas sua contribuição é sempre bem-vinda</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374151"/>
              </a:buClr>
              <a:buSzPts val="1800"/>
              <a:buFont typeface="Montserrat"/>
              <a:buChar char="●"/>
            </a:pPr>
            <a:r>
              <a:rPr lang="en-US" sz="1800" b="0" i="0" u="none" strike="noStrike" cap="none">
                <a:solidFill>
                  <a:srgbClr val="374151"/>
                </a:solidFill>
                <a:latin typeface="Montserrat"/>
                <a:ea typeface="Montserrat"/>
                <a:cs typeface="Montserrat"/>
                <a:sym typeface="Montserrat"/>
              </a:rPr>
              <a:t>Quando houver ADs, a explicação é </a:t>
            </a:r>
            <a:r>
              <a:rPr lang="en-US" sz="1800" b="1" i="0" u="none" strike="noStrike" cap="none">
                <a:solidFill>
                  <a:srgbClr val="374151"/>
                </a:solidFill>
                <a:latin typeface="Montserrat"/>
                <a:ea typeface="Montserrat"/>
                <a:cs typeface="Montserrat"/>
                <a:sym typeface="Montserrat"/>
              </a:rPr>
              <a:t>pausada</a:t>
            </a:r>
            <a:endParaRPr sz="18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374151"/>
              </a:buClr>
              <a:buSzPts val="1800"/>
              <a:buFont typeface="Montserrat"/>
              <a:buChar char="●"/>
            </a:pPr>
            <a:r>
              <a:rPr lang="en-US" sz="1800" b="0" i="0" u="none" strike="noStrike" cap="none">
                <a:solidFill>
                  <a:srgbClr val="374151"/>
                </a:solidFill>
                <a:latin typeface="Montserrat"/>
                <a:ea typeface="Montserrat"/>
                <a:cs typeface="Montserrat"/>
                <a:sym typeface="Montserrat"/>
              </a:rPr>
              <a:t>Evite </a:t>
            </a:r>
            <a:r>
              <a:rPr lang="en-US" sz="1800" b="1" i="0" u="none" strike="noStrike" cap="none">
                <a:solidFill>
                  <a:srgbClr val="374151"/>
                </a:solidFill>
                <a:latin typeface="Montserrat"/>
                <a:ea typeface="Montserrat"/>
                <a:cs typeface="Montserrat"/>
                <a:sym typeface="Montserrat"/>
              </a:rPr>
              <a:t>spamar</a:t>
            </a:r>
            <a:r>
              <a:rPr lang="en-US" sz="1800" b="0" i="0" u="none" strike="noStrike" cap="none">
                <a:solidFill>
                  <a:srgbClr val="374151"/>
                </a:solidFill>
                <a:latin typeface="Montserrat"/>
                <a:ea typeface="Montserrat"/>
                <a:cs typeface="Montserrat"/>
                <a:sym typeface="Montserrat"/>
              </a:rPr>
              <a:t> a mesma coisa no chat, moderadores estarão de olho</a:t>
            </a:r>
            <a:endParaRPr sz="18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1800" b="0" i="0" u="none" strike="noStrike" cap="none">
              <a:solidFill>
                <a:srgbClr val="374151"/>
              </a:solidFill>
              <a:latin typeface="Montserrat"/>
              <a:ea typeface="Montserrat"/>
              <a:cs typeface="Montserrat"/>
              <a:sym typeface="Montserrat"/>
            </a:endParaRPr>
          </a:p>
          <a:p>
            <a:pPr marL="457200" marR="0" lvl="0" indent="-342900" algn="l" rtl="0">
              <a:lnSpc>
                <a:spcPct val="115000"/>
              </a:lnSpc>
              <a:spcBef>
                <a:spcPts val="0"/>
              </a:spcBef>
              <a:spcAft>
                <a:spcPts val="0"/>
              </a:spcAft>
              <a:buClr>
                <a:srgbClr val="374151"/>
              </a:buClr>
              <a:buSzPts val="1800"/>
              <a:buFont typeface="Montserrat"/>
              <a:buChar char="●"/>
            </a:pPr>
            <a:r>
              <a:rPr lang="en-US" sz="1800" b="0" i="0" u="none" strike="noStrike" cap="none">
                <a:solidFill>
                  <a:srgbClr val="374151"/>
                </a:solidFill>
                <a:latin typeface="Montserrat"/>
                <a:ea typeface="Montserrat"/>
                <a:cs typeface="Montserrat"/>
                <a:sym typeface="Montserrat"/>
              </a:rPr>
              <a:t>Comentários discriminatórios e babacas receberam </a:t>
            </a:r>
            <a:r>
              <a:rPr lang="en-US" sz="1800" b="1" i="0" u="none" strike="noStrike" cap="none">
                <a:solidFill>
                  <a:srgbClr val="374151"/>
                </a:solidFill>
                <a:latin typeface="Montserrat"/>
                <a:ea typeface="Montserrat"/>
                <a:cs typeface="Montserrat"/>
                <a:sym typeface="Montserrat"/>
              </a:rPr>
              <a:t>banimento</a:t>
            </a:r>
            <a:r>
              <a:rPr lang="en-US" sz="1800" b="0" i="0" u="none" strike="noStrike" cap="none">
                <a:solidFill>
                  <a:srgbClr val="374151"/>
                </a:solidFill>
                <a:latin typeface="Montserrat"/>
                <a:ea typeface="Montserrat"/>
                <a:cs typeface="Montserrat"/>
                <a:sym typeface="Montserrat"/>
              </a:rPr>
              <a:t> sem aviso prévio</a:t>
            </a:r>
            <a:endParaRPr sz="1800" b="0" i="0" u="none" strike="noStrike" cap="none">
              <a:solidFill>
                <a:srgbClr val="37415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22"/>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80" name="Google Shape;180;p22"/>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Avisos</a:t>
            </a:r>
            <a:endParaRPr sz="3600">
              <a:latin typeface="Montserrat"/>
              <a:ea typeface="Montserrat"/>
              <a:cs typeface="Montserrat"/>
              <a:sym typeface="Montserrat"/>
            </a:endParaRPr>
          </a:p>
        </p:txBody>
      </p:sp>
      <p:sp>
        <p:nvSpPr>
          <p:cNvPr id="181" name="Google Shape;181;p22"/>
          <p:cNvSpPr txBox="1"/>
          <p:nvPr/>
        </p:nvSpPr>
        <p:spPr>
          <a:xfrm>
            <a:off x="844250" y="1337675"/>
            <a:ext cx="11001300" cy="43560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50000"/>
              </a:lnSpc>
              <a:spcBef>
                <a:spcPts val="0"/>
              </a:spcBef>
              <a:spcAft>
                <a:spcPts val="0"/>
              </a:spcAft>
              <a:buSzPts val="2000"/>
              <a:buFont typeface="Montserrat"/>
              <a:buChar char="●"/>
            </a:pPr>
            <a:r>
              <a:rPr lang="en-US" sz="2000">
                <a:solidFill>
                  <a:srgbClr val="374151"/>
                </a:solidFill>
                <a:latin typeface="Montserrat"/>
                <a:ea typeface="Montserrat"/>
                <a:cs typeface="Montserrat"/>
                <a:sym typeface="Montserrat"/>
              </a:rPr>
              <a:t>Entre para nossa comunidade: </a:t>
            </a:r>
            <a:r>
              <a:rPr lang="en-US" sz="2000" b="1" u="sng">
                <a:solidFill>
                  <a:schemeClr val="hlink"/>
                </a:solidFill>
                <a:latin typeface="Montserrat"/>
                <a:ea typeface="Montserrat"/>
                <a:cs typeface="Montserrat"/>
                <a:sym typeface="Montserrat"/>
                <a:hlinkClick r:id="rId4"/>
              </a:rPr>
              <a:t>comunidade.teomewhy.org</a:t>
            </a:r>
            <a:endParaRPr sz="2000" b="1">
              <a:solidFill>
                <a:srgbClr val="374151"/>
              </a:solidFill>
              <a:latin typeface="Montserrat"/>
              <a:ea typeface="Montserrat"/>
              <a:cs typeface="Montserrat"/>
              <a:sym typeface="Montserrat"/>
            </a:endParaRPr>
          </a:p>
          <a:p>
            <a:pPr marL="457200" marR="0" lvl="0" indent="-355600" algn="l" rtl="0">
              <a:lnSpc>
                <a:spcPct val="150000"/>
              </a:lnSpc>
              <a:spcBef>
                <a:spcPts val="0"/>
              </a:spcBef>
              <a:spcAft>
                <a:spcPts val="0"/>
              </a:spcAft>
              <a:buClr>
                <a:srgbClr val="374151"/>
              </a:buClr>
              <a:buSzPts val="2000"/>
              <a:buFont typeface="Montserrat"/>
              <a:buChar char="●"/>
            </a:pPr>
            <a:r>
              <a:rPr lang="en-US" sz="2000" b="0" i="0" u="none" strike="noStrike" cap="none">
                <a:solidFill>
                  <a:srgbClr val="374151"/>
                </a:solidFill>
                <a:latin typeface="Montserrat"/>
                <a:ea typeface="Montserrat"/>
                <a:cs typeface="Montserrat"/>
                <a:sym typeface="Montserrat"/>
              </a:rPr>
              <a:t>Este é </a:t>
            </a:r>
            <a:r>
              <a:rPr lang="en-US" sz="2000">
                <a:solidFill>
                  <a:srgbClr val="374151"/>
                </a:solidFill>
                <a:latin typeface="Montserrat"/>
                <a:ea typeface="Montserrat"/>
                <a:cs typeface="Montserrat"/>
                <a:sym typeface="Montserrat"/>
              </a:rPr>
              <a:t>um</a:t>
            </a:r>
            <a:r>
              <a:rPr lang="en-US" sz="2000" b="0" i="0" u="none" strike="noStrike" cap="none">
                <a:solidFill>
                  <a:srgbClr val="374151"/>
                </a:solidFill>
                <a:latin typeface="Montserrat"/>
                <a:ea typeface="Montserrat"/>
                <a:cs typeface="Montserrat"/>
                <a:sym typeface="Montserrat"/>
              </a:rPr>
              <a:t> curso de </a:t>
            </a:r>
            <a:r>
              <a:rPr lang="en-US" sz="2000">
                <a:solidFill>
                  <a:srgbClr val="374151"/>
                </a:solidFill>
                <a:latin typeface="Montserrat"/>
                <a:ea typeface="Montserrat"/>
                <a:cs typeface="Montserrat"/>
                <a:sym typeface="Montserrat"/>
              </a:rPr>
              <a:t>Python</a:t>
            </a:r>
            <a:r>
              <a:rPr lang="en-US" sz="2000" b="0" i="0" u="none" strike="noStrike" cap="none">
                <a:solidFill>
                  <a:srgbClr val="374151"/>
                </a:solidFill>
                <a:latin typeface="Montserrat"/>
                <a:ea typeface="Montserrat"/>
                <a:cs typeface="Montserrat"/>
                <a:sym typeface="Montserrat"/>
              </a:rPr>
              <a:t> básico/iniciante, tenha paciência</a:t>
            </a:r>
            <a:endParaRPr sz="2000" b="0" i="0" u="none" strike="noStrike" cap="none">
              <a:solidFill>
                <a:srgbClr val="374151"/>
              </a:solidFill>
              <a:latin typeface="Montserrat"/>
              <a:ea typeface="Montserrat"/>
              <a:cs typeface="Montserrat"/>
              <a:sym typeface="Montserrat"/>
            </a:endParaRPr>
          </a:p>
          <a:p>
            <a:pPr marL="457200" marR="0" lvl="0" indent="-355600" algn="l" rtl="0">
              <a:lnSpc>
                <a:spcPct val="150000"/>
              </a:lnSpc>
              <a:spcBef>
                <a:spcPts val="0"/>
              </a:spcBef>
              <a:spcAft>
                <a:spcPts val="0"/>
              </a:spcAft>
              <a:buClr>
                <a:srgbClr val="374151"/>
              </a:buClr>
              <a:buSzPts val="2000"/>
              <a:buFont typeface="Montserrat"/>
              <a:buChar char="●"/>
            </a:pPr>
            <a:r>
              <a:rPr lang="en-US" sz="2000" b="0" i="0" u="none" strike="noStrike" cap="none">
                <a:solidFill>
                  <a:srgbClr val="374151"/>
                </a:solidFill>
                <a:latin typeface="Montserrat"/>
                <a:ea typeface="Montserrat"/>
                <a:cs typeface="Montserrat"/>
                <a:sym typeface="Montserrat"/>
              </a:rPr>
              <a:t>Nosso foco é o básico bem feito</a:t>
            </a:r>
            <a:endParaRPr sz="20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2000"/>
              <a:buFont typeface="Arial"/>
              <a:buNone/>
            </a:pPr>
            <a:endParaRPr sz="20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2000" b="0" i="0" u="none" strike="noStrike" cap="none">
              <a:solidFill>
                <a:srgbClr val="374151"/>
              </a:solidFill>
              <a:latin typeface="Montserrat"/>
              <a:ea typeface="Montserrat"/>
              <a:cs typeface="Montserrat"/>
              <a:sym typeface="Montserrat"/>
            </a:endParaRPr>
          </a:p>
          <a:p>
            <a:pPr marL="457200" marR="0" lvl="0" indent="-355600" algn="l" rtl="0">
              <a:lnSpc>
                <a:spcPct val="115000"/>
              </a:lnSpc>
              <a:spcBef>
                <a:spcPts val="0"/>
              </a:spcBef>
              <a:spcAft>
                <a:spcPts val="0"/>
              </a:spcAft>
              <a:buClr>
                <a:srgbClr val="374151"/>
              </a:buClr>
              <a:buSzPts val="2000"/>
              <a:buFont typeface="Montserrat"/>
              <a:buChar char="●"/>
            </a:pPr>
            <a:r>
              <a:rPr lang="en-US" sz="2000" b="0" i="0" u="none" strike="noStrike" cap="none">
                <a:solidFill>
                  <a:srgbClr val="374151"/>
                </a:solidFill>
                <a:latin typeface="Montserrat"/>
                <a:ea typeface="Montserrat"/>
                <a:cs typeface="Montserrat"/>
                <a:sym typeface="Montserrat"/>
              </a:rPr>
              <a:t>Tem algo que não abordei?</a:t>
            </a:r>
            <a:endParaRPr sz="2000" b="1"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2000" b="0" i="0" u="none" strike="noStrike" cap="none">
              <a:solidFill>
                <a:srgbClr val="374151"/>
              </a:solidFill>
              <a:latin typeface="Montserrat"/>
              <a:ea typeface="Montserrat"/>
              <a:cs typeface="Montserrat"/>
              <a:sym typeface="Montserrat"/>
            </a:endParaRPr>
          </a:p>
          <a:p>
            <a:pPr marL="457200" marR="0" lvl="0" indent="-355600" algn="l" rtl="0">
              <a:lnSpc>
                <a:spcPct val="115000"/>
              </a:lnSpc>
              <a:spcBef>
                <a:spcPts val="0"/>
              </a:spcBef>
              <a:spcAft>
                <a:spcPts val="0"/>
              </a:spcAft>
              <a:buClr>
                <a:srgbClr val="374151"/>
              </a:buClr>
              <a:buSzPts val="2000"/>
              <a:buFont typeface="Montserrat"/>
              <a:buChar char="●"/>
            </a:pPr>
            <a:r>
              <a:rPr lang="en-US" sz="2000" b="0" i="0" u="none" strike="noStrike" cap="none">
                <a:solidFill>
                  <a:srgbClr val="374151"/>
                </a:solidFill>
                <a:latin typeface="Montserrat"/>
                <a:ea typeface="Montserrat"/>
                <a:cs typeface="Montserrat"/>
                <a:sym typeface="Montserrat"/>
              </a:rPr>
              <a:t>Tem algo que você explicaria diferente?</a:t>
            </a:r>
            <a:endParaRPr sz="2000" b="0" i="0" u="none" strike="noStrike" cap="none">
              <a:solidFill>
                <a:srgbClr val="374151"/>
              </a:solidFill>
              <a:latin typeface="Montserrat"/>
              <a:ea typeface="Montserrat"/>
              <a:cs typeface="Montserrat"/>
              <a:sym typeface="Montserrat"/>
            </a:endParaRPr>
          </a:p>
          <a:p>
            <a:pPr marL="0" marR="0" lvl="0" indent="0" algn="l" rtl="0">
              <a:lnSpc>
                <a:spcPct val="115000"/>
              </a:lnSpc>
              <a:spcBef>
                <a:spcPts val="0"/>
              </a:spcBef>
              <a:spcAft>
                <a:spcPts val="0"/>
              </a:spcAft>
              <a:buClr>
                <a:srgbClr val="000000"/>
              </a:buClr>
              <a:buSzPts val="1800"/>
              <a:buFont typeface="Arial"/>
              <a:buNone/>
            </a:pPr>
            <a:endParaRPr sz="2000" b="0" i="0" u="none" strike="noStrike" cap="none">
              <a:solidFill>
                <a:srgbClr val="374151"/>
              </a:solidFill>
              <a:latin typeface="Montserrat"/>
              <a:ea typeface="Montserrat"/>
              <a:cs typeface="Montserrat"/>
              <a:sym typeface="Montserrat"/>
            </a:endParaRPr>
          </a:p>
          <a:p>
            <a:pPr marL="457200" marR="0" lvl="0" indent="-355600" algn="l" rtl="0">
              <a:lnSpc>
                <a:spcPct val="115000"/>
              </a:lnSpc>
              <a:spcBef>
                <a:spcPts val="0"/>
              </a:spcBef>
              <a:spcAft>
                <a:spcPts val="0"/>
              </a:spcAft>
              <a:buClr>
                <a:srgbClr val="374151"/>
              </a:buClr>
              <a:buSzPts val="2000"/>
              <a:buFont typeface="Montserrat"/>
              <a:buChar char="●"/>
            </a:pPr>
            <a:r>
              <a:rPr lang="en-US" sz="2000" b="0" i="0" u="none" strike="noStrike" cap="none">
                <a:solidFill>
                  <a:srgbClr val="374151"/>
                </a:solidFill>
                <a:latin typeface="Montserrat"/>
                <a:ea typeface="Montserrat"/>
                <a:cs typeface="Montserrat"/>
                <a:sym typeface="Montserrat"/>
              </a:rPr>
              <a:t>Tem algo mais complexo que deixei passar?</a:t>
            </a:r>
            <a:endParaRPr sz="2000" b="0" i="0" u="none" strike="noStrike" cap="none">
              <a:solidFill>
                <a:srgbClr val="374151"/>
              </a:solidFill>
              <a:latin typeface="Montserrat"/>
              <a:ea typeface="Montserrat"/>
              <a:cs typeface="Montserrat"/>
              <a:sym typeface="Montserrat"/>
            </a:endParaRPr>
          </a:p>
        </p:txBody>
      </p:sp>
      <p:grpSp>
        <p:nvGrpSpPr>
          <p:cNvPr id="182" name="Google Shape;182;p22"/>
          <p:cNvGrpSpPr/>
          <p:nvPr/>
        </p:nvGrpSpPr>
        <p:grpSpPr>
          <a:xfrm>
            <a:off x="7602950" y="4209475"/>
            <a:ext cx="4111950" cy="865800"/>
            <a:chOff x="7461925" y="3229650"/>
            <a:chExt cx="4111950" cy="865800"/>
          </a:xfrm>
        </p:grpSpPr>
        <p:sp>
          <p:nvSpPr>
            <p:cNvPr id="183" name="Google Shape;183;p22"/>
            <p:cNvSpPr/>
            <p:nvPr/>
          </p:nvSpPr>
          <p:spPr>
            <a:xfrm>
              <a:off x="7461925" y="3429000"/>
              <a:ext cx="934500" cy="467100"/>
            </a:xfrm>
            <a:prstGeom prst="notchedRightArrow">
              <a:avLst>
                <a:gd name="adj1" fmla="val 50000"/>
                <a:gd name="adj2" fmla="val 50000"/>
              </a:avLst>
            </a:prstGeom>
            <a:solidFill>
              <a:srgbClr val="D9D9D9"/>
            </a:solidFill>
            <a:ln w="28575"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2"/>
            <p:cNvSpPr txBox="1"/>
            <p:nvPr/>
          </p:nvSpPr>
          <p:spPr>
            <a:xfrm>
              <a:off x="8321275" y="3229650"/>
              <a:ext cx="3252600" cy="86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Montserrat"/>
                  <a:ea typeface="Montserrat"/>
                  <a:cs typeface="Montserrat"/>
                  <a:sym typeface="Montserrat"/>
                </a:rPr>
                <a:t>Faça um vídeo/material</a:t>
              </a:r>
              <a:endParaRPr sz="2400" b="1" i="0" u="none" strike="noStrike" cap="none">
                <a:solidFill>
                  <a:srgbClr val="000000"/>
                </a:solidFill>
                <a:latin typeface="Montserrat"/>
                <a:ea typeface="Montserrat"/>
                <a:cs typeface="Montserrat"/>
                <a:sym typeface="Montserrat"/>
              </a:endParaRPr>
            </a:p>
          </p:txBody>
        </p:sp>
      </p:grpSp>
      <p:sp>
        <p:nvSpPr>
          <p:cNvPr id="185" name="Google Shape;185;p22"/>
          <p:cNvSpPr/>
          <p:nvPr/>
        </p:nvSpPr>
        <p:spPr>
          <a:xfrm>
            <a:off x="7170450" y="3731100"/>
            <a:ext cx="326100" cy="18264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a:stretch/>
        </p:blipFill>
        <p:spPr>
          <a:xfrm>
            <a:off x="158450" y="417225"/>
            <a:ext cx="685800" cy="685800"/>
          </a:xfrm>
          <a:prstGeom prst="rect">
            <a:avLst/>
          </a:prstGeom>
          <a:noFill/>
          <a:ln>
            <a:noFill/>
          </a:ln>
        </p:spPr>
      </p:pic>
      <p:sp>
        <p:nvSpPr>
          <p:cNvPr id="192" name="Google Shape;192;p23"/>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Avisos</a:t>
            </a:r>
            <a:endParaRPr sz="3600">
              <a:latin typeface="Montserrat"/>
              <a:ea typeface="Montserrat"/>
              <a:cs typeface="Montserrat"/>
              <a:sym typeface="Montserrat"/>
            </a:endParaRPr>
          </a:p>
        </p:txBody>
      </p:sp>
      <p:sp>
        <p:nvSpPr>
          <p:cNvPr id="193" name="Google Shape;193;p23"/>
          <p:cNvSpPr txBox="1"/>
          <p:nvPr/>
        </p:nvSpPr>
        <p:spPr>
          <a:xfrm>
            <a:off x="844250" y="1337675"/>
            <a:ext cx="11001300" cy="327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2900" b="1">
                <a:solidFill>
                  <a:srgbClr val="374151"/>
                </a:solidFill>
                <a:latin typeface="Montserrat"/>
                <a:ea typeface="Montserrat"/>
                <a:cs typeface="Montserrat"/>
                <a:sym typeface="Montserrat"/>
              </a:rPr>
              <a:t>Vai ficar gravado?</a:t>
            </a:r>
            <a:endParaRPr sz="2900" b="1">
              <a:solidFill>
                <a:srgbClr val="374151"/>
              </a:solidFill>
              <a:latin typeface="Montserrat"/>
              <a:ea typeface="Montserrat"/>
              <a:cs typeface="Montserrat"/>
              <a:sym typeface="Montserrat"/>
            </a:endParaRPr>
          </a:p>
          <a:p>
            <a:pPr marL="0" lvl="0" indent="0" algn="l" rtl="0">
              <a:lnSpc>
                <a:spcPct val="115000"/>
              </a:lnSpc>
              <a:spcBef>
                <a:spcPts val="0"/>
              </a:spcBef>
              <a:spcAft>
                <a:spcPts val="0"/>
              </a:spcAft>
              <a:buNone/>
            </a:pPr>
            <a:endParaRPr sz="2000">
              <a:solidFill>
                <a:srgbClr val="37415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2800">
                <a:solidFill>
                  <a:srgbClr val="374151"/>
                </a:solidFill>
                <a:latin typeface="Montserrat"/>
                <a:ea typeface="Montserrat"/>
                <a:cs typeface="Montserrat"/>
                <a:sym typeface="Montserrat"/>
              </a:rPr>
              <a:t>Sim!</a:t>
            </a:r>
            <a:endParaRPr sz="2800">
              <a:solidFill>
                <a:srgbClr val="374151"/>
              </a:solidFill>
              <a:latin typeface="Montserrat"/>
              <a:ea typeface="Montserrat"/>
              <a:cs typeface="Montserrat"/>
              <a:sym typeface="Montserrat"/>
            </a:endParaRPr>
          </a:p>
          <a:p>
            <a:pPr marL="0" lvl="0" indent="0" algn="l" rtl="0">
              <a:lnSpc>
                <a:spcPct val="115000"/>
              </a:lnSpc>
              <a:spcBef>
                <a:spcPts val="0"/>
              </a:spcBef>
              <a:spcAft>
                <a:spcPts val="0"/>
              </a:spcAft>
              <a:buNone/>
            </a:pPr>
            <a:endParaRPr sz="2800">
              <a:solidFill>
                <a:srgbClr val="374151"/>
              </a:solidFill>
              <a:latin typeface="Montserrat"/>
              <a:ea typeface="Montserrat"/>
              <a:cs typeface="Montserrat"/>
              <a:sym typeface="Montserrat"/>
            </a:endParaRPr>
          </a:p>
          <a:p>
            <a:pPr marL="457200" lvl="0" indent="-355600" algn="l" rtl="0">
              <a:lnSpc>
                <a:spcPct val="150000"/>
              </a:lnSpc>
              <a:spcBef>
                <a:spcPts val="0"/>
              </a:spcBef>
              <a:spcAft>
                <a:spcPts val="0"/>
              </a:spcAft>
              <a:buClr>
                <a:srgbClr val="374151"/>
              </a:buClr>
              <a:buSzPts val="2000"/>
              <a:buFont typeface="Montserrat"/>
              <a:buChar char="●"/>
            </a:pPr>
            <a:r>
              <a:rPr lang="en-US" sz="2000">
                <a:solidFill>
                  <a:srgbClr val="374151"/>
                </a:solidFill>
                <a:latin typeface="Montserrat"/>
                <a:ea typeface="Montserrat"/>
                <a:cs typeface="Montserrat"/>
                <a:sym typeface="Montserrat"/>
              </a:rPr>
              <a:t>As gravações irão para o YouTube e estarão no VODs da Twitch;</a:t>
            </a:r>
            <a:endParaRPr sz="2000">
              <a:solidFill>
                <a:srgbClr val="374151"/>
              </a:solidFill>
              <a:latin typeface="Montserrat"/>
              <a:ea typeface="Montserrat"/>
              <a:cs typeface="Montserrat"/>
              <a:sym typeface="Montserrat"/>
            </a:endParaRPr>
          </a:p>
          <a:p>
            <a:pPr marL="457200" lvl="0" indent="-355600" algn="l" rtl="0">
              <a:lnSpc>
                <a:spcPct val="150000"/>
              </a:lnSpc>
              <a:spcBef>
                <a:spcPts val="0"/>
              </a:spcBef>
              <a:spcAft>
                <a:spcPts val="0"/>
              </a:spcAft>
              <a:buClr>
                <a:srgbClr val="374151"/>
              </a:buClr>
              <a:buSzPts val="2000"/>
              <a:buFont typeface="Montserrat"/>
              <a:buChar char="●"/>
            </a:pPr>
            <a:r>
              <a:rPr lang="en-US" sz="2000">
                <a:solidFill>
                  <a:srgbClr val="374151"/>
                </a:solidFill>
                <a:latin typeface="Montserrat"/>
                <a:ea typeface="Montserrat"/>
                <a:cs typeface="Montserrat"/>
                <a:sym typeface="Montserrat"/>
              </a:rPr>
              <a:t>Membros e Subs terão acesso antecipado;</a:t>
            </a:r>
            <a:endParaRPr sz="2000">
              <a:solidFill>
                <a:srgbClr val="374151"/>
              </a:solidFill>
              <a:latin typeface="Montserrat"/>
              <a:ea typeface="Montserrat"/>
              <a:cs typeface="Montserrat"/>
              <a:sym typeface="Montserrat"/>
            </a:endParaRPr>
          </a:p>
          <a:p>
            <a:pPr marL="457200" lvl="0" indent="-355600" algn="l" rtl="0">
              <a:lnSpc>
                <a:spcPct val="150000"/>
              </a:lnSpc>
              <a:spcBef>
                <a:spcPts val="0"/>
              </a:spcBef>
              <a:spcAft>
                <a:spcPts val="0"/>
              </a:spcAft>
              <a:buClr>
                <a:srgbClr val="374151"/>
              </a:buClr>
              <a:buSzPts val="2000"/>
              <a:buFont typeface="Montserrat"/>
              <a:buChar char="●"/>
            </a:pPr>
            <a:r>
              <a:rPr lang="en-US" sz="2000">
                <a:solidFill>
                  <a:srgbClr val="374151"/>
                </a:solidFill>
                <a:latin typeface="Montserrat"/>
                <a:ea typeface="Montserrat"/>
                <a:cs typeface="Montserrat"/>
                <a:sym typeface="Montserrat"/>
              </a:rPr>
              <a:t>Semana que vem, liberamos todas as gravações</a:t>
            </a:r>
            <a:endParaRPr sz="2000">
              <a:solidFill>
                <a:srgbClr val="37415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pic>
        <p:nvPicPr>
          <p:cNvPr id="199" name="Google Shape;199;p24" descr="Learn about a new &quot;superpower&quot; that isn't being taught in more than half of U.S. schools. &#10;&#10;Starring Bill Gates, Mark Zuckerberg, will.i.am, Chris Bosh, Jack Dorsey, Tony Hsieh, Drew Houston, Gabe Newell, Ruchi Sanghvi, Elena Silenok, Vanessa Hurst, and Hadi Partovi. Directed by Lesley Chilcott, executive producers Hadi and Ali Partovi.&#10;&#10;Code.org owes special thanks to all the cast and the film crew, and also Microsoft, Google/YouTube, Facebook, Amazon, and Twitter for helping us spread the word&#10;&#10;Start learning at http://Code.org&#10;&#10;Stay in touch with us!&#10;• on Twitter https://twitter.com/codeorg&#10;• on Facebook https://www.facebook.com/Code.org&#10;• on Instagram https://instagram.com/codeorg&#10;• on LinkedIn https://www.linkedin.com/company/code-org&#10;• on Medium https://codeorg.medium.com/&#10;&#10;Support us at http://Code.org/donate&#10;&#10;&#10;(If you want to help translate to other languages, visit http://www.code.org/translate)&#10;&#10;Help us caption &amp; translate this video!&#10;&#10;https://amara.org/v/BeyV/" title="What Most Schools Don't Teach">
            <a:hlinkClick r:id="rId3"/>
          </p:cNvPr>
          <p:cNvPicPr preferRelativeResize="0"/>
          <p:nvPr/>
        </p:nvPicPr>
        <p:blipFill rotWithShape="1">
          <a:blip r:embed="rId4">
            <a:alphaModFix/>
          </a:blip>
          <a:srcRect/>
          <a:stretch/>
        </p:blipFill>
        <p:spPr>
          <a:xfrm>
            <a:off x="692825" y="213875"/>
            <a:ext cx="10806350" cy="60785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animEffect transition="in" filter="fade">
                                      <p:cBhvr>
                                        <p:cTn id="7" dur="10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5"/>
          <p:cNvSpPr txBox="1"/>
          <p:nvPr/>
        </p:nvSpPr>
        <p:spPr>
          <a:xfrm>
            <a:off x="-5663425" y="4545875"/>
            <a:ext cx="61365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chemeClr val="dk1"/>
              </a:buClr>
              <a:buSzPts val="3000"/>
              <a:buFont typeface="Arial"/>
              <a:buNone/>
            </a:pPr>
            <a:r>
              <a:rPr lang="en-US" sz="4000" b="1" i="0" u="none" strike="noStrike" cap="none">
                <a:solidFill>
                  <a:srgbClr val="FFFFFF"/>
                </a:solidFill>
                <a:latin typeface="Montserrat"/>
                <a:ea typeface="Montserrat"/>
                <a:cs typeface="Montserrat"/>
                <a:sym typeface="Montserrat"/>
              </a:rPr>
              <a:t>Sobre  computação</a:t>
            </a:r>
            <a:endParaRPr sz="4000" b="1" i="0" u="none" strike="noStrike" cap="none">
              <a:solidFill>
                <a:srgbClr val="FFFFFF"/>
              </a:solidFill>
              <a:latin typeface="Montserrat"/>
              <a:ea typeface="Montserrat"/>
              <a:cs typeface="Montserrat"/>
              <a:sym typeface="Montserrat"/>
            </a:endParaRPr>
          </a:p>
        </p:txBody>
      </p:sp>
      <p:pic>
        <p:nvPicPr>
          <p:cNvPr id="205" name="Google Shape;205;p25"/>
          <p:cNvPicPr preferRelativeResize="0"/>
          <p:nvPr/>
        </p:nvPicPr>
        <p:blipFill rotWithShape="1">
          <a:blip r:embed="rId3">
            <a:alphaModFix amt="30000"/>
          </a:blip>
          <a:srcRect/>
          <a:stretch/>
        </p:blipFill>
        <p:spPr>
          <a:xfrm>
            <a:off x="0" y="0"/>
            <a:ext cx="12236839" cy="6858001"/>
          </a:xfrm>
          <a:prstGeom prst="rect">
            <a:avLst/>
          </a:prstGeom>
          <a:noFill/>
          <a:ln>
            <a:noFill/>
          </a:ln>
        </p:spPr>
      </p:pic>
      <p:sp>
        <p:nvSpPr>
          <p:cNvPr id="206" name="Google Shape;206;p25"/>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Computação</a:t>
            </a:r>
            <a:endParaRPr sz="3600">
              <a:latin typeface="Montserrat"/>
              <a:ea typeface="Montserrat"/>
              <a:cs typeface="Montserrat"/>
              <a:sym typeface="Montserrat"/>
            </a:endParaRPr>
          </a:p>
        </p:txBody>
      </p:sp>
      <p:pic>
        <p:nvPicPr>
          <p:cNvPr id="207" name="Google Shape;207;p25"/>
          <p:cNvPicPr preferRelativeResize="0"/>
          <p:nvPr/>
        </p:nvPicPr>
        <p:blipFill rotWithShape="1">
          <a:blip r:embed="rId4">
            <a:alphaModFix/>
          </a:blip>
          <a:srcRect/>
          <a:stretch/>
        </p:blipFill>
        <p:spPr>
          <a:xfrm>
            <a:off x="158450" y="417225"/>
            <a:ext cx="685800" cy="685800"/>
          </a:xfrm>
          <a:prstGeom prst="rect">
            <a:avLst/>
          </a:prstGeom>
          <a:noFill/>
          <a:ln>
            <a:noFill/>
          </a:ln>
        </p:spPr>
      </p:pic>
      <p:pic>
        <p:nvPicPr>
          <p:cNvPr id="208" name="Google Shape;208;p25"/>
          <p:cNvPicPr preferRelativeResize="0"/>
          <p:nvPr/>
        </p:nvPicPr>
        <p:blipFill rotWithShape="1">
          <a:blip r:embed="rId5">
            <a:alphaModFix/>
          </a:blip>
          <a:srcRect b="10233"/>
          <a:stretch/>
        </p:blipFill>
        <p:spPr>
          <a:xfrm>
            <a:off x="1066025" y="1225150"/>
            <a:ext cx="10059951" cy="2462900"/>
          </a:xfrm>
          <a:prstGeom prst="rect">
            <a:avLst/>
          </a:prstGeom>
          <a:noFill/>
          <a:ln>
            <a:noFill/>
          </a:ln>
        </p:spPr>
      </p:pic>
      <p:pic>
        <p:nvPicPr>
          <p:cNvPr id="209" name="Google Shape;209;p25"/>
          <p:cNvPicPr preferRelativeResize="0"/>
          <p:nvPr/>
        </p:nvPicPr>
        <p:blipFill rotWithShape="1">
          <a:blip r:embed="rId6">
            <a:alphaModFix/>
          </a:blip>
          <a:srcRect b="10281"/>
          <a:stretch/>
        </p:blipFill>
        <p:spPr>
          <a:xfrm>
            <a:off x="1066025" y="3688049"/>
            <a:ext cx="10059951" cy="27309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26"/>
          <p:cNvPicPr preferRelativeResize="0"/>
          <p:nvPr/>
        </p:nvPicPr>
        <p:blipFill rotWithShape="1">
          <a:blip r:embed="rId3">
            <a:alphaModFix amt="30000"/>
          </a:blip>
          <a:srcRect/>
          <a:stretch/>
        </p:blipFill>
        <p:spPr>
          <a:xfrm>
            <a:off x="0" y="0"/>
            <a:ext cx="12236839" cy="6858001"/>
          </a:xfrm>
          <a:prstGeom prst="rect">
            <a:avLst/>
          </a:prstGeom>
          <a:noFill/>
          <a:ln>
            <a:noFill/>
          </a:ln>
        </p:spPr>
      </p:pic>
      <p:sp>
        <p:nvSpPr>
          <p:cNvPr id="215" name="Google Shape;215;p26"/>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Computação</a:t>
            </a:r>
            <a:endParaRPr sz="3600">
              <a:latin typeface="Montserrat"/>
              <a:ea typeface="Montserrat"/>
              <a:cs typeface="Montserrat"/>
              <a:sym typeface="Montserrat"/>
            </a:endParaRPr>
          </a:p>
        </p:txBody>
      </p:sp>
      <p:pic>
        <p:nvPicPr>
          <p:cNvPr id="216" name="Google Shape;216;p26"/>
          <p:cNvPicPr preferRelativeResize="0"/>
          <p:nvPr/>
        </p:nvPicPr>
        <p:blipFill rotWithShape="1">
          <a:blip r:embed="rId4">
            <a:alphaModFix/>
          </a:blip>
          <a:srcRect/>
          <a:stretch/>
        </p:blipFill>
        <p:spPr>
          <a:xfrm>
            <a:off x="158450" y="417225"/>
            <a:ext cx="685800" cy="685800"/>
          </a:xfrm>
          <a:prstGeom prst="rect">
            <a:avLst/>
          </a:prstGeom>
          <a:noFill/>
          <a:ln>
            <a:noFill/>
          </a:ln>
        </p:spPr>
      </p:pic>
      <p:grpSp>
        <p:nvGrpSpPr>
          <p:cNvPr id="217" name="Google Shape;217;p26"/>
          <p:cNvGrpSpPr/>
          <p:nvPr/>
        </p:nvGrpSpPr>
        <p:grpSpPr>
          <a:xfrm>
            <a:off x="1088450" y="1317575"/>
            <a:ext cx="10059951" cy="2956113"/>
            <a:chOff x="1088450" y="2722525"/>
            <a:chExt cx="10059951" cy="2956113"/>
          </a:xfrm>
        </p:grpSpPr>
        <p:pic>
          <p:nvPicPr>
            <p:cNvPr id="218" name="Google Shape;218;p26"/>
            <p:cNvPicPr preferRelativeResize="0"/>
            <p:nvPr/>
          </p:nvPicPr>
          <p:blipFill rotWithShape="1">
            <a:blip r:embed="rId5">
              <a:alphaModFix/>
            </a:blip>
            <a:srcRect/>
            <a:stretch/>
          </p:blipFill>
          <p:spPr>
            <a:xfrm>
              <a:off x="1088450" y="2722525"/>
              <a:ext cx="10059951" cy="2956113"/>
            </a:xfrm>
            <a:prstGeom prst="rect">
              <a:avLst/>
            </a:prstGeom>
            <a:noFill/>
            <a:ln>
              <a:noFill/>
            </a:ln>
          </p:spPr>
        </p:pic>
        <p:sp>
          <p:nvSpPr>
            <p:cNvPr id="219" name="Google Shape;219;p26"/>
            <p:cNvSpPr/>
            <p:nvPr/>
          </p:nvSpPr>
          <p:spPr>
            <a:xfrm>
              <a:off x="4424291" y="3026104"/>
              <a:ext cx="91500" cy="402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0" name="Google Shape;220;p26"/>
          <p:cNvGrpSpPr/>
          <p:nvPr/>
        </p:nvGrpSpPr>
        <p:grpSpPr>
          <a:xfrm>
            <a:off x="5318850" y="4917375"/>
            <a:ext cx="1554300" cy="1422600"/>
            <a:chOff x="5318850" y="4917375"/>
            <a:chExt cx="1554300" cy="1422600"/>
          </a:xfrm>
        </p:grpSpPr>
        <p:sp>
          <p:nvSpPr>
            <p:cNvPr id="221" name="Google Shape;221;p26"/>
            <p:cNvSpPr/>
            <p:nvPr/>
          </p:nvSpPr>
          <p:spPr>
            <a:xfrm>
              <a:off x="5318850" y="4917375"/>
              <a:ext cx="1554300" cy="1422600"/>
            </a:xfrm>
            <a:prstGeom prst="cube">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2" name="Google Shape;222;p26"/>
            <p:cNvPicPr preferRelativeResize="0"/>
            <p:nvPr/>
          </p:nvPicPr>
          <p:blipFill rotWithShape="1">
            <a:blip r:embed="rId6">
              <a:alphaModFix/>
            </a:blip>
            <a:srcRect/>
            <a:stretch/>
          </p:blipFill>
          <p:spPr>
            <a:xfrm>
              <a:off x="5402513" y="5258700"/>
              <a:ext cx="1021224" cy="1081274"/>
            </a:xfrm>
            <a:prstGeom prst="rect">
              <a:avLst/>
            </a:prstGeom>
            <a:noFill/>
            <a:ln>
              <a:noFill/>
            </a:ln>
          </p:spPr>
        </p:pic>
      </p:grpSp>
      <p:grpSp>
        <p:nvGrpSpPr>
          <p:cNvPr id="223" name="Google Shape;223;p26"/>
          <p:cNvGrpSpPr/>
          <p:nvPr/>
        </p:nvGrpSpPr>
        <p:grpSpPr>
          <a:xfrm>
            <a:off x="1088450" y="5162263"/>
            <a:ext cx="1239875" cy="1177700"/>
            <a:chOff x="2541225" y="5285775"/>
            <a:chExt cx="1239875" cy="1177700"/>
          </a:xfrm>
        </p:grpSpPr>
        <p:pic>
          <p:nvPicPr>
            <p:cNvPr id="224" name="Google Shape;224;p26"/>
            <p:cNvPicPr preferRelativeResize="0"/>
            <p:nvPr/>
          </p:nvPicPr>
          <p:blipFill rotWithShape="1">
            <a:blip r:embed="rId7">
              <a:alphaModFix/>
            </a:blip>
            <a:srcRect/>
            <a:stretch/>
          </p:blipFill>
          <p:spPr>
            <a:xfrm>
              <a:off x="3095300" y="5706875"/>
              <a:ext cx="685800" cy="685800"/>
            </a:xfrm>
            <a:prstGeom prst="rect">
              <a:avLst/>
            </a:prstGeom>
            <a:noFill/>
            <a:ln>
              <a:noFill/>
            </a:ln>
          </p:spPr>
        </p:pic>
        <p:pic>
          <p:nvPicPr>
            <p:cNvPr id="225" name="Google Shape;225;p26"/>
            <p:cNvPicPr preferRelativeResize="0"/>
            <p:nvPr/>
          </p:nvPicPr>
          <p:blipFill rotWithShape="1">
            <a:blip r:embed="rId7">
              <a:alphaModFix/>
            </a:blip>
            <a:srcRect/>
            <a:stretch/>
          </p:blipFill>
          <p:spPr>
            <a:xfrm>
              <a:off x="2734450" y="5285775"/>
              <a:ext cx="685800" cy="685800"/>
            </a:xfrm>
            <a:prstGeom prst="rect">
              <a:avLst/>
            </a:prstGeom>
            <a:noFill/>
            <a:ln>
              <a:noFill/>
            </a:ln>
          </p:spPr>
        </p:pic>
        <p:pic>
          <p:nvPicPr>
            <p:cNvPr id="226" name="Google Shape;226;p26"/>
            <p:cNvPicPr preferRelativeResize="0"/>
            <p:nvPr/>
          </p:nvPicPr>
          <p:blipFill rotWithShape="1">
            <a:blip r:embed="rId7">
              <a:alphaModFix/>
            </a:blip>
            <a:srcRect/>
            <a:stretch/>
          </p:blipFill>
          <p:spPr>
            <a:xfrm>
              <a:off x="2541225" y="5777675"/>
              <a:ext cx="685800" cy="685800"/>
            </a:xfrm>
            <a:prstGeom prst="rect">
              <a:avLst/>
            </a:prstGeom>
            <a:noFill/>
            <a:ln>
              <a:noFill/>
            </a:ln>
          </p:spPr>
        </p:pic>
      </p:grpSp>
      <p:grpSp>
        <p:nvGrpSpPr>
          <p:cNvPr id="227" name="Google Shape;227;p26"/>
          <p:cNvGrpSpPr/>
          <p:nvPr/>
        </p:nvGrpSpPr>
        <p:grpSpPr>
          <a:xfrm>
            <a:off x="2467475" y="5274725"/>
            <a:ext cx="2618249" cy="492600"/>
            <a:chOff x="2467475" y="5274725"/>
            <a:chExt cx="2618249" cy="492600"/>
          </a:xfrm>
        </p:grpSpPr>
        <p:cxnSp>
          <p:nvCxnSpPr>
            <p:cNvPr id="228" name="Google Shape;228;p26"/>
            <p:cNvCxnSpPr/>
            <p:nvPr/>
          </p:nvCxnSpPr>
          <p:spPr>
            <a:xfrm>
              <a:off x="2467475" y="5751125"/>
              <a:ext cx="2618100" cy="0"/>
            </a:xfrm>
            <a:prstGeom prst="straightConnector1">
              <a:avLst/>
            </a:prstGeom>
            <a:noFill/>
            <a:ln w="28575" cap="flat" cmpd="sng">
              <a:solidFill>
                <a:schemeClr val="dk2"/>
              </a:solidFill>
              <a:prstDash val="solid"/>
              <a:round/>
              <a:headEnd type="none" w="sm" len="sm"/>
              <a:tailEnd type="triangle" w="med" len="med"/>
            </a:ln>
          </p:spPr>
        </p:cxnSp>
        <p:sp>
          <p:nvSpPr>
            <p:cNvPr id="229" name="Google Shape;229;p26"/>
            <p:cNvSpPr txBox="1"/>
            <p:nvPr/>
          </p:nvSpPr>
          <p:spPr>
            <a:xfrm>
              <a:off x="2467624" y="5274725"/>
              <a:ext cx="2618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Montserrat"/>
                  <a:ea typeface="Montserrat"/>
                  <a:cs typeface="Montserrat"/>
                  <a:sym typeface="Montserrat"/>
                </a:rPr>
                <a:t>Entrada (input)</a:t>
              </a:r>
              <a:endParaRPr sz="2000" b="0" i="0" u="none" strike="noStrike" cap="none">
                <a:solidFill>
                  <a:srgbClr val="000000"/>
                </a:solidFill>
                <a:latin typeface="Montserrat"/>
                <a:ea typeface="Montserrat"/>
                <a:cs typeface="Montserrat"/>
                <a:sym typeface="Montserrat"/>
              </a:endParaRPr>
            </a:p>
          </p:txBody>
        </p:sp>
      </p:grpSp>
      <p:grpSp>
        <p:nvGrpSpPr>
          <p:cNvPr id="230" name="Google Shape;230;p26"/>
          <p:cNvGrpSpPr/>
          <p:nvPr/>
        </p:nvGrpSpPr>
        <p:grpSpPr>
          <a:xfrm>
            <a:off x="6947800" y="5274725"/>
            <a:ext cx="2618249" cy="492600"/>
            <a:chOff x="6947800" y="5274725"/>
            <a:chExt cx="2618249" cy="492600"/>
          </a:xfrm>
        </p:grpSpPr>
        <p:cxnSp>
          <p:nvCxnSpPr>
            <p:cNvPr id="231" name="Google Shape;231;p26"/>
            <p:cNvCxnSpPr/>
            <p:nvPr/>
          </p:nvCxnSpPr>
          <p:spPr>
            <a:xfrm>
              <a:off x="6947800" y="5751125"/>
              <a:ext cx="2618100" cy="0"/>
            </a:xfrm>
            <a:prstGeom prst="straightConnector1">
              <a:avLst/>
            </a:prstGeom>
            <a:noFill/>
            <a:ln w="28575" cap="flat" cmpd="sng">
              <a:solidFill>
                <a:schemeClr val="dk2"/>
              </a:solidFill>
              <a:prstDash val="solid"/>
              <a:round/>
              <a:headEnd type="none" w="sm" len="sm"/>
              <a:tailEnd type="triangle" w="med" len="med"/>
            </a:ln>
          </p:spPr>
        </p:cxnSp>
        <p:sp>
          <p:nvSpPr>
            <p:cNvPr id="232" name="Google Shape;232;p26"/>
            <p:cNvSpPr txBox="1"/>
            <p:nvPr/>
          </p:nvSpPr>
          <p:spPr>
            <a:xfrm>
              <a:off x="6947949" y="5274725"/>
              <a:ext cx="2618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rgbClr val="000000"/>
                  </a:solidFill>
                  <a:latin typeface="Montserrat"/>
                  <a:ea typeface="Montserrat"/>
                  <a:cs typeface="Montserrat"/>
                  <a:sym typeface="Montserrat"/>
                </a:rPr>
                <a:t>Saída (output)</a:t>
              </a:r>
              <a:endParaRPr sz="2000" b="0" i="0" u="none" strike="noStrike" cap="none">
                <a:solidFill>
                  <a:srgbClr val="000000"/>
                </a:solidFill>
                <a:latin typeface="Montserrat"/>
                <a:ea typeface="Montserrat"/>
                <a:cs typeface="Montserrat"/>
                <a:sym typeface="Montserrat"/>
              </a:endParaRPr>
            </a:p>
          </p:txBody>
        </p:sp>
      </p:grpSp>
      <p:grpSp>
        <p:nvGrpSpPr>
          <p:cNvPr id="233" name="Google Shape;233;p26"/>
          <p:cNvGrpSpPr/>
          <p:nvPr/>
        </p:nvGrpSpPr>
        <p:grpSpPr>
          <a:xfrm>
            <a:off x="9640850" y="5065325"/>
            <a:ext cx="1285575" cy="1215850"/>
            <a:chOff x="9640850" y="5065325"/>
            <a:chExt cx="1285575" cy="1215850"/>
          </a:xfrm>
        </p:grpSpPr>
        <p:pic>
          <p:nvPicPr>
            <p:cNvPr id="234" name="Google Shape;234;p26"/>
            <p:cNvPicPr preferRelativeResize="0"/>
            <p:nvPr/>
          </p:nvPicPr>
          <p:blipFill rotWithShape="1">
            <a:blip r:embed="rId8">
              <a:alphaModFix/>
            </a:blip>
            <a:srcRect/>
            <a:stretch/>
          </p:blipFill>
          <p:spPr>
            <a:xfrm>
              <a:off x="9925150" y="5065325"/>
              <a:ext cx="685800" cy="685800"/>
            </a:xfrm>
            <a:prstGeom prst="rect">
              <a:avLst/>
            </a:prstGeom>
            <a:noFill/>
            <a:ln>
              <a:noFill/>
            </a:ln>
          </p:spPr>
        </p:pic>
        <p:pic>
          <p:nvPicPr>
            <p:cNvPr id="235" name="Google Shape;235;p26"/>
            <p:cNvPicPr preferRelativeResize="0"/>
            <p:nvPr/>
          </p:nvPicPr>
          <p:blipFill rotWithShape="1">
            <a:blip r:embed="rId9">
              <a:alphaModFix/>
            </a:blip>
            <a:srcRect/>
            <a:stretch/>
          </p:blipFill>
          <p:spPr>
            <a:xfrm>
              <a:off x="10240625" y="5542700"/>
              <a:ext cx="685800" cy="685800"/>
            </a:xfrm>
            <a:prstGeom prst="rect">
              <a:avLst/>
            </a:prstGeom>
            <a:noFill/>
            <a:ln>
              <a:noFill/>
            </a:ln>
          </p:spPr>
        </p:pic>
        <p:pic>
          <p:nvPicPr>
            <p:cNvPr id="236" name="Google Shape;236;p26"/>
            <p:cNvPicPr preferRelativeResize="0"/>
            <p:nvPr/>
          </p:nvPicPr>
          <p:blipFill rotWithShape="1">
            <a:blip r:embed="rId10">
              <a:alphaModFix/>
            </a:blip>
            <a:srcRect/>
            <a:stretch/>
          </p:blipFill>
          <p:spPr>
            <a:xfrm>
              <a:off x="9640850" y="5595375"/>
              <a:ext cx="685800" cy="685800"/>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Google Shape;241;p27"/>
          <p:cNvPicPr preferRelativeResize="0"/>
          <p:nvPr/>
        </p:nvPicPr>
        <p:blipFill rotWithShape="1">
          <a:blip r:embed="rId3">
            <a:alphaModFix amt="40000"/>
          </a:blip>
          <a:srcRect/>
          <a:stretch/>
        </p:blipFill>
        <p:spPr>
          <a:xfrm>
            <a:off x="-22412" y="0"/>
            <a:ext cx="12236832" cy="6858001"/>
          </a:xfrm>
          <a:prstGeom prst="rect">
            <a:avLst/>
          </a:prstGeom>
          <a:noFill/>
          <a:ln>
            <a:noFill/>
          </a:ln>
        </p:spPr>
      </p:pic>
      <p:sp>
        <p:nvSpPr>
          <p:cNvPr id="242" name="Google Shape;242;p27"/>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Programação</a:t>
            </a:r>
            <a:endParaRPr sz="3600">
              <a:latin typeface="Montserrat"/>
              <a:ea typeface="Montserrat"/>
              <a:cs typeface="Montserrat"/>
              <a:sym typeface="Montserrat"/>
            </a:endParaRPr>
          </a:p>
        </p:txBody>
      </p:sp>
      <p:pic>
        <p:nvPicPr>
          <p:cNvPr id="243" name="Google Shape;243;p27"/>
          <p:cNvPicPr preferRelativeResize="0"/>
          <p:nvPr/>
        </p:nvPicPr>
        <p:blipFill rotWithShape="1">
          <a:blip r:embed="rId4">
            <a:alphaModFix/>
          </a:blip>
          <a:srcRect/>
          <a:stretch/>
        </p:blipFill>
        <p:spPr>
          <a:xfrm>
            <a:off x="158450" y="417225"/>
            <a:ext cx="685800" cy="685800"/>
          </a:xfrm>
          <a:prstGeom prst="rect">
            <a:avLst/>
          </a:prstGeom>
          <a:noFill/>
          <a:ln>
            <a:noFill/>
          </a:ln>
        </p:spPr>
      </p:pic>
      <p:grpSp>
        <p:nvGrpSpPr>
          <p:cNvPr id="244" name="Google Shape;244;p27"/>
          <p:cNvGrpSpPr/>
          <p:nvPr/>
        </p:nvGrpSpPr>
        <p:grpSpPr>
          <a:xfrm>
            <a:off x="5318850" y="4917375"/>
            <a:ext cx="1554300" cy="1422600"/>
            <a:chOff x="5318850" y="4917375"/>
            <a:chExt cx="1554300" cy="1422600"/>
          </a:xfrm>
        </p:grpSpPr>
        <p:sp>
          <p:nvSpPr>
            <p:cNvPr id="245" name="Google Shape;245;p27"/>
            <p:cNvSpPr/>
            <p:nvPr/>
          </p:nvSpPr>
          <p:spPr>
            <a:xfrm>
              <a:off x="5318850" y="4917375"/>
              <a:ext cx="1554300" cy="1422600"/>
            </a:xfrm>
            <a:prstGeom prst="cube">
              <a:avLst>
                <a:gd name="adj" fmla="val 25000"/>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46" name="Google Shape;246;p27"/>
            <p:cNvPicPr preferRelativeResize="0"/>
            <p:nvPr/>
          </p:nvPicPr>
          <p:blipFill rotWithShape="1">
            <a:blip r:embed="rId5">
              <a:alphaModFix/>
            </a:blip>
            <a:srcRect/>
            <a:stretch/>
          </p:blipFill>
          <p:spPr>
            <a:xfrm>
              <a:off x="5402513" y="5258700"/>
              <a:ext cx="1021224" cy="1081274"/>
            </a:xfrm>
            <a:prstGeom prst="rect">
              <a:avLst/>
            </a:prstGeom>
            <a:noFill/>
            <a:ln>
              <a:noFill/>
            </a:ln>
          </p:spPr>
        </p:pic>
      </p:grpSp>
      <p:grpSp>
        <p:nvGrpSpPr>
          <p:cNvPr id="247" name="Google Shape;247;p27"/>
          <p:cNvGrpSpPr/>
          <p:nvPr/>
        </p:nvGrpSpPr>
        <p:grpSpPr>
          <a:xfrm>
            <a:off x="1088450" y="5162263"/>
            <a:ext cx="1239875" cy="1177700"/>
            <a:chOff x="2541225" y="5285775"/>
            <a:chExt cx="1239875" cy="1177700"/>
          </a:xfrm>
        </p:grpSpPr>
        <p:pic>
          <p:nvPicPr>
            <p:cNvPr id="248" name="Google Shape;248;p27"/>
            <p:cNvPicPr preferRelativeResize="0"/>
            <p:nvPr/>
          </p:nvPicPr>
          <p:blipFill rotWithShape="1">
            <a:blip r:embed="rId6">
              <a:alphaModFix/>
            </a:blip>
            <a:srcRect/>
            <a:stretch/>
          </p:blipFill>
          <p:spPr>
            <a:xfrm>
              <a:off x="3095300" y="5706875"/>
              <a:ext cx="685800" cy="685800"/>
            </a:xfrm>
            <a:prstGeom prst="rect">
              <a:avLst/>
            </a:prstGeom>
            <a:noFill/>
            <a:ln>
              <a:noFill/>
            </a:ln>
          </p:spPr>
        </p:pic>
        <p:pic>
          <p:nvPicPr>
            <p:cNvPr id="249" name="Google Shape;249;p27"/>
            <p:cNvPicPr preferRelativeResize="0"/>
            <p:nvPr/>
          </p:nvPicPr>
          <p:blipFill rotWithShape="1">
            <a:blip r:embed="rId6">
              <a:alphaModFix/>
            </a:blip>
            <a:srcRect/>
            <a:stretch/>
          </p:blipFill>
          <p:spPr>
            <a:xfrm>
              <a:off x="2734450" y="5285775"/>
              <a:ext cx="685800" cy="685800"/>
            </a:xfrm>
            <a:prstGeom prst="rect">
              <a:avLst/>
            </a:prstGeom>
            <a:noFill/>
            <a:ln>
              <a:noFill/>
            </a:ln>
          </p:spPr>
        </p:pic>
        <p:pic>
          <p:nvPicPr>
            <p:cNvPr id="250" name="Google Shape;250;p27"/>
            <p:cNvPicPr preferRelativeResize="0"/>
            <p:nvPr/>
          </p:nvPicPr>
          <p:blipFill rotWithShape="1">
            <a:blip r:embed="rId6">
              <a:alphaModFix/>
            </a:blip>
            <a:srcRect/>
            <a:stretch/>
          </p:blipFill>
          <p:spPr>
            <a:xfrm>
              <a:off x="2541225" y="5777675"/>
              <a:ext cx="685800" cy="685800"/>
            </a:xfrm>
            <a:prstGeom prst="rect">
              <a:avLst/>
            </a:prstGeom>
            <a:noFill/>
            <a:ln>
              <a:noFill/>
            </a:ln>
          </p:spPr>
        </p:pic>
      </p:grpSp>
      <p:grpSp>
        <p:nvGrpSpPr>
          <p:cNvPr id="251" name="Google Shape;251;p27"/>
          <p:cNvGrpSpPr/>
          <p:nvPr/>
        </p:nvGrpSpPr>
        <p:grpSpPr>
          <a:xfrm>
            <a:off x="2467475" y="5274725"/>
            <a:ext cx="2618249" cy="492600"/>
            <a:chOff x="2467475" y="5274725"/>
            <a:chExt cx="2618249" cy="492600"/>
          </a:xfrm>
        </p:grpSpPr>
        <p:cxnSp>
          <p:nvCxnSpPr>
            <p:cNvPr id="252" name="Google Shape;252;p27"/>
            <p:cNvCxnSpPr/>
            <p:nvPr/>
          </p:nvCxnSpPr>
          <p:spPr>
            <a:xfrm>
              <a:off x="2467475" y="5751125"/>
              <a:ext cx="2618100" cy="0"/>
            </a:xfrm>
            <a:prstGeom prst="straightConnector1">
              <a:avLst/>
            </a:prstGeom>
            <a:noFill/>
            <a:ln w="28575" cap="flat" cmpd="sng">
              <a:solidFill>
                <a:schemeClr val="dk2"/>
              </a:solidFill>
              <a:prstDash val="solid"/>
              <a:round/>
              <a:headEnd type="none" w="sm" len="sm"/>
              <a:tailEnd type="triangle" w="med" len="med"/>
            </a:ln>
          </p:spPr>
        </p:cxnSp>
        <p:sp>
          <p:nvSpPr>
            <p:cNvPr id="253" name="Google Shape;253;p27"/>
            <p:cNvSpPr txBox="1"/>
            <p:nvPr/>
          </p:nvSpPr>
          <p:spPr>
            <a:xfrm>
              <a:off x="2467624" y="5274725"/>
              <a:ext cx="2618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Montserrat"/>
                  <a:ea typeface="Montserrat"/>
                  <a:cs typeface="Montserrat"/>
                  <a:sym typeface="Montserrat"/>
                </a:rPr>
                <a:t>Entrada (input)</a:t>
              </a:r>
              <a:endParaRPr sz="2000" b="1" i="0" u="none" strike="noStrike" cap="none">
                <a:solidFill>
                  <a:srgbClr val="000000"/>
                </a:solidFill>
                <a:latin typeface="Montserrat"/>
                <a:ea typeface="Montserrat"/>
                <a:cs typeface="Montserrat"/>
                <a:sym typeface="Montserrat"/>
              </a:endParaRPr>
            </a:p>
          </p:txBody>
        </p:sp>
      </p:grpSp>
      <p:grpSp>
        <p:nvGrpSpPr>
          <p:cNvPr id="254" name="Google Shape;254;p27"/>
          <p:cNvGrpSpPr/>
          <p:nvPr/>
        </p:nvGrpSpPr>
        <p:grpSpPr>
          <a:xfrm>
            <a:off x="6947800" y="5274725"/>
            <a:ext cx="2618249" cy="492600"/>
            <a:chOff x="6947800" y="5274725"/>
            <a:chExt cx="2618249" cy="492600"/>
          </a:xfrm>
        </p:grpSpPr>
        <p:cxnSp>
          <p:nvCxnSpPr>
            <p:cNvPr id="255" name="Google Shape;255;p27"/>
            <p:cNvCxnSpPr/>
            <p:nvPr/>
          </p:nvCxnSpPr>
          <p:spPr>
            <a:xfrm>
              <a:off x="6947800" y="5751125"/>
              <a:ext cx="2618100" cy="0"/>
            </a:xfrm>
            <a:prstGeom prst="straightConnector1">
              <a:avLst/>
            </a:prstGeom>
            <a:noFill/>
            <a:ln w="28575" cap="flat" cmpd="sng">
              <a:solidFill>
                <a:schemeClr val="dk2"/>
              </a:solidFill>
              <a:prstDash val="solid"/>
              <a:round/>
              <a:headEnd type="none" w="sm" len="sm"/>
              <a:tailEnd type="triangle" w="med" len="med"/>
            </a:ln>
          </p:spPr>
        </p:cxnSp>
        <p:sp>
          <p:nvSpPr>
            <p:cNvPr id="256" name="Google Shape;256;p27"/>
            <p:cNvSpPr txBox="1"/>
            <p:nvPr/>
          </p:nvSpPr>
          <p:spPr>
            <a:xfrm>
              <a:off x="6947949" y="5274725"/>
              <a:ext cx="2618100" cy="4926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i="0" u="none" strike="noStrike" cap="none">
                  <a:solidFill>
                    <a:srgbClr val="000000"/>
                  </a:solidFill>
                  <a:latin typeface="Montserrat"/>
                  <a:ea typeface="Montserrat"/>
                  <a:cs typeface="Montserrat"/>
                  <a:sym typeface="Montserrat"/>
                </a:rPr>
                <a:t>Saída (output)</a:t>
              </a:r>
              <a:endParaRPr sz="2000" b="1" i="0" u="none" strike="noStrike" cap="none">
                <a:solidFill>
                  <a:srgbClr val="000000"/>
                </a:solidFill>
                <a:latin typeface="Montserrat"/>
                <a:ea typeface="Montserrat"/>
                <a:cs typeface="Montserrat"/>
                <a:sym typeface="Montserrat"/>
              </a:endParaRPr>
            </a:p>
          </p:txBody>
        </p:sp>
      </p:grpSp>
      <p:grpSp>
        <p:nvGrpSpPr>
          <p:cNvPr id="257" name="Google Shape;257;p27"/>
          <p:cNvGrpSpPr/>
          <p:nvPr/>
        </p:nvGrpSpPr>
        <p:grpSpPr>
          <a:xfrm>
            <a:off x="9640850" y="5065325"/>
            <a:ext cx="1285575" cy="1215850"/>
            <a:chOff x="9640850" y="5065325"/>
            <a:chExt cx="1285575" cy="1215850"/>
          </a:xfrm>
        </p:grpSpPr>
        <p:pic>
          <p:nvPicPr>
            <p:cNvPr id="258" name="Google Shape;258;p27"/>
            <p:cNvPicPr preferRelativeResize="0"/>
            <p:nvPr/>
          </p:nvPicPr>
          <p:blipFill rotWithShape="1">
            <a:blip r:embed="rId7">
              <a:alphaModFix/>
            </a:blip>
            <a:srcRect/>
            <a:stretch/>
          </p:blipFill>
          <p:spPr>
            <a:xfrm>
              <a:off x="9925150" y="5065325"/>
              <a:ext cx="685800" cy="685800"/>
            </a:xfrm>
            <a:prstGeom prst="rect">
              <a:avLst/>
            </a:prstGeom>
            <a:noFill/>
            <a:ln>
              <a:noFill/>
            </a:ln>
          </p:spPr>
        </p:pic>
        <p:pic>
          <p:nvPicPr>
            <p:cNvPr id="259" name="Google Shape;259;p27"/>
            <p:cNvPicPr preferRelativeResize="0"/>
            <p:nvPr/>
          </p:nvPicPr>
          <p:blipFill rotWithShape="1">
            <a:blip r:embed="rId8">
              <a:alphaModFix/>
            </a:blip>
            <a:srcRect/>
            <a:stretch/>
          </p:blipFill>
          <p:spPr>
            <a:xfrm>
              <a:off x="10240625" y="5542700"/>
              <a:ext cx="685800" cy="685800"/>
            </a:xfrm>
            <a:prstGeom prst="rect">
              <a:avLst/>
            </a:prstGeom>
            <a:noFill/>
            <a:ln>
              <a:noFill/>
            </a:ln>
          </p:spPr>
        </p:pic>
        <p:pic>
          <p:nvPicPr>
            <p:cNvPr id="260" name="Google Shape;260;p27"/>
            <p:cNvPicPr preferRelativeResize="0"/>
            <p:nvPr/>
          </p:nvPicPr>
          <p:blipFill rotWithShape="1">
            <a:blip r:embed="rId9">
              <a:alphaModFix/>
            </a:blip>
            <a:srcRect/>
            <a:stretch/>
          </p:blipFill>
          <p:spPr>
            <a:xfrm>
              <a:off x="9640850" y="5595375"/>
              <a:ext cx="685800" cy="685800"/>
            </a:xfrm>
            <a:prstGeom prst="rect">
              <a:avLst/>
            </a:prstGeom>
            <a:noFill/>
            <a:ln>
              <a:noFill/>
            </a:ln>
          </p:spPr>
        </p:pic>
      </p:grpSp>
      <p:pic>
        <p:nvPicPr>
          <p:cNvPr id="261" name="Google Shape;261;p27"/>
          <p:cNvPicPr preferRelativeResize="0"/>
          <p:nvPr/>
        </p:nvPicPr>
        <p:blipFill rotWithShape="1">
          <a:blip r:embed="rId10">
            <a:alphaModFix/>
          </a:blip>
          <a:srcRect/>
          <a:stretch/>
        </p:blipFill>
        <p:spPr>
          <a:xfrm>
            <a:off x="1212662" y="1313225"/>
            <a:ext cx="9766676" cy="2629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pic>
        <p:nvPicPr>
          <p:cNvPr id="266" name="Google Shape;266;p28"/>
          <p:cNvPicPr preferRelativeResize="0"/>
          <p:nvPr/>
        </p:nvPicPr>
        <p:blipFill rotWithShape="1">
          <a:blip r:embed="rId3">
            <a:alphaModFix amt="80000"/>
          </a:blip>
          <a:srcRect/>
          <a:stretch/>
        </p:blipFill>
        <p:spPr>
          <a:xfrm>
            <a:off x="-22425" y="0"/>
            <a:ext cx="12236850" cy="6858001"/>
          </a:xfrm>
          <a:prstGeom prst="rect">
            <a:avLst/>
          </a:prstGeom>
          <a:noFill/>
          <a:ln>
            <a:noFill/>
          </a:ln>
        </p:spPr>
      </p:pic>
      <p:sp>
        <p:nvSpPr>
          <p:cNvPr id="267" name="Google Shape;267;p28"/>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solidFill>
                  <a:srgbClr val="F3F3F3"/>
                </a:solidFill>
                <a:latin typeface="Montserrat"/>
                <a:ea typeface="Montserrat"/>
                <a:cs typeface="Montserrat"/>
                <a:sym typeface="Montserrat"/>
              </a:rPr>
              <a:t>Instruções</a:t>
            </a:r>
            <a:endParaRPr sz="3600">
              <a:solidFill>
                <a:srgbClr val="F3F3F3"/>
              </a:solidFill>
              <a:latin typeface="Montserrat"/>
              <a:ea typeface="Montserrat"/>
              <a:cs typeface="Montserrat"/>
              <a:sym typeface="Montserrat"/>
            </a:endParaRPr>
          </a:p>
        </p:txBody>
      </p:sp>
      <p:pic>
        <p:nvPicPr>
          <p:cNvPr id="268" name="Google Shape;268;p28"/>
          <p:cNvPicPr preferRelativeResize="0"/>
          <p:nvPr/>
        </p:nvPicPr>
        <p:blipFill rotWithShape="1">
          <a:blip r:embed="rId4">
            <a:alphaModFix/>
          </a:blip>
          <a:srcRect/>
          <a:stretch/>
        </p:blipFill>
        <p:spPr>
          <a:xfrm>
            <a:off x="158450" y="417225"/>
            <a:ext cx="6858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pic>
        <p:nvPicPr>
          <p:cNvPr id="273" name="Google Shape;273;p29"/>
          <p:cNvPicPr preferRelativeResize="0"/>
          <p:nvPr/>
        </p:nvPicPr>
        <p:blipFill rotWithShape="1">
          <a:blip r:embed="rId3">
            <a:alphaModFix amt="40000"/>
          </a:blip>
          <a:srcRect/>
          <a:stretch/>
        </p:blipFill>
        <p:spPr>
          <a:xfrm>
            <a:off x="-22412" y="0"/>
            <a:ext cx="12236832" cy="6858001"/>
          </a:xfrm>
          <a:prstGeom prst="rect">
            <a:avLst/>
          </a:prstGeom>
          <a:noFill/>
          <a:ln>
            <a:noFill/>
          </a:ln>
        </p:spPr>
      </p:pic>
      <p:sp>
        <p:nvSpPr>
          <p:cNvPr id="274" name="Google Shape;274;p29"/>
          <p:cNvSpPr txBox="1">
            <a:spLocks noGrp="1"/>
          </p:cNvSpPr>
          <p:nvPr>
            <p:ph type="title" idx="4294967295"/>
          </p:nvPr>
        </p:nvSpPr>
        <p:spPr>
          <a:xfrm>
            <a:off x="800500" y="2597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Programação</a:t>
            </a:r>
            <a:endParaRPr sz="3600">
              <a:latin typeface="Montserrat"/>
              <a:ea typeface="Montserrat"/>
              <a:cs typeface="Montserrat"/>
              <a:sym typeface="Montserrat"/>
            </a:endParaRPr>
          </a:p>
        </p:txBody>
      </p:sp>
      <p:pic>
        <p:nvPicPr>
          <p:cNvPr id="275" name="Google Shape;275;p29"/>
          <p:cNvPicPr preferRelativeResize="0"/>
          <p:nvPr/>
        </p:nvPicPr>
        <p:blipFill rotWithShape="1">
          <a:blip r:embed="rId4">
            <a:alphaModFix/>
          </a:blip>
          <a:srcRect/>
          <a:stretch/>
        </p:blipFill>
        <p:spPr>
          <a:xfrm>
            <a:off x="158450" y="417225"/>
            <a:ext cx="685800" cy="685800"/>
          </a:xfrm>
          <a:prstGeom prst="rect">
            <a:avLst/>
          </a:prstGeom>
          <a:noFill/>
          <a:ln>
            <a:noFill/>
          </a:ln>
        </p:spPr>
      </p:pic>
      <p:pic>
        <p:nvPicPr>
          <p:cNvPr id="276" name="Google Shape;276;p29"/>
          <p:cNvPicPr preferRelativeResize="0"/>
          <p:nvPr/>
        </p:nvPicPr>
        <p:blipFill rotWithShape="1">
          <a:blip r:embed="rId5">
            <a:alphaModFix/>
          </a:blip>
          <a:srcRect/>
          <a:stretch/>
        </p:blipFill>
        <p:spPr>
          <a:xfrm>
            <a:off x="1212650" y="1293475"/>
            <a:ext cx="9766699" cy="3358208"/>
          </a:xfrm>
          <a:prstGeom prst="rect">
            <a:avLst/>
          </a:prstGeom>
          <a:noFill/>
          <a:ln>
            <a:noFill/>
          </a:ln>
        </p:spPr>
      </p:pic>
      <p:pic>
        <p:nvPicPr>
          <p:cNvPr id="277" name="Google Shape;277;p29"/>
          <p:cNvPicPr preferRelativeResize="0"/>
          <p:nvPr/>
        </p:nvPicPr>
        <p:blipFill rotWithShape="1">
          <a:blip r:embed="rId6">
            <a:alphaModFix/>
          </a:blip>
          <a:srcRect/>
          <a:stretch/>
        </p:blipFill>
        <p:spPr>
          <a:xfrm>
            <a:off x="5142113" y="4767525"/>
            <a:ext cx="1907777" cy="20904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pic>
        <p:nvPicPr>
          <p:cNvPr id="283" name="Google Shape;283;p30"/>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284" name="Google Shape;284;p30"/>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Python</a:t>
            </a:r>
            <a:endParaRPr sz="3600">
              <a:latin typeface="Montserrat"/>
              <a:ea typeface="Montserrat"/>
              <a:cs typeface="Montserrat"/>
              <a:sym typeface="Montserrat"/>
            </a:endParaRPr>
          </a:p>
        </p:txBody>
      </p:sp>
      <p:sp>
        <p:nvSpPr>
          <p:cNvPr id="285" name="Google Shape;285;p30"/>
          <p:cNvSpPr txBox="1"/>
          <p:nvPr/>
        </p:nvSpPr>
        <p:spPr>
          <a:xfrm>
            <a:off x="1425300" y="1463825"/>
            <a:ext cx="8813400" cy="48024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00000"/>
              </a:lnSpc>
              <a:spcBef>
                <a:spcPts val="0"/>
              </a:spcBef>
              <a:spcAft>
                <a:spcPts val="0"/>
              </a:spcAft>
              <a:buClr>
                <a:srgbClr val="000000"/>
              </a:buClr>
              <a:buSzPts val="2000"/>
              <a:buFont typeface="Montserrat"/>
              <a:buChar char="●"/>
            </a:pPr>
            <a:r>
              <a:rPr lang="en-US" sz="2000" b="0" i="0" u="none" strike="noStrike" cap="none">
                <a:solidFill>
                  <a:srgbClr val="000000"/>
                </a:solidFill>
                <a:latin typeface="Montserrat"/>
                <a:ea typeface="Montserrat"/>
                <a:cs typeface="Montserrat"/>
                <a:sym typeface="Montserrat"/>
              </a:rPr>
              <a:t>Criada em 1991 por Guido van Rossum</a:t>
            </a:r>
            <a:endParaRPr sz="2000" b="0" i="0" u="none" strike="noStrike" cap="none">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Clr>
                <a:srgbClr val="000000"/>
              </a:buClr>
              <a:buSzPts val="2100"/>
              <a:buFont typeface="Arial"/>
              <a:buNone/>
            </a:pPr>
            <a:endParaRPr sz="2000" b="0" i="0" u="none" strike="noStrike" cap="none">
              <a:solidFill>
                <a:srgbClr val="000000"/>
              </a:solidFill>
              <a:latin typeface="Montserrat"/>
              <a:ea typeface="Montserrat"/>
              <a:cs typeface="Montserrat"/>
              <a:sym typeface="Montserrat"/>
            </a:endParaRPr>
          </a:p>
          <a:p>
            <a:pPr marL="457200" marR="0" lvl="0" indent="-355600" algn="l" rtl="0">
              <a:lnSpc>
                <a:spcPct val="100000"/>
              </a:lnSpc>
              <a:spcBef>
                <a:spcPts val="0"/>
              </a:spcBef>
              <a:spcAft>
                <a:spcPts val="0"/>
              </a:spcAft>
              <a:buClr>
                <a:srgbClr val="000000"/>
              </a:buClr>
              <a:buSzPts val="2000"/>
              <a:buFont typeface="Montserrat"/>
              <a:buChar char="●"/>
            </a:pPr>
            <a:r>
              <a:rPr lang="en-US" sz="2000" b="0" i="0" u="none" strike="noStrike" cap="none">
                <a:solidFill>
                  <a:srgbClr val="000000"/>
                </a:solidFill>
                <a:latin typeface="Montserrat"/>
                <a:ea typeface="Montserrat"/>
                <a:cs typeface="Montserrat"/>
                <a:sym typeface="Montserrat"/>
              </a:rPr>
              <a:t>Linguagem de propósito geral</a:t>
            </a:r>
            <a:endParaRPr sz="2000" b="0" i="0" u="none" strike="noStrike" cap="none">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Clr>
                <a:srgbClr val="000000"/>
              </a:buClr>
              <a:buSzPts val="2100"/>
              <a:buFont typeface="Arial"/>
              <a:buNone/>
            </a:pPr>
            <a:endParaRPr sz="2000" b="0" i="0" u="none" strike="noStrike" cap="none">
              <a:solidFill>
                <a:srgbClr val="000000"/>
              </a:solidFill>
              <a:latin typeface="Montserrat"/>
              <a:ea typeface="Montserrat"/>
              <a:cs typeface="Montserrat"/>
              <a:sym typeface="Montserrat"/>
            </a:endParaRPr>
          </a:p>
          <a:p>
            <a:pPr marL="457200" marR="0" lvl="0" indent="-355600" algn="l" rtl="0">
              <a:lnSpc>
                <a:spcPct val="100000"/>
              </a:lnSpc>
              <a:spcBef>
                <a:spcPts val="0"/>
              </a:spcBef>
              <a:spcAft>
                <a:spcPts val="0"/>
              </a:spcAft>
              <a:buClr>
                <a:srgbClr val="000000"/>
              </a:buClr>
              <a:buSzPts val="2000"/>
              <a:buFont typeface="Montserrat"/>
              <a:buChar char="●"/>
            </a:pPr>
            <a:r>
              <a:rPr lang="en-US" sz="2000" b="0" i="0" u="none" strike="noStrike" cap="none">
                <a:solidFill>
                  <a:srgbClr val="000000"/>
                </a:solidFill>
                <a:latin typeface="Montserrat"/>
                <a:ea typeface="Montserrat"/>
                <a:cs typeface="Montserrat"/>
                <a:sym typeface="Montserrat"/>
              </a:rPr>
              <a:t>Versátil</a:t>
            </a:r>
            <a:endParaRPr sz="2000" b="0" i="0" u="none" strike="noStrike" cap="none">
              <a:solidFill>
                <a:srgbClr val="000000"/>
              </a:solidFill>
              <a:latin typeface="Montserrat"/>
              <a:ea typeface="Montserrat"/>
              <a:cs typeface="Montserrat"/>
              <a:sym typeface="Montserrat"/>
            </a:endParaRPr>
          </a:p>
          <a:p>
            <a:pPr marL="457200" marR="0" lvl="0" indent="0" algn="l" rtl="0">
              <a:lnSpc>
                <a:spcPct val="100000"/>
              </a:lnSpc>
              <a:spcBef>
                <a:spcPts val="0"/>
              </a:spcBef>
              <a:spcAft>
                <a:spcPts val="0"/>
              </a:spcAft>
              <a:buClr>
                <a:srgbClr val="000000"/>
              </a:buClr>
              <a:buSzPts val="2100"/>
              <a:buFont typeface="Arial"/>
              <a:buNone/>
            </a:pPr>
            <a:endParaRPr sz="2000" b="0" i="0" u="none" strike="noStrike" cap="none">
              <a:solidFill>
                <a:srgbClr val="000000"/>
              </a:solidFill>
              <a:latin typeface="Montserrat"/>
              <a:ea typeface="Montserrat"/>
              <a:cs typeface="Montserrat"/>
              <a:sym typeface="Montserrat"/>
            </a:endParaRPr>
          </a:p>
          <a:p>
            <a:pPr marL="457200" marR="0" lvl="0" indent="-355600" algn="l" rtl="0">
              <a:lnSpc>
                <a:spcPct val="100000"/>
              </a:lnSpc>
              <a:spcBef>
                <a:spcPts val="0"/>
              </a:spcBef>
              <a:spcAft>
                <a:spcPts val="0"/>
              </a:spcAft>
              <a:buClr>
                <a:srgbClr val="000000"/>
              </a:buClr>
              <a:buSzPts val="2000"/>
              <a:buFont typeface="Montserrat"/>
              <a:buChar char="●"/>
            </a:pPr>
            <a:r>
              <a:rPr lang="en-US" sz="2000" b="0" i="0" u="none" strike="noStrike" cap="none">
                <a:solidFill>
                  <a:srgbClr val="000000"/>
                </a:solidFill>
                <a:latin typeface="Montserrat"/>
                <a:ea typeface="Montserrat"/>
                <a:cs typeface="Montserrat"/>
                <a:sym typeface="Montserrat"/>
              </a:rPr>
              <a:t>Alto nível</a:t>
            </a:r>
            <a:endParaRPr sz="2000" b="0" i="0" u="none" strike="noStrike" cap="none">
              <a:solidFill>
                <a:srgbClr val="000000"/>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2100"/>
              <a:buFont typeface="Arial"/>
              <a:buNone/>
            </a:pPr>
            <a:endParaRPr sz="2000" b="0" i="0" u="none" strike="noStrike" cap="none">
              <a:solidFill>
                <a:srgbClr val="000000"/>
              </a:solidFill>
              <a:latin typeface="Montserrat"/>
              <a:ea typeface="Montserrat"/>
              <a:cs typeface="Montserrat"/>
              <a:sym typeface="Montserrat"/>
            </a:endParaRPr>
          </a:p>
          <a:p>
            <a:pPr marL="457200" marR="0" lvl="0" indent="-355600" algn="l" rtl="0">
              <a:lnSpc>
                <a:spcPct val="100000"/>
              </a:lnSpc>
              <a:spcBef>
                <a:spcPts val="0"/>
              </a:spcBef>
              <a:spcAft>
                <a:spcPts val="0"/>
              </a:spcAft>
              <a:buClr>
                <a:schemeClr val="dk1"/>
              </a:buClr>
              <a:buSzPts val="2000"/>
              <a:buFont typeface="Montserrat"/>
              <a:buChar char="●"/>
            </a:pPr>
            <a:r>
              <a:rPr lang="en-US" sz="2000" b="0" i="0" u="none" strike="noStrike" cap="none">
                <a:solidFill>
                  <a:schemeClr val="dk1"/>
                </a:solidFill>
                <a:latin typeface="Montserrat"/>
                <a:ea typeface="Montserrat"/>
                <a:cs typeface="Montserrat"/>
                <a:sym typeface="Montserrat"/>
              </a:rPr>
              <a:t>Open Source</a:t>
            </a:r>
            <a:endParaRPr sz="2000" b="0" i="0" u="none" strike="noStrike" cap="none">
              <a:solidFill>
                <a:schemeClr val="dk1"/>
              </a:solidFill>
              <a:latin typeface="Montserrat"/>
              <a:ea typeface="Montserrat"/>
              <a:cs typeface="Montserrat"/>
              <a:sym typeface="Montserrat"/>
            </a:endParaRPr>
          </a:p>
          <a:p>
            <a:pPr marL="45720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Montserrat"/>
              <a:ea typeface="Montserrat"/>
              <a:cs typeface="Montserrat"/>
              <a:sym typeface="Montserrat"/>
            </a:endParaRPr>
          </a:p>
          <a:p>
            <a:pPr marL="457200" marR="0" lvl="0" indent="-355600" algn="l" rtl="0">
              <a:lnSpc>
                <a:spcPct val="100000"/>
              </a:lnSpc>
              <a:spcBef>
                <a:spcPts val="0"/>
              </a:spcBef>
              <a:spcAft>
                <a:spcPts val="0"/>
              </a:spcAft>
              <a:buClr>
                <a:schemeClr val="dk1"/>
              </a:buClr>
              <a:buSzPts val="2000"/>
              <a:buFont typeface="Montserrat"/>
              <a:buChar char="●"/>
            </a:pPr>
            <a:r>
              <a:rPr lang="en-US" sz="2000" b="0" i="0" u="none" strike="noStrike" cap="none">
                <a:solidFill>
                  <a:schemeClr val="dk1"/>
                </a:solidFill>
                <a:latin typeface="Montserrat"/>
                <a:ea typeface="Montserrat"/>
                <a:cs typeface="Montserrat"/>
                <a:sym typeface="Montserrat"/>
              </a:rPr>
              <a:t>Multiplataforma</a:t>
            </a:r>
            <a:endParaRPr sz="2000" b="0" i="0" u="none" strike="noStrike" cap="none">
              <a:solidFill>
                <a:schemeClr val="dk1"/>
              </a:solidFill>
              <a:latin typeface="Montserrat"/>
              <a:ea typeface="Montserrat"/>
              <a:cs typeface="Montserrat"/>
              <a:sym typeface="Montserrat"/>
            </a:endParaRPr>
          </a:p>
          <a:p>
            <a:pPr marL="45720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Montserrat"/>
              <a:ea typeface="Montserrat"/>
              <a:cs typeface="Montserrat"/>
              <a:sym typeface="Montserrat"/>
            </a:endParaRPr>
          </a:p>
          <a:p>
            <a:pPr marL="457200" marR="0" lvl="0" indent="-355600" algn="l" rtl="0">
              <a:lnSpc>
                <a:spcPct val="100000"/>
              </a:lnSpc>
              <a:spcBef>
                <a:spcPts val="0"/>
              </a:spcBef>
              <a:spcAft>
                <a:spcPts val="0"/>
              </a:spcAft>
              <a:buClr>
                <a:schemeClr val="dk1"/>
              </a:buClr>
              <a:buSzPts val="2000"/>
              <a:buFont typeface="Montserrat"/>
              <a:buChar char="●"/>
            </a:pPr>
            <a:r>
              <a:rPr lang="en-US" sz="2000" b="0" i="0" u="none" strike="noStrike" cap="none">
                <a:solidFill>
                  <a:schemeClr val="dk1"/>
                </a:solidFill>
                <a:latin typeface="Montserrat"/>
                <a:ea typeface="Montserrat"/>
                <a:cs typeface="Montserrat"/>
                <a:sym typeface="Montserrat"/>
              </a:rPr>
              <a:t>Fácil de aprender (ensino de programação para crianças)</a:t>
            </a:r>
            <a:endParaRPr sz="2000" b="0" i="0" u="none" strike="noStrike" cap="none">
              <a:solidFill>
                <a:schemeClr val="dk1"/>
              </a:solidFill>
              <a:latin typeface="Montserrat"/>
              <a:ea typeface="Montserrat"/>
              <a:cs typeface="Montserrat"/>
              <a:sym typeface="Montserrat"/>
            </a:endParaRPr>
          </a:p>
          <a:p>
            <a:pPr marL="457200" marR="0" lvl="0" indent="0" algn="l" rtl="0">
              <a:lnSpc>
                <a:spcPct val="100000"/>
              </a:lnSpc>
              <a:spcBef>
                <a:spcPts val="0"/>
              </a:spcBef>
              <a:spcAft>
                <a:spcPts val="0"/>
              </a:spcAft>
              <a:buClr>
                <a:schemeClr val="dk1"/>
              </a:buClr>
              <a:buSzPts val="1100"/>
              <a:buFont typeface="Arial"/>
              <a:buNone/>
            </a:pPr>
            <a:endParaRPr sz="2000" b="0" i="0" u="none" strike="noStrike" cap="none">
              <a:solidFill>
                <a:schemeClr val="dk1"/>
              </a:solidFill>
              <a:latin typeface="Montserrat"/>
              <a:ea typeface="Montserrat"/>
              <a:cs typeface="Montserrat"/>
              <a:sym typeface="Montserrat"/>
            </a:endParaRPr>
          </a:p>
          <a:p>
            <a:pPr marL="457200" marR="0" lvl="0" indent="-355600" algn="l" rtl="0">
              <a:lnSpc>
                <a:spcPct val="100000"/>
              </a:lnSpc>
              <a:spcBef>
                <a:spcPts val="0"/>
              </a:spcBef>
              <a:spcAft>
                <a:spcPts val="0"/>
              </a:spcAft>
              <a:buClr>
                <a:schemeClr val="dk1"/>
              </a:buClr>
              <a:buSzPts val="2000"/>
              <a:buFont typeface="Montserrat"/>
              <a:buChar char="●"/>
            </a:pPr>
            <a:r>
              <a:rPr lang="en-US" sz="2000" b="0" i="0" u="none" strike="noStrike" cap="none">
                <a:solidFill>
                  <a:schemeClr val="dk1"/>
                </a:solidFill>
                <a:latin typeface="Montserrat"/>
                <a:ea typeface="Montserrat"/>
                <a:cs typeface="Montserrat"/>
                <a:sym typeface="Montserrat"/>
              </a:rPr>
              <a:t>Muito utilizada para área de dados e pesquisa científica</a:t>
            </a:r>
            <a:endParaRPr sz="20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Google Shape;291;p31"/>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292" name="Google Shape;292;p31"/>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Python (Instalação)</a:t>
            </a:r>
            <a:endParaRPr sz="3600">
              <a:latin typeface="Montserrat"/>
              <a:ea typeface="Montserrat"/>
              <a:cs typeface="Montserrat"/>
              <a:sym typeface="Montserrat"/>
            </a:endParaRPr>
          </a:p>
        </p:txBody>
      </p:sp>
      <p:sp>
        <p:nvSpPr>
          <p:cNvPr id="293" name="Google Shape;293;p31"/>
          <p:cNvSpPr txBox="1"/>
          <p:nvPr/>
        </p:nvSpPr>
        <p:spPr>
          <a:xfrm>
            <a:off x="891900" y="2550125"/>
            <a:ext cx="10139400" cy="2770500"/>
          </a:xfrm>
          <a:prstGeom prst="rect">
            <a:avLst/>
          </a:prstGeom>
          <a:noFill/>
          <a:ln>
            <a:noFill/>
          </a:ln>
        </p:spPr>
        <p:txBody>
          <a:bodyPr spcFirstLastPara="1" wrap="square" lIns="91425" tIns="91425" rIns="91425" bIns="91425" anchor="t" anchorCtr="0">
            <a:spAutoFit/>
          </a:bodyPr>
          <a:lstStyle/>
          <a:p>
            <a:pPr marL="457200" marR="0" lvl="0" indent="-381000" algn="l" rtl="0">
              <a:lnSpc>
                <a:spcPct val="150000"/>
              </a:lnSpc>
              <a:spcBef>
                <a:spcPts val="0"/>
              </a:spcBef>
              <a:spcAft>
                <a:spcPts val="0"/>
              </a:spcAft>
              <a:buClr>
                <a:srgbClr val="000000"/>
              </a:buClr>
              <a:buSzPts val="2400"/>
              <a:buFont typeface="Montserrat"/>
              <a:buChar char="●"/>
            </a:pPr>
            <a:r>
              <a:rPr lang="en-US" sz="2400" b="0" i="0" u="none" strike="noStrike" cap="none">
                <a:solidFill>
                  <a:srgbClr val="000000"/>
                </a:solidFill>
                <a:latin typeface="Montserrat"/>
                <a:ea typeface="Montserrat"/>
                <a:cs typeface="Montserrat"/>
                <a:sym typeface="Montserrat"/>
              </a:rPr>
              <a:t>Python puro: </a:t>
            </a:r>
            <a:r>
              <a:rPr lang="en-US" sz="2400" b="0" i="0" u="sng" strike="noStrike" cap="none">
                <a:solidFill>
                  <a:schemeClr val="hlink"/>
                </a:solidFill>
                <a:latin typeface="Montserrat"/>
                <a:ea typeface="Montserrat"/>
                <a:cs typeface="Montserrat"/>
                <a:sym typeface="Montserrat"/>
                <a:hlinkClick r:id="rId4"/>
              </a:rPr>
              <a:t>www.python.org</a:t>
            </a:r>
            <a:endParaRPr sz="2400" b="0" i="0" u="none" strike="noStrike" cap="none">
              <a:solidFill>
                <a:srgbClr val="000000"/>
              </a:solidFill>
              <a:latin typeface="Montserrat"/>
              <a:ea typeface="Montserrat"/>
              <a:cs typeface="Montserrat"/>
              <a:sym typeface="Montserrat"/>
            </a:endParaRPr>
          </a:p>
          <a:p>
            <a:pPr marL="0" marR="0" lvl="0" indent="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Montserrat"/>
              <a:ea typeface="Montserrat"/>
              <a:cs typeface="Montserrat"/>
              <a:sym typeface="Montserrat"/>
            </a:endParaRPr>
          </a:p>
          <a:p>
            <a:pPr marL="457200" marR="0" lvl="0" indent="-381000" algn="l" rtl="0">
              <a:lnSpc>
                <a:spcPct val="150000"/>
              </a:lnSpc>
              <a:spcBef>
                <a:spcPts val="0"/>
              </a:spcBef>
              <a:spcAft>
                <a:spcPts val="0"/>
              </a:spcAft>
              <a:buClr>
                <a:srgbClr val="000000"/>
              </a:buClr>
              <a:buSzPts val="2400"/>
              <a:buFont typeface="Montserrat"/>
              <a:buChar char="●"/>
            </a:pPr>
            <a:r>
              <a:rPr lang="en-US" sz="2400" b="0" i="0" u="none" strike="noStrike" cap="none">
                <a:solidFill>
                  <a:srgbClr val="000000"/>
                </a:solidFill>
                <a:latin typeface="Montserrat"/>
                <a:ea typeface="Montserrat"/>
                <a:cs typeface="Montserrat"/>
                <a:sym typeface="Montserrat"/>
              </a:rPr>
              <a:t>Python com pacotes de Data Science: </a:t>
            </a:r>
            <a:r>
              <a:rPr lang="en-US" sz="2400" b="0" i="0" u="sng" strike="noStrike" cap="none">
                <a:solidFill>
                  <a:schemeClr val="hlink"/>
                </a:solidFill>
                <a:latin typeface="Montserrat"/>
                <a:ea typeface="Montserrat"/>
                <a:cs typeface="Montserrat"/>
                <a:sym typeface="Montserrat"/>
                <a:hlinkClick r:id="rId5"/>
              </a:rPr>
              <a:t>anaconda.org</a:t>
            </a:r>
            <a:endParaRPr sz="2400" b="0" i="0" u="none" strike="noStrike" cap="none">
              <a:solidFill>
                <a:srgbClr val="000000"/>
              </a:solidFill>
              <a:latin typeface="Montserrat"/>
              <a:ea typeface="Montserrat"/>
              <a:cs typeface="Montserrat"/>
              <a:sym typeface="Montserrat"/>
            </a:endParaRPr>
          </a:p>
          <a:p>
            <a:pPr marL="0" marR="0" lvl="0" indent="0" algn="l" rtl="0">
              <a:lnSpc>
                <a:spcPct val="150000"/>
              </a:lnSpc>
              <a:spcBef>
                <a:spcPts val="0"/>
              </a:spcBef>
              <a:spcAft>
                <a:spcPts val="0"/>
              </a:spcAft>
              <a:buClr>
                <a:srgbClr val="000000"/>
              </a:buClr>
              <a:buSzPts val="2400"/>
              <a:buFont typeface="Arial"/>
              <a:buNone/>
            </a:pPr>
            <a:endParaRPr sz="2400" b="0" i="0" u="none" strike="noStrike" cap="none">
              <a:solidFill>
                <a:srgbClr val="000000"/>
              </a:solidFill>
              <a:latin typeface="Montserrat"/>
              <a:ea typeface="Montserrat"/>
              <a:cs typeface="Montserrat"/>
              <a:sym typeface="Montserrat"/>
            </a:endParaRPr>
          </a:p>
          <a:p>
            <a:pPr marL="457200" marR="0" lvl="0" indent="-381000" algn="l" rtl="0">
              <a:lnSpc>
                <a:spcPct val="150000"/>
              </a:lnSpc>
              <a:spcBef>
                <a:spcPts val="0"/>
              </a:spcBef>
              <a:spcAft>
                <a:spcPts val="0"/>
              </a:spcAft>
              <a:buClr>
                <a:srgbClr val="000000"/>
              </a:buClr>
              <a:buSzPts val="2400"/>
              <a:buFont typeface="Montserrat"/>
              <a:buChar char="●"/>
            </a:pPr>
            <a:r>
              <a:rPr lang="en-US" sz="2400" b="0" i="0" u="none" strike="noStrike" cap="none">
                <a:solidFill>
                  <a:srgbClr val="000000"/>
                </a:solidFill>
                <a:latin typeface="Montserrat"/>
                <a:ea typeface="Montserrat"/>
                <a:cs typeface="Montserrat"/>
                <a:sym typeface="Montserrat"/>
              </a:rPr>
              <a:t>Interface de Desenvolvimento: </a:t>
            </a:r>
            <a:r>
              <a:rPr lang="en-US" sz="2400" b="0" i="0" u="sng" strike="noStrike" cap="none">
                <a:solidFill>
                  <a:schemeClr val="hlink"/>
                </a:solidFill>
                <a:latin typeface="Montserrat"/>
                <a:ea typeface="Montserrat"/>
                <a:cs typeface="Montserrat"/>
                <a:sym typeface="Montserrat"/>
                <a:hlinkClick r:id="rId6"/>
              </a:rPr>
              <a:t>code.visualstudio.com</a:t>
            </a:r>
            <a:endParaRPr sz="2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pic>
        <p:nvPicPr>
          <p:cNvPr id="299" name="Google Shape;299;p32"/>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00" name="Google Shape;300;p32"/>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Visual Studio Code</a:t>
            </a:r>
            <a:endParaRPr sz="3600">
              <a:latin typeface="Montserrat"/>
              <a:ea typeface="Montserrat"/>
              <a:cs typeface="Montserrat"/>
              <a:sym typeface="Montserrat"/>
            </a:endParaRPr>
          </a:p>
        </p:txBody>
      </p:sp>
      <p:pic>
        <p:nvPicPr>
          <p:cNvPr id="301" name="Google Shape;301;p32"/>
          <p:cNvPicPr preferRelativeResize="0"/>
          <p:nvPr/>
        </p:nvPicPr>
        <p:blipFill rotWithShape="1">
          <a:blip r:embed="rId4">
            <a:alphaModFix/>
          </a:blip>
          <a:srcRect/>
          <a:stretch/>
        </p:blipFill>
        <p:spPr>
          <a:xfrm>
            <a:off x="1289188" y="3223675"/>
            <a:ext cx="1671475" cy="1671475"/>
          </a:xfrm>
          <a:prstGeom prst="rect">
            <a:avLst/>
          </a:prstGeom>
          <a:noFill/>
          <a:ln>
            <a:noFill/>
          </a:ln>
        </p:spPr>
      </p:pic>
      <p:pic>
        <p:nvPicPr>
          <p:cNvPr id="302" name="Google Shape;302;p32"/>
          <p:cNvPicPr preferRelativeResize="0"/>
          <p:nvPr/>
        </p:nvPicPr>
        <p:blipFill>
          <a:blip r:embed="rId5">
            <a:alphaModFix/>
          </a:blip>
          <a:stretch>
            <a:fillRect/>
          </a:stretch>
        </p:blipFill>
        <p:spPr>
          <a:xfrm>
            <a:off x="5163187" y="2254824"/>
            <a:ext cx="1865626" cy="1220425"/>
          </a:xfrm>
          <a:prstGeom prst="rect">
            <a:avLst/>
          </a:prstGeom>
          <a:noFill/>
          <a:ln>
            <a:noFill/>
          </a:ln>
        </p:spPr>
      </p:pic>
      <p:pic>
        <p:nvPicPr>
          <p:cNvPr id="303" name="Google Shape;303;p32"/>
          <p:cNvPicPr preferRelativeResize="0"/>
          <p:nvPr/>
        </p:nvPicPr>
        <p:blipFill>
          <a:blip r:embed="rId6">
            <a:alphaModFix/>
          </a:blip>
          <a:stretch>
            <a:fillRect/>
          </a:stretch>
        </p:blipFill>
        <p:spPr>
          <a:xfrm>
            <a:off x="9158288" y="1880388"/>
            <a:ext cx="1671475" cy="1671475"/>
          </a:xfrm>
          <a:prstGeom prst="rect">
            <a:avLst/>
          </a:prstGeom>
          <a:noFill/>
          <a:ln>
            <a:noFill/>
          </a:ln>
        </p:spPr>
      </p:pic>
      <p:grpSp>
        <p:nvGrpSpPr>
          <p:cNvPr id="304" name="Google Shape;304;p32"/>
          <p:cNvGrpSpPr/>
          <p:nvPr/>
        </p:nvGrpSpPr>
        <p:grpSpPr>
          <a:xfrm>
            <a:off x="2603687" y="2550090"/>
            <a:ext cx="2120388" cy="1316860"/>
            <a:chOff x="2603687" y="2550090"/>
            <a:chExt cx="2120388" cy="1316860"/>
          </a:xfrm>
        </p:grpSpPr>
        <p:cxnSp>
          <p:nvCxnSpPr>
            <p:cNvPr id="305" name="Google Shape;305;p32"/>
            <p:cNvCxnSpPr/>
            <p:nvPr/>
          </p:nvCxnSpPr>
          <p:spPr>
            <a:xfrm rot="10800000" flipH="1">
              <a:off x="2795375" y="3028450"/>
              <a:ext cx="1928700" cy="838500"/>
            </a:xfrm>
            <a:prstGeom prst="straightConnector1">
              <a:avLst/>
            </a:prstGeom>
            <a:noFill/>
            <a:ln w="28575" cap="flat" cmpd="sng">
              <a:solidFill>
                <a:schemeClr val="dk2"/>
              </a:solidFill>
              <a:prstDash val="solid"/>
              <a:round/>
              <a:headEnd type="none" w="med" len="med"/>
              <a:tailEnd type="triangle" w="med" len="med"/>
            </a:ln>
          </p:spPr>
        </p:cxnSp>
        <p:sp>
          <p:nvSpPr>
            <p:cNvPr id="306" name="Google Shape;306;p32"/>
            <p:cNvSpPr txBox="1"/>
            <p:nvPr/>
          </p:nvSpPr>
          <p:spPr>
            <a:xfrm rot="-1403963">
              <a:off x="2636912" y="2897835"/>
              <a:ext cx="1865850" cy="55401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Instruções</a:t>
              </a:r>
              <a:endParaRPr sz="2200">
                <a:solidFill>
                  <a:schemeClr val="dk1"/>
                </a:solidFill>
                <a:latin typeface="Montserrat Medium"/>
                <a:ea typeface="Montserrat Medium"/>
                <a:cs typeface="Montserrat Medium"/>
                <a:sym typeface="Montserrat Medium"/>
              </a:endParaRPr>
            </a:p>
          </p:txBody>
        </p:sp>
      </p:grpSp>
      <p:grpSp>
        <p:nvGrpSpPr>
          <p:cNvPr id="307" name="Google Shape;307;p32"/>
          <p:cNvGrpSpPr/>
          <p:nvPr/>
        </p:nvGrpSpPr>
        <p:grpSpPr>
          <a:xfrm>
            <a:off x="7155890" y="2245307"/>
            <a:ext cx="2087363" cy="585600"/>
            <a:chOff x="7155890" y="2245307"/>
            <a:chExt cx="2087363" cy="585600"/>
          </a:xfrm>
        </p:grpSpPr>
        <p:cxnSp>
          <p:nvCxnSpPr>
            <p:cNvPr id="308" name="Google Shape;308;p32"/>
            <p:cNvCxnSpPr/>
            <p:nvPr/>
          </p:nvCxnSpPr>
          <p:spPr>
            <a:xfrm>
              <a:off x="7166653" y="2766245"/>
              <a:ext cx="2076600" cy="0"/>
            </a:xfrm>
            <a:prstGeom prst="straightConnector1">
              <a:avLst/>
            </a:prstGeom>
            <a:noFill/>
            <a:ln w="28575" cap="flat" cmpd="sng">
              <a:solidFill>
                <a:schemeClr val="dk2"/>
              </a:solidFill>
              <a:prstDash val="solid"/>
              <a:round/>
              <a:headEnd type="none" w="med" len="med"/>
              <a:tailEnd type="triangle" w="med" len="med"/>
            </a:ln>
          </p:spPr>
        </p:cxnSp>
        <p:sp>
          <p:nvSpPr>
            <p:cNvPr id="309" name="Google Shape;309;p32"/>
            <p:cNvSpPr txBox="1"/>
            <p:nvPr/>
          </p:nvSpPr>
          <p:spPr>
            <a:xfrm rot="58589">
              <a:off x="7160555" y="2261166"/>
              <a:ext cx="1865971" cy="55388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Instruções</a:t>
              </a:r>
              <a:endParaRPr sz="2200">
                <a:solidFill>
                  <a:schemeClr val="dk1"/>
                </a:solidFill>
                <a:latin typeface="Montserrat Medium"/>
                <a:ea typeface="Montserrat Medium"/>
                <a:cs typeface="Montserrat Medium"/>
                <a:sym typeface="Montserrat Medium"/>
              </a:endParaRPr>
            </a:p>
          </p:txBody>
        </p:sp>
      </p:grpSp>
      <p:pic>
        <p:nvPicPr>
          <p:cNvPr id="310" name="Google Shape;310;p32"/>
          <p:cNvPicPr preferRelativeResize="0"/>
          <p:nvPr/>
        </p:nvPicPr>
        <p:blipFill>
          <a:blip r:embed="rId7">
            <a:alphaModFix/>
          </a:blip>
          <a:stretch>
            <a:fillRect/>
          </a:stretch>
        </p:blipFill>
        <p:spPr>
          <a:xfrm>
            <a:off x="5019825" y="4224000"/>
            <a:ext cx="2152325" cy="2152325"/>
          </a:xfrm>
          <a:prstGeom prst="rect">
            <a:avLst/>
          </a:prstGeom>
          <a:noFill/>
          <a:ln>
            <a:noFill/>
          </a:ln>
        </p:spPr>
      </p:pic>
      <p:grpSp>
        <p:nvGrpSpPr>
          <p:cNvPr id="311" name="Google Shape;311;p32"/>
          <p:cNvGrpSpPr/>
          <p:nvPr/>
        </p:nvGrpSpPr>
        <p:grpSpPr>
          <a:xfrm>
            <a:off x="7379900" y="3568775"/>
            <a:ext cx="2226900" cy="1599332"/>
            <a:chOff x="7379900" y="3568775"/>
            <a:chExt cx="2226900" cy="1599332"/>
          </a:xfrm>
        </p:grpSpPr>
        <p:cxnSp>
          <p:nvCxnSpPr>
            <p:cNvPr id="312" name="Google Shape;312;p32"/>
            <p:cNvCxnSpPr/>
            <p:nvPr/>
          </p:nvCxnSpPr>
          <p:spPr>
            <a:xfrm flipH="1">
              <a:off x="7379900" y="3568775"/>
              <a:ext cx="2226900" cy="1407000"/>
            </a:xfrm>
            <a:prstGeom prst="straightConnector1">
              <a:avLst/>
            </a:prstGeom>
            <a:noFill/>
            <a:ln w="28575" cap="flat" cmpd="sng">
              <a:solidFill>
                <a:schemeClr val="dk2"/>
              </a:solidFill>
              <a:prstDash val="solid"/>
              <a:round/>
              <a:headEnd type="none" w="med" len="med"/>
              <a:tailEnd type="triangle" w="med" len="med"/>
            </a:ln>
          </p:spPr>
        </p:cxnSp>
        <p:sp>
          <p:nvSpPr>
            <p:cNvPr id="313" name="Google Shape;313;p32"/>
            <p:cNvSpPr txBox="1"/>
            <p:nvPr/>
          </p:nvSpPr>
          <p:spPr>
            <a:xfrm rot="-2011900">
              <a:off x="7739841" y="4144991"/>
              <a:ext cx="1866046" cy="5537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Resposta</a:t>
              </a:r>
              <a:endParaRPr sz="2200">
                <a:solidFill>
                  <a:schemeClr val="dk1"/>
                </a:solidFill>
                <a:latin typeface="Montserrat Medium"/>
                <a:ea typeface="Montserrat Medium"/>
                <a:cs typeface="Montserrat Medium"/>
                <a:sym typeface="Montserrat Medium"/>
              </a:endParaRPr>
            </a:p>
          </p:txBody>
        </p:sp>
      </p:grpSp>
      <p:grpSp>
        <p:nvGrpSpPr>
          <p:cNvPr id="314" name="Google Shape;314;p32"/>
          <p:cNvGrpSpPr/>
          <p:nvPr/>
        </p:nvGrpSpPr>
        <p:grpSpPr>
          <a:xfrm>
            <a:off x="2860600" y="4379400"/>
            <a:ext cx="2329500" cy="1075649"/>
            <a:chOff x="2860600" y="4379400"/>
            <a:chExt cx="2329500" cy="1075649"/>
          </a:xfrm>
        </p:grpSpPr>
        <p:cxnSp>
          <p:nvCxnSpPr>
            <p:cNvPr id="315" name="Google Shape;315;p32"/>
            <p:cNvCxnSpPr/>
            <p:nvPr/>
          </p:nvCxnSpPr>
          <p:spPr>
            <a:xfrm rot="10800000">
              <a:off x="2860600" y="4379400"/>
              <a:ext cx="2329500" cy="605700"/>
            </a:xfrm>
            <a:prstGeom prst="straightConnector1">
              <a:avLst/>
            </a:prstGeom>
            <a:noFill/>
            <a:ln w="28575" cap="flat" cmpd="sng">
              <a:solidFill>
                <a:schemeClr val="dk2"/>
              </a:solidFill>
              <a:prstDash val="solid"/>
              <a:round/>
              <a:headEnd type="none" w="med" len="med"/>
              <a:tailEnd type="triangle" w="med" len="med"/>
            </a:ln>
          </p:spPr>
        </p:cxnSp>
        <p:sp>
          <p:nvSpPr>
            <p:cNvPr id="316" name="Google Shape;316;p32"/>
            <p:cNvSpPr txBox="1"/>
            <p:nvPr/>
          </p:nvSpPr>
          <p:spPr>
            <a:xfrm rot="832703">
              <a:off x="2962108" y="4662307"/>
              <a:ext cx="2059936" cy="55378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Visualização</a:t>
              </a:r>
              <a:endParaRPr sz="2200">
                <a:solidFill>
                  <a:schemeClr val="dk1"/>
                </a:solidFill>
                <a:latin typeface="Montserrat Medium"/>
                <a:ea typeface="Montserrat Medium"/>
                <a:cs typeface="Montserrat Medium"/>
                <a:sym typeface="Montserrat Medium"/>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0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04"/>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30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1"/>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310"/>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pic>
        <p:nvPicPr>
          <p:cNvPr id="322" name="Google Shape;322;p33"/>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23" name="Google Shape;323;p33"/>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Visual Studio Code</a:t>
            </a:r>
            <a:endParaRPr sz="3600">
              <a:latin typeface="Montserrat"/>
              <a:ea typeface="Montserrat"/>
              <a:cs typeface="Montserrat"/>
              <a:sym typeface="Montserrat"/>
            </a:endParaRPr>
          </a:p>
        </p:txBody>
      </p:sp>
      <p:pic>
        <p:nvPicPr>
          <p:cNvPr id="324" name="Google Shape;324;p33"/>
          <p:cNvPicPr preferRelativeResize="0"/>
          <p:nvPr/>
        </p:nvPicPr>
        <p:blipFill rotWithShape="1">
          <a:blip r:embed="rId4">
            <a:alphaModFix/>
          </a:blip>
          <a:srcRect/>
          <a:stretch/>
        </p:blipFill>
        <p:spPr>
          <a:xfrm>
            <a:off x="1289188" y="3223675"/>
            <a:ext cx="1671475" cy="1671475"/>
          </a:xfrm>
          <a:prstGeom prst="rect">
            <a:avLst/>
          </a:prstGeom>
          <a:noFill/>
          <a:ln>
            <a:noFill/>
          </a:ln>
        </p:spPr>
      </p:pic>
      <p:pic>
        <p:nvPicPr>
          <p:cNvPr id="325" name="Google Shape;325;p33"/>
          <p:cNvPicPr preferRelativeResize="0"/>
          <p:nvPr/>
        </p:nvPicPr>
        <p:blipFill rotWithShape="1">
          <a:blip r:embed="rId5">
            <a:alphaModFix/>
          </a:blip>
          <a:srcRect/>
          <a:stretch/>
        </p:blipFill>
        <p:spPr>
          <a:xfrm>
            <a:off x="4991794" y="2830890"/>
            <a:ext cx="2120401" cy="2105594"/>
          </a:xfrm>
          <a:prstGeom prst="rect">
            <a:avLst/>
          </a:prstGeom>
          <a:noFill/>
          <a:ln>
            <a:noFill/>
          </a:ln>
        </p:spPr>
      </p:pic>
      <p:pic>
        <p:nvPicPr>
          <p:cNvPr id="326" name="Google Shape;326;p33"/>
          <p:cNvPicPr preferRelativeResize="0"/>
          <p:nvPr/>
        </p:nvPicPr>
        <p:blipFill rotWithShape="1">
          <a:blip r:embed="rId6">
            <a:alphaModFix/>
          </a:blip>
          <a:srcRect/>
          <a:stretch/>
        </p:blipFill>
        <p:spPr>
          <a:xfrm>
            <a:off x="9380123" y="1935775"/>
            <a:ext cx="1525394" cy="1671475"/>
          </a:xfrm>
          <a:prstGeom prst="rect">
            <a:avLst/>
          </a:prstGeom>
          <a:noFill/>
          <a:ln>
            <a:noFill/>
          </a:ln>
        </p:spPr>
      </p:pic>
      <p:grpSp>
        <p:nvGrpSpPr>
          <p:cNvPr id="327" name="Google Shape;327;p33"/>
          <p:cNvGrpSpPr/>
          <p:nvPr/>
        </p:nvGrpSpPr>
        <p:grpSpPr>
          <a:xfrm>
            <a:off x="2603687" y="2550090"/>
            <a:ext cx="2120388" cy="1316860"/>
            <a:chOff x="2603687" y="2550090"/>
            <a:chExt cx="2120388" cy="1316860"/>
          </a:xfrm>
        </p:grpSpPr>
        <p:cxnSp>
          <p:nvCxnSpPr>
            <p:cNvPr id="328" name="Google Shape;328;p33"/>
            <p:cNvCxnSpPr/>
            <p:nvPr/>
          </p:nvCxnSpPr>
          <p:spPr>
            <a:xfrm rot="10800000" flipH="1">
              <a:off x="2795375" y="3028450"/>
              <a:ext cx="1928700" cy="838500"/>
            </a:xfrm>
            <a:prstGeom prst="straightConnector1">
              <a:avLst/>
            </a:prstGeom>
            <a:noFill/>
            <a:ln w="28575" cap="flat" cmpd="sng">
              <a:solidFill>
                <a:schemeClr val="dk2"/>
              </a:solidFill>
              <a:prstDash val="solid"/>
              <a:round/>
              <a:headEnd type="none" w="med" len="med"/>
              <a:tailEnd type="triangle" w="med" len="med"/>
            </a:ln>
          </p:spPr>
        </p:cxnSp>
        <p:sp>
          <p:nvSpPr>
            <p:cNvPr id="329" name="Google Shape;329;p33"/>
            <p:cNvSpPr txBox="1"/>
            <p:nvPr/>
          </p:nvSpPr>
          <p:spPr>
            <a:xfrm rot="-1403963">
              <a:off x="2636912" y="2897835"/>
              <a:ext cx="1865850" cy="55401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Instruções</a:t>
              </a:r>
              <a:endParaRPr sz="2200">
                <a:solidFill>
                  <a:schemeClr val="dk1"/>
                </a:solidFill>
                <a:latin typeface="Montserrat Medium"/>
                <a:ea typeface="Montserrat Medium"/>
                <a:cs typeface="Montserrat Medium"/>
                <a:sym typeface="Montserrat Medium"/>
              </a:endParaRPr>
            </a:p>
          </p:txBody>
        </p:sp>
      </p:grpSp>
      <p:grpSp>
        <p:nvGrpSpPr>
          <p:cNvPr id="330" name="Google Shape;330;p33"/>
          <p:cNvGrpSpPr/>
          <p:nvPr/>
        </p:nvGrpSpPr>
        <p:grpSpPr>
          <a:xfrm>
            <a:off x="7155890" y="2245307"/>
            <a:ext cx="2087363" cy="585600"/>
            <a:chOff x="7155890" y="2245307"/>
            <a:chExt cx="2087363" cy="585600"/>
          </a:xfrm>
        </p:grpSpPr>
        <p:cxnSp>
          <p:nvCxnSpPr>
            <p:cNvPr id="331" name="Google Shape;331;p33"/>
            <p:cNvCxnSpPr/>
            <p:nvPr/>
          </p:nvCxnSpPr>
          <p:spPr>
            <a:xfrm>
              <a:off x="7166653" y="2766245"/>
              <a:ext cx="2076600" cy="0"/>
            </a:xfrm>
            <a:prstGeom prst="straightConnector1">
              <a:avLst/>
            </a:prstGeom>
            <a:noFill/>
            <a:ln w="28575" cap="flat" cmpd="sng">
              <a:solidFill>
                <a:schemeClr val="dk2"/>
              </a:solidFill>
              <a:prstDash val="solid"/>
              <a:round/>
              <a:headEnd type="none" w="med" len="med"/>
              <a:tailEnd type="triangle" w="med" len="med"/>
            </a:ln>
          </p:spPr>
        </p:cxnSp>
        <p:sp>
          <p:nvSpPr>
            <p:cNvPr id="332" name="Google Shape;332;p33"/>
            <p:cNvSpPr txBox="1"/>
            <p:nvPr/>
          </p:nvSpPr>
          <p:spPr>
            <a:xfrm rot="58589">
              <a:off x="7160555" y="2261166"/>
              <a:ext cx="1865971" cy="55388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Instruções</a:t>
              </a:r>
              <a:endParaRPr sz="2200">
                <a:solidFill>
                  <a:schemeClr val="dk1"/>
                </a:solidFill>
                <a:latin typeface="Montserrat Medium"/>
                <a:ea typeface="Montserrat Medium"/>
                <a:cs typeface="Montserrat Medium"/>
                <a:sym typeface="Montserrat Medium"/>
              </a:endParaRPr>
            </a:p>
          </p:txBody>
        </p:sp>
      </p:grpSp>
      <p:grpSp>
        <p:nvGrpSpPr>
          <p:cNvPr id="333" name="Google Shape;333;p33"/>
          <p:cNvGrpSpPr/>
          <p:nvPr/>
        </p:nvGrpSpPr>
        <p:grpSpPr>
          <a:xfrm>
            <a:off x="7379900" y="3568775"/>
            <a:ext cx="2226900" cy="1599332"/>
            <a:chOff x="7379900" y="3568775"/>
            <a:chExt cx="2226900" cy="1599332"/>
          </a:xfrm>
        </p:grpSpPr>
        <p:cxnSp>
          <p:nvCxnSpPr>
            <p:cNvPr id="334" name="Google Shape;334;p33"/>
            <p:cNvCxnSpPr/>
            <p:nvPr/>
          </p:nvCxnSpPr>
          <p:spPr>
            <a:xfrm flipH="1">
              <a:off x="7379900" y="3568775"/>
              <a:ext cx="2226900" cy="1407000"/>
            </a:xfrm>
            <a:prstGeom prst="straightConnector1">
              <a:avLst/>
            </a:prstGeom>
            <a:noFill/>
            <a:ln w="28575" cap="flat" cmpd="sng">
              <a:solidFill>
                <a:schemeClr val="dk2"/>
              </a:solidFill>
              <a:prstDash val="solid"/>
              <a:round/>
              <a:headEnd type="none" w="med" len="med"/>
              <a:tailEnd type="triangle" w="med" len="med"/>
            </a:ln>
          </p:spPr>
        </p:cxnSp>
        <p:sp>
          <p:nvSpPr>
            <p:cNvPr id="335" name="Google Shape;335;p33"/>
            <p:cNvSpPr txBox="1"/>
            <p:nvPr/>
          </p:nvSpPr>
          <p:spPr>
            <a:xfrm rot="-2011900">
              <a:off x="7739841" y="4144991"/>
              <a:ext cx="1866046" cy="5537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Resposta</a:t>
              </a:r>
              <a:endParaRPr sz="2200">
                <a:solidFill>
                  <a:schemeClr val="dk1"/>
                </a:solidFill>
                <a:latin typeface="Montserrat Medium"/>
                <a:ea typeface="Montserrat Medium"/>
                <a:cs typeface="Montserrat Medium"/>
                <a:sym typeface="Montserrat Medium"/>
              </a:endParaRPr>
            </a:p>
          </p:txBody>
        </p:sp>
      </p:grpSp>
      <p:grpSp>
        <p:nvGrpSpPr>
          <p:cNvPr id="336" name="Google Shape;336;p33"/>
          <p:cNvGrpSpPr/>
          <p:nvPr/>
        </p:nvGrpSpPr>
        <p:grpSpPr>
          <a:xfrm>
            <a:off x="2860600" y="4379400"/>
            <a:ext cx="2329500" cy="1075649"/>
            <a:chOff x="2860600" y="4379400"/>
            <a:chExt cx="2329500" cy="1075649"/>
          </a:xfrm>
        </p:grpSpPr>
        <p:cxnSp>
          <p:nvCxnSpPr>
            <p:cNvPr id="337" name="Google Shape;337;p33"/>
            <p:cNvCxnSpPr/>
            <p:nvPr/>
          </p:nvCxnSpPr>
          <p:spPr>
            <a:xfrm rot="10800000">
              <a:off x="2860600" y="4379400"/>
              <a:ext cx="2329500" cy="605700"/>
            </a:xfrm>
            <a:prstGeom prst="straightConnector1">
              <a:avLst/>
            </a:prstGeom>
            <a:noFill/>
            <a:ln w="28575" cap="flat" cmpd="sng">
              <a:solidFill>
                <a:schemeClr val="dk2"/>
              </a:solidFill>
              <a:prstDash val="solid"/>
              <a:round/>
              <a:headEnd type="none" w="med" len="med"/>
              <a:tailEnd type="triangle" w="med" len="med"/>
            </a:ln>
          </p:spPr>
        </p:cxnSp>
        <p:sp>
          <p:nvSpPr>
            <p:cNvPr id="338" name="Google Shape;338;p33"/>
            <p:cNvSpPr txBox="1"/>
            <p:nvPr/>
          </p:nvSpPr>
          <p:spPr>
            <a:xfrm rot="832703">
              <a:off x="2962108" y="4662307"/>
              <a:ext cx="2059936" cy="55378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Visualização</a:t>
              </a:r>
              <a:endParaRPr sz="2200">
                <a:solidFill>
                  <a:schemeClr val="dk1"/>
                </a:solidFill>
                <a:latin typeface="Montserrat Medium"/>
                <a:ea typeface="Montserrat Medium"/>
                <a:cs typeface="Montserrat Medium"/>
                <a:sym typeface="Montserrat Medium"/>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pic>
        <p:nvPicPr>
          <p:cNvPr id="344" name="Google Shape;344;p34"/>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45" name="Google Shape;345;p34"/>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Visual Studio Code</a:t>
            </a:r>
            <a:endParaRPr sz="3600">
              <a:latin typeface="Montserrat"/>
              <a:ea typeface="Montserrat"/>
              <a:cs typeface="Montserrat"/>
              <a:sym typeface="Montserrat"/>
            </a:endParaRPr>
          </a:p>
        </p:txBody>
      </p:sp>
      <p:pic>
        <p:nvPicPr>
          <p:cNvPr id="346" name="Google Shape;346;p34"/>
          <p:cNvPicPr preferRelativeResize="0"/>
          <p:nvPr/>
        </p:nvPicPr>
        <p:blipFill rotWithShape="1">
          <a:blip r:embed="rId4">
            <a:alphaModFix/>
          </a:blip>
          <a:srcRect/>
          <a:stretch/>
        </p:blipFill>
        <p:spPr>
          <a:xfrm>
            <a:off x="1289188" y="3223675"/>
            <a:ext cx="1671475" cy="1671475"/>
          </a:xfrm>
          <a:prstGeom prst="rect">
            <a:avLst/>
          </a:prstGeom>
          <a:noFill/>
          <a:ln>
            <a:noFill/>
          </a:ln>
        </p:spPr>
      </p:pic>
      <p:pic>
        <p:nvPicPr>
          <p:cNvPr id="347" name="Google Shape;347;p34"/>
          <p:cNvPicPr preferRelativeResize="0"/>
          <p:nvPr/>
        </p:nvPicPr>
        <p:blipFill rotWithShape="1">
          <a:blip r:embed="rId5">
            <a:alphaModFix/>
          </a:blip>
          <a:srcRect/>
          <a:stretch/>
        </p:blipFill>
        <p:spPr>
          <a:xfrm>
            <a:off x="4991794" y="2830890"/>
            <a:ext cx="2120401" cy="2105594"/>
          </a:xfrm>
          <a:prstGeom prst="rect">
            <a:avLst/>
          </a:prstGeom>
          <a:noFill/>
          <a:ln>
            <a:noFill/>
          </a:ln>
        </p:spPr>
      </p:pic>
      <p:pic>
        <p:nvPicPr>
          <p:cNvPr id="348" name="Google Shape;348;p34"/>
          <p:cNvPicPr preferRelativeResize="0"/>
          <p:nvPr/>
        </p:nvPicPr>
        <p:blipFill rotWithShape="1">
          <a:blip r:embed="rId6">
            <a:alphaModFix/>
          </a:blip>
          <a:srcRect/>
          <a:stretch/>
        </p:blipFill>
        <p:spPr>
          <a:xfrm>
            <a:off x="9380123" y="1935775"/>
            <a:ext cx="1525394" cy="1671475"/>
          </a:xfrm>
          <a:prstGeom prst="rect">
            <a:avLst/>
          </a:prstGeom>
          <a:noFill/>
          <a:ln>
            <a:noFill/>
          </a:ln>
        </p:spPr>
      </p:pic>
      <p:grpSp>
        <p:nvGrpSpPr>
          <p:cNvPr id="349" name="Google Shape;349;p34"/>
          <p:cNvGrpSpPr/>
          <p:nvPr/>
        </p:nvGrpSpPr>
        <p:grpSpPr>
          <a:xfrm>
            <a:off x="2603687" y="2550090"/>
            <a:ext cx="2120388" cy="1316860"/>
            <a:chOff x="2603687" y="2550090"/>
            <a:chExt cx="2120388" cy="1316860"/>
          </a:xfrm>
        </p:grpSpPr>
        <p:cxnSp>
          <p:nvCxnSpPr>
            <p:cNvPr id="350" name="Google Shape;350;p34"/>
            <p:cNvCxnSpPr/>
            <p:nvPr/>
          </p:nvCxnSpPr>
          <p:spPr>
            <a:xfrm rot="10800000" flipH="1">
              <a:off x="2795375" y="3028450"/>
              <a:ext cx="1928700" cy="838500"/>
            </a:xfrm>
            <a:prstGeom prst="straightConnector1">
              <a:avLst/>
            </a:prstGeom>
            <a:noFill/>
            <a:ln w="28575" cap="flat" cmpd="sng">
              <a:solidFill>
                <a:schemeClr val="dk2"/>
              </a:solidFill>
              <a:prstDash val="solid"/>
              <a:round/>
              <a:headEnd type="none" w="med" len="med"/>
              <a:tailEnd type="triangle" w="med" len="med"/>
            </a:ln>
          </p:spPr>
        </p:cxnSp>
        <p:sp>
          <p:nvSpPr>
            <p:cNvPr id="351" name="Google Shape;351;p34"/>
            <p:cNvSpPr txBox="1"/>
            <p:nvPr/>
          </p:nvSpPr>
          <p:spPr>
            <a:xfrm rot="-1403963">
              <a:off x="2636912" y="2897835"/>
              <a:ext cx="1865850" cy="554011"/>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Código</a:t>
              </a:r>
              <a:endParaRPr sz="2200">
                <a:solidFill>
                  <a:schemeClr val="dk1"/>
                </a:solidFill>
                <a:latin typeface="Montserrat Medium"/>
                <a:ea typeface="Montserrat Medium"/>
                <a:cs typeface="Montserrat Medium"/>
                <a:sym typeface="Montserrat Medium"/>
              </a:endParaRPr>
            </a:p>
          </p:txBody>
        </p:sp>
      </p:grpSp>
      <p:grpSp>
        <p:nvGrpSpPr>
          <p:cNvPr id="352" name="Google Shape;352;p34"/>
          <p:cNvGrpSpPr/>
          <p:nvPr/>
        </p:nvGrpSpPr>
        <p:grpSpPr>
          <a:xfrm>
            <a:off x="7155890" y="2245307"/>
            <a:ext cx="2087363" cy="585600"/>
            <a:chOff x="7155890" y="2245307"/>
            <a:chExt cx="2087363" cy="585600"/>
          </a:xfrm>
        </p:grpSpPr>
        <p:cxnSp>
          <p:nvCxnSpPr>
            <p:cNvPr id="353" name="Google Shape;353;p34"/>
            <p:cNvCxnSpPr/>
            <p:nvPr/>
          </p:nvCxnSpPr>
          <p:spPr>
            <a:xfrm>
              <a:off x="7166653" y="2766245"/>
              <a:ext cx="2076600" cy="0"/>
            </a:xfrm>
            <a:prstGeom prst="straightConnector1">
              <a:avLst/>
            </a:prstGeom>
            <a:noFill/>
            <a:ln w="28575" cap="flat" cmpd="sng">
              <a:solidFill>
                <a:schemeClr val="dk2"/>
              </a:solidFill>
              <a:prstDash val="solid"/>
              <a:round/>
              <a:headEnd type="none" w="med" len="med"/>
              <a:tailEnd type="triangle" w="med" len="med"/>
            </a:ln>
          </p:spPr>
        </p:cxnSp>
        <p:sp>
          <p:nvSpPr>
            <p:cNvPr id="354" name="Google Shape;354;p34"/>
            <p:cNvSpPr txBox="1"/>
            <p:nvPr/>
          </p:nvSpPr>
          <p:spPr>
            <a:xfrm rot="58589">
              <a:off x="7160555" y="2261166"/>
              <a:ext cx="1865971" cy="553883"/>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Instruções</a:t>
              </a:r>
              <a:endParaRPr sz="2200">
                <a:solidFill>
                  <a:schemeClr val="dk1"/>
                </a:solidFill>
                <a:latin typeface="Montserrat Medium"/>
                <a:ea typeface="Montserrat Medium"/>
                <a:cs typeface="Montserrat Medium"/>
                <a:sym typeface="Montserrat Medium"/>
              </a:endParaRPr>
            </a:p>
          </p:txBody>
        </p:sp>
      </p:grpSp>
      <p:grpSp>
        <p:nvGrpSpPr>
          <p:cNvPr id="355" name="Google Shape;355;p34"/>
          <p:cNvGrpSpPr/>
          <p:nvPr/>
        </p:nvGrpSpPr>
        <p:grpSpPr>
          <a:xfrm>
            <a:off x="7379900" y="3568775"/>
            <a:ext cx="2226900" cy="1599332"/>
            <a:chOff x="7379900" y="3568775"/>
            <a:chExt cx="2226900" cy="1599332"/>
          </a:xfrm>
        </p:grpSpPr>
        <p:cxnSp>
          <p:nvCxnSpPr>
            <p:cNvPr id="356" name="Google Shape;356;p34"/>
            <p:cNvCxnSpPr/>
            <p:nvPr/>
          </p:nvCxnSpPr>
          <p:spPr>
            <a:xfrm flipH="1">
              <a:off x="7379900" y="3568775"/>
              <a:ext cx="2226900" cy="1407000"/>
            </a:xfrm>
            <a:prstGeom prst="straightConnector1">
              <a:avLst/>
            </a:prstGeom>
            <a:noFill/>
            <a:ln w="28575" cap="flat" cmpd="sng">
              <a:solidFill>
                <a:schemeClr val="dk2"/>
              </a:solidFill>
              <a:prstDash val="solid"/>
              <a:round/>
              <a:headEnd type="none" w="med" len="med"/>
              <a:tailEnd type="triangle" w="med" len="med"/>
            </a:ln>
          </p:spPr>
        </p:cxnSp>
        <p:sp>
          <p:nvSpPr>
            <p:cNvPr id="357" name="Google Shape;357;p34"/>
            <p:cNvSpPr txBox="1"/>
            <p:nvPr/>
          </p:nvSpPr>
          <p:spPr>
            <a:xfrm rot="-2011900">
              <a:off x="7739841" y="4144991"/>
              <a:ext cx="1866046" cy="55373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Resposta</a:t>
              </a:r>
              <a:endParaRPr sz="2200">
                <a:solidFill>
                  <a:schemeClr val="dk1"/>
                </a:solidFill>
                <a:latin typeface="Montserrat Medium"/>
                <a:ea typeface="Montserrat Medium"/>
                <a:cs typeface="Montserrat Medium"/>
                <a:sym typeface="Montserrat Medium"/>
              </a:endParaRPr>
            </a:p>
          </p:txBody>
        </p:sp>
      </p:grpSp>
      <p:grpSp>
        <p:nvGrpSpPr>
          <p:cNvPr id="358" name="Google Shape;358;p34"/>
          <p:cNvGrpSpPr/>
          <p:nvPr/>
        </p:nvGrpSpPr>
        <p:grpSpPr>
          <a:xfrm>
            <a:off x="2860600" y="4379400"/>
            <a:ext cx="2329500" cy="1075649"/>
            <a:chOff x="2860600" y="4379400"/>
            <a:chExt cx="2329500" cy="1075649"/>
          </a:xfrm>
        </p:grpSpPr>
        <p:cxnSp>
          <p:nvCxnSpPr>
            <p:cNvPr id="359" name="Google Shape;359;p34"/>
            <p:cNvCxnSpPr/>
            <p:nvPr/>
          </p:nvCxnSpPr>
          <p:spPr>
            <a:xfrm rot="10800000">
              <a:off x="2860600" y="4379400"/>
              <a:ext cx="2329500" cy="605700"/>
            </a:xfrm>
            <a:prstGeom prst="straightConnector1">
              <a:avLst/>
            </a:prstGeom>
            <a:noFill/>
            <a:ln w="28575" cap="flat" cmpd="sng">
              <a:solidFill>
                <a:schemeClr val="dk2"/>
              </a:solidFill>
              <a:prstDash val="solid"/>
              <a:round/>
              <a:headEnd type="none" w="med" len="med"/>
              <a:tailEnd type="triangle" w="med" len="med"/>
            </a:ln>
          </p:spPr>
        </p:cxnSp>
        <p:sp>
          <p:nvSpPr>
            <p:cNvPr id="360" name="Google Shape;360;p34"/>
            <p:cNvSpPr txBox="1"/>
            <p:nvPr/>
          </p:nvSpPr>
          <p:spPr>
            <a:xfrm rot="832703">
              <a:off x="2962108" y="4662307"/>
              <a:ext cx="2059936" cy="553784"/>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2200">
                  <a:solidFill>
                    <a:schemeClr val="dk1"/>
                  </a:solidFill>
                  <a:latin typeface="Montserrat Medium"/>
                  <a:ea typeface="Montserrat Medium"/>
                  <a:cs typeface="Montserrat Medium"/>
                  <a:sym typeface="Montserrat Medium"/>
                </a:rPr>
                <a:t>Visualização</a:t>
              </a:r>
              <a:endParaRPr sz="2200">
                <a:solidFill>
                  <a:schemeClr val="dk1"/>
                </a:solidFill>
                <a:latin typeface="Montserrat Medium"/>
                <a:ea typeface="Montserrat Medium"/>
                <a:cs typeface="Montserrat Medium"/>
                <a:sym typeface="Montserrat Medium"/>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35"/>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67" name="Google Shape;367;p35"/>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Python (sintaxe)</a:t>
            </a:r>
            <a:endParaRPr sz="3600">
              <a:latin typeface="Montserrat"/>
              <a:ea typeface="Montserrat"/>
              <a:cs typeface="Montserrat"/>
              <a:sym typeface="Montserrat"/>
            </a:endParaRPr>
          </a:p>
        </p:txBody>
      </p:sp>
      <p:pic>
        <p:nvPicPr>
          <p:cNvPr id="368" name="Google Shape;368;p35"/>
          <p:cNvPicPr preferRelativeResize="0"/>
          <p:nvPr/>
        </p:nvPicPr>
        <p:blipFill rotWithShape="1">
          <a:blip r:embed="rId4">
            <a:alphaModFix/>
          </a:blip>
          <a:srcRect/>
          <a:stretch/>
        </p:blipFill>
        <p:spPr>
          <a:xfrm>
            <a:off x="2886075" y="1463815"/>
            <a:ext cx="6419850" cy="4324350"/>
          </a:xfrm>
          <a:prstGeom prst="rect">
            <a:avLst/>
          </a:prstGeom>
          <a:noFill/>
          <a:ln>
            <a:noFill/>
          </a:ln>
        </p:spPr>
      </p:pic>
      <p:cxnSp>
        <p:nvCxnSpPr>
          <p:cNvPr id="369" name="Google Shape;369;p35"/>
          <p:cNvCxnSpPr/>
          <p:nvPr/>
        </p:nvCxnSpPr>
        <p:spPr>
          <a:xfrm rot="5400000" flipH="1">
            <a:off x="3881125" y="2353225"/>
            <a:ext cx="1782600" cy="1220700"/>
          </a:xfrm>
          <a:prstGeom prst="bentConnector3">
            <a:avLst>
              <a:gd name="adj1" fmla="val 50000"/>
            </a:avLst>
          </a:prstGeom>
          <a:noFill/>
          <a:ln w="38100" cap="flat" cmpd="sng">
            <a:solidFill>
              <a:srgbClr val="999999"/>
            </a:solidFill>
            <a:prstDash val="solid"/>
            <a:round/>
            <a:headEnd type="none" w="sm" len="sm"/>
            <a:tailEnd type="none" w="sm" len="sm"/>
          </a:ln>
        </p:spPr>
      </p:cxnSp>
      <p:sp>
        <p:nvSpPr>
          <p:cNvPr id="370" name="Google Shape;370;p35"/>
          <p:cNvSpPr txBox="1"/>
          <p:nvPr/>
        </p:nvSpPr>
        <p:spPr>
          <a:xfrm>
            <a:off x="2081100" y="1663275"/>
            <a:ext cx="4241100" cy="461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Montserrat Medium"/>
                <a:ea typeface="Montserrat Medium"/>
                <a:cs typeface="Montserrat Medium"/>
                <a:sym typeface="Montserrat Medium"/>
              </a:rPr>
              <a:t>Função que imprime objetos</a:t>
            </a:r>
            <a:endParaRPr sz="1800" b="0" i="0" u="none" strike="noStrike" cap="none">
              <a:solidFill>
                <a:srgbClr val="000000"/>
              </a:solidFill>
              <a:latin typeface="Montserrat Medium"/>
              <a:ea typeface="Montserrat Medium"/>
              <a:cs typeface="Montserrat Medium"/>
              <a:sym typeface="Montserrat Medium"/>
            </a:endParaRPr>
          </a:p>
        </p:txBody>
      </p:sp>
      <p:cxnSp>
        <p:nvCxnSpPr>
          <p:cNvPr id="371" name="Google Shape;371;p35"/>
          <p:cNvCxnSpPr/>
          <p:nvPr/>
        </p:nvCxnSpPr>
        <p:spPr>
          <a:xfrm rot="10800000" flipH="1">
            <a:off x="6770200" y="1729925"/>
            <a:ext cx="2678100" cy="2151300"/>
          </a:xfrm>
          <a:prstGeom prst="bentConnector3">
            <a:avLst>
              <a:gd name="adj1" fmla="val 0"/>
            </a:avLst>
          </a:prstGeom>
          <a:noFill/>
          <a:ln w="38100" cap="flat" cmpd="sng">
            <a:solidFill>
              <a:srgbClr val="999999"/>
            </a:solidFill>
            <a:prstDash val="solid"/>
            <a:round/>
            <a:headEnd type="none" w="sm" len="sm"/>
            <a:tailEnd type="none" w="sm" len="sm"/>
          </a:ln>
        </p:spPr>
      </p:cxnSp>
      <p:sp>
        <p:nvSpPr>
          <p:cNvPr id="372" name="Google Shape;372;p35"/>
          <p:cNvSpPr txBox="1"/>
          <p:nvPr/>
        </p:nvSpPr>
        <p:spPr>
          <a:xfrm>
            <a:off x="6770200" y="1268225"/>
            <a:ext cx="4241100" cy="461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Montserrat Medium"/>
                <a:ea typeface="Montserrat Medium"/>
                <a:cs typeface="Montserrat Medium"/>
                <a:sym typeface="Montserrat Medium"/>
              </a:rPr>
              <a:t>String (texto)</a:t>
            </a:r>
            <a:endParaRPr sz="1800" b="0" i="0" u="none" strike="noStrike" cap="none">
              <a:solidFill>
                <a:srgbClr val="000000"/>
              </a:solidFill>
              <a:latin typeface="Montserrat Medium"/>
              <a:ea typeface="Montserrat Medium"/>
              <a:cs typeface="Montserrat Medium"/>
              <a:sym typeface="Montserrat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pic>
        <p:nvPicPr>
          <p:cNvPr id="378" name="Google Shape;378;p36"/>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79" name="Google Shape;379;p36"/>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Python (sintaxe)</a:t>
            </a:r>
            <a:endParaRPr sz="3600">
              <a:latin typeface="Montserrat"/>
              <a:ea typeface="Montserrat"/>
              <a:cs typeface="Montserrat"/>
              <a:sym typeface="Montserrat"/>
            </a:endParaRPr>
          </a:p>
        </p:txBody>
      </p:sp>
      <p:pic>
        <p:nvPicPr>
          <p:cNvPr id="380" name="Google Shape;380;p36"/>
          <p:cNvPicPr preferRelativeResize="0"/>
          <p:nvPr/>
        </p:nvPicPr>
        <p:blipFill rotWithShape="1">
          <a:blip r:embed="rId4">
            <a:alphaModFix/>
          </a:blip>
          <a:srcRect/>
          <a:stretch/>
        </p:blipFill>
        <p:spPr>
          <a:xfrm>
            <a:off x="2728450" y="1586775"/>
            <a:ext cx="6735101" cy="4120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37"/>
          <p:cNvSpPr txBox="1"/>
          <p:nvPr/>
        </p:nvSpPr>
        <p:spPr>
          <a:xfrm>
            <a:off x="1299125" y="2786075"/>
            <a:ext cx="7603500" cy="2373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US" sz="1800" b="1">
                <a:solidFill>
                  <a:schemeClr val="dk1"/>
                </a:solidFill>
                <a:latin typeface="Montserrat"/>
                <a:ea typeface="Montserrat"/>
                <a:cs typeface="Montserrat"/>
                <a:sym typeface="Montserrat"/>
              </a:rPr>
              <a:t>Tipos básicos de dados</a:t>
            </a:r>
            <a:endParaRPr sz="18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1800">
                <a:solidFill>
                  <a:schemeClr val="dk1"/>
                </a:solidFill>
                <a:latin typeface="Montserrat"/>
                <a:ea typeface="Montserrat"/>
                <a:cs typeface="Montserrat"/>
                <a:sym typeface="Montserrat"/>
              </a:rPr>
              <a:t>- Textos </a:t>
            </a:r>
            <a:endParaRPr sz="18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1800">
                <a:solidFill>
                  <a:schemeClr val="dk1"/>
                </a:solidFill>
                <a:latin typeface="Montserrat"/>
                <a:ea typeface="Montserrat"/>
                <a:cs typeface="Montserrat"/>
                <a:sym typeface="Montserrat"/>
              </a:rPr>
              <a:t>- Números</a:t>
            </a:r>
            <a:endParaRPr sz="18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1800">
                <a:solidFill>
                  <a:schemeClr val="dk1"/>
                </a:solidFill>
                <a:latin typeface="Montserrat"/>
                <a:ea typeface="Montserrat"/>
                <a:cs typeface="Montserrat"/>
                <a:sym typeface="Montserrat"/>
              </a:rPr>
              <a:t>- Python como uma calculadora</a:t>
            </a:r>
            <a:endParaRPr sz="18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endParaRPr sz="1800">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1800" b="1">
                <a:solidFill>
                  <a:schemeClr val="dk1"/>
                </a:solidFill>
                <a:latin typeface="Montserrat"/>
                <a:ea typeface="Montserrat"/>
                <a:cs typeface="Montserrat"/>
                <a:sym typeface="Montserrat"/>
              </a:rPr>
              <a:t>Variáveis</a:t>
            </a:r>
            <a:endParaRPr sz="1800" b="1">
              <a:solidFill>
                <a:schemeClr val="dk1"/>
              </a:solidFill>
              <a:latin typeface="Montserrat"/>
              <a:ea typeface="Montserrat"/>
              <a:cs typeface="Montserrat"/>
              <a:sym typeface="Montserrat"/>
            </a:endParaRPr>
          </a:p>
          <a:p>
            <a:pPr marL="0" lvl="0" indent="0" algn="l" rtl="0">
              <a:lnSpc>
                <a:spcPct val="115000"/>
              </a:lnSpc>
              <a:spcBef>
                <a:spcPts val="0"/>
              </a:spcBef>
              <a:spcAft>
                <a:spcPts val="0"/>
              </a:spcAft>
              <a:buNone/>
            </a:pPr>
            <a:r>
              <a:rPr lang="en-US" sz="1800">
                <a:solidFill>
                  <a:schemeClr val="dk1"/>
                </a:solidFill>
                <a:latin typeface="Montserrat"/>
                <a:ea typeface="Montserrat"/>
                <a:cs typeface="Montserrat"/>
                <a:sym typeface="Montserrat"/>
              </a:rPr>
              <a:t>- Como armazenar resultados e entradas do usuário</a:t>
            </a:r>
            <a:endParaRPr/>
          </a:p>
        </p:txBody>
      </p:sp>
      <p:pic>
        <p:nvPicPr>
          <p:cNvPr id="387" name="Google Shape;387;p37"/>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388" name="Google Shape;388;p37"/>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Python (sintaxe)</a:t>
            </a:r>
            <a:endParaRPr sz="3600">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8"/>
          <p:cNvSpPr txBox="1"/>
          <p:nvPr/>
        </p:nvSpPr>
        <p:spPr>
          <a:xfrm>
            <a:off x="193175" y="201975"/>
            <a:ext cx="5058000" cy="149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US" sz="6000" b="0" i="0" u="none" strike="noStrike" cap="none">
                <a:solidFill>
                  <a:srgbClr val="000000"/>
                </a:solidFill>
                <a:latin typeface="Montserrat SemiBold"/>
                <a:ea typeface="Montserrat SemiBold"/>
                <a:cs typeface="Montserrat SemiBold"/>
                <a:sym typeface="Montserrat SemiBold"/>
              </a:rPr>
              <a:t>Exercícios</a:t>
            </a:r>
            <a:endParaRPr sz="6000" b="0" i="0" u="none" strike="noStrike" cap="none">
              <a:solidFill>
                <a:srgbClr val="000000"/>
              </a:solidFill>
              <a:latin typeface="Montserrat SemiBold"/>
              <a:ea typeface="Montserrat SemiBold"/>
              <a:cs typeface="Montserrat SemiBold"/>
              <a:sym typeface="Montserrat SemiBold"/>
            </a:endParaRPr>
          </a:p>
          <a:p>
            <a:pPr marL="0" marR="0" lvl="0" indent="0" algn="l" rtl="0">
              <a:lnSpc>
                <a:spcPct val="100000"/>
              </a:lnSpc>
              <a:spcBef>
                <a:spcPts val="0"/>
              </a:spcBef>
              <a:spcAft>
                <a:spcPts val="0"/>
              </a:spcAft>
              <a:buClr>
                <a:srgbClr val="000000"/>
              </a:buClr>
              <a:buSzPts val="6000"/>
              <a:buFont typeface="Arial"/>
              <a:buNone/>
            </a:pPr>
            <a:r>
              <a:rPr lang="en-US" sz="2500">
                <a:latin typeface="Montserrat SemiBold"/>
                <a:ea typeface="Montserrat SemiBold"/>
                <a:cs typeface="Montserrat SemiBold"/>
                <a:sym typeface="Montserrat SemiBold"/>
              </a:rPr>
              <a:t>para aula</a:t>
            </a:r>
            <a:endParaRPr sz="60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39"/>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01" name="Google Shape;401;p39"/>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Exercícios</a:t>
            </a:r>
            <a:endParaRPr sz="3600">
              <a:latin typeface="Montserrat"/>
              <a:ea typeface="Montserrat"/>
              <a:cs typeface="Montserrat"/>
              <a:sym typeface="Montserrat"/>
            </a:endParaRPr>
          </a:p>
        </p:txBody>
      </p:sp>
      <p:sp>
        <p:nvSpPr>
          <p:cNvPr id="402" name="Google Shape;402;p39"/>
          <p:cNvSpPr txBox="1"/>
          <p:nvPr/>
        </p:nvSpPr>
        <p:spPr>
          <a:xfrm>
            <a:off x="739500" y="1552650"/>
            <a:ext cx="10833300" cy="4339619"/>
          </a:xfrm>
          <a:prstGeom prst="rect">
            <a:avLst/>
          </a:prstGeom>
          <a:noFill/>
          <a:ln>
            <a:noFill/>
          </a:ln>
        </p:spPr>
        <p:txBody>
          <a:bodyPr spcFirstLastPara="1" wrap="square" lIns="91425" tIns="91425" rIns="91425" bIns="91425" anchor="t" anchorCtr="0">
            <a:spAutoFit/>
          </a:bodyPr>
          <a:lstStyle/>
          <a:p>
            <a:pPr marL="457200" marR="0" lvl="0" indent="-355600" algn="l" rtl="0">
              <a:lnSpc>
                <a:spcPct val="150000"/>
              </a:lnSpc>
              <a:spcBef>
                <a:spcPts val="0"/>
              </a:spcBef>
              <a:spcAft>
                <a:spcPts val="0"/>
              </a:spcAft>
              <a:buClr>
                <a:srgbClr val="000000"/>
              </a:buClr>
              <a:buSzPts val="2000"/>
              <a:buFont typeface="Montserrat"/>
              <a:buAutoNum type="arabicPeriod"/>
            </a:pPr>
            <a:r>
              <a:rPr lang="en-US" sz="2000" dirty="0" err="1">
                <a:highlight>
                  <a:srgbClr val="FFFF00"/>
                </a:highlight>
                <a:latin typeface="Montserrat"/>
                <a:ea typeface="Montserrat"/>
                <a:cs typeface="Montserrat"/>
                <a:sym typeface="Montserrat"/>
              </a:rPr>
              <a:t>Faça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dê</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bom</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dia</a:t>
            </a:r>
            <a:r>
              <a:rPr lang="en-US" sz="2000" dirty="0">
                <a:highlight>
                  <a:srgbClr val="FFFF00"/>
                </a:highlight>
                <a:latin typeface="Montserrat"/>
                <a:ea typeface="Montserrat"/>
                <a:cs typeface="Montserrat"/>
                <a:sym typeface="Montserrat"/>
              </a:rPr>
              <a:t>;</a:t>
            </a:r>
            <a:endParaRPr sz="2000" b="0" i="0" u="none" strike="noStrike" cap="none" dirty="0">
              <a:solidFill>
                <a:srgbClr val="000000"/>
              </a:solidFill>
              <a:highlight>
                <a:srgbClr val="FFFF00"/>
              </a:highlight>
              <a:latin typeface="Montserrat"/>
              <a:ea typeface="Montserrat"/>
              <a:cs typeface="Montserrat"/>
              <a:sym typeface="Montserrat"/>
            </a:endParaRPr>
          </a:p>
          <a:p>
            <a:pPr marL="457200" marR="0" lvl="0" indent="-355600" algn="l" rtl="0">
              <a:lnSpc>
                <a:spcPct val="150000"/>
              </a:lnSpc>
              <a:spcBef>
                <a:spcPts val="0"/>
              </a:spcBef>
              <a:spcAft>
                <a:spcPts val="0"/>
              </a:spcAft>
              <a:buClr>
                <a:srgbClr val="000000"/>
              </a:buClr>
              <a:buSzPts val="2000"/>
              <a:buFont typeface="Montserrat"/>
              <a:buAutoNum type="arabicPeriod"/>
            </a:pPr>
            <a:r>
              <a:rPr lang="en-US" sz="2000" dirty="0" err="1">
                <a:highlight>
                  <a:srgbClr val="FFFF00"/>
                </a:highlight>
                <a:latin typeface="Montserrat"/>
                <a:ea typeface="Montserrat"/>
                <a:cs typeface="Montserrat"/>
                <a:sym typeface="Montserrat"/>
              </a:rPr>
              <a:t>Faça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de </a:t>
            </a:r>
            <a:r>
              <a:rPr lang="en-US" sz="2000" dirty="0" err="1">
                <a:highlight>
                  <a:srgbClr val="FFFF00"/>
                </a:highlight>
                <a:latin typeface="Montserrat"/>
                <a:ea typeface="Montserrat"/>
                <a:cs typeface="Montserrat"/>
                <a:sym typeface="Montserrat"/>
              </a:rPr>
              <a:t>bom</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dia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pergunta</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nome</a:t>
            </a:r>
            <a:r>
              <a:rPr lang="en-US" sz="2000" dirty="0">
                <a:highlight>
                  <a:srgbClr val="FFFF00"/>
                </a:highlight>
                <a:latin typeface="Montserrat"/>
                <a:ea typeface="Montserrat"/>
                <a:cs typeface="Montserrat"/>
                <a:sym typeface="Montserrat"/>
              </a:rPr>
              <a:t> da </a:t>
            </a:r>
            <a:r>
              <a:rPr lang="en-US" sz="2000" dirty="0" err="1">
                <a:highlight>
                  <a:srgbClr val="FFFF00"/>
                </a:highlight>
                <a:latin typeface="Montserrat"/>
                <a:ea typeface="Montserrat"/>
                <a:cs typeface="Montserrat"/>
                <a:sym typeface="Montserrat"/>
              </a:rPr>
              <a:t>pessoa</a:t>
            </a:r>
            <a:r>
              <a:rPr lang="en-US" sz="2000" dirty="0">
                <a:highlight>
                  <a:srgbClr val="FFFF00"/>
                </a:highlight>
                <a:latin typeface="Montserrat"/>
                <a:ea typeface="Montserrat"/>
                <a:cs typeface="Montserrat"/>
                <a:sym typeface="Montserrat"/>
              </a:rPr>
              <a:t> e </a:t>
            </a:r>
            <a:r>
              <a:rPr lang="en-US" sz="2000" dirty="0" err="1">
                <a:highlight>
                  <a:srgbClr val="FFFF00"/>
                </a:highlight>
                <a:latin typeface="Montserrat"/>
                <a:ea typeface="Montserrat"/>
                <a:cs typeface="Montserrat"/>
                <a:sym typeface="Montserrat"/>
              </a:rPr>
              <a:t>responde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é um </a:t>
            </a:r>
            <a:r>
              <a:rPr lang="en-US" sz="2000" dirty="0" err="1">
                <a:highlight>
                  <a:srgbClr val="FFFF00"/>
                </a:highlight>
                <a:latin typeface="Montserrat"/>
                <a:ea typeface="Montserrat"/>
                <a:cs typeface="Montserrat"/>
                <a:sym typeface="Montserrat"/>
              </a:rPr>
              <a:t>prazer</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conhecer</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ela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citando</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nome</a:t>
            </a:r>
            <a:r>
              <a:rPr lang="en-US" sz="2000" dirty="0">
                <a:highlight>
                  <a:srgbClr val="FFFF00"/>
                </a:highlight>
                <a:latin typeface="Montserrat"/>
                <a:ea typeface="Montserrat"/>
                <a:cs typeface="Montserrat"/>
                <a:sym typeface="Montserrat"/>
              </a:rPr>
              <a:t> da </a:t>
            </a:r>
            <a:r>
              <a:rPr lang="en-US" sz="2000" dirty="0" err="1">
                <a:highlight>
                  <a:srgbClr val="FFFF00"/>
                </a:highlight>
                <a:latin typeface="Montserrat"/>
                <a:ea typeface="Montserrat"/>
                <a:cs typeface="Montserrat"/>
                <a:sym typeface="Montserrat"/>
              </a:rPr>
              <a:t>pessoa</a:t>
            </a:r>
            <a:r>
              <a:rPr lang="en-US" sz="2000" dirty="0">
                <a:latin typeface="Montserrat"/>
                <a:ea typeface="Montserrat"/>
                <a:cs typeface="Montserrat"/>
                <a:sym typeface="Montserrat"/>
              </a:rPr>
              <a:t>.</a:t>
            </a:r>
            <a:endParaRPr sz="2000" dirty="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dirty="0" err="1">
                <a:highlight>
                  <a:srgbClr val="FFFF00"/>
                </a:highlight>
                <a:latin typeface="Montserrat"/>
                <a:ea typeface="Montserrat"/>
                <a:cs typeface="Montserrat"/>
                <a:sym typeface="Montserrat"/>
              </a:rPr>
              <a:t>Crie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uma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história</a:t>
            </a:r>
            <a:r>
              <a:rPr lang="en-US" sz="2000" dirty="0">
                <a:highlight>
                  <a:srgbClr val="FFFF00"/>
                </a:highlight>
                <a:latin typeface="Montserrat"/>
                <a:ea typeface="Montserrat"/>
                <a:cs typeface="Montserrat"/>
                <a:sym typeface="Montserrat"/>
              </a:rPr>
              <a:t> simples. </a:t>
            </a:r>
            <a:r>
              <a:rPr lang="en-US" sz="2000" dirty="0" err="1">
                <a:highlight>
                  <a:srgbClr val="FFFF00"/>
                </a:highlight>
                <a:latin typeface="Montserrat"/>
                <a:ea typeface="Montserrat"/>
                <a:cs typeface="Montserrat"/>
                <a:sym typeface="Montserrat"/>
              </a:rPr>
              <a:t>Adicione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essa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história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em</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 </a:t>
            </a:r>
            <a:r>
              <a:rPr lang="en-US" sz="2000" dirty="0" err="1">
                <a:highlight>
                  <a:srgbClr val="FFFF00"/>
                </a:highlight>
                <a:latin typeface="Montserrat"/>
                <a:ea typeface="Montserrat"/>
                <a:cs typeface="Montserrat"/>
                <a:sym typeface="Montserrat"/>
              </a:rPr>
              <a:t>cada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parágrafo</a:t>
            </a:r>
            <a:r>
              <a:rPr lang="en-US" sz="2000" dirty="0">
                <a:highlight>
                  <a:srgbClr val="FFFF00"/>
                </a:highlight>
                <a:latin typeface="Montserrat"/>
                <a:ea typeface="Montserrat"/>
                <a:cs typeface="Montserrat"/>
                <a:sym typeface="Montserrat"/>
              </a:rPr>
              <a:t>, a </a:t>
            </a:r>
            <a:r>
              <a:rPr lang="en-US" sz="2000" dirty="0" err="1">
                <a:highlight>
                  <a:srgbClr val="FFFF00"/>
                </a:highlight>
                <a:latin typeface="Montserrat"/>
                <a:ea typeface="Montserrat"/>
                <a:cs typeface="Montserrat"/>
                <a:sym typeface="Montserrat"/>
              </a:rPr>
              <a:t>história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deve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aguardar</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usuário</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apertar</a:t>
            </a:r>
            <a:r>
              <a:rPr lang="en-US" sz="2000" dirty="0">
                <a:highlight>
                  <a:srgbClr val="FFFF00"/>
                </a:highlight>
                <a:latin typeface="Montserrat"/>
                <a:ea typeface="Montserrat"/>
                <a:cs typeface="Montserrat"/>
                <a:sym typeface="Montserrat"/>
              </a:rPr>
              <a:t> “enter” para </a:t>
            </a:r>
            <a:r>
              <a:rPr lang="en-US" sz="2000" dirty="0" err="1">
                <a:highlight>
                  <a:srgbClr val="FFFF00"/>
                </a:highlight>
                <a:latin typeface="Montserrat"/>
                <a:ea typeface="Montserrat"/>
                <a:cs typeface="Montserrat"/>
                <a:sym typeface="Montserrat"/>
              </a:rPr>
              <a:t>dar</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continuidade</a:t>
            </a:r>
            <a:r>
              <a:rPr lang="en-US" sz="2000" dirty="0">
                <a:highlight>
                  <a:srgbClr val="FFFF00"/>
                </a:highlight>
                <a:latin typeface="Montserrat"/>
                <a:ea typeface="Montserrat"/>
                <a:cs typeface="Montserrat"/>
                <a:sym typeface="Montserrat"/>
              </a:rPr>
              <a:t>.</a:t>
            </a:r>
            <a:endParaRPr sz="2000" dirty="0">
              <a:highlight>
                <a:srgbClr val="FFFF00"/>
              </a:highlight>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dirty="0" err="1">
                <a:highlight>
                  <a:srgbClr val="FFFF00"/>
                </a:highlight>
                <a:latin typeface="Montserrat"/>
                <a:ea typeface="Montserrat"/>
                <a:cs typeface="Montserrat"/>
                <a:sym typeface="Montserrat"/>
              </a:rPr>
              <a:t>Faça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receba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número</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inteiro</a:t>
            </a:r>
            <a:r>
              <a:rPr lang="en-US" sz="2000" dirty="0">
                <a:highlight>
                  <a:srgbClr val="FFFF00"/>
                </a:highlight>
                <a:latin typeface="Montserrat"/>
                <a:ea typeface="Montserrat"/>
                <a:cs typeface="Montserrat"/>
                <a:sym typeface="Montserrat"/>
              </a:rPr>
              <a:t> e </a:t>
            </a:r>
            <a:r>
              <a:rPr lang="en-US" sz="2000" dirty="0" err="1">
                <a:highlight>
                  <a:srgbClr val="FFFF00"/>
                </a:highlight>
                <a:latin typeface="Montserrat"/>
                <a:ea typeface="Montserrat"/>
                <a:cs typeface="Montserrat"/>
                <a:sym typeface="Montserrat"/>
              </a:rPr>
              <a:t>calcule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sua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raiz</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quadrada</a:t>
            </a:r>
            <a:r>
              <a:rPr lang="en-US" sz="2000" dirty="0">
                <a:highlight>
                  <a:srgbClr val="FFFF00"/>
                </a:highlight>
                <a:latin typeface="Montserrat"/>
                <a:ea typeface="Montserrat"/>
                <a:cs typeface="Montserrat"/>
                <a:sym typeface="Montserrat"/>
              </a:rPr>
              <a:t> e </a:t>
            </a:r>
            <a:r>
              <a:rPr lang="en-US" sz="2000" dirty="0" err="1">
                <a:highlight>
                  <a:srgbClr val="FFFF00"/>
                </a:highlight>
                <a:latin typeface="Montserrat"/>
                <a:ea typeface="Montserrat"/>
                <a:cs typeface="Montserrat"/>
                <a:sym typeface="Montserrat"/>
              </a:rPr>
              <a:t>exiba</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resultado</a:t>
            </a:r>
            <a:r>
              <a:rPr lang="en-US" sz="2000" dirty="0">
                <a:highlight>
                  <a:srgbClr val="FFFF00"/>
                </a:highlight>
                <a:latin typeface="Montserrat"/>
                <a:ea typeface="Montserrat"/>
                <a:cs typeface="Montserrat"/>
                <a:sym typeface="Montserrat"/>
              </a:rPr>
              <a:t>.</a:t>
            </a:r>
            <a:endParaRPr sz="2000" dirty="0">
              <a:highlight>
                <a:srgbClr val="FFFF00"/>
              </a:highlight>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dirty="0" err="1">
                <a:latin typeface="Montserrat"/>
                <a:ea typeface="Montserrat"/>
                <a:cs typeface="Montserrat"/>
                <a:sym typeface="Montserrat"/>
              </a:rPr>
              <a:t>Faça</a:t>
            </a:r>
            <a:r>
              <a:rPr lang="en-US" sz="2000" dirty="0">
                <a:latin typeface="Montserrat"/>
                <a:ea typeface="Montserrat"/>
                <a:cs typeface="Montserrat"/>
                <a:sym typeface="Montserrat"/>
              </a:rPr>
              <a:t> um </a:t>
            </a:r>
            <a:r>
              <a:rPr lang="en-US" sz="2000" dirty="0" err="1">
                <a:latin typeface="Montserrat"/>
                <a:ea typeface="Montserrat"/>
                <a:cs typeface="Montserrat"/>
                <a:sym typeface="Montserrat"/>
              </a:rPr>
              <a:t>programa</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que</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exiba</a:t>
            </a:r>
            <a:r>
              <a:rPr lang="en-US" sz="2000" dirty="0">
                <a:latin typeface="Montserrat"/>
                <a:ea typeface="Montserrat"/>
                <a:cs typeface="Montserrat"/>
                <a:sym typeface="Montserrat"/>
              </a:rPr>
              <a:t> o dobro de um </a:t>
            </a:r>
            <a:r>
              <a:rPr lang="en-US" sz="2000" dirty="0" err="1">
                <a:latin typeface="Montserrat"/>
                <a:ea typeface="Montserrat"/>
                <a:cs typeface="Montserrat"/>
                <a:sym typeface="Montserrat"/>
              </a:rPr>
              <a:t>número</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inserido</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pelo</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usuário</a:t>
            </a:r>
            <a:r>
              <a:rPr lang="en-US" sz="2000" dirty="0">
                <a:latin typeface="Montserrat"/>
                <a:ea typeface="Montserrat"/>
                <a:cs typeface="Montserrat"/>
                <a:sym typeface="Montserrat"/>
              </a:rPr>
              <a:t>.</a:t>
            </a:r>
            <a:endParaRPr sz="2000" dirty="0">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pic>
        <p:nvPicPr>
          <p:cNvPr id="408" name="Google Shape;408;p40"/>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09" name="Google Shape;409;p40"/>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Exercícios</a:t>
            </a:r>
            <a:endParaRPr sz="3600">
              <a:latin typeface="Montserrat"/>
              <a:ea typeface="Montserrat"/>
              <a:cs typeface="Montserrat"/>
              <a:sym typeface="Montserrat"/>
            </a:endParaRPr>
          </a:p>
        </p:txBody>
      </p:sp>
      <p:sp>
        <p:nvSpPr>
          <p:cNvPr id="410" name="Google Shape;410;p40"/>
          <p:cNvSpPr txBox="1"/>
          <p:nvPr/>
        </p:nvSpPr>
        <p:spPr>
          <a:xfrm>
            <a:off x="739500" y="2467050"/>
            <a:ext cx="10833300" cy="41481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1500"/>
              </a:spcBef>
              <a:spcAft>
                <a:spcPts val="0"/>
              </a:spcAft>
              <a:buNone/>
            </a:pPr>
            <a:r>
              <a:rPr lang="en-US" sz="1000" b="1">
                <a:solidFill>
                  <a:schemeClr val="dk1"/>
                </a:solidFill>
                <a:latin typeface="Montserrat"/>
                <a:ea typeface="Montserrat"/>
                <a:cs typeface="Montserrat"/>
                <a:sym typeface="Montserrat"/>
              </a:rPr>
              <a:t>Ingredientes</a:t>
            </a:r>
            <a:r>
              <a:rPr lang="en-US"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a:p>
            <a:pPr marL="457200" lvl="0" indent="-292100" algn="l" rtl="0">
              <a:lnSpc>
                <a:spcPct val="100000"/>
              </a:lnSpc>
              <a:spcBef>
                <a:spcPts val="150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2 xícaras de farinha de trigo</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 xícara de açúcar</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1/2 xícara de cacau em pó</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 colher de chá de fermento em pó</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 colher de chá de bicarbonato de sódio</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1/2 colher de chá de sal</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2 ovos</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 xícara de leite</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1/2 xícara de óleo vegetal</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2 colheres de chá de extrato de baunilha</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Char char="●"/>
            </a:pPr>
            <a:r>
              <a:rPr lang="en-US" sz="1000">
                <a:solidFill>
                  <a:schemeClr val="dk1"/>
                </a:solidFill>
                <a:latin typeface="Montserrat"/>
                <a:ea typeface="Montserrat"/>
                <a:cs typeface="Montserrat"/>
                <a:sym typeface="Montserrat"/>
              </a:rPr>
              <a:t>1 xícara de água fervente</a:t>
            </a:r>
            <a:endParaRPr sz="1000">
              <a:solidFill>
                <a:schemeClr val="dk1"/>
              </a:solidFill>
              <a:latin typeface="Montserrat"/>
              <a:ea typeface="Montserrat"/>
              <a:cs typeface="Montserrat"/>
              <a:sym typeface="Montserrat"/>
            </a:endParaRPr>
          </a:p>
          <a:p>
            <a:pPr marL="0" lvl="0" indent="0" algn="l" rtl="0">
              <a:lnSpc>
                <a:spcPct val="100000"/>
              </a:lnSpc>
              <a:spcBef>
                <a:spcPts val="1500"/>
              </a:spcBef>
              <a:spcAft>
                <a:spcPts val="0"/>
              </a:spcAft>
              <a:buNone/>
            </a:pPr>
            <a:r>
              <a:rPr lang="en-US" sz="1000" b="1">
                <a:solidFill>
                  <a:schemeClr val="dk1"/>
                </a:solidFill>
                <a:latin typeface="Montserrat"/>
                <a:ea typeface="Montserrat"/>
                <a:cs typeface="Montserrat"/>
                <a:sym typeface="Montserrat"/>
              </a:rPr>
              <a:t>Modo de preparo:</a:t>
            </a:r>
            <a:endParaRPr sz="1000" b="1">
              <a:solidFill>
                <a:schemeClr val="dk1"/>
              </a:solidFill>
              <a:latin typeface="Montserrat"/>
              <a:ea typeface="Montserrat"/>
              <a:cs typeface="Montserrat"/>
              <a:sym typeface="Montserrat"/>
            </a:endParaRPr>
          </a:p>
          <a:p>
            <a:pPr marL="457200" lvl="0" indent="-292100" algn="l" rtl="0">
              <a:lnSpc>
                <a:spcPct val="100000"/>
              </a:lnSpc>
              <a:spcBef>
                <a:spcPts val="150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Pré-aqueça o forno a 180°C. Unte uma forma de bolo com manteiga e farinha, ou forre-a com papel manteiga.</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Em uma tigela grande, peneire a farinha de trigo, o açúcar, o cacau em pó, o fermento em pó, o bicarbonato de sódio e o sal. Misture bem.</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Em outra tigela, bata os ovos levemente. Adicione o leite, o óleo vegetal e o extrato de baunilha. Misture bem.</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Despeje os ingredientes líquidos na mistura de ingredientes secos e mexa até que tudo esteja bem combinado.</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Adicione a água fervente à massa e misture até que a massa fique homogênea. A massa ficará líquida, mas é normal.</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Despeje a massa na forma preparada e leve ao forno pré-aquecido.</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Asse por cerca de 30-35 minutos, ou até que um palito inserido no centro do bolo saia limpo.</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Retire o bolo do forno e deixe esfriar na forma por alguns minutos. Em seguida, transfira para uma grade de resfriamento para esfriar completamente.</a:t>
            </a:r>
            <a:endParaRPr sz="1000">
              <a:solidFill>
                <a:schemeClr val="dk1"/>
              </a:solidFill>
              <a:latin typeface="Montserrat"/>
              <a:ea typeface="Montserrat"/>
              <a:cs typeface="Montserrat"/>
              <a:sym typeface="Montserrat"/>
            </a:endParaRPr>
          </a:p>
          <a:p>
            <a:pPr marL="457200" lvl="0" indent="-292100" algn="l" rtl="0">
              <a:lnSpc>
                <a:spcPct val="100000"/>
              </a:lnSpc>
              <a:spcBef>
                <a:spcPts val="0"/>
              </a:spcBef>
              <a:spcAft>
                <a:spcPts val="0"/>
              </a:spcAft>
              <a:buClr>
                <a:schemeClr val="dk1"/>
              </a:buClr>
              <a:buSzPts val="1000"/>
              <a:buFont typeface="Montserrat"/>
              <a:buAutoNum type="arabicPeriod"/>
            </a:pPr>
            <a:r>
              <a:rPr lang="en-US" sz="1000">
                <a:solidFill>
                  <a:schemeClr val="dk1"/>
                </a:solidFill>
                <a:latin typeface="Montserrat"/>
                <a:ea typeface="Montserrat"/>
                <a:cs typeface="Montserrat"/>
                <a:sym typeface="Montserrat"/>
              </a:rPr>
              <a:t>Depois de esfriar, você pode servir o bolo simples ou decorá-lo com cobertura de sua preferência, como ganache de chocolate ou glacê de chocolate.</a:t>
            </a:r>
            <a:endParaRPr sz="1000">
              <a:solidFill>
                <a:schemeClr val="dk1"/>
              </a:solidFill>
              <a:latin typeface="Montserrat"/>
              <a:ea typeface="Montserrat"/>
              <a:cs typeface="Montserrat"/>
              <a:sym typeface="Montserrat"/>
            </a:endParaRPr>
          </a:p>
        </p:txBody>
      </p:sp>
      <p:sp>
        <p:nvSpPr>
          <p:cNvPr id="411" name="Google Shape;411;p40"/>
          <p:cNvSpPr txBox="1"/>
          <p:nvPr/>
        </p:nvSpPr>
        <p:spPr>
          <a:xfrm>
            <a:off x="739500" y="1306325"/>
            <a:ext cx="10833300" cy="954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2000">
                <a:solidFill>
                  <a:schemeClr val="dk1"/>
                </a:solidFill>
                <a:latin typeface="Montserrat"/>
                <a:ea typeface="Montserrat"/>
                <a:cs typeface="Montserrat"/>
                <a:sym typeface="Montserrat"/>
              </a:rPr>
              <a:t>6. Faça um programa que exiba a seguinte receita de bolo de chocolate. Exiba um item por vez, conforme a pessoa aperte “enter”.</a:t>
            </a:r>
            <a:endParaRPr sz="2000">
              <a:solidFill>
                <a:schemeClr val="dk1"/>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41"/>
          <p:cNvSpPr txBox="1"/>
          <p:nvPr/>
        </p:nvSpPr>
        <p:spPr>
          <a:xfrm>
            <a:off x="193175" y="201975"/>
            <a:ext cx="5058000" cy="203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US" sz="6000">
                <a:latin typeface="Montserrat SemiBold"/>
                <a:ea typeface="Montserrat SemiBold"/>
                <a:cs typeface="Montserrat SemiBold"/>
                <a:sym typeface="Montserrat SemiBold"/>
              </a:rPr>
              <a:t>Estruturas de controle</a:t>
            </a:r>
            <a:endParaRPr sz="6000" b="0" i="0" u="none" strike="noStrike" cap="none">
              <a:solidFill>
                <a:srgbClr val="000000"/>
              </a:solidFill>
              <a:latin typeface="Montserrat SemiBold"/>
              <a:ea typeface="Montserrat SemiBold"/>
              <a:cs typeface="Montserrat SemiBold"/>
              <a:sym typeface="Montserrat SemiBold"/>
            </a:endParaRPr>
          </a:p>
        </p:txBody>
      </p:sp>
      <p:sp>
        <p:nvSpPr>
          <p:cNvPr id="418" name="Google Shape;418;p41"/>
          <p:cNvSpPr txBox="1"/>
          <p:nvPr/>
        </p:nvSpPr>
        <p:spPr>
          <a:xfrm>
            <a:off x="345575" y="4171000"/>
            <a:ext cx="2894700" cy="16623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n-US" sz="2400">
                <a:latin typeface="Montserrat"/>
                <a:ea typeface="Montserrat"/>
                <a:cs typeface="Montserrat"/>
                <a:sym typeface="Montserrat"/>
              </a:rPr>
              <a:t>if, elif, else</a:t>
            </a:r>
            <a:endParaRPr sz="2400" b="0" i="0" u="none" strike="noStrike" cap="none">
              <a:solidFill>
                <a:srgbClr val="000000"/>
              </a:solidFill>
              <a:latin typeface="Montserrat"/>
              <a:ea typeface="Montserrat"/>
              <a:cs typeface="Montserrat"/>
              <a:sym typeface="Montserrat"/>
            </a:endParaRPr>
          </a:p>
          <a:p>
            <a:pPr marL="0" marR="0" lvl="0" indent="0" algn="l" rtl="0">
              <a:lnSpc>
                <a:spcPct val="150000"/>
              </a:lnSpc>
              <a:spcBef>
                <a:spcPts val="0"/>
              </a:spcBef>
              <a:spcAft>
                <a:spcPts val="0"/>
              </a:spcAft>
              <a:buClr>
                <a:srgbClr val="000000"/>
              </a:buClr>
              <a:buSzPts val="2400"/>
              <a:buFont typeface="Arial"/>
              <a:buNone/>
            </a:pPr>
            <a:endParaRPr sz="2400">
              <a:latin typeface="Montserrat"/>
              <a:ea typeface="Montserrat"/>
              <a:cs typeface="Montserrat"/>
              <a:sym typeface="Montserrat"/>
            </a:endParaRPr>
          </a:p>
          <a:p>
            <a:pPr marL="0" marR="0" lvl="0" indent="0" algn="l" rtl="0">
              <a:lnSpc>
                <a:spcPct val="150000"/>
              </a:lnSpc>
              <a:spcBef>
                <a:spcPts val="0"/>
              </a:spcBef>
              <a:spcAft>
                <a:spcPts val="0"/>
              </a:spcAft>
              <a:buClr>
                <a:srgbClr val="000000"/>
              </a:buClr>
              <a:buSzPts val="2400"/>
              <a:buFont typeface="Arial"/>
              <a:buNone/>
            </a:pPr>
            <a:r>
              <a:rPr lang="en-US" sz="2400">
                <a:latin typeface="Montserrat"/>
                <a:ea typeface="Montserrat"/>
                <a:cs typeface="Montserrat"/>
                <a:sym typeface="Montserrat"/>
              </a:rPr>
              <a:t>for, while</a:t>
            </a:r>
            <a:endParaRPr sz="2400">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42"/>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25" name="Google Shape;425;p42"/>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IF</a:t>
            </a:r>
            <a:endParaRPr sz="3600">
              <a:latin typeface="Montserrat"/>
              <a:ea typeface="Montserrat"/>
              <a:cs typeface="Montserrat"/>
              <a:sym typeface="Montserrat"/>
            </a:endParaRPr>
          </a:p>
        </p:txBody>
      </p:sp>
      <p:pic>
        <p:nvPicPr>
          <p:cNvPr id="426" name="Google Shape;426;p42"/>
          <p:cNvPicPr preferRelativeResize="0"/>
          <p:nvPr/>
        </p:nvPicPr>
        <p:blipFill rotWithShape="1">
          <a:blip r:embed="rId4">
            <a:alphaModFix/>
          </a:blip>
          <a:srcRect l="7272" r="7272"/>
          <a:stretch/>
        </p:blipFill>
        <p:spPr>
          <a:xfrm>
            <a:off x="2870125" y="1653848"/>
            <a:ext cx="6191402" cy="355031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432" name="Google Shape;432;p43"/>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33" name="Google Shape;433;p43"/>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IF, ELSE</a:t>
            </a:r>
            <a:endParaRPr sz="3600">
              <a:latin typeface="Montserrat"/>
              <a:ea typeface="Montserrat"/>
              <a:cs typeface="Montserrat"/>
              <a:sym typeface="Montserrat"/>
            </a:endParaRPr>
          </a:p>
        </p:txBody>
      </p:sp>
      <p:pic>
        <p:nvPicPr>
          <p:cNvPr id="434" name="Google Shape;434;p43"/>
          <p:cNvPicPr preferRelativeResize="0"/>
          <p:nvPr/>
        </p:nvPicPr>
        <p:blipFill rotWithShape="1">
          <a:blip r:embed="rId4">
            <a:alphaModFix/>
          </a:blip>
          <a:srcRect t="2181" b="2181"/>
          <a:stretch/>
        </p:blipFill>
        <p:spPr>
          <a:xfrm>
            <a:off x="2870125" y="1653848"/>
            <a:ext cx="6191399" cy="355031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pic>
        <p:nvPicPr>
          <p:cNvPr id="440" name="Google Shape;440;p44"/>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41" name="Google Shape;441;p44"/>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IF, ELIF, ELSE</a:t>
            </a:r>
            <a:endParaRPr sz="3600">
              <a:latin typeface="Montserrat"/>
              <a:ea typeface="Montserrat"/>
              <a:cs typeface="Montserrat"/>
              <a:sym typeface="Montserrat"/>
            </a:endParaRPr>
          </a:p>
        </p:txBody>
      </p:sp>
      <p:pic>
        <p:nvPicPr>
          <p:cNvPr id="442" name="Google Shape;442;p44"/>
          <p:cNvPicPr preferRelativeResize="0"/>
          <p:nvPr/>
        </p:nvPicPr>
        <p:blipFill rotWithShape="1">
          <a:blip r:embed="rId4">
            <a:alphaModFix/>
          </a:blip>
          <a:srcRect t="2117" b="2107"/>
          <a:stretch/>
        </p:blipFill>
        <p:spPr>
          <a:xfrm>
            <a:off x="2631500" y="1517013"/>
            <a:ext cx="6668650" cy="3823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45"/>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49" name="Google Shape;449;p45"/>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Exercícios</a:t>
            </a:r>
            <a:endParaRPr sz="3600">
              <a:latin typeface="Montserrat"/>
              <a:ea typeface="Montserrat"/>
              <a:cs typeface="Montserrat"/>
              <a:sym typeface="Montserrat"/>
            </a:endParaRPr>
          </a:p>
        </p:txBody>
      </p:sp>
      <p:sp>
        <p:nvSpPr>
          <p:cNvPr id="450" name="Google Shape;450;p45"/>
          <p:cNvSpPr txBox="1"/>
          <p:nvPr/>
        </p:nvSpPr>
        <p:spPr>
          <a:xfrm>
            <a:off x="739500" y="1552650"/>
            <a:ext cx="10833300" cy="46485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50000"/>
              </a:lnSpc>
              <a:spcBef>
                <a:spcPts val="0"/>
              </a:spcBef>
              <a:spcAft>
                <a:spcPts val="0"/>
              </a:spcAft>
              <a:buSzPts val="2000"/>
              <a:buFont typeface="Montserrat"/>
              <a:buAutoNum type="arabicPeriod"/>
            </a:pPr>
            <a:r>
              <a:rPr lang="en-US" sz="2000">
                <a:latin typeface="Montserrat"/>
                <a:ea typeface="Montserrat"/>
                <a:cs typeface="Montserrat"/>
                <a:sym typeface="Montserrat"/>
              </a:rPr>
              <a:t>Faça um programa que vende uma garrafa de água:</a:t>
            </a:r>
            <a:endParaRPr sz="2000">
              <a:latin typeface="Montserrat"/>
              <a:ea typeface="Montserrat"/>
              <a:cs typeface="Montserrat"/>
              <a:sym typeface="Montserrat"/>
            </a:endParaRPr>
          </a:p>
          <a:p>
            <a:pPr marL="914400" marR="0" lvl="1" indent="-355600" algn="l" rtl="0">
              <a:lnSpc>
                <a:spcPct val="150000"/>
              </a:lnSpc>
              <a:spcBef>
                <a:spcPts val="0"/>
              </a:spcBef>
              <a:spcAft>
                <a:spcPts val="0"/>
              </a:spcAft>
              <a:buSzPts val="2000"/>
              <a:buFont typeface="Montserrat"/>
              <a:buAutoNum type="alphaLcPeriod"/>
            </a:pPr>
            <a:r>
              <a:rPr lang="en-US" sz="2000">
                <a:latin typeface="Montserrat"/>
                <a:ea typeface="Montserrat"/>
                <a:cs typeface="Montserrat"/>
                <a:sym typeface="Montserrat"/>
              </a:rPr>
              <a:t>Se o cliente escolher água mineral natural, será cobrado R$1,50</a:t>
            </a:r>
            <a:endParaRPr sz="2000">
              <a:latin typeface="Montserrat"/>
              <a:ea typeface="Montserrat"/>
              <a:cs typeface="Montserrat"/>
              <a:sym typeface="Montserrat"/>
            </a:endParaRPr>
          </a:p>
          <a:p>
            <a:pPr marL="914400" marR="0" lvl="1" indent="-355600" algn="l" rtl="0">
              <a:lnSpc>
                <a:spcPct val="150000"/>
              </a:lnSpc>
              <a:spcBef>
                <a:spcPts val="0"/>
              </a:spcBef>
              <a:spcAft>
                <a:spcPts val="0"/>
              </a:spcAft>
              <a:buSzPts val="2000"/>
              <a:buFont typeface="Montserrat"/>
              <a:buAutoNum type="alphaLcPeriod"/>
            </a:pPr>
            <a:r>
              <a:rPr lang="en-US" sz="2000">
                <a:latin typeface="Montserrat"/>
                <a:ea typeface="Montserrat"/>
                <a:cs typeface="Montserrat"/>
                <a:sym typeface="Montserrat"/>
              </a:rPr>
              <a:t>Se o cliente escolher água mineral com gás, será cobrado R$2,50</a:t>
            </a:r>
            <a:endParaRPr sz="200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a:latin typeface="Montserrat"/>
                <a:ea typeface="Montserrat"/>
                <a:cs typeface="Montserrat"/>
                <a:sym typeface="Montserrat"/>
              </a:rPr>
              <a:t>Altere o programa anterior para considerar a quantidade de garrafas de água</a:t>
            </a:r>
            <a:endParaRPr sz="200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a:latin typeface="Montserrat"/>
                <a:ea typeface="Montserrat"/>
                <a:cs typeface="Montserrat"/>
                <a:sym typeface="Montserrat"/>
              </a:rPr>
              <a:t>Faça o programa de uma sorveteria, onde o usuário pode escolher:</a:t>
            </a:r>
            <a:endParaRPr sz="2000">
              <a:latin typeface="Montserrat"/>
              <a:ea typeface="Montserrat"/>
              <a:cs typeface="Montserrat"/>
              <a:sym typeface="Montserrat"/>
            </a:endParaRPr>
          </a:p>
          <a:p>
            <a:pPr marL="914400" marR="0" lvl="1" indent="-355600" algn="l" rtl="0">
              <a:lnSpc>
                <a:spcPct val="150000"/>
              </a:lnSpc>
              <a:spcBef>
                <a:spcPts val="0"/>
              </a:spcBef>
              <a:spcAft>
                <a:spcPts val="0"/>
              </a:spcAft>
              <a:buSzPts val="2000"/>
              <a:buFont typeface="Montserrat"/>
              <a:buAutoNum type="alphaLcPeriod"/>
            </a:pPr>
            <a:r>
              <a:rPr lang="en-US" sz="2000">
                <a:latin typeface="Montserrat"/>
                <a:ea typeface="Montserrat"/>
                <a:cs typeface="Montserrat"/>
                <a:sym typeface="Montserrat"/>
              </a:rPr>
              <a:t>Tipo de sorvete: casquinha (R$1,00), cascão (R$2,50), cestinha (R$4,00)</a:t>
            </a:r>
            <a:endParaRPr sz="2000">
              <a:latin typeface="Montserrat"/>
              <a:ea typeface="Montserrat"/>
              <a:cs typeface="Montserrat"/>
              <a:sym typeface="Montserrat"/>
            </a:endParaRPr>
          </a:p>
          <a:p>
            <a:pPr marL="914400" marR="0" lvl="1" indent="-355600" algn="l" rtl="0">
              <a:lnSpc>
                <a:spcPct val="150000"/>
              </a:lnSpc>
              <a:spcBef>
                <a:spcPts val="0"/>
              </a:spcBef>
              <a:spcAft>
                <a:spcPts val="0"/>
              </a:spcAft>
              <a:buSzPts val="2000"/>
              <a:buFont typeface="Montserrat"/>
              <a:buAutoNum type="alphaLcPeriod"/>
            </a:pPr>
            <a:r>
              <a:rPr lang="en-US" sz="2000">
                <a:latin typeface="Montserrat"/>
                <a:ea typeface="Montserrat"/>
                <a:cs typeface="Montserrat"/>
                <a:sym typeface="Montserrat"/>
              </a:rPr>
              <a:t>Sabor do sorvete: morango, creme, chocolate</a:t>
            </a:r>
            <a:endParaRPr sz="2000">
              <a:latin typeface="Montserrat"/>
              <a:ea typeface="Montserrat"/>
              <a:cs typeface="Montserrat"/>
              <a:sym typeface="Montserrat"/>
            </a:endParaRPr>
          </a:p>
          <a:p>
            <a:pPr marL="914400" marR="0" lvl="1" indent="-355600" algn="l" rtl="0">
              <a:lnSpc>
                <a:spcPct val="150000"/>
              </a:lnSpc>
              <a:spcBef>
                <a:spcPts val="0"/>
              </a:spcBef>
              <a:spcAft>
                <a:spcPts val="0"/>
              </a:spcAft>
              <a:buSzPts val="2000"/>
              <a:buFont typeface="Montserrat"/>
              <a:buAutoNum type="alphaLcPeriod"/>
            </a:pPr>
            <a:r>
              <a:rPr lang="en-US" sz="2000">
                <a:latin typeface="Montserrat"/>
                <a:ea typeface="Montserrat"/>
                <a:cs typeface="Montserrat"/>
                <a:sym typeface="Montserrat"/>
              </a:rPr>
              <a:t>Cobertura: Caramelo (R$1,50), morango (R$1,50), chocolate (R$1,50), sem cobertura (R$0,00)</a:t>
            </a:r>
            <a:endParaRPr sz="2000">
              <a:latin typeface="Montserrat"/>
              <a:ea typeface="Montserrat"/>
              <a:cs typeface="Montserrat"/>
              <a:sym typeface="Montserrat"/>
            </a:endParaRPr>
          </a:p>
          <a:p>
            <a:pPr marL="0" marR="0" lvl="0" indent="0" algn="l" rtl="0">
              <a:lnSpc>
                <a:spcPct val="150000"/>
              </a:lnSpc>
              <a:spcBef>
                <a:spcPts val="0"/>
              </a:spcBef>
              <a:spcAft>
                <a:spcPts val="0"/>
              </a:spcAft>
              <a:buNone/>
            </a:pPr>
            <a:r>
              <a:rPr lang="en-US" sz="2000">
                <a:latin typeface="Montserrat"/>
                <a:ea typeface="Montserrat"/>
                <a:cs typeface="Montserrat"/>
                <a:sym typeface="Montserrat"/>
              </a:rPr>
              <a:t>Apresente o valor a ser pago</a:t>
            </a:r>
            <a:endParaRPr sz="2000">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5"/>
        <p:cNvGrpSpPr/>
        <p:nvPr/>
      </p:nvGrpSpPr>
      <p:grpSpPr>
        <a:xfrm>
          <a:off x="0" y="0"/>
          <a:ext cx="0" cy="0"/>
          <a:chOff x="0" y="0"/>
          <a:chExt cx="0" cy="0"/>
        </a:xfrm>
      </p:grpSpPr>
      <p:pic>
        <p:nvPicPr>
          <p:cNvPr id="456" name="Google Shape;456;p46"/>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57" name="Google Shape;457;p46"/>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Exercícios</a:t>
            </a:r>
            <a:endParaRPr sz="3600">
              <a:latin typeface="Montserrat"/>
              <a:ea typeface="Montserrat"/>
              <a:cs typeface="Montserrat"/>
              <a:sym typeface="Montserrat"/>
            </a:endParaRPr>
          </a:p>
        </p:txBody>
      </p:sp>
      <p:sp>
        <p:nvSpPr>
          <p:cNvPr id="458" name="Google Shape;458;p46"/>
          <p:cNvSpPr txBox="1"/>
          <p:nvPr/>
        </p:nvSpPr>
        <p:spPr>
          <a:xfrm>
            <a:off x="739500" y="1552650"/>
            <a:ext cx="10833300" cy="18777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50000"/>
              </a:lnSpc>
              <a:spcBef>
                <a:spcPts val="0"/>
              </a:spcBef>
              <a:spcAft>
                <a:spcPts val="0"/>
              </a:spcAft>
              <a:buSzPts val="2000"/>
              <a:buFont typeface="Montserrat"/>
              <a:buAutoNum type="arabicPeriod" startAt="4"/>
            </a:pPr>
            <a:r>
              <a:rPr lang="en-US" sz="2000">
                <a:latin typeface="Montserrat"/>
                <a:ea typeface="Montserrat"/>
                <a:cs typeface="Montserrat"/>
                <a:sym typeface="Montserrat"/>
              </a:rPr>
              <a:t>Faça um programa que verifique se a pessoa pertence à família “calvo”.</a:t>
            </a:r>
            <a:endParaRPr sz="200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startAt="4"/>
            </a:pPr>
            <a:r>
              <a:rPr lang="en-US" sz="2000">
                <a:latin typeface="Montserrat"/>
                <a:ea typeface="Montserrat"/>
                <a:cs typeface="Montserrat"/>
                <a:sym typeface="Montserrat"/>
              </a:rPr>
              <a:t>Faça um programa que verifique se a pessoa pertence à família “calvo” ou “silva”.</a:t>
            </a:r>
            <a:endParaRPr sz="200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startAt="4"/>
            </a:pPr>
            <a:r>
              <a:rPr lang="en-US" sz="2000">
                <a:latin typeface="Montserrat"/>
                <a:ea typeface="Montserrat"/>
                <a:cs typeface="Montserrat"/>
                <a:sym typeface="Montserrat"/>
              </a:rPr>
              <a:t>Faça um programa que verifique se o item que a pessoa escolheu para comprar na loja está na lista: laranja, cerveja, miojo, carvão, picanha.</a:t>
            </a:r>
            <a:endParaRPr sz="2000">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47"/>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65" name="Google Shape;465;p47"/>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while</a:t>
            </a:r>
            <a:endParaRPr sz="3600">
              <a:latin typeface="Montserrat"/>
              <a:ea typeface="Montserrat"/>
              <a:cs typeface="Montserrat"/>
              <a:sym typeface="Montserrat"/>
            </a:endParaRPr>
          </a:p>
        </p:txBody>
      </p:sp>
      <p:pic>
        <p:nvPicPr>
          <p:cNvPr id="466" name="Google Shape;466;p47"/>
          <p:cNvPicPr preferRelativeResize="0"/>
          <p:nvPr/>
        </p:nvPicPr>
        <p:blipFill rotWithShape="1">
          <a:blip r:embed="rId4">
            <a:alphaModFix/>
          </a:blip>
          <a:srcRect t="7720" b="7728"/>
          <a:stretch/>
        </p:blipFill>
        <p:spPr>
          <a:xfrm>
            <a:off x="2543175" y="1447790"/>
            <a:ext cx="7105650" cy="396239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48"/>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73" name="Google Shape;473;p48"/>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while</a:t>
            </a:r>
            <a:endParaRPr sz="3600">
              <a:latin typeface="Montserrat"/>
              <a:ea typeface="Montserrat"/>
              <a:cs typeface="Montserrat"/>
              <a:sym typeface="Montserrat"/>
            </a:endParaRPr>
          </a:p>
        </p:txBody>
      </p:sp>
      <p:pic>
        <p:nvPicPr>
          <p:cNvPr id="474" name="Google Shape;474;p48"/>
          <p:cNvPicPr preferRelativeResize="0"/>
          <p:nvPr/>
        </p:nvPicPr>
        <p:blipFill rotWithShape="1">
          <a:blip r:embed="rId4">
            <a:alphaModFix/>
          </a:blip>
          <a:srcRect t="11046" b="11054"/>
          <a:stretch/>
        </p:blipFill>
        <p:spPr>
          <a:xfrm>
            <a:off x="2543175" y="1447790"/>
            <a:ext cx="7105650" cy="3962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pic>
        <p:nvPicPr>
          <p:cNvPr id="480" name="Google Shape;480;p49"/>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81" name="Google Shape;481;p49"/>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for</a:t>
            </a:r>
            <a:endParaRPr sz="3600">
              <a:latin typeface="Montserrat"/>
              <a:ea typeface="Montserrat"/>
              <a:cs typeface="Montserrat"/>
              <a:sym typeface="Montserrat"/>
            </a:endParaRPr>
          </a:p>
        </p:txBody>
      </p:sp>
      <p:pic>
        <p:nvPicPr>
          <p:cNvPr id="482" name="Google Shape;482;p49"/>
          <p:cNvPicPr preferRelativeResize="0"/>
          <p:nvPr/>
        </p:nvPicPr>
        <p:blipFill rotWithShape="1">
          <a:blip r:embed="rId4">
            <a:alphaModFix/>
          </a:blip>
          <a:srcRect/>
          <a:stretch/>
        </p:blipFill>
        <p:spPr>
          <a:xfrm>
            <a:off x="2543175" y="1447790"/>
            <a:ext cx="7105650" cy="3962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50"/>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89" name="Google Shape;489;p50"/>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for</a:t>
            </a:r>
            <a:endParaRPr sz="3600">
              <a:latin typeface="Montserrat"/>
              <a:ea typeface="Montserrat"/>
              <a:cs typeface="Montserrat"/>
              <a:sym typeface="Montserrat"/>
            </a:endParaRPr>
          </a:p>
        </p:txBody>
      </p:sp>
      <p:pic>
        <p:nvPicPr>
          <p:cNvPr id="490" name="Google Shape;490;p50"/>
          <p:cNvPicPr preferRelativeResize="0"/>
          <p:nvPr/>
        </p:nvPicPr>
        <p:blipFill rotWithShape="1">
          <a:blip r:embed="rId4">
            <a:alphaModFix/>
          </a:blip>
          <a:srcRect t="7720" b="7728"/>
          <a:stretch/>
        </p:blipFill>
        <p:spPr>
          <a:xfrm>
            <a:off x="2543175" y="1447790"/>
            <a:ext cx="7105650" cy="39623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pic>
        <p:nvPicPr>
          <p:cNvPr id="496" name="Google Shape;496;p51"/>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497" name="Google Shape;497;p51"/>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Exercícios</a:t>
            </a:r>
            <a:endParaRPr sz="3600">
              <a:latin typeface="Montserrat"/>
              <a:ea typeface="Montserrat"/>
              <a:cs typeface="Montserrat"/>
              <a:sym typeface="Montserrat"/>
            </a:endParaRPr>
          </a:p>
        </p:txBody>
      </p:sp>
      <p:sp>
        <p:nvSpPr>
          <p:cNvPr id="498" name="Google Shape;498;p51"/>
          <p:cNvSpPr txBox="1"/>
          <p:nvPr/>
        </p:nvSpPr>
        <p:spPr>
          <a:xfrm>
            <a:off x="739500" y="1552650"/>
            <a:ext cx="10833300" cy="341629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50000"/>
              </a:lnSpc>
              <a:spcBef>
                <a:spcPts val="0"/>
              </a:spcBef>
              <a:spcAft>
                <a:spcPts val="0"/>
              </a:spcAft>
              <a:buSzPts val="2000"/>
              <a:buFont typeface="Montserrat"/>
              <a:buAutoNum type="arabicPeriod"/>
            </a:pPr>
            <a:r>
              <a:rPr lang="en-US" sz="2000" dirty="0" err="1">
                <a:latin typeface="Montserrat"/>
                <a:ea typeface="Montserrat"/>
                <a:cs typeface="Montserrat"/>
                <a:sym typeface="Montserrat"/>
              </a:rPr>
              <a:t>Faça</a:t>
            </a:r>
            <a:r>
              <a:rPr lang="en-US" sz="2000" dirty="0">
                <a:latin typeface="Montserrat"/>
                <a:ea typeface="Montserrat"/>
                <a:cs typeface="Montserrat"/>
                <a:sym typeface="Montserrat"/>
              </a:rPr>
              <a:t> um </a:t>
            </a:r>
            <a:r>
              <a:rPr lang="en-US" sz="2000" dirty="0" err="1">
                <a:latin typeface="Montserrat"/>
                <a:ea typeface="Montserrat"/>
                <a:cs typeface="Montserrat"/>
                <a:sym typeface="Montserrat"/>
              </a:rPr>
              <a:t>programa</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que</a:t>
            </a:r>
            <a:r>
              <a:rPr lang="en-US" sz="2000" dirty="0">
                <a:latin typeface="Montserrat"/>
                <a:ea typeface="Montserrat"/>
                <a:cs typeface="Montserrat"/>
                <a:sym typeface="Montserrat"/>
              </a:rPr>
              <a:t> conte </a:t>
            </a:r>
            <a:r>
              <a:rPr lang="en-US" sz="2000" dirty="0" err="1">
                <a:latin typeface="Montserrat"/>
                <a:ea typeface="Montserrat"/>
                <a:cs typeface="Montserrat"/>
                <a:sym typeface="Montserrat"/>
              </a:rPr>
              <a:t>quantas</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vezes</a:t>
            </a:r>
            <a:r>
              <a:rPr lang="en-US" sz="2000" dirty="0">
                <a:latin typeface="Montserrat"/>
                <a:ea typeface="Montserrat"/>
                <a:cs typeface="Montserrat"/>
                <a:sym typeface="Montserrat"/>
              </a:rPr>
              <a:t> a </a:t>
            </a:r>
            <a:r>
              <a:rPr lang="en-US" sz="2000" dirty="0" err="1">
                <a:latin typeface="Montserrat"/>
                <a:ea typeface="Montserrat"/>
                <a:cs typeface="Montserrat"/>
                <a:sym typeface="Montserrat"/>
              </a:rPr>
              <a:t>letra</a:t>
            </a:r>
            <a:r>
              <a:rPr lang="en-US" sz="2000" dirty="0">
                <a:latin typeface="Montserrat"/>
                <a:ea typeface="Montserrat"/>
                <a:cs typeface="Montserrat"/>
                <a:sym typeface="Montserrat"/>
              </a:rPr>
              <a:t> “a” </a:t>
            </a:r>
            <a:r>
              <a:rPr lang="en-US" sz="2000" dirty="0" err="1">
                <a:latin typeface="Montserrat"/>
                <a:ea typeface="Montserrat"/>
                <a:cs typeface="Montserrat"/>
                <a:sym typeface="Montserrat"/>
              </a:rPr>
              <a:t>aparece</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em</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uma</a:t>
            </a:r>
            <a:r>
              <a:rPr lang="en-US" sz="2000" dirty="0">
                <a:latin typeface="Montserrat"/>
                <a:ea typeface="Montserrat"/>
                <a:cs typeface="Montserrat"/>
                <a:sym typeface="Montserrat"/>
              </a:rPr>
              <a:t> </a:t>
            </a:r>
            <a:r>
              <a:rPr lang="en-US" sz="2000" dirty="0" err="1">
                <a:latin typeface="Montserrat"/>
                <a:ea typeface="Montserrat"/>
                <a:cs typeface="Montserrat"/>
                <a:sym typeface="Montserrat"/>
              </a:rPr>
              <a:t>palavra</a:t>
            </a:r>
            <a:endParaRPr sz="2000" dirty="0">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dirty="0" err="1">
                <a:highlight>
                  <a:srgbClr val="FFFF00"/>
                </a:highlight>
                <a:latin typeface="Montserrat"/>
                <a:ea typeface="Montserrat"/>
                <a:cs typeface="Montserrat"/>
                <a:sym typeface="Montserrat"/>
              </a:rPr>
              <a:t>Faça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receba</a:t>
            </a:r>
            <a:r>
              <a:rPr lang="en-US" sz="2000" dirty="0">
                <a:highlight>
                  <a:srgbClr val="FFFF00"/>
                </a:highlight>
                <a:latin typeface="Montserrat"/>
                <a:ea typeface="Montserrat"/>
                <a:cs typeface="Montserrat"/>
                <a:sym typeface="Montserrat"/>
              </a:rPr>
              <a:t> 4 </a:t>
            </a:r>
            <a:r>
              <a:rPr lang="en-US" sz="2000" dirty="0" err="1">
                <a:highlight>
                  <a:srgbClr val="FFFF00"/>
                </a:highlight>
                <a:latin typeface="Montserrat"/>
                <a:ea typeface="Montserrat"/>
                <a:cs typeface="Montserrat"/>
                <a:sym typeface="Montserrat"/>
              </a:rPr>
              <a:t>alturas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usando</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laço</a:t>
            </a:r>
            <a:r>
              <a:rPr lang="en-US" sz="2000" dirty="0">
                <a:highlight>
                  <a:srgbClr val="FFFF00"/>
                </a:highlight>
                <a:latin typeface="Montserrat"/>
                <a:ea typeface="Montserrat"/>
                <a:cs typeface="Montserrat"/>
                <a:sym typeface="Montserrat"/>
              </a:rPr>
              <a:t> de </a:t>
            </a:r>
            <a:r>
              <a:rPr lang="en-US" sz="2000" dirty="0" err="1">
                <a:highlight>
                  <a:srgbClr val="FFFF00"/>
                </a:highlight>
                <a:latin typeface="Montserrat"/>
                <a:ea typeface="Montserrat"/>
                <a:cs typeface="Montserrat"/>
                <a:sym typeface="Montserrat"/>
              </a:rPr>
              <a:t>repetição</a:t>
            </a:r>
            <a:r>
              <a:rPr lang="en-US" sz="2000" dirty="0">
                <a:highlight>
                  <a:srgbClr val="FFFF00"/>
                </a:highlight>
                <a:latin typeface="Montserrat"/>
                <a:ea typeface="Montserrat"/>
                <a:cs typeface="Montserrat"/>
                <a:sym typeface="Montserrat"/>
              </a:rPr>
              <a:t> e realize a soma dessas </a:t>
            </a:r>
            <a:r>
              <a:rPr lang="en-US" sz="2000" dirty="0" err="1">
                <a:highlight>
                  <a:srgbClr val="FFFF00"/>
                </a:highlight>
                <a:latin typeface="Montserrat"/>
                <a:ea typeface="Montserrat"/>
                <a:cs typeface="Montserrat"/>
                <a:sym typeface="Montserrat"/>
              </a:rPr>
              <a:t>alturas</a:t>
            </a:r>
            <a:r>
              <a:rPr lang="en-US" sz="2000" dirty="0">
                <a:highlight>
                  <a:srgbClr val="FFFF00"/>
                </a:highlight>
                <a:latin typeface="Montserrat"/>
                <a:ea typeface="Montserrat"/>
                <a:cs typeface="Montserrat"/>
                <a:sym typeface="Montserrat"/>
              </a:rPr>
              <a:t>.</a:t>
            </a:r>
            <a:endParaRPr sz="2000" dirty="0">
              <a:highlight>
                <a:srgbClr val="FFFF00"/>
              </a:highlight>
              <a:latin typeface="Montserrat"/>
              <a:ea typeface="Montserrat"/>
              <a:cs typeface="Montserrat"/>
              <a:sym typeface="Montserrat"/>
            </a:endParaRPr>
          </a:p>
          <a:p>
            <a:pPr marL="457200" marR="0" lvl="0" indent="-355600" algn="l" rtl="0">
              <a:lnSpc>
                <a:spcPct val="150000"/>
              </a:lnSpc>
              <a:spcBef>
                <a:spcPts val="0"/>
              </a:spcBef>
              <a:spcAft>
                <a:spcPts val="0"/>
              </a:spcAft>
              <a:buSzPts val="2000"/>
              <a:buFont typeface="Montserrat"/>
              <a:buAutoNum type="arabicPeriod"/>
            </a:pPr>
            <a:r>
              <a:rPr lang="en-US" sz="2000" dirty="0" err="1">
                <a:highlight>
                  <a:srgbClr val="FFFF00"/>
                </a:highlight>
                <a:latin typeface="Montserrat"/>
                <a:ea typeface="Montserrat"/>
                <a:cs typeface="Montserrat"/>
                <a:sym typeface="Montserrat"/>
              </a:rPr>
              <a:t>Faça</a:t>
            </a:r>
            <a:r>
              <a:rPr lang="en-US" sz="2000" dirty="0">
                <a:highlight>
                  <a:srgbClr val="FFFF00"/>
                </a:highlight>
                <a:latin typeface="Montserrat"/>
                <a:ea typeface="Montserrat"/>
                <a:cs typeface="Montserrat"/>
                <a:sym typeface="Montserrat"/>
              </a:rPr>
              <a:t> um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receba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uma</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quantidade</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indefinida</a:t>
            </a:r>
            <a:r>
              <a:rPr lang="en-US" sz="2000" dirty="0">
                <a:highlight>
                  <a:srgbClr val="FFFF00"/>
                </a:highlight>
                <a:latin typeface="Montserrat"/>
                <a:ea typeface="Montserrat"/>
                <a:cs typeface="Montserrat"/>
                <a:sym typeface="Montserrat"/>
              </a:rPr>
              <a:t> de </a:t>
            </a:r>
            <a:r>
              <a:rPr lang="en-US" sz="2000" dirty="0" err="1">
                <a:highlight>
                  <a:srgbClr val="FFFF00"/>
                </a:highlight>
                <a:latin typeface="Montserrat"/>
                <a:ea typeface="Montserrat"/>
                <a:cs typeface="Montserrat"/>
                <a:sym typeface="Montserrat"/>
              </a:rPr>
              <a:t>valores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correspondentes</a:t>
            </a:r>
            <a:r>
              <a:rPr lang="en-US" sz="2000" dirty="0">
                <a:highlight>
                  <a:srgbClr val="FFFF00"/>
                </a:highlight>
                <a:latin typeface="Montserrat"/>
                <a:ea typeface="Montserrat"/>
                <a:cs typeface="Montserrat"/>
                <a:sym typeface="Montserrat"/>
              </a:rPr>
              <a:t> a “</a:t>
            </a:r>
            <a:r>
              <a:rPr lang="en-US" sz="2000" dirty="0" err="1">
                <a:highlight>
                  <a:srgbClr val="FFFF00"/>
                </a:highlight>
                <a:latin typeface="Montserrat"/>
                <a:ea typeface="Montserrat"/>
                <a:cs typeface="Montserrat"/>
                <a:sym typeface="Montserrat"/>
              </a:rPr>
              <a:t>saldo</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em</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conta</a:t>
            </a:r>
            <a:r>
              <a:rPr lang="en-US" sz="2000" dirty="0">
                <a:highlight>
                  <a:srgbClr val="FFFF00"/>
                </a:highlight>
                <a:latin typeface="Montserrat"/>
                <a:ea typeface="Montserrat"/>
                <a:cs typeface="Montserrat"/>
                <a:sym typeface="Montserrat"/>
              </a:rPr>
              <a:t>”, mas </a:t>
            </a:r>
            <a:r>
              <a:rPr lang="en-US" sz="2000" dirty="0" err="1">
                <a:highlight>
                  <a:srgbClr val="FFFF00"/>
                </a:highlight>
                <a:latin typeface="Montserrat"/>
                <a:ea typeface="Montserrat"/>
                <a:cs typeface="Montserrat"/>
                <a:sym typeface="Montserrat"/>
              </a:rPr>
              <a:t>quando</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usuário</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apertar</a:t>
            </a:r>
            <a:r>
              <a:rPr lang="en-US" sz="2000" dirty="0">
                <a:highlight>
                  <a:srgbClr val="FFFF00"/>
                </a:highlight>
                <a:latin typeface="Montserrat"/>
                <a:ea typeface="Montserrat"/>
                <a:cs typeface="Montserrat"/>
                <a:sym typeface="Montserrat"/>
              </a:rPr>
              <a:t> “enter” </a:t>
            </a:r>
            <a:r>
              <a:rPr lang="en-US" sz="2000" dirty="0" err="1">
                <a:highlight>
                  <a:srgbClr val="FFFF00"/>
                </a:highlight>
                <a:latin typeface="Montserrat"/>
                <a:ea typeface="Montserrat"/>
                <a:cs typeface="Montserrat"/>
                <a:sym typeface="Montserrat"/>
              </a:rPr>
              <a:t>sem</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digitar</a:t>
            </a:r>
            <a:r>
              <a:rPr lang="en-US" sz="2000" dirty="0">
                <a:highlight>
                  <a:srgbClr val="FFFF00"/>
                </a:highlight>
                <a:latin typeface="Montserrat"/>
                <a:ea typeface="Montserrat"/>
                <a:cs typeface="Montserrat"/>
                <a:sym typeface="Montserrat"/>
              </a:rPr>
              <a:t> valor </a:t>
            </a:r>
            <a:r>
              <a:rPr lang="en-US" sz="2000" dirty="0" err="1">
                <a:highlight>
                  <a:srgbClr val="FFFF00"/>
                </a:highlight>
                <a:latin typeface="Montserrat"/>
                <a:ea typeface="Montserrat"/>
                <a:cs typeface="Montserrat"/>
                <a:sym typeface="Montserrat"/>
              </a:rPr>
              <a:t>algum</a:t>
            </a:r>
            <a:r>
              <a:rPr lang="en-US" sz="2000" dirty="0">
                <a:highlight>
                  <a:srgbClr val="FFFF00"/>
                </a:highlight>
                <a:latin typeface="Montserrat"/>
                <a:ea typeface="Montserrat"/>
                <a:cs typeface="Montserrat"/>
                <a:sym typeface="Montserrat"/>
              </a:rPr>
              <a:t>, o </a:t>
            </a:r>
            <a:r>
              <a:rPr lang="en-US" sz="2000" dirty="0" err="1">
                <a:highlight>
                  <a:srgbClr val="FFFF00"/>
                </a:highlight>
                <a:latin typeface="Montserrat"/>
                <a:ea typeface="Montserrat"/>
                <a:cs typeface="Montserrat"/>
                <a:sym typeface="Montserrat"/>
              </a:rPr>
              <a:t>programa</a:t>
            </a:r>
            <a:r>
              <a:rPr lang="en-US" sz="2000" dirty="0">
                <a:highlight>
                  <a:srgbClr val="FFFF00"/>
                </a:highlight>
                <a:latin typeface="Montserrat"/>
                <a:ea typeface="Montserrat"/>
                <a:cs typeface="Montserrat"/>
                <a:sym typeface="Montserrat"/>
              </a:rPr>
              <a:t> para de </a:t>
            </a:r>
            <a:r>
              <a:rPr lang="en-US" sz="2000" dirty="0" err="1">
                <a:highlight>
                  <a:srgbClr val="FFFF00"/>
                </a:highlight>
                <a:latin typeface="Montserrat"/>
                <a:ea typeface="Montserrat"/>
                <a:cs typeface="Montserrat"/>
                <a:sym typeface="Montserrat"/>
              </a:rPr>
              <a:t>receber</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valores</a:t>
            </a:r>
            <a:r>
              <a:rPr lang="en-US" sz="2000" dirty="0">
                <a:highlight>
                  <a:srgbClr val="FFFF00"/>
                </a:highlight>
                <a:latin typeface="Montserrat"/>
                <a:ea typeface="Montserrat"/>
                <a:cs typeface="Montserrat"/>
                <a:sym typeface="Montserrat"/>
              </a:rPr>
              <a:t>, e </a:t>
            </a:r>
            <a:r>
              <a:rPr lang="en-US" sz="2000" dirty="0" err="1">
                <a:highlight>
                  <a:srgbClr val="FFFF00"/>
                </a:highlight>
                <a:latin typeface="Montserrat"/>
                <a:ea typeface="Montserrat"/>
                <a:cs typeface="Montserrat"/>
                <a:sym typeface="Montserrat"/>
              </a:rPr>
              <a:t>exibe</a:t>
            </a:r>
            <a:r>
              <a:rPr lang="en-US" sz="2000" dirty="0">
                <a:highlight>
                  <a:srgbClr val="FFFF00"/>
                </a:highlight>
                <a:latin typeface="Montserrat"/>
                <a:ea typeface="Montserrat"/>
                <a:cs typeface="Montserrat"/>
                <a:sym typeface="Montserrat"/>
              </a:rPr>
              <a:t> a soma de </a:t>
            </a:r>
            <a:r>
              <a:rPr lang="en-US" sz="2000" dirty="0" err="1">
                <a:highlight>
                  <a:srgbClr val="FFFF00"/>
                </a:highlight>
                <a:latin typeface="Montserrat"/>
                <a:ea typeface="Montserrat"/>
                <a:cs typeface="Montserrat"/>
                <a:sym typeface="Montserrat"/>
              </a:rPr>
              <a:t>todos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os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valores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digitados</a:t>
            </a:r>
            <a:r>
              <a:rPr lang="en-US" sz="2000" dirty="0">
                <a:highlight>
                  <a:srgbClr val="FFFF00"/>
                </a:highlight>
                <a:latin typeface="Montserrat"/>
                <a:ea typeface="Montserrat"/>
                <a:cs typeface="Montserrat"/>
                <a:sym typeface="Montserrat"/>
              </a:rPr>
              <a:t> </a:t>
            </a:r>
            <a:r>
              <a:rPr lang="en-US" sz="2000" dirty="0" err="1">
                <a:highlight>
                  <a:srgbClr val="FFFF00"/>
                </a:highlight>
                <a:latin typeface="Montserrat"/>
                <a:ea typeface="Montserrat"/>
                <a:cs typeface="Montserrat"/>
                <a:sym typeface="Montserrat"/>
              </a:rPr>
              <a:t>anteriormente</a:t>
            </a:r>
            <a:r>
              <a:rPr lang="en-US" sz="2000" dirty="0">
                <a:highlight>
                  <a:srgbClr val="FFFF00"/>
                </a:highlight>
                <a:latin typeface="Montserrat"/>
                <a:ea typeface="Montserrat"/>
                <a:cs typeface="Montserrat"/>
                <a:sym typeface="Montserrat"/>
              </a:rPr>
              <a:t>.</a:t>
            </a:r>
            <a:endParaRPr sz="2000" dirty="0">
              <a:highlight>
                <a:srgbClr val="FFFF00"/>
              </a:highlight>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2"/>
          <p:cNvSpPr txBox="1"/>
          <p:nvPr/>
        </p:nvSpPr>
        <p:spPr>
          <a:xfrm>
            <a:off x="193175" y="201975"/>
            <a:ext cx="5058000" cy="2031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en-US" sz="6000">
                <a:latin typeface="Montserrat SemiBold"/>
                <a:ea typeface="Montserrat SemiBold"/>
                <a:cs typeface="Montserrat SemiBold"/>
                <a:sym typeface="Montserrat SemiBold"/>
              </a:rPr>
              <a:t>listas e dicionários</a:t>
            </a:r>
            <a:endParaRPr sz="6000" b="0" i="0" u="none" strike="noStrike" cap="none">
              <a:solidFill>
                <a:srgbClr val="000000"/>
              </a:solidFill>
              <a:latin typeface="Montserrat SemiBold"/>
              <a:ea typeface="Montserrat SemiBold"/>
              <a:cs typeface="Montserrat SemiBold"/>
              <a:sym typeface="Montserrat SemiBo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pic>
        <p:nvPicPr>
          <p:cNvPr id="510" name="Google Shape;510;p53"/>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511" name="Google Shape;511;p53"/>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Listas</a:t>
            </a:r>
            <a:endParaRPr sz="3600">
              <a:latin typeface="Montserrat"/>
              <a:ea typeface="Montserrat"/>
              <a:cs typeface="Montserrat"/>
              <a:sym typeface="Montserrat"/>
            </a:endParaRPr>
          </a:p>
        </p:txBody>
      </p:sp>
      <p:pic>
        <p:nvPicPr>
          <p:cNvPr id="512" name="Google Shape;512;p53"/>
          <p:cNvPicPr preferRelativeResize="0"/>
          <p:nvPr/>
        </p:nvPicPr>
        <p:blipFill>
          <a:blip r:embed="rId4">
            <a:alphaModFix/>
          </a:blip>
          <a:stretch>
            <a:fillRect/>
          </a:stretch>
        </p:blipFill>
        <p:spPr>
          <a:xfrm>
            <a:off x="3337400" y="1639647"/>
            <a:ext cx="5517176" cy="3578700"/>
          </a:xfrm>
          <a:prstGeom prst="rect">
            <a:avLst/>
          </a:prstGeom>
          <a:noFill/>
          <a:ln>
            <a:noFill/>
          </a:ln>
        </p:spPr>
      </p:pic>
      <p:sp>
        <p:nvSpPr>
          <p:cNvPr id="513" name="Google Shape;513;p53"/>
          <p:cNvSpPr txBox="1"/>
          <p:nvPr/>
        </p:nvSpPr>
        <p:spPr>
          <a:xfrm>
            <a:off x="2795100" y="5394175"/>
            <a:ext cx="6601800" cy="554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3200">
                <a:solidFill>
                  <a:schemeClr val="dk1"/>
                </a:solidFill>
                <a:latin typeface="Montserrat SemiBold"/>
                <a:ea typeface="Montserrat SemiBold"/>
                <a:cs typeface="Montserrat SemiBold"/>
                <a:sym typeface="Montserrat SemiBold"/>
              </a:rPr>
              <a:t>Listas não são vetores!!</a:t>
            </a:r>
            <a:endParaRPr sz="3200">
              <a:solidFill>
                <a:schemeClr val="dk1"/>
              </a:solidFill>
              <a:latin typeface="Montserrat SemiBold"/>
              <a:ea typeface="Montserrat SemiBold"/>
              <a:cs typeface="Montserrat SemiBold"/>
              <a:sym typeface="Montserrat SemiBo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519" name="Google Shape;519;p54"/>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520" name="Google Shape;520;p54"/>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Listas</a:t>
            </a:r>
            <a:endParaRPr sz="3600">
              <a:latin typeface="Montserrat"/>
              <a:ea typeface="Montserrat"/>
              <a:cs typeface="Montserrat"/>
              <a:sym typeface="Montserrat"/>
            </a:endParaRPr>
          </a:p>
        </p:txBody>
      </p:sp>
      <p:pic>
        <p:nvPicPr>
          <p:cNvPr id="521" name="Google Shape;521;p54"/>
          <p:cNvPicPr preferRelativeResize="0"/>
          <p:nvPr/>
        </p:nvPicPr>
        <p:blipFill rotWithShape="1">
          <a:blip r:embed="rId4">
            <a:alphaModFix/>
          </a:blip>
          <a:srcRect l="3332" r="3341"/>
          <a:stretch/>
        </p:blipFill>
        <p:spPr>
          <a:xfrm>
            <a:off x="3023925" y="1088050"/>
            <a:ext cx="6144175" cy="3985400"/>
          </a:xfrm>
          <a:prstGeom prst="rect">
            <a:avLst/>
          </a:prstGeom>
          <a:noFill/>
          <a:ln>
            <a:noFill/>
          </a:ln>
        </p:spPr>
      </p:pic>
      <p:sp>
        <p:nvSpPr>
          <p:cNvPr id="522" name="Google Shape;522;p54"/>
          <p:cNvSpPr txBox="1"/>
          <p:nvPr/>
        </p:nvSpPr>
        <p:spPr>
          <a:xfrm>
            <a:off x="739500" y="5285100"/>
            <a:ext cx="10758300" cy="954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2000">
                <a:solidFill>
                  <a:schemeClr val="dk1"/>
                </a:solidFill>
                <a:latin typeface="Montserrat"/>
                <a:ea typeface="Montserrat"/>
                <a:cs typeface="Montserrat"/>
                <a:sym typeface="Montserrat"/>
              </a:rPr>
              <a:t>Listas carregam elementos de qualquer tipo. Cada posição (índice) é um apontamento para um objeto em memória.</a:t>
            </a:r>
            <a:endParaRPr sz="2000">
              <a:solidFill>
                <a:schemeClr val="dk1"/>
              </a:solidFill>
              <a:latin typeface="Montserrat"/>
              <a:ea typeface="Montserrat"/>
              <a:cs typeface="Montserrat"/>
              <a:sym typeface="Montserra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55"/>
          <p:cNvPicPr preferRelativeResize="0"/>
          <p:nvPr/>
        </p:nvPicPr>
        <p:blipFill rotWithShape="1">
          <a:blip r:embed="rId3">
            <a:alphaModFix/>
          </a:blip>
          <a:srcRect/>
          <a:stretch/>
        </p:blipFill>
        <p:spPr>
          <a:xfrm>
            <a:off x="739500" y="620525"/>
            <a:ext cx="685800" cy="685800"/>
          </a:xfrm>
          <a:prstGeom prst="rect">
            <a:avLst/>
          </a:prstGeom>
          <a:noFill/>
          <a:ln>
            <a:noFill/>
          </a:ln>
        </p:spPr>
      </p:pic>
      <p:sp>
        <p:nvSpPr>
          <p:cNvPr id="529" name="Google Shape;529;p55"/>
          <p:cNvSpPr txBox="1">
            <a:spLocks noGrp="1"/>
          </p:cNvSpPr>
          <p:nvPr>
            <p:ph type="title" idx="4294967295"/>
          </p:nvPr>
        </p:nvSpPr>
        <p:spPr>
          <a:xfrm>
            <a:off x="1425300" y="463015"/>
            <a:ext cx="6191400" cy="1000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Arial"/>
              <a:buNone/>
            </a:pPr>
            <a:r>
              <a:rPr lang="en-US" sz="3600">
                <a:latin typeface="Montserrat"/>
                <a:ea typeface="Montserrat"/>
                <a:cs typeface="Montserrat"/>
                <a:sym typeface="Montserrat"/>
              </a:rPr>
              <a:t>Dicionário</a:t>
            </a:r>
            <a:endParaRPr sz="3600">
              <a:latin typeface="Montserrat"/>
              <a:ea typeface="Montserrat"/>
              <a:cs typeface="Montserrat"/>
              <a:sym typeface="Montserrat"/>
            </a:endParaRPr>
          </a:p>
        </p:txBody>
      </p:sp>
      <p:sp>
        <p:nvSpPr>
          <p:cNvPr id="530" name="Google Shape;530;p55"/>
          <p:cNvSpPr txBox="1"/>
          <p:nvPr/>
        </p:nvSpPr>
        <p:spPr>
          <a:xfrm>
            <a:off x="739500" y="4827900"/>
            <a:ext cx="10758300" cy="14160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sz="2000">
                <a:solidFill>
                  <a:schemeClr val="dk1"/>
                </a:solidFill>
                <a:latin typeface="Montserrat"/>
                <a:ea typeface="Montserrat"/>
                <a:cs typeface="Montserrat"/>
                <a:sym typeface="Montserrat"/>
              </a:rPr>
              <a:t>Dicionários são pares chave/valor. As chaves podem ser strings ou inteiros, e os valores podem ser de qualquer tipo, uma vez que também são apontamentos para objetos em memória.</a:t>
            </a:r>
            <a:endParaRPr sz="2000">
              <a:solidFill>
                <a:schemeClr val="dk1"/>
              </a:solidFill>
              <a:latin typeface="Montserrat"/>
              <a:ea typeface="Montserrat"/>
              <a:cs typeface="Montserrat"/>
              <a:sym typeface="Montserrat"/>
            </a:endParaRPr>
          </a:p>
        </p:txBody>
      </p:sp>
      <p:pic>
        <p:nvPicPr>
          <p:cNvPr id="531" name="Google Shape;531;p55"/>
          <p:cNvPicPr preferRelativeResize="0"/>
          <p:nvPr/>
        </p:nvPicPr>
        <p:blipFill>
          <a:blip r:embed="rId4">
            <a:alphaModFix/>
          </a:blip>
          <a:stretch>
            <a:fillRect/>
          </a:stretch>
        </p:blipFill>
        <p:spPr>
          <a:xfrm>
            <a:off x="879400" y="1537465"/>
            <a:ext cx="10433208" cy="351648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56"/>
          <p:cNvSpPr txBox="1"/>
          <p:nvPr/>
        </p:nvSpPr>
        <p:spPr>
          <a:xfrm>
            <a:off x="7127375" y="201975"/>
            <a:ext cx="5058000" cy="2801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US" sz="6000" b="0" i="0" u="none" strike="noStrike" cap="none">
                <a:solidFill>
                  <a:srgbClr val="000000"/>
                </a:solidFill>
                <a:latin typeface="Montserrat SemiBold"/>
                <a:ea typeface="Montserrat SemiBold"/>
                <a:cs typeface="Montserrat SemiBold"/>
                <a:sym typeface="Montserrat SemiBold"/>
              </a:rPr>
              <a:t>Exercícios</a:t>
            </a:r>
            <a:endParaRPr sz="6000" b="0" i="0" u="none" strike="noStrike" cap="none">
              <a:solidFill>
                <a:srgbClr val="000000"/>
              </a:solidFill>
              <a:latin typeface="Montserrat SemiBold"/>
              <a:ea typeface="Montserrat SemiBold"/>
              <a:cs typeface="Montserrat SemiBold"/>
              <a:sym typeface="Montserrat SemiBold"/>
            </a:endParaRPr>
          </a:p>
          <a:p>
            <a:pPr marL="0" marR="0" lvl="0" indent="0" algn="r" rtl="0">
              <a:lnSpc>
                <a:spcPct val="100000"/>
              </a:lnSpc>
              <a:spcBef>
                <a:spcPts val="0"/>
              </a:spcBef>
              <a:spcAft>
                <a:spcPts val="0"/>
              </a:spcAft>
              <a:buClr>
                <a:srgbClr val="000000"/>
              </a:buClr>
              <a:buSzPts val="6000"/>
              <a:buFont typeface="Arial"/>
              <a:buNone/>
            </a:pPr>
            <a:r>
              <a:rPr lang="en-US" sz="2500">
                <a:latin typeface="Montserrat SemiBold"/>
                <a:ea typeface="Montserrat SemiBold"/>
                <a:cs typeface="Montserrat SemiBold"/>
                <a:sym typeface="Montserrat SemiBold"/>
              </a:rPr>
              <a:t>para casa</a:t>
            </a:r>
            <a:endParaRPr sz="2500">
              <a:latin typeface="Montserrat SemiBold"/>
              <a:ea typeface="Montserrat SemiBold"/>
              <a:cs typeface="Montserrat SemiBold"/>
              <a:sym typeface="Montserrat SemiBold"/>
            </a:endParaRPr>
          </a:p>
          <a:p>
            <a:pPr marL="0" marR="0" lvl="0" indent="0" algn="r" rtl="0">
              <a:lnSpc>
                <a:spcPct val="100000"/>
              </a:lnSpc>
              <a:spcBef>
                <a:spcPts val="0"/>
              </a:spcBef>
              <a:spcAft>
                <a:spcPts val="0"/>
              </a:spcAft>
              <a:buClr>
                <a:srgbClr val="000000"/>
              </a:buClr>
              <a:buSzPts val="6000"/>
              <a:buFont typeface="Arial"/>
              <a:buNone/>
            </a:pPr>
            <a:endParaRPr sz="2500">
              <a:latin typeface="Montserrat SemiBold"/>
              <a:ea typeface="Montserrat SemiBold"/>
              <a:cs typeface="Montserrat SemiBold"/>
              <a:sym typeface="Montserrat SemiBold"/>
            </a:endParaRPr>
          </a:p>
          <a:p>
            <a:pPr marL="0" marR="0" lvl="0" indent="0" algn="r" rtl="0">
              <a:lnSpc>
                <a:spcPct val="100000"/>
              </a:lnSpc>
              <a:spcBef>
                <a:spcPts val="0"/>
              </a:spcBef>
              <a:spcAft>
                <a:spcPts val="0"/>
              </a:spcAft>
              <a:buClr>
                <a:srgbClr val="000000"/>
              </a:buClr>
              <a:buSzPts val="6000"/>
              <a:buFont typeface="Arial"/>
              <a:buNone/>
            </a:pPr>
            <a:r>
              <a:rPr lang="en-US" sz="6000" b="0" i="0" u="none" strike="noStrike" cap="none">
                <a:solidFill>
                  <a:srgbClr val="000000"/>
                </a:solidFill>
                <a:latin typeface="Montserrat SemiBold"/>
                <a:ea typeface="Montserrat SemiBold"/>
                <a:cs typeface="Montserrat SemiBold"/>
                <a:sym typeface="Montserrat SemiBold"/>
              </a:rPr>
              <a:t>Parte I</a:t>
            </a:r>
            <a:endParaRPr sz="6000" b="0" i="0" u="none" strike="noStrike" cap="none">
              <a:solidFill>
                <a:srgbClr val="000000"/>
              </a:solidFill>
              <a:latin typeface="Montserrat SemiBold"/>
              <a:ea typeface="Montserrat SemiBold"/>
              <a:cs typeface="Montserrat SemiBold"/>
              <a:sym typeface="Montserrat SemiBold"/>
            </a:endParaRPr>
          </a:p>
        </p:txBody>
      </p:sp>
      <p:sp>
        <p:nvSpPr>
          <p:cNvPr id="538" name="Google Shape;538;p56"/>
          <p:cNvSpPr txBox="1"/>
          <p:nvPr/>
        </p:nvSpPr>
        <p:spPr>
          <a:xfrm>
            <a:off x="7127375" y="4171000"/>
            <a:ext cx="5058000" cy="1108200"/>
          </a:xfrm>
          <a:prstGeom prst="rect">
            <a:avLst/>
          </a:prstGeom>
          <a:noFill/>
          <a:ln>
            <a:noFill/>
          </a:ln>
        </p:spPr>
        <p:txBody>
          <a:bodyPr spcFirstLastPara="1" wrap="square" lIns="91425" tIns="91425" rIns="91425" bIns="91425" anchor="t" anchorCtr="0">
            <a:spAutoFit/>
          </a:bodyPr>
          <a:lstStyle/>
          <a:p>
            <a:pPr marL="0" marR="0" lvl="0" indent="0" algn="r" rtl="0">
              <a:lnSpc>
                <a:spcPct val="150000"/>
              </a:lnSpc>
              <a:spcBef>
                <a:spcPts val="0"/>
              </a:spcBef>
              <a:spcAft>
                <a:spcPts val="0"/>
              </a:spcAft>
              <a:buClr>
                <a:srgbClr val="000000"/>
              </a:buClr>
              <a:buSzPts val="2400"/>
              <a:buFont typeface="Arial"/>
              <a:buNone/>
            </a:pPr>
            <a:r>
              <a:rPr lang="en-US" sz="2400" b="0" i="0" u="none" strike="noStrike" cap="none">
                <a:solidFill>
                  <a:srgbClr val="000000"/>
                </a:solidFill>
                <a:latin typeface="Montserrat"/>
                <a:ea typeface="Montserrat"/>
                <a:cs typeface="Montserrat"/>
                <a:sym typeface="Montserrat"/>
              </a:rPr>
              <a:t>String</a:t>
            </a:r>
            <a:endParaRPr sz="2400" b="0" i="0" u="none" strike="noStrike" cap="none">
              <a:solidFill>
                <a:srgbClr val="000000"/>
              </a:solidFill>
              <a:latin typeface="Montserrat"/>
              <a:ea typeface="Montserrat"/>
              <a:cs typeface="Montserrat"/>
              <a:sym typeface="Montserrat"/>
            </a:endParaRPr>
          </a:p>
          <a:p>
            <a:pPr marL="0" marR="0" lvl="0" indent="0" algn="r" rtl="0">
              <a:lnSpc>
                <a:spcPct val="150000"/>
              </a:lnSpc>
              <a:spcBef>
                <a:spcPts val="0"/>
              </a:spcBef>
              <a:spcAft>
                <a:spcPts val="0"/>
              </a:spcAft>
              <a:buClr>
                <a:srgbClr val="000000"/>
              </a:buClr>
              <a:buSzPts val="2400"/>
              <a:buFont typeface="Arial"/>
              <a:buNone/>
            </a:pPr>
            <a:r>
              <a:rPr lang="en-US" sz="2400" b="0" i="0" u="none" strike="noStrike" cap="none">
                <a:solidFill>
                  <a:srgbClr val="000000"/>
                </a:solidFill>
                <a:latin typeface="Montserrat"/>
                <a:ea typeface="Montserrat"/>
                <a:cs typeface="Montserrat"/>
                <a:sym typeface="Montserrat"/>
              </a:rPr>
              <a:t>Int, Float, Boolean</a:t>
            </a:r>
            <a:endParaRPr sz="2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57"/>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1.1</a:t>
            </a:r>
            <a:endParaRPr b="1">
              <a:latin typeface="Montserrat"/>
              <a:ea typeface="Montserrat"/>
              <a:cs typeface="Montserrat"/>
              <a:sym typeface="Montserrat"/>
            </a:endParaRPr>
          </a:p>
        </p:txBody>
      </p:sp>
      <p:sp>
        <p:nvSpPr>
          <p:cNvPr id="544" name="Google Shape;544;p57"/>
          <p:cNvSpPr txBox="1"/>
          <p:nvPr/>
        </p:nvSpPr>
        <p:spPr>
          <a:xfrm>
            <a:off x="1598295" y="3296920"/>
            <a:ext cx="8765400" cy="1939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receba o nome de uma pessoa e faça uma saudação.</a:t>
            </a:r>
            <a:endParaRPr sz="30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“Olá fulano! </a:t>
            </a:r>
            <a:r>
              <a:rPr lang="en-US" sz="3000" i="1">
                <a:solidFill>
                  <a:srgbClr val="0B5982"/>
                </a:solidFill>
                <a:latin typeface="Montserrat"/>
                <a:ea typeface="Montserrat"/>
                <a:cs typeface="Montserrat"/>
                <a:sym typeface="Montserrat"/>
              </a:rPr>
              <a:t>Boas vindas</a:t>
            </a:r>
            <a:r>
              <a:rPr lang="en-US" sz="3000" b="0" i="1" u="none" strike="noStrike" cap="none">
                <a:solidFill>
                  <a:srgbClr val="0B5982"/>
                </a:solidFill>
                <a:latin typeface="Montserrat"/>
                <a:ea typeface="Montserrat"/>
                <a:cs typeface="Montserrat"/>
                <a:sym typeface="Montserrat"/>
              </a:rPr>
              <a:t>!”</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58"/>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1.2</a:t>
            </a:r>
            <a:endParaRPr b="1">
              <a:latin typeface="Montserrat"/>
              <a:ea typeface="Montserrat"/>
              <a:cs typeface="Montserrat"/>
              <a:sym typeface="Montserrat"/>
            </a:endParaRPr>
          </a:p>
        </p:txBody>
      </p:sp>
      <p:sp>
        <p:nvSpPr>
          <p:cNvPr id="550" name="Google Shape;550;p58"/>
          <p:cNvSpPr txBox="1"/>
          <p:nvPr/>
        </p:nvSpPr>
        <p:spPr>
          <a:xfrm>
            <a:off x="1598295" y="3296920"/>
            <a:ext cx="8765400" cy="2862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receba o nome e a idade de uma pessoa. Depois exiba a mensagem:</a:t>
            </a:r>
            <a:endParaRPr sz="30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“Olá </a:t>
            </a:r>
            <a:r>
              <a:rPr lang="en-US" sz="3000" b="1" i="1" u="none" strike="noStrike" cap="none">
                <a:solidFill>
                  <a:srgbClr val="0B5982"/>
                </a:solidFill>
                <a:latin typeface="Montserrat"/>
                <a:ea typeface="Montserrat"/>
                <a:cs typeface="Montserrat"/>
                <a:sym typeface="Montserrat"/>
              </a:rPr>
              <a:t>fulano</a:t>
            </a:r>
            <a:r>
              <a:rPr lang="en-US" sz="3000" b="0" i="1" u="none" strike="noStrike" cap="none">
                <a:solidFill>
                  <a:srgbClr val="0B5982"/>
                </a:solidFill>
                <a:latin typeface="Montserrat"/>
                <a:ea typeface="Montserrat"/>
                <a:cs typeface="Montserrat"/>
                <a:sym typeface="Montserrat"/>
              </a:rPr>
              <a:t>, bom saber que você tem </a:t>
            </a:r>
            <a:r>
              <a:rPr lang="en-US" sz="3000" b="1" i="1" u="none" strike="noStrike" cap="none">
                <a:solidFill>
                  <a:srgbClr val="0B5982"/>
                </a:solidFill>
                <a:latin typeface="Montserrat"/>
                <a:ea typeface="Montserrat"/>
                <a:cs typeface="Montserrat"/>
                <a:sym typeface="Montserrat"/>
              </a:rPr>
              <a:t>x</a:t>
            </a:r>
            <a:r>
              <a:rPr lang="en-US" sz="3000" b="0" i="1" u="none" strike="noStrike" cap="none">
                <a:solidFill>
                  <a:srgbClr val="0B5982"/>
                </a:solidFill>
                <a:latin typeface="Montserrat"/>
                <a:ea typeface="Montserrat"/>
                <a:cs typeface="Montserrat"/>
                <a:sym typeface="Montserrat"/>
              </a:rPr>
              <a:t> anos. </a:t>
            </a:r>
            <a:r>
              <a:rPr lang="en-US" sz="3000" i="1">
                <a:solidFill>
                  <a:srgbClr val="0B5982"/>
                </a:solidFill>
                <a:latin typeface="Montserrat"/>
                <a:ea typeface="Montserrat"/>
                <a:cs typeface="Montserrat"/>
                <a:sym typeface="Montserrat"/>
              </a:rPr>
              <a:t>Boas vindas</a:t>
            </a:r>
            <a:r>
              <a:rPr lang="en-US" sz="3000" b="0" i="1" u="none" strike="noStrike" cap="none">
                <a:solidFill>
                  <a:srgbClr val="0B5982"/>
                </a:solidFill>
                <a:latin typeface="Montserrat"/>
                <a:ea typeface="Montserrat"/>
                <a:cs typeface="Montserrat"/>
                <a:sym typeface="Montserrat"/>
              </a:rPr>
              <a:t>!”</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p59"/>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1.3</a:t>
            </a:r>
            <a:endParaRPr b="1">
              <a:latin typeface="Montserrat"/>
              <a:ea typeface="Montserrat"/>
              <a:cs typeface="Montserrat"/>
              <a:sym typeface="Montserrat"/>
            </a:endParaRPr>
          </a:p>
        </p:txBody>
      </p:sp>
      <p:sp>
        <p:nvSpPr>
          <p:cNvPr id="556" name="Google Shape;556;p59"/>
          <p:cNvSpPr txBox="1"/>
          <p:nvPr/>
        </p:nvSpPr>
        <p:spPr>
          <a:xfrm>
            <a:off x="1598295" y="3296920"/>
            <a:ext cx="87654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o raio de uma circunferência em centímetros. Retorne para o usuário qual é a área e perímetro desta circunferência no seguinte formato.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Área:  x.xx</a:t>
            </a: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Perímetro:  y.yy</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60"/>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1.4</a:t>
            </a:r>
            <a:endParaRPr b="1">
              <a:latin typeface="Montserrat"/>
              <a:ea typeface="Montserrat"/>
              <a:cs typeface="Montserrat"/>
              <a:sym typeface="Montserrat"/>
            </a:endParaRPr>
          </a:p>
        </p:txBody>
      </p:sp>
      <p:sp>
        <p:nvSpPr>
          <p:cNvPr id="562" name="Google Shape;562;p60"/>
          <p:cNvSpPr txBox="1"/>
          <p:nvPr/>
        </p:nvSpPr>
        <p:spPr>
          <a:xfrm>
            <a:off x="1598295" y="3296920"/>
            <a:ext cx="8765400" cy="24012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dois valores A e B. Faça a soma desses dois valores e retorne o resultado: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Soma:  x.xx</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66"/>
        <p:cNvGrpSpPr/>
        <p:nvPr/>
      </p:nvGrpSpPr>
      <p:grpSpPr>
        <a:xfrm>
          <a:off x="0" y="0"/>
          <a:ext cx="0" cy="0"/>
          <a:chOff x="0" y="0"/>
          <a:chExt cx="0" cy="0"/>
        </a:xfrm>
      </p:grpSpPr>
      <p:sp>
        <p:nvSpPr>
          <p:cNvPr id="567" name="Google Shape;567;p61"/>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1.5</a:t>
            </a:r>
            <a:endParaRPr b="1">
              <a:latin typeface="Montserrat"/>
              <a:ea typeface="Montserrat"/>
              <a:cs typeface="Montserrat"/>
              <a:sym typeface="Montserrat"/>
            </a:endParaRPr>
          </a:p>
        </p:txBody>
      </p:sp>
      <p:sp>
        <p:nvSpPr>
          <p:cNvPr id="568" name="Google Shape;568;p61"/>
          <p:cNvSpPr txBox="1"/>
          <p:nvPr/>
        </p:nvSpPr>
        <p:spPr>
          <a:xfrm>
            <a:off x="1598295" y="3296920"/>
            <a:ext cx="8765400" cy="24012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dois valores A e B. Faça a potência desses dois valores e retorne o resultado: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a ^ b = z</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62"/>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1.6</a:t>
            </a:r>
            <a:endParaRPr b="1">
              <a:latin typeface="Montserrat"/>
              <a:ea typeface="Montserrat"/>
              <a:cs typeface="Montserrat"/>
              <a:sym typeface="Montserrat"/>
            </a:endParaRPr>
          </a:p>
        </p:txBody>
      </p:sp>
      <p:sp>
        <p:nvSpPr>
          <p:cNvPr id="574" name="Google Shape;574;p62"/>
          <p:cNvSpPr txBox="1"/>
          <p:nvPr/>
        </p:nvSpPr>
        <p:spPr>
          <a:xfrm>
            <a:off x="1598295" y="2296795"/>
            <a:ext cx="9817800" cy="42483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um número em segundos, converta esse número para horas, minuto e segundos. Exemplos:</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3F6622"/>
                </a:solidFill>
                <a:latin typeface="Montserrat"/>
                <a:ea typeface="Montserrat"/>
                <a:cs typeface="Montserrat"/>
                <a:sym typeface="Montserrat"/>
              </a:rPr>
              <a:t>Entrada: 556</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Saída: 0:9:16</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3F6622"/>
                </a:solidFill>
                <a:latin typeface="Montserrat"/>
                <a:ea typeface="Montserrat"/>
                <a:cs typeface="Montserrat"/>
                <a:sym typeface="Montserrat"/>
              </a:rPr>
              <a:t>Entrada: 140153</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Saída: 38:55:53</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63"/>
          <p:cNvSpPr txBox="1"/>
          <p:nvPr/>
        </p:nvSpPr>
        <p:spPr>
          <a:xfrm>
            <a:off x="6593975" y="201975"/>
            <a:ext cx="5058000" cy="2955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6000"/>
              <a:buFont typeface="Arial"/>
              <a:buNone/>
            </a:pPr>
            <a:r>
              <a:rPr lang="en-US" sz="6000" b="0" i="0" u="none" strike="noStrike" cap="none">
                <a:solidFill>
                  <a:srgbClr val="000000"/>
                </a:solidFill>
                <a:latin typeface="Montserrat SemiBold"/>
                <a:ea typeface="Montserrat SemiBold"/>
                <a:cs typeface="Montserrat SemiBold"/>
                <a:sym typeface="Montserrat SemiBold"/>
              </a:rPr>
              <a:t>Exercícios</a:t>
            </a:r>
            <a:endParaRPr sz="6000" b="0" i="0" u="none" strike="noStrike" cap="none">
              <a:solidFill>
                <a:srgbClr val="000000"/>
              </a:solidFill>
              <a:latin typeface="Montserrat SemiBold"/>
              <a:ea typeface="Montserrat SemiBold"/>
              <a:cs typeface="Montserrat SemiBold"/>
              <a:sym typeface="Montserrat SemiBold"/>
            </a:endParaRPr>
          </a:p>
          <a:p>
            <a:pPr marL="0" marR="0" lvl="0" indent="0" algn="r" rtl="0">
              <a:lnSpc>
                <a:spcPct val="100000"/>
              </a:lnSpc>
              <a:spcBef>
                <a:spcPts val="0"/>
              </a:spcBef>
              <a:spcAft>
                <a:spcPts val="0"/>
              </a:spcAft>
              <a:buClr>
                <a:srgbClr val="000000"/>
              </a:buClr>
              <a:buSzPts val="6000"/>
              <a:buFont typeface="Arial"/>
              <a:buNone/>
            </a:pPr>
            <a:endParaRPr sz="6000" b="0" i="0" u="none" strike="noStrike" cap="none">
              <a:solidFill>
                <a:srgbClr val="000000"/>
              </a:solidFill>
              <a:latin typeface="Montserrat SemiBold"/>
              <a:ea typeface="Montserrat SemiBold"/>
              <a:cs typeface="Montserrat SemiBold"/>
              <a:sym typeface="Montserrat SemiBold"/>
            </a:endParaRPr>
          </a:p>
          <a:p>
            <a:pPr marL="0" marR="0" lvl="0" indent="0" algn="r" rtl="0">
              <a:lnSpc>
                <a:spcPct val="100000"/>
              </a:lnSpc>
              <a:spcBef>
                <a:spcPts val="0"/>
              </a:spcBef>
              <a:spcAft>
                <a:spcPts val="0"/>
              </a:spcAft>
              <a:buClr>
                <a:srgbClr val="000000"/>
              </a:buClr>
              <a:buSzPts val="6000"/>
              <a:buFont typeface="Arial"/>
              <a:buNone/>
            </a:pPr>
            <a:r>
              <a:rPr lang="en-US" sz="6000" b="0" i="0" u="none" strike="noStrike" cap="none">
                <a:solidFill>
                  <a:srgbClr val="000000"/>
                </a:solidFill>
                <a:latin typeface="Montserrat SemiBold"/>
                <a:ea typeface="Montserrat SemiBold"/>
                <a:cs typeface="Montserrat SemiBold"/>
                <a:sym typeface="Montserrat SemiBold"/>
              </a:rPr>
              <a:t>Parte II</a:t>
            </a:r>
            <a:endParaRPr sz="6000" b="0" i="0" u="none" strike="noStrike" cap="none">
              <a:solidFill>
                <a:srgbClr val="000000"/>
              </a:solidFill>
              <a:latin typeface="Montserrat SemiBold"/>
              <a:ea typeface="Montserrat SemiBold"/>
              <a:cs typeface="Montserrat SemiBold"/>
              <a:sym typeface="Montserrat SemiBold"/>
            </a:endParaRPr>
          </a:p>
        </p:txBody>
      </p:sp>
      <p:sp>
        <p:nvSpPr>
          <p:cNvPr id="581" name="Google Shape;581;p63"/>
          <p:cNvSpPr txBox="1"/>
          <p:nvPr/>
        </p:nvSpPr>
        <p:spPr>
          <a:xfrm>
            <a:off x="6593975" y="4171000"/>
            <a:ext cx="5058000" cy="1108200"/>
          </a:xfrm>
          <a:prstGeom prst="rect">
            <a:avLst/>
          </a:prstGeom>
          <a:noFill/>
          <a:ln>
            <a:noFill/>
          </a:ln>
        </p:spPr>
        <p:txBody>
          <a:bodyPr spcFirstLastPara="1" wrap="square" lIns="91425" tIns="91425" rIns="91425" bIns="91425" anchor="t" anchorCtr="0">
            <a:spAutoFit/>
          </a:bodyPr>
          <a:lstStyle/>
          <a:p>
            <a:pPr marL="0" marR="0" lvl="0" indent="0" algn="r" rtl="0">
              <a:lnSpc>
                <a:spcPct val="150000"/>
              </a:lnSpc>
              <a:spcBef>
                <a:spcPts val="0"/>
              </a:spcBef>
              <a:spcAft>
                <a:spcPts val="0"/>
              </a:spcAft>
              <a:buClr>
                <a:srgbClr val="000000"/>
              </a:buClr>
              <a:buSzPts val="2400"/>
              <a:buFont typeface="Arial"/>
              <a:buNone/>
            </a:pPr>
            <a:r>
              <a:rPr lang="en-US" sz="2400">
                <a:latin typeface="Montserrat"/>
                <a:ea typeface="Montserrat"/>
                <a:cs typeface="Montserrat"/>
                <a:sym typeface="Montserrat"/>
              </a:rPr>
              <a:t>if, else, elif, </a:t>
            </a:r>
            <a:r>
              <a:rPr lang="en-US" sz="2400" b="0" i="0" u="none" strike="noStrike" cap="none">
                <a:solidFill>
                  <a:srgbClr val="000000"/>
                </a:solidFill>
                <a:latin typeface="Montserrat"/>
                <a:ea typeface="Montserrat"/>
                <a:cs typeface="Montserrat"/>
                <a:sym typeface="Montserrat"/>
              </a:rPr>
              <a:t>for, while</a:t>
            </a:r>
            <a:endParaRPr sz="2400" b="0" i="0" u="none" strike="noStrike" cap="none">
              <a:solidFill>
                <a:srgbClr val="000000"/>
              </a:solidFill>
              <a:latin typeface="Montserrat"/>
              <a:ea typeface="Montserrat"/>
              <a:cs typeface="Montserrat"/>
              <a:sym typeface="Montserrat"/>
            </a:endParaRPr>
          </a:p>
          <a:p>
            <a:pPr marL="0" marR="0" lvl="0" indent="0" algn="r" rtl="0">
              <a:lnSpc>
                <a:spcPct val="150000"/>
              </a:lnSpc>
              <a:spcBef>
                <a:spcPts val="0"/>
              </a:spcBef>
              <a:spcAft>
                <a:spcPts val="0"/>
              </a:spcAft>
              <a:buClr>
                <a:srgbClr val="000000"/>
              </a:buClr>
              <a:buSzPts val="2400"/>
              <a:buFont typeface="Arial"/>
              <a:buNone/>
            </a:pPr>
            <a:r>
              <a:rPr lang="en-US" sz="2400" b="0" i="0" u="none" strike="noStrike" cap="none">
                <a:solidFill>
                  <a:srgbClr val="000000"/>
                </a:solidFill>
                <a:latin typeface="Montserrat"/>
                <a:ea typeface="Montserrat"/>
                <a:cs typeface="Montserrat"/>
                <a:sym typeface="Montserrat"/>
              </a:rPr>
              <a:t>funções</a:t>
            </a:r>
            <a:endParaRPr sz="2400" b="0" i="0" u="none" strike="noStrike" cap="none">
              <a:solidFill>
                <a:srgbClr val="000000"/>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4"/>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a:t>
            </a:r>
            <a:endParaRPr b="1">
              <a:latin typeface="Montserrat"/>
              <a:ea typeface="Montserrat"/>
              <a:cs typeface="Montserrat"/>
              <a:sym typeface="Montserrat"/>
            </a:endParaRPr>
          </a:p>
        </p:txBody>
      </p:sp>
      <p:sp>
        <p:nvSpPr>
          <p:cNvPr id="587" name="Google Shape;587;p64"/>
          <p:cNvSpPr txBox="1"/>
          <p:nvPr/>
        </p:nvSpPr>
        <p:spPr>
          <a:xfrm>
            <a:off x="1598295" y="2296795"/>
            <a:ext cx="9817800" cy="43251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Faça um programa que receba o nome e a idade de uma pessoa. </a:t>
            </a: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Caso essa pessoa tenha menos de 18 anos, exiba o aviso:</a:t>
            </a: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	</a:t>
            </a:r>
            <a:r>
              <a:rPr lang="en-US" sz="2500" b="0" i="0" u="none" strike="noStrike" cap="none">
                <a:solidFill>
                  <a:srgbClr val="AE2663"/>
                </a:solidFill>
                <a:latin typeface="Montserrat"/>
                <a:ea typeface="Montserrat"/>
                <a:cs typeface="Montserrat"/>
                <a:sym typeface="Montserrat"/>
              </a:rPr>
              <a:t>“</a:t>
            </a:r>
            <a:r>
              <a:rPr lang="en-US" sz="2500" b="0" i="1" u="none" strike="noStrike" cap="none">
                <a:solidFill>
                  <a:srgbClr val="AE2663"/>
                </a:solidFill>
                <a:latin typeface="Montserrat"/>
                <a:ea typeface="Montserrat"/>
                <a:cs typeface="Montserrat"/>
                <a:sym typeface="Montserrat"/>
              </a:rPr>
              <a:t>Fulano</a:t>
            </a:r>
            <a:r>
              <a:rPr lang="en-US" sz="2500" b="0" i="0" u="none" strike="noStrike" cap="none">
                <a:solidFill>
                  <a:srgbClr val="AE2663"/>
                </a:solidFill>
                <a:latin typeface="Montserrat"/>
                <a:ea typeface="Montserrat"/>
                <a:cs typeface="Montserrat"/>
                <a:sym typeface="Montserrat"/>
              </a:rPr>
              <a:t>, você não pode dirigir nem beber”</a:t>
            </a:r>
            <a:endParaRPr sz="25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Para as pessoas entre 18 e 65 anos, exiba o aviso:</a:t>
            </a: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	</a:t>
            </a:r>
            <a:r>
              <a:rPr lang="en-US" sz="2500" b="0" i="0" u="none" strike="noStrike" cap="none">
                <a:solidFill>
                  <a:srgbClr val="AE2663"/>
                </a:solidFill>
                <a:latin typeface="Montserrat"/>
                <a:ea typeface="Montserrat"/>
                <a:cs typeface="Montserrat"/>
                <a:sym typeface="Montserrat"/>
              </a:rPr>
              <a:t>“</a:t>
            </a:r>
            <a:r>
              <a:rPr lang="en-US" sz="2500" b="0" i="1" u="none" strike="noStrike" cap="none">
                <a:solidFill>
                  <a:srgbClr val="AE2663"/>
                </a:solidFill>
                <a:latin typeface="Montserrat"/>
                <a:ea typeface="Montserrat"/>
                <a:cs typeface="Montserrat"/>
                <a:sym typeface="Montserrat"/>
              </a:rPr>
              <a:t>Fulano</a:t>
            </a:r>
            <a:r>
              <a:rPr lang="en-US" sz="2500" b="0" i="0" u="none" strike="noStrike" cap="none">
                <a:solidFill>
                  <a:srgbClr val="AE2663"/>
                </a:solidFill>
                <a:latin typeface="Montserrat"/>
                <a:ea typeface="Montserrat"/>
                <a:cs typeface="Montserrat"/>
                <a:sym typeface="Montserrat"/>
              </a:rPr>
              <a:t>, bebida liberada! Só não vale dirigir!”</a:t>
            </a:r>
            <a:endParaRPr sz="25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endParaRPr sz="25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Para as pessoas com mais de 65 anos, exiba o aviso:</a:t>
            </a: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	</a:t>
            </a:r>
            <a:r>
              <a:rPr lang="en-US" sz="2500" b="0" i="0" u="none" strike="noStrike" cap="none">
                <a:solidFill>
                  <a:srgbClr val="AE2663"/>
                </a:solidFill>
                <a:latin typeface="Montserrat"/>
                <a:ea typeface="Montserrat"/>
                <a:cs typeface="Montserrat"/>
                <a:sym typeface="Montserrat"/>
              </a:rPr>
              <a:t>“</a:t>
            </a:r>
            <a:r>
              <a:rPr lang="en-US" sz="2500" b="0" i="1" u="none" strike="noStrike" cap="none">
                <a:solidFill>
                  <a:srgbClr val="AE2663"/>
                </a:solidFill>
                <a:latin typeface="Montserrat"/>
                <a:ea typeface="Montserrat"/>
                <a:cs typeface="Montserrat"/>
                <a:sym typeface="Montserrat"/>
              </a:rPr>
              <a:t>Fulano</a:t>
            </a:r>
            <a:r>
              <a:rPr lang="en-US" sz="2500" b="0" i="0" u="none" strike="noStrike" cap="none">
                <a:solidFill>
                  <a:srgbClr val="AE2663"/>
                </a:solidFill>
                <a:latin typeface="Montserrat"/>
                <a:ea typeface="Montserrat"/>
                <a:cs typeface="Montserrat"/>
                <a:sym typeface="Montserrat"/>
              </a:rPr>
              <a:t>, beba com muita moderação!”</a:t>
            </a:r>
            <a:endParaRPr sz="2500" b="0" i="0"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sp>
        <p:nvSpPr>
          <p:cNvPr id="592" name="Google Shape;592;p65"/>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2.2</a:t>
            </a:r>
            <a:endParaRPr b="1">
              <a:latin typeface="Montserrat"/>
              <a:ea typeface="Montserrat"/>
              <a:cs typeface="Montserrat"/>
              <a:sym typeface="Montserrat"/>
            </a:endParaRPr>
          </a:p>
        </p:txBody>
      </p:sp>
      <p:sp>
        <p:nvSpPr>
          <p:cNvPr id="593" name="Google Shape;593;p65"/>
          <p:cNvSpPr txBox="1"/>
          <p:nvPr/>
        </p:nvSpPr>
        <p:spPr>
          <a:xfrm>
            <a:off x="1598295" y="2296795"/>
            <a:ext cx="98178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um número. Verifique se o número informado é par ou ímpar. Exiba o resultado da seguinte maneira:</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	</a:t>
            </a:r>
            <a:r>
              <a:rPr lang="en-US" sz="3000" b="0" i="0" u="none" strike="noStrike" cap="none">
                <a:solidFill>
                  <a:srgbClr val="AE2663"/>
                </a:solidFill>
                <a:latin typeface="Montserrat"/>
                <a:ea typeface="Montserrat"/>
                <a:cs typeface="Montserrat"/>
                <a:sym typeface="Montserrat"/>
              </a:rPr>
              <a:t>O número </a:t>
            </a:r>
            <a:r>
              <a:rPr lang="en-US" sz="3000" b="0" i="1" u="none" strike="noStrike" cap="none">
                <a:solidFill>
                  <a:srgbClr val="AE2663"/>
                </a:solidFill>
                <a:latin typeface="Montserrat"/>
                <a:ea typeface="Montserrat"/>
                <a:cs typeface="Montserrat"/>
                <a:sym typeface="Montserrat"/>
              </a:rPr>
              <a:t>x</a:t>
            </a:r>
            <a:r>
              <a:rPr lang="en-US" sz="3000" b="0" i="0" u="none" strike="noStrike" cap="none">
                <a:solidFill>
                  <a:srgbClr val="AE2663"/>
                </a:solidFill>
                <a:latin typeface="Montserrat"/>
                <a:ea typeface="Montserrat"/>
                <a:cs typeface="Montserrat"/>
                <a:sym typeface="Montserrat"/>
              </a:rPr>
              <a:t> é impar</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ou</a:t>
            </a:r>
            <a:endParaRPr sz="3000" b="0" i="0"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	</a:t>
            </a:r>
            <a:r>
              <a:rPr lang="en-US" sz="3000" b="0" i="0" u="none" strike="noStrike" cap="none">
                <a:solidFill>
                  <a:srgbClr val="AE2663"/>
                </a:solidFill>
                <a:latin typeface="Montserrat"/>
                <a:ea typeface="Montserrat"/>
                <a:cs typeface="Montserrat"/>
                <a:sym typeface="Montserrat"/>
              </a:rPr>
              <a:t>O número </a:t>
            </a:r>
            <a:r>
              <a:rPr lang="en-US" sz="3000" b="0" i="1" u="none" strike="noStrike" cap="none">
                <a:solidFill>
                  <a:srgbClr val="AE2663"/>
                </a:solidFill>
                <a:latin typeface="Montserrat"/>
                <a:ea typeface="Montserrat"/>
                <a:cs typeface="Montserrat"/>
                <a:sym typeface="Montserrat"/>
              </a:rPr>
              <a:t>x</a:t>
            </a:r>
            <a:r>
              <a:rPr lang="en-US" sz="3000" b="0" i="0" u="none" strike="noStrike" cap="none">
                <a:solidFill>
                  <a:srgbClr val="AE2663"/>
                </a:solidFill>
                <a:latin typeface="Montserrat"/>
                <a:ea typeface="Montserrat"/>
                <a:cs typeface="Montserrat"/>
                <a:sym typeface="Montserrat"/>
              </a:rPr>
              <a:t> é par</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66"/>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2.3</a:t>
            </a:r>
            <a:endParaRPr b="1">
              <a:latin typeface="Montserrat"/>
              <a:ea typeface="Montserrat"/>
              <a:cs typeface="Montserrat"/>
              <a:sym typeface="Montserrat"/>
            </a:endParaRPr>
          </a:p>
        </p:txBody>
      </p:sp>
      <p:sp>
        <p:nvSpPr>
          <p:cNvPr id="599" name="Google Shape;599;p66"/>
          <p:cNvSpPr txBox="1"/>
          <p:nvPr/>
        </p:nvSpPr>
        <p:spPr>
          <a:xfrm>
            <a:off x="1598295" y="2296795"/>
            <a:ext cx="9817800" cy="1477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solicite ao usuário um nome e uma idade, e crie um dicionário com essas informações. Em seguida, exiba o dicionário.</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67"/>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2.4</a:t>
            </a:r>
            <a:endParaRPr b="1">
              <a:latin typeface="Montserrat"/>
              <a:ea typeface="Montserrat"/>
              <a:cs typeface="Montserrat"/>
              <a:sym typeface="Montserrat"/>
            </a:endParaRPr>
          </a:p>
        </p:txBody>
      </p:sp>
      <p:sp>
        <p:nvSpPr>
          <p:cNvPr id="605" name="Google Shape;605;p67"/>
          <p:cNvSpPr txBox="1"/>
          <p:nvPr/>
        </p:nvSpPr>
        <p:spPr>
          <a:xfrm>
            <a:off x="1598295" y="3296920"/>
            <a:ext cx="87654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4 notas de um aluno. Retorne a média dessas notas, a menor e a maior nota:</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Média: x</a:t>
            </a: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Menor: y</a:t>
            </a:r>
            <a:endParaRPr sz="3000" b="0" i="1"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1" u="none" strike="noStrike" cap="none">
                <a:solidFill>
                  <a:srgbClr val="0B5982"/>
                </a:solidFill>
                <a:latin typeface="Montserrat"/>
                <a:ea typeface="Montserrat"/>
                <a:cs typeface="Montserrat"/>
                <a:sym typeface="Montserrat"/>
              </a:rPr>
              <a:t>Maior: z</a:t>
            </a:r>
            <a:endParaRPr sz="3000" b="0" i="1"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8"/>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2.5</a:t>
            </a:r>
            <a:endParaRPr b="1">
              <a:latin typeface="Montserrat"/>
              <a:ea typeface="Montserrat"/>
              <a:cs typeface="Montserrat"/>
              <a:sym typeface="Montserrat"/>
            </a:endParaRPr>
          </a:p>
        </p:txBody>
      </p:sp>
      <p:sp>
        <p:nvSpPr>
          <p:cNvPr id="611" name="Google Shape;611;p68"/>
          <p:cNvSpPr txBox="1"/>
          <p:nvPr/>
        </p:nvSpPr>
        <p:spPr>
          <a:xfrm>
            <a:off x="1598295" y="2296795"/>
            <a:ext cx="9817800" cy="3940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Considere a lista: </a:t>
            </a:r>
            <a:r>
              <a:rPr lang="en-US" sz="2500" b="0" i="0" u="none" strike="noStrike" cap="none">
                <a:solidFill>
                  <a:srgbClr val="AE2663"/>
                </a:solidFill>
                <a:latin typeface="Montserrat"/>
                <a:ea typeface="Montserrat"/>
                <a:cs typeface="Montserrat"/>
                <a:sym typeface="Montserrat"/>
              </a:rPr>
              <a:t>[120, “Python”, 120.01, “asw”, False, [10,20] ]</a:t>
            </a: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Montserrat"/>
                <a:ea typeface="Montserrat"/>
                <a:cs typeface="Montserrat"/>
                <a:sym typeface="Montserrat"/>
              </a:rPr>
              <a:t>Faça um programa que retorne as seguintes informações:</a:t>
            </a:r>
            <a:endParaRPr sz="2500" b="0" i="0" u="none" strike="noStrike" cap="none">
              <a:solidFill>
                <a:schemeClr val="dk1"/>
              </a:solidFill>
              <a:latin typeface="Montserrat"/>
              <a:ea typeface="Montserrat"/>
              <a:cs typeface="Montserrat"/>
              <a:sym typeface="Montserrat"/>
            </a:endParaRPr>
          </a:p>
          <a:p>
            <a:pPr marL="800100" marR="0" lvl="1" indent="-349250" algn="just" rtl="0">
              <a:lnSpc>
                <a:spcPct val="100000"/>
              </a:lnSpc>
              <a:spcBef>
                <a:spcPts val="0"/>
              </a:spcBef>
              <a:spcAft>
                <a:spcPts val="0"/>
              </a:spcAft>
              <a:buClr>
                <a:schemeClr val="dk1"/>
              </a:buClr>
              <a:buSzPts val="2500"/>
              <a:buFont typeface="Montserrat"/>
              <a:buChar char="•"/>
            </a:pPr>
            <a:r>
              <a:rPr lang="en-US" sz="2500" b="0" i="0" u="none" strike="noStrike" cap="none">
                <a:solidFill>
                  <a:schemeClr val="dk1"/>
                </a:solidFill>
                <a:latin typeface="Montserrat"/>
                <a:ea typeface="Montserrat"/>
                <a:cs typeface="Montserrat"/>
                <a:sym typeface="Montserrat"/>
              </a:rPr>
              <a:t>Elemento na posição -1 da lista</a:t>
            </a:r>
            <a:endParaRPr sz="2500" b="0" i="0" u="none" strike="noStrike" cap="none">
              <a:solidFill>
                <a:schemeClr val="dk1"/>
              </a:solidFill>
              <a:latin typeface="Montserrat"/>
              <a:ea typeface="Montserrat"/>
              <a:cs typeface="Montserrat"/>
              <a:sym typeface="Montserrat"/>
            </a:endParaRPr>
          </a:p>
          <a:p>
            <a:pPr marL="800100" marR="0" lvl="1" indent="-349250" algn="just" rtl="0">
              <a:lnSpc>
                <a:spcPct val="100000"/>
              </a:lnSpc>
              <a:spcBef>
                <a:spcPts val="0"/>
              </a:spcBef>
              <a:spcAft>
                <a:spcPts val="0"/>
              </a:spcAft>
              <a:buClr>
                <a:schemeClr val="dk1"/>
              </a:buClr>
              <a:buSzPts val="2500"/>
              <a:buFont typeface="Montserrat"/>
              <a:buChar char="•"/>
            </a:pPr>
            <a:r>
              <a:rPr lang="en-US" sz="2500" b="0" i="0" u="none" strike="noStrike" cap="none">
                <a:solidFill>
                  <a:schemeClr val="dk1"/>
                </a:solidFill>
                <a:latin typeface="Montserrat"/>
                <a:ea typeface="Montserrat"/>
                <a:cs typeface="Montserrat"/>
                <a:sym typeface="Montserrat"/>
              </a:rPr>
              <a:t>Elemento na primeira posição da lista</a:t>
            </a:r>
            <a:endParaRPr sz="2500" b="0" i="0" u="none" strike="noStrike" cap="none">
              <a:solidFill>
                <a:schemeClr val="dk1"/>
              </a:solidFill>
              <a:latin typeface="Montserrat"/>
              <a:ea typeface="Montserrat"/>
              <a:cs typeface="Montserrat"/>
              <a:sym typeface="Montserrat"/>
            </a:endParaRPr>
          </a:p>
          <a:p>
            <a:pPr marL="800100" marR="0" lvl="1" indent="-349250" algn="just" rtl="0">
              <a:lnSpc>
                <a:spcPct val="100000"/>
              </a:lnSpc>
              <a:spcBef>
                <a:spcPts val="0"/>
              </a:spcBef>
              <a:spcAft>
                <a:spcPts val="0"/>
              </a:spcAft>
              <a:buClr>
                <a:schemeClr val="dk1"/>
              </a:buClr>
              <a:buSzPts val="2500"/>
              <a:buFont typeface="Montserrat"/>
              <a:buChar char="•"/>
            </a:pPr>
            <a:r>
              <a:rPr lang="en-US" sz="2500" b="0" i="0" u="none" strike="noStrike" cap="none">
                <a:solidFill>
                  <a:schemeClr val="dk1"/>
                </a:solidFill>
                <a:latin typeface="Montserrat"/>
                <a:ea typeface="Montserrat"/>
                <a:cs typeface="Montserrat"/>
                <a:sym typeface="Montserrat"/>
              </a:rPr>
              <a:t>O último caractere do segundo elemento da lista</a:t>
            </a:r>
            <a:endParaRPr sz="2500" b="0" i="0" u="none" strike="noStrike" cap="none">
              <a:solidFill>
                <a:schemeClr val="dk1"/>
              </a:solidFill>
              <a:latin typeface="Montserrat"/>
              <a:ea typeface="Montserrat"/>
              <a:cs typeface="Montserrat"/>
              <a:sym typeface="Montserrat"/>
            </a:endParaRPr>
          </a:p>
          <a:p>
            <a:pPr marL="800100" marR="0" lvl="1" indent="-190500" algn="just" rtl="0">
              <a:lnSpc>
                <a:spcPct val="100000"/>
              </a:lnSpc>
              <a:spcBef>
                <a:spcPts val="0"/>
              </a:spcBef>
              <a:spcAft>
                <a:spcPts val="0"/>
              </a:spcAft>
              <a:buClr>
                <a:schemeClr val="dk1"/>
              </a:buClr>
              <a:buSzPts val="2400"/>
              <a:buFont typeface="Arial"/>
              <a:buNone/>
            </a:pPr>
            <a:endParaRPr sz="25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B5982"/>
              </a:buClr>
              <a:buSzPts val="2400"/>
              <a:buFont typeface="Arial"/>
              <a:buNone/>
            </a:pPr>
            <a:r>
              <a:rPr lang="en-US" sz="2500" b="0" i="0" u="none" strike="noStrike" cap="none">
                <a:solidFill>
                  <a:srgbClr val="0B5982"/>
                </a:solidFill>
                <a:latin typeface="Montserrat"/>
                <a:ea typeface="Montserrat"/>
                <a:cs typeface="Montserrat"/>
                <a:sym typeface="Montserrat"/>
              </a:rPr>
              <a:t>Elemento -1: x</a:t>
            </a:r>
            <a:endParaRPr sz="2500" b="0" i="0"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B5982"/>
              </a:buClr>
              <a:buSzPts val="2400"/>
              <a:buFont typeface="Arial"/>
              <a:buNone/>
            </a:pPr>
            <a:r>
              <a:rPr lang="en-US" sz="2500" b="0" i="0" u="none" strike="noStrike" cap="none">
                <a:solidFill>
                  <a:srgbClr val="0B5982"/>
                </a:solidFill>
                <a:latin typeface="Montserrat"/>
                <a:ea typeface="Montserrat"/>
                <a:cs typeface="Montserrat"/>
                <a:sym typeface="Montserrat"/>
              </a:rPr>
              <a:t>Primeiro elemento: y</a:t>
            </a:r>
            <a:endParaRPr sz="2500" b="0" i="0" u="none" strike="noStrike" cap="none">
              <a:solidFill>
                <a:srgbClr val="0B598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B5982"/>
              </a:buClr>
              <a:buSzPts val="2400"/>
              <a:buFont typeface="Arial"/>
              <a:buNone/>
            </a:pPr>
            <a:r>
              <a:rPr lang="en-US" sz="2500" b="0" i="0" u="none" strike="noStrike" cap="none">
                <a:solidFill>
                  <a:srgbClr val="0B5982"/>
                </a:solidFill>
                <a:latin typeface="Montserrat"/>
                <a:ea typeface="Montserrat"/>
                <a:cs typeface="Montserrat"/>
                <a:sym typeface="Montserrat"/>
              </a:rPr>
              <a:t>Último caractere do segundo elemento: z</a:t>
            </a:r>
            <a:endParaRPr sz="2500" b="0" i="0"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69"/>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2.6</a:t>
            </a:r>
            <a:endParaRPr b="1">
              <a:latin typeface="Montserrat"/>
              <a:ea typeface="Montserrat"/>
              <a:cs typeface="Montserrat"/>
              <a:sym typeface="Montserrat"/>
            </a:endParaRPr>
          </a:p>
        </p:txBody>
      </p:sp>
      <p:sp>
        <p:nvSpPr>
          <p:cNvPr id="617" name="Google Shape;617;p69"/>
          <p:cNvSpPr txBox="1"/>
          <p:nvPr/>
        </p:nvSpPr>
        <p:spPr>
          <a:xfrm>
            <a:off x="1598295" y="2296795"/>
            <a:ext cx="9817800" cy="1477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solicite ao usuário duas strings e as concatene em uma única String. Em seguida, exiba a String resultante.</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70"/>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2.7</a:t>
            </a:r>
            <a:endParaRPr b="1">
              <a:latin typeface="Montserrat"/>
              <a:ea typeface="Montserrat"/>
              <a:cs typeface="Montserrat"/>
              <a:sym typeface="Montserrat"/>
            </a:endParaRPr>
          </a:p>
        </p:txBody>
      </p:sp>
      <p:sp>
        <p:nvSpPr>
          <p:cNvPr id="623" name="Google Shape;623;p70"/>
          <p:cNvSpPr txBox="1"/>
          <p:nvPr/>
        </p:nvSpPr>
        <p:spPr>
          <a:xfrm>
            <a:off x="1598295" y="2296795"/>
            <a:ext cx="9817800" cy="1015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Solicite ao usuário o nome de uma fruta e exiba o preço correspondente.</a:t>
            </a:r>
            <a:endParaRPr sz="3000" b="0" i="0" u="none" strike="noStrike" cap="none">
              <a:solidFill>
                <a:srgbClr val="AE2663"/>
              </a:solidFill>
              <a:latin typeface="Montserrat"/>
              <a:ea typeface="Montserrat"/>
              <a:cs typeface="Montserrat"/>
              <a:sym typeface="Montserrat"/>
            </a:endParaRPr>
          </a:p>
        </p:txBody>
      </p:sp>
      <p:sp>
        <p:nvSpPr>
          <p:cNvPr id="624" name="Google Shape;624;p70"/>
          <p:cNvSpPr txBox="1"/>
          <p:nvPr/>
        </p:nvSpPr>
        <p:spPr>
          <a:xfrm>
            <a:off x="1598297" y="4653250"/>
            <a:ext cx="3284100" cy="18624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Maçã: R$1,50</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Banana: R$2,75</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Uva: R$1,90</a:t>
            </a:r>
            <a:endParaRPr sz="2300" b="0" i="0" u="none" strike="noStrike" cap="none">
              <a:solidFill>
                <a:schemeClr val="dk1"/>
              </a:solidFill>
              <a:latin typeface="Montserrat"/>
              <a:ea typeface="Montserrat"/>
              <a:cs typeface="Montserrat"/>
              <a:sym typeface="Montserrat"/>
            </a:endParaRPr>
          </a:p>
        </p:txBody>
      </p:sp>
      <p:sp>
        <p:nvSpPr>
          <p:cNvPr id="625" name="Google Shape;625;p70"/>
          <p:cNvSpPr txBox="1"/>
          <p:nvPr/>
        </p:nvSpPr>
        <p:spPr>
          <a:xfrm>
            <a:off x="4837622" y="4653250"/>
            <a:ext cx="3284100" cy="18624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Pera: R$1,25</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Laranja: R$0,65</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Limão: R$1,25</a:t>
            </a:r>
            <a:endParaRPr sz="2300" b="0" i="0" u="none" strike="noStrike" cap="none">
              <a:solidFill>
                <a:schemeClr val="dk1"/>
              </a:solidFill>
              <a:latin typeface="Montserrat"/>
              <a:ea typeface="Montserrat"/>
              <a:cs typeface="Montserrat"/>
              <a:sym typeface="Montserrat"/>
            </a:endParaRPr>
          </a:p>
        </p:txBody>
      </p:sp>
      <p:sp>
        <p:nvSpPr>
          <p:cNvPr id="626" name="Google Shape;626;p70"/>
          <p:cNvSpPr txBox="1"/>
          <p:nvPr/>
        </p:nvSpPr>
        <p:spPr>
          <a:xfrm>
            <a:off x="8291697" y="4653250"/>
            <a:ext cx="3284100" cy="18624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Goiaba: R$2,15</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Abacaxi: R$3,20</a:t>
            </a: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endParaRPr sz="23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Montserrat"/>
                <a:ea typeface="Montserrat"/>
                <a:cs typeface="Montserrat"/>
                <a:sym typeface="Montserrat"/>
              </a:rPr>
              <a:t>Jaca: R$5,80</a:t>
            </a:r>
            <a:endParaRPr sz="2300" b="0" i="0" u="none" strike="noStrike" cap="none">
              <a:solidFill>
                <a:schemeClr val="dk1"/>
              </a:solidFill>
              <a:latin typeface="Montserrat"/>
              <a:ea typeface="Montserrat"/>
              <a:cs typeface="Montserrat"/>
              <a:sym typeface="Montserra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71"/>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2.8</a:t>
            </a:r>
            <a:endParaRPr b="1">
              <a:latin typeface="Montserrat"/>
              <a:ea typeface="Montserrat"/>
              <a:cs typeface="Montserrat"/>
              <a:sym typeface="Montserrat"/>
            </a:endParaRPr>
          </a:p>
        </p:txBody>
      </p:sp>
      <p:sp>
        <p:nvSpPr>
          <p:cNvPr id="632" name="Google Shape;632;p71"/>
          <p:cNvSpPr txBox="1"/>
          <p:nvPr/>
        </p:nvSpPr>
        <p:spPr>
          <a:xfrm>
            <a:off x="1598295" y="2296795"/>
            <a:ext cx="9817800" cy="1015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chemeClr val="dk1"/>
              </a:buClr>
              <a:buSzPts val="2400"/>
              <a:buFont typeface="Arial"/>
              <a:buNone/>
            </a:pPr>
            <a:r>
              <a:rPr lang="en-US" sz="3000" b="0" i="0" u="none" strike="noStrike" cap="none">
                <a:solidFill>
                  <a:schemeClr val="dk1"/>
                </a:solidFill>
                <a:latin typeface="Montserrat"/>
                <a:ea typeface="Montserrat"/>
                <a:cs typeface="Montserrat"/>
                <a:sym typeface="Montserrat"/>
              </a:rPr>
              <a:t>Refaça o exercício 2.</a:t>
            </a:r>
            <a:r>
              <a:rPr lang="en-US" sz="3000">
                <a:solidFill>
                  <a:schemeClr val="dk1"/>
                </a:solidFill>
                <a:latin typeface="Montserrat"/>
                <a:ea typeface="Montserrat"/>
                <a:cs typeface="Montserrat"/>
                <a:sym typeface="Montserrat"/>
              </a:rPr>
              <a:t>4</a:t>
            </a:r>
            <a:r>
              <a:rPr lang="en-US" sz="3000" b="0" i="0" u="none" strike="noStrike" cap="none">
                <a:solidFill>
                  <a:schemeClr val="dk1"/>
                </a:solidFill>
                <a:latin typeface="Montserrat"/>
                <a:ea typeface="Montserrat"/>
                <a:cs typeface="Montserrat"/>
                <a:sym typeface="Montserrat"/>
              </a:rPr>
              <a:t> utilizando </a:t>
            </a:r>
            <a:r>
              <a:rPr lang="en-US" sz="3000" b="1" i="0" u="none" strike="noStrike" cap="none">
                <a:solidFill>
                  <a:schemeClr val="dk1"/>
                </a:solidFill>
                <a:latin typeface="Montserrat"/>
                <a:ea typeface="Montserrat"/>
                <a:cs typeface="Montserrat"/>
                <a:sym typeface="Montserrat"/>
              </a:rPr>
              <a:t>for</a:t>
            </a:r>
            <a:r>
              <a:rPr lang="en-US" sz="3000" b="0" i="0" u="none" strike="noStrike" cap="none">
                <a:solidFill>
                  <a:schemeClr val="dk1"/>
                </a:solidFill>
                <a:latin typeface="Montserrat"/>
                <a:ea typeface="Montserrat"/>
                <a:cs typeface="Montserrat"/>
                <a:sym typeface="Montserrat"/>
              </a:rPr>
              <a:t> e </a:t>
            </a:r>
            <a:r>
              <a:rPr lang="en-US" sz="3000" b="1" i="0" u="none" strike="noStrike" cap="none">
                <a:solidFill>
                  <a:schemeClr val="dk1"/>
                </a:solidFill>
                <a:latin typeface="Montserrat"/>
                <a:ea typeface="Montserrat"/>
                <a:cs typeface="Montserrat"/>
                <a:sym typeface="Montserrat"/>
              </a:rPr>
              <a:t>listas</a:t>
            </a:r>
            <a:r>
              <a:rPr lang="en-US" sz="3000" b="0" i="0" u="none" strike="noStrike" cap="none">
                <a:solidFill>
                  <a:schemeClr val="dk1"/>
                </a:solidFill>
                <a:latin typeface="Montserrat"/>
                <a:ea typeface="Montserrat"/>
                <a:cs typeface="Montserrat"/>
                <a:sym typeface="Montserrat"/>
              </a:rPr>
              <a:t> para receber as notas dos alunos</a:t>
            </a:r>
            <a:endParaRPr sz="3000" b="0" i="0" u="none" strike="noStrike" cap="none">
              <a:solidFill>
                <a:srgbClr val="0B5982"/>
              </a:solidFill>
              <a:latin typeface="Montserrat"/>
              <a:ea typeface="Montserrat"/>
              <a:cs typeface="Montserrat"/>
              <a:sym typeface="Montserra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72"/>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2.9</a:t>
            </a:r>
            <a:endParaRPr b="1">
              <a:latin typeface="Montserrat"/>
              <a:ea typeface="Montserrat"/>
              <a:cs typeface="Montserrat"/>
              <a:sym typeface="Montserrat"/>
            </a:endParaRPr>
          </a:p>
        </p:txBody>
      </p:sp>
      <p:sp>
        <p:nvSpPr>
          <p:cNvPr id="638" name="Google Shape;638;p72"/>
          <p:cNvSpPr txBox="1"/>
          <p:nvPr/>
        </p:nvSpPr>
        <p:spPr>
          <a:xfrm>
            <a:off x="1598295" y="2296795"/>
            <a:ext cx="98178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um número. Verifique se este número é primo ou não, e retorne o resultado: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	O número </a:t>
            </a:r>
            <a:r>
              <a:rPr lang="en-US" sz="3000" b="0" i="1" u="none" strike="noStrike" cap="none">
                <a:solidFill>
                  <a:srgbClr val="AE2663"/>
                </a:solidFill>
                <a:latin typeface="Montserrat"/>
                <a:ea typeface="Montserrat"/>
                <a:cs typeface="Montserrat"/>
                <a:sym typeface="Montserrat"/>
              </a:rPr>
              <a:t>x</a:t>
            </a:r>
            <a:r>
              <a:rPr lang="en-US" sz="3000" b="0" i="0" u="none" strike="noStrike" cap="none">
                <a:solidFill>
                  <a:srgbClr val="AE2663"/>
                </a:solidFill>
                <a:latin typeface="Montserrat"/>
                <a:ea typeface="Montserrat"/>
                <a:cs typeface="Montserrat"/>
                <a:sym typeface="Montserrat"/>
              </a:rPr>
              <a:t> é primo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ou</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	</a:t>
            </a:r>
            <a:r>
              <a:rPr lang="en-US" sz="3000" b="0" i="0" u="none" strike="noStrike" cap="none">
                <a:solidFill>
                  <a:srgbClr val="AE2663"/>
                </a:solidFill>
                <a:latin typeface="Montserrat"/>
                <a:ea typeface="Montserrat"/>
                <a:cs typeface="Montserrat"/>
                <a:sym typeface="Montserrat"/>
              </a:rPr>
              <a:t>O número </a:t>
            </a:r>
            <a:r>
              <a:rPr lang="en-US" sz="3000" b="0" i="1" u="none" strike="noStrike" cap="none">
                <a:solidFill>
                  <a:srgbClr val="AE2663"/>
                </a:solidFill>
                <a:latin typeface="Montserrat"/>
                <a:ea typeface="Montserrat"/>
                <a:cs typeface="Montserrat"/>
                <a:sym typeface="Montserrat"/>
              </a:rPr>
              <a:t>x não </a:t>
            </a:r>
            <a:r>
              <a:rPr lang="en-US" sz="3000" b="0" i="0" u="none" strike="noStrike" cap="none">
                <a:solidFill>
                  <a:srgbClr val="AE2663"/>
                </a:solidFill>
                <a:latin typeface="Montserrat"/>
                <a:ea typeface="Montserrat"/>
                <a:cs typeface="Montserrat"/>
                <a:sym typeface="Montserrat"/>
              </a:rPr>
              <a:t>é primo</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73"/>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2.10</a:t>
            </a:r>
            <a:endParaRPr b="1">
              <a:latin typeface="Montserrat"/>
              <a:ea typeface="Montserrat"/>
              <a:cs typeface="Montserrat"/>
              <a:sym typeface="Montserrat"/>
            </a:endParaRPr>
          </a:p>
        </p:txBody>
      </p:sp>
      <p:sp>
        <p:nvSpPr>
          <p:cNvPr id="644" name="Google Shape;644;p73"/>
          <p:cNvSpPr txBox="1"/>
          <p:nvPr/>
        </p:nvSpPr>
        <p:spPr>
          <a:xfrm>
            <a:off x="1598295" y="2296795"/>
            <a:ext cx="98178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um número. Este número corresponde a uma posição na sequência de Fibonacci: 1, 1, 2, 3, 5,...</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Exiba o número da sequência cuja posição foi informada:</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	A posição x corresponde ao número y</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4"/>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2.11</a:t>
            </a:r>
            <a:endParaRPr b="1">
              <a:latin typeface="Montserrat"/>
              <a:ea typeface="Montserrat"/>
              <a:cs typeface="Montserrat"/>
              <a:sym typeface="Montserrat"/>
            </a:endParaRPr>
          </a:p>
        </p:txBody>
      </p:sp>
      <p:sp>
        <p:nvSpPr>
          <p:cNvPr id="650" name="Google Shape;650;p74"/>
          <p:cNvSpPr txBox="1"/>
          <p:nvPr/>
        </p:nvSpPr>
        <p:spPr>
          <a:xfrm>
            <a:off x="1598295" y="2296795"/>
            <a:ext cx="9817800" cy="3324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com uma função que recebe uma frase. Para cada palavra nesta frase, inverta a ordem das letras. Exiba o resultado:</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rgbClr val="3F662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3F6622"/>
                </a:solidFill>
                <a:latin typeface="Montserrat"/>
                <a:ea typeface="Montserrat"/>
                <a:cs typeface="Montserrat"/>
                <a:sym typeface="Montserrat"/>
              </a:rPr>
              <a:t>	Esta é a frase original</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	atsE é a esarf lanigiro</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75"/>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2.12</a:t>
            </a:r>
            <a:endParaRPr b="1">
              <a:latin typeface="Montserrat"/>
              <a:ea typeface="Montserrat"/>
              <a:cs typeface="Montserrat"/>
              <a:sym typeface="Montserrat"/>
            </a:endParaRPr>
          </a:p>
        </p:txBody>
      </p:sp>
      <p:sp>
        <p:nvSpPr>
          <p:cNvPr id="656" name="Google Shape;656;p75"/>
          <p:cNvSpPr txBox="1"/>
          <p:nvPr/>
        </p:nvSpPr>
        <p:spPr>
          <a:xfrm>
            <a:off x="1598295" y="2296795"/>
            <a:ext cx="9817800" cy="28629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exiba os números de 1 a 100. Caso o número seja divisível por 3, exiba “</a:t>
            </a:r>
            <a:r>
              <a:rPr lang="en-US" sz="3000" b="1" i="0" u="none" strike="noStrike" cap="none">
                <a:solidFill>
                  <a:schemeClr val="dk1"/>
                </a:solidFill>
                <a:latin typeface="Montserrat"/>
                <a:ea typeface="Montserrat"/>
                <a:cs typeface="Montserrat"/>
                <a:sym typeface="Montserrat"/>
              </a:rPr>
              <a:t>Fizz</a:t>
            </a:r>
            <a:r>
              <a:rPr lang="en-US" sz="3000" b="0" i="0" u="none" strike="noStrike" cap="none">
                <a:solidFill>
                  <a:schemeClr val="dk1"/>
                </a:solidFill>
                <a:latin typeface="Montserrat"/>
                <a:ea typeface="Montserrat"/>
                <a:cs typeface="Montserrat"/>
                <a:sym typeface="Montserrat"/>
              </a:rPr>
              <a:t>” no seu lugar, e para múltiplos de 5 exiba “</a:t>
            </a:r>
            <a:r>
              <a:rPr lang="en-US" sz="3000" b="1" i="0" u="none" strike="noStrike" cap="none">
                <a:solidFill>
                  <a:schemeClr val="dk1"/>
                </a:solidFill>
                <a:latin typeface="Montserrat"/>
                <a:ea typeface="Montserrat"/>
                <a:cs typeface="Montserrat"/>
                <a:sym typeface="Montserrat"/>
              </a:rPr>
              <a:t>Buzz</a:t>
            </a:r>
            <a:r>
              <a:rPr lang="en-US" sz="3000" b="0" i="0" u="none" strike="noStrike" cap="none">
                <a:solidFill>
                  <a:schemeClr val="dk1"/>
                </a:solidFill>
                <a:latin typeface="Montserrat"/>
                <a:ea typeface="Montserrat"/>
                <a:cs typeface="Montserrat"/>
                <a:sym typeface="Montserrat"/>
              </a:rPr>
              <a:t>”. Caso seja divisível por ambos, exiba “</a:t>
            </a:r>
            <a:r>
              <a:rPr lang="en-US" sz="3000" b="1" i="0" u="none" strike="noStrike" cap="none">
                <a:solidFill>
                  <a:schemeClr val="dk1"/>
                </a:solidFill>
                <a:latin typeface="Montserrat"/>
                <a:ea typeface="Montserrat"/>
                <a:cs typeface="Montserrat"/>
                <a:sym typeface="Montserrat"/>
              </a:rPr>
              <a:t>FizzBuzz</a:t>
            </a:r>
            <a:r>
              <a:rPr lang="en-US" sz="3000" b="0" i="0" u="none" strike="noStrike" cap="none">
                <a:solidFill>
                  <a:schemeClr val="dk1"/>
                </a:solidFill>
                <a:latin typeface="Montserrat"/>
                <a:ea typeface="Montserrat"/>
                <a:cs typeface="Montserrat"/>
                <a:sym typeface="Montserrat"/>
              </a:rPr>
              <a:t>”.</a:t>
            </a:r>
            <a:endParaRPr sz="3000" b="0" i="0" u="none" strike="noStrike" cap="none">
              <a:solidFill>
                <a:srgbClr val="3F6622"/>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6"/>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2.13</a:t>
            </a:r>
            <a:endParaRPr b="1">
              <a:latin typeface="Montserrat"/>
              <a:ea typeface="Montserrat"/>
              <a:cs typeface="Montserrat"/>
              <a:sym typeface="Montserrat"/>
            </a:endParaRPr>
          </a:p>
        </p:txBody>
      </p:sp>
      <p:sp>
        <p:nvSpPr>
          <p:cNvPr id="662" name="Google Shape;662;p76"/>
          <p:cNvSpPr txBox="1"/>
          <p:nvPr/>
        </p:nvSpPr>
        <p:spPr>
          <a:xfrm>
            <a:off x="1598295" y="2296795"/>
            <a:ext cx="9817800" cy="1015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receba um número e </a:t>
            </a:r>
            <a:r>
              <a:rPr lang="en-US" sz="3000">
                <a:solidFill>
                  <a:schemeClr val="dk1"/>
                </a:solidFill>
                <a:latin typeface="Montserrat"/>
                <a:ea typeface="Montserrat"/>
                <a:cs typeface="Montserrat"/>
                <a:sym typeface="Montserrat"/>
              </a:rPr>
              <a:t>exiba</a:t>
            </a:r>
            <a:r>
              <a:rPr lang="en-US" sz="3000" b="0" i="0" u="none" strike="noStrike" cap="none">
                <a:solidFill>
                  <a:schemeClr val="dk1"/>
                </a:solidFill>
                <a:latin typeface="Montserrat"/>
                <a:ea typeface="Montserrat"/>
                <a:cs typeface="Montserrat"/>
                <a:sym typeface="Montserrat"/>
              </a:rPr>
              <a:t> seu fatorial.</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77"/>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2.14</a:t>
            </a:r>
            <a:endParaRPr b="1">
              <a:latin typeface="Montserrat"/>
              <a:ea typeface="Montserrat"/>
              <a:cs typeface="Montserrat"/>
              <a:sym typeface="Montserrat"/>
            </a:endParaRPr>
          </a:p>
        </p:txBody>
      </p:sp>
      <p:sp>
        <p:nvSpPr>
          <p:cNvPr id="668" name="Google Shape;668;p77"/>
          <p:cNvSpPr txBox="1"/>
          <p:nvPr/>
        </p:nvSpPr>
        <p:spPr>
          <a:xfrm>
            <a:off x="1598295" y="2296795"/>
            <a:ext cx="9817800" cy="3786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Considere a seguinte lista:</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2F5496"/>
                </a:solidFill>
                <a:latin typeface="Montserrat"/>
                <a:ea typeface="Montserrat"/>
                <a:cs typeface="Montserrat"/>
                <a:sym typeface="Montserrat"/>
              </a:rPr>
              <a:t>[123, 435, 987, 1984, 2, 19, 423, -178, 320]</a:t>
            </a:r>
            <a:endParaRPr sz="3000" b="0" i="0" u="none" strike="noStrike" cap="none">
              <a:solidFill>
                <a:srgbClr val="2F5496"/>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Faça um programa que retorne a </a:t>
            </a:r>
            <a:r>
              <a:rPr lang="en-US" sz="3000" b="1" i="0" u="none" strike="noStrike" cap="none">
                <a:solidFill>
                  <a:schemeClr val="dk1"/>
                </a:solidFill>
                <a:latin typeface="Montserrat"/>
                <a:ea typeface="Montserrat"/>
                <a:cs typeface="Montserrat"/>
                <a:sym typeface="Montserrat"/>
              </a:rPr>
              <a:t>posição</a:t>
            </a:r>
            <a:r>
              <a:rPr lang="en-US" sz="3000" b="0" i="0" u="none" strike="noStrike" cap="none">
                <a:solidFill>
                  <a:schemeClr val="dk1"/>
                </a:solidFill>
                <a:latin typeface="Montserrat"/>
                <a:ea typeface="Montserrat"/>
                <a:cs typeface="Montserrat"/>
                <a:sym typeface="Montserrat"/>
              </a:rPr>
              <a:t> do menor e do maior valor encontrado:</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O maior valor está na posição x</a:t>
            </a:r>
            <a:endParaRPr sz="3000" b="0" i="0" u="none" strike="noStrike" cap="none">
              <a:solidFill>
                <a:srgbClr val="AE2663"/>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rgbClr val="AE2663"/>
                </a:solidFill>
                <a:latin typeface="Montserrat"/>
                <a:ea typeface="Montserrat"/>
                <a:cs typeface="Montserrat"/>
                <a:sym typeface="Montserrat"/>
              </a:rPr>
              <a:t>O menor valor está na posição y</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78"/>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2.15</a:t>
            </a:r>
            <a:endParaRPr b="1">
              <a:latin typeface="Montserrat"/>
              <a:ea typeface="Montserrat"/>
              <a:cs typeface="Montserrat"/>
              <a:sym typeface="Montserrat"/>
            </a:endParaRPr>
          </a:p>
        </p:txBody>
      </p:sp>
      <p:sp>
        <p:nvSpPr>
          <p:cNvPr id="674" name="Google Shape;674;p78"/>
          <p:cNvSpPr txBox="1"/>
          <p:nvPr/>
        </p:nvSpPr>
        <p:spPr>
          <a:xfrm>
            <a:off x="1598295" y="2296795"/>
            <a:ext cx="9817800" cy="1939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receba uma lista de números do usuário e conte quantas vezes um número específico aparece na lista. Solicite ao usuário um número e exiba a contagem.</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79"/>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2.16</a:t>
            </a:r>
            <a:endParaRPr b="1">
              <a:latin typeface="Montserrat"/>
              <a:ea typeface="Montserrat"/>
              <a:cs typeface="Montserrat"/>
              <a:sym typeface="Montserrat"/>
            </a:endParaRPr>
          </a:p>
        </p:txBody>
      </p:sp>
      <p:sp>
        <p:nvSpPr>
          <p:cNvPr id="680" name="Google Shape;680;p79"/>
          <p:cNvSpPr txBox="1"/>
          <p:nvPr/>
        </p:nvSpPr>
        <p:spPr>
          <a:xfrm>
            <a:off x="1598295" y="2296795"/>
            <a:ext cx="9817800" cy="1015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3000"/>
              <a:buFont typeface="Arial"/>
              <a:buNone/>
            </a:pPr>
            <a:r>
              <a:rPr lang="en-US" sz="3000" b="0" i="0" u="none" strike="noStrike" cap="none">
                <a:solidFill>
                  <a:schemeClr val="dk1"/>
                </a:solidFill>
                <a:latin typeface="Montserrat"/>
                <a:ea typeface="Montserrat"/>
                <a:cs typeface="Montserrat"/>
                <a:sym typeface="Montserrat"/>
              </a:rPr>
              <a:t>Escreva um programa que solicite ao usuário um número e exiba a tabuada desse número de 1 a 10.</a:t>
            </a:r>
            <a:endParaRPr sz="3000" b="0" i="0" u="none" strike="noStrike" cap="none">
              <a:solidFill>
                <a:srgbClr val="AE2663"/>
              </a:solidFill>
              <a:latin typeface="Montserrat"/>
              <a:ea typeface="Montserrat"/>
              <a:cs typeface="Montserrat"/>
              <a:sym typeface="Montserra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80"/>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2.17</a:t>
            </a:r>
            <a:endParaRPr b="1">
              <a:latin typeface="Montserrat"/>
              <a:ea typeface="Montserrat"/>
              <a:cs typeface="Montserrat"/>
              <a:sym typeface="Montserrat"/>
            </a:endParaRPr>
          </a:p>
        </p:txBody>
      </p:sp>
      <p:sp>
        <p:nvSpPr>
          <p:cNvPr id="686" name="Google Shape;686;p80"/>
          <p:cNvSpPr txBox="1"/>
          <p:nvPr/>
        </p:nvSpPr>
        <p:spPr>
          <a:xfrm>
            <a:off x="1598295" y="2296795"/>
            <a:ext cx="9817800" cy="1939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100"/>
              <a:buFont typeface="Arial"/>
              <a:buNone/>
            </a:pPr>
            <a:r>
              <a:rPr lang="en-US" sz="3000" b="0" i="0" u="none" strike="noStrike" cap="none">
                <a:solidFill>
                  <a:schemeClr val="dk1"/>
                </a:solidFill>
                <a:latin typeface="Montserrat"/>
                <a:ea typeface="Montserrat"/>
                <a:cs typeface="Montserrat"/>
                <a:sym typeface="Montserrat"/>
              </a:rPr>
              <a:t>Escreva um programa que solicite ao usuário uma palavra e verifique se a palavra é um palíndromo (ou seja, é a mesma palavra quando lida de trás para frente).</a:t>
            </a:r>
            <a:endParaRPr sz="3000" b="0" i="0" u="none" strike="noStrike" cap="none">
              <a:solidFill>
                <a:schemeClr val="dk1"/>
              </a:solidFill>
              <a:latin typeface="Montserrat"/>
              <a:ea typeface="Montserrat"/>
              <a:cs typeface="Montserrat"/>
              <a:sym typeface="Montserra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81"/>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2.18</a:t>
            </a:r>
            <a:endParaRPr b="1">
              <a:latin typeface="Montserrat"/>
              <a:ea typeface="Montserrat"/>
              <a:cs typeface="Montserrat"/>
              <a:sym typeface="Montserrat"/>
            </a:endParaRPr>
          </a:p>
        </p:txBody>
      </p:sp>
      <p:sp>
        <p:nvSpPr>
          <p:cNvPr id="692" name="Google Shape;692;p81"/>
          <p:cNvSpPr txBox="1"/>
          <p:nvPr/>
        </p:nvSpPr>
        <p:spPr>
          <a:xfrm>
            <a:off x="1598295" y="2296795"/>
            <a:ext cx="9817800" cy="28629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100"/>
              <a:buFont typeface="Arial"/>
              <a:buNone/>
            </a:pPr>
            <a:r>
              <a:rPr lang="en-US" sz="3000" b="0" i="0" u="none" strike="noStrike" cap="none">
                <a:solidFill>
                  <a:schemeClr val="dk1"/>
                </a:solidFill>
                <a:latin typeface="Montserrat"/>
                <a:ea typeface="Montserrat"/>
                <a:cs typeface="Montserrat"/>
                <a:sym typeface="Montserrat"/>
              </a:rPr>
              <a:t>Escreva um programa que solicite ao usuário </a:t>
            </a:r>
            <a:r>
              <a:rPr lang="en-US" sz="3000">
                <a:solidFill>
                  <a:schemeClr val="dk1"/>
                </a:solidFill>
                <a:latin typeface="Montserrat"/>
                <a:ea typeface="Montserrat"/>
                <a:cs typeface="Montserrat"/>
                <a:sym typeface="Montserrat"/>
              </a:rPr>
              <a:t>frases. Para parar de solicitar frases, ele pode apenas apertar o “enter”.</a:t>
            </a:r>
            <a:endParaRPr sz="3000">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1100"/>
              <a:buFont typeface="Arial"/>
              <a:buNone/>
            </a:pPr>
            <a:endParaRPr sz="3000">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1100"/>
              <a:buFont typeface="Arial"/>
              <a:buNone/>
            </a:pPr>
            <a:r>
              <a:rPr lang="en-US" sz="3000">
                <a:solidFill>
                  <a:schemeClr val="dk1"/>
                </a:solidFill>
                <a:latin typeface="Montserrat"/>
                <a:ea typeface="Montserrat"/>
                <a:cs typeface="Montserrat"/>
                <a:sym typeface="Montserrat"/>
              </a:rPr>
              <a:t>Seu programa deve apresentar cada frase e quantas vezes ela foi repetida.</a:t>
            </a:r>
            <a:endParaRPr sz="3000">
              <a:solidFill>
                <a:schemeClr val="dk1"/>
              </a:solidFill>
              <a:latin typeface="Montserrat"/>
              <a:ea typeface="Montserrat"/>
              <a:cs typeface="Montserrat"/>
              <a:sym typeface="Montserra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82"/>
          <p:cNvSpPr txBox="1">
            <a:spLocks noGrp="1"/>
          </p:cNvSpPr>
          <p:nvPr>
            <p:ph type="title" idx="4294967295"/>
          </p:nvPr>
        </p:nvSpPr>
        <p:spPr>
          <a:xfrm>
            <a:off x="1086644" y="685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b="1">
                <a:latin typeface="Montserrat"/>
                <a:ea typeface="Montserrat"/>
                <a:cs typeface="Montserrat"/>
                <a:sym typeface="Montserrat"/>
              </a:rPr>
              <a:t>Exercício x.xx</a:t>
            </a:r>
            <a:endParaRPr b="1">
              <a:latin typeface="Montserrat"/>
              <a:ea typeface="Montserrat"/>
              <a:cs typeface="Montserrat"/>
              <a:sym typeface="Montserrat"/>
            </a:endParaRPr>
          </a:p>
        </p:txBody>
      </p:sp>
      <p:sp>
        <p:nvSpPr>
          <p:cNvPr id="698" name="Google Shape;698;p82"/>
          <p:cNvSpPr txBox="1"/>
          <p:nvPr/>
        </p:nvSpPr>
        <p:spPr>
          <a:xfrm>
            <a:off x="1598295" y="2296795"/>
            <a:ext cx="9817800" cy="14775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100"/>
              <a:buFont typeface="Arial"/>
              <a:buNone/>
            </a:pPr>
            <a:r>
              <a:rPr lang="en-US" sz="3000" b="0" i="0" u="none" strike="noStrike" cap="none">
                <a:solidFill>
                  <a:schemeClr val="dk1"/>
                </a:solidFill>
                <a:latin typeface="Montserrat"/>
                <a:ea typeface="Montserrat"/>
                <a:cs typeface="Montserrat"/>
                <a:sym typeface="Montserrat"/>
              </a:rPr>
              <a:t>Acesso o site:</a:t>
            </a: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1100"/>
              <a:buFont typeface="Arial"/>
              <a:buNone/>
            </a:pPr>
            <a:endParaRPr sz="3000" b="0" i="0" u="none" strike="noStrike" cap="none">
              <a:solidFill>
                <a:schemeClr val="dk1"/>
              </a:solidFill>
              <a:latin typeface="Montserrat"/>
              <a:ea typeface="Montserrat"/>
              <a:cs typeface="Montserrat"/>
              <a:sym typeface="Montserrat"/>
            </a:endParaRPr>
          </a:p>
          <a:p>
            <a:pPr marL="0" marR="0" lvl="0" indent="0" algn="just" rtl="0">
              <a:lnSpc>
                <a:spcPct val="100000"/>
              </a:lnSpc>
              <a:spcBef>
                <a:spcPts val="0"/>
              </a:spcBef>
              <a:spcAft>
                <a:spcPts val="0"/>
              </a:spcAft>
              <a:buClr>
                <a:srgbClr val="000000"/>
              </a:buClr>
              <a:buSzPts val="1100"/>
              <a:buFont typeface="Arial"/>
              <a:buNone/>
            </a:pPr>
            <a:r>
              <a:rPr lang="en-US" sz="3000" b="0" i="0" u="sng" strike="noStrike" cap="none">
                <a:solidFill>
                  <a:schemeClr val="hlink"/>
                </a:solidFill>
                <a:latin typeface="Montserrat"/>
                <a:ea typeface="Montserrat"/>
                <a:cs typeface="Montserrat"/>
                <a:sym typeface="Montserrat"/>
                <a:hlinkClick r:id="rId3"/>
              </a:rPr>
              <a:t> https://www.beecrowd.com.br/judge/pt/login</a:t>
            </a:r>
            <a:endParaRPr sz="3000" b="0" i="0" u="none" strike="noStrike" cap="none">
              <a:solidFill>
                <a:schemeClr val="dk1"/>
              </a:solidFill>
              <a:latin typeface="Montserrat"/>
              <a:ea typeface="Montserrat"/>
              <a:cs typeface="Montserrat"/>
              <a:sym typeface="Montserrat"/>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83"/>
          <p:cNvSpPr txBox="1">
            <a:spLocks noGrp="1"/>
          </p:cNvSpPr>
          <p:nvPr>
            <p:ph type="title" idx="4294967295"/>
          </p:nvPr>
        </p:nvSpPr>
        <p:spPr>
          <a:xfrm>
            <a:off x="1086644" y="304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600" b="1">
                <a:latin typeface="Montserrat"/>
                <a:ea typeface="Montserrat"/>
                <a:cs typeface="Montserrat"/>
                <a:sym typeface="Montserrat"/>
              </a:rPr>
              <a:t>DESAFIO</a:t>
            </a:r>
            <a:endParaRPr sz="4600" b="1">
              <a:latin typeface="Montserrat"/>
              <a:ea typeface="Montserrat"/>
              <a:cs typeface="Montserrat"/>
              <a:sym typeface="Montserrat"/>
            </a:endParaRPr>
          </a:p>
          <a:p>
            <a:pPr marL="0" lvl="0" indent="0" algn="ctr" rtl="0">
              <a:lnSpc>
                <a:spcPct val="90000"/>
              </a:lnSpc>
              <a:spcBef>
                <a:spcPts val="0"/>
              </a:spcBef>
              <a:spcAft>
                <a:spcPts val="0"/>
              </a:spcAft>
              <a:buClr>
                <a:schemeClr val="dk1"/>
              </a:buClr>
              <a:buSzPts val="4000"/>
              <a:buFont typeface="Arial"/>
              <a:buNone/>
            </a:pPr>
            <a:r>
              <a:rPr lang="en-US" sz="3200" b="1">
                <a:latin typeface="Montserrat"/>
                <a:ea typeface="Montserrat"/>
                <a:cs typeface="Montserrat"/>
                <a:sym typeface="Montserrat"/>
              </a:rPr>
              <a:t>(Loteria da Babilônia)</a:t>
            </a:r>
            <a:endParaRPr sz="3200" b="1">
              <a:latin typeface="Montserrat"/>
              <a:ea typeface="Montserrat"/>
              <a:cs typeface="Montserrat"/>
              <a:sym typeface="Montserrat"/>
            </a:endParaRPr>
          </a:p>
        </p:txBody>
      </p:sp>
      <p:sp>
        <p:nvSpPr>
          <p:cNvPr id="704" name="Google Shape;704;p83"/>
          <p:cNvSpPr txBox="1"/>
          <p:nvPr/>
        </p:nvSpPr>
        <p:spPr>
          <a:xfrm>
            <a:off x="1187095" y="2182295"/>
            <a:ext cx="9817800" cy="3555600"/>
          </a:xfrm>
          <a:prstGeom prst="rect">
            <a:avLst/>
          </a:prstGeom>
          <a:noFill/>
          <a:ln>
            <a:noFill/>
          </a:ln>
        </p:spPr>
        <p:txBody>
          <a:bodyPr spcFirstLastPara="1" wrap="square" lIns="91425" tIns="45700" rIns="91425" bIns="45700" anchor="t" anchorCtr="0">
            <a:spAutoFit/>
          </a:bodyPr>
          <a:lstStyle/>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Construa um programa que realiza o sorteio de um número entre 1 e 15.</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O usuário terá 3 chances de acertar o valor.</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A cada tentativa você deve informar se o chute e maior ou menor que o número sorteado.</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Caso o usuário acerte, dê os parabéns.</a:t>
            </a:r>
            <a:endParaRPr sz="2500">
              <a:solidFill>
                <a:schemeClr val="dk1"/>
              </a:solidFill>
              <a:latin typeface="Montserrat"/>
              <a:ea typeface="Montserrat"/>
              <a:cs typeface="Montserrat"/>
              <a:sym typeface="Montserrat"/>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84"/>
          <p:cNvSpPr txBox="1">
            <a:spLocks noGrp="1"/>
          </p:cNvSpPr>
          <p:nvPr>
            <p:ph type="title" idx="4294967295"/>
          </p:nvPr>
        </p:nvSpPr>
        <p:spPr>
          <a:xfrm>
            <a:off x="1086644" y="304800"/>
            <a:ext cx="10018800" cy="17526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Arial"/>
              <a:buNone/>
            </a:pPr>
            <a:r>
              <a:rPr lang="en-US" sz="4600" b="1">
                <a:latin typeface="Montserrat"/>
                <a:ea typeface="Montserrat"/>
                <a:cs typeface="Montserrat"/>
                <a:sym typeface="Montserrat"/>
              </a:rPr>
              <a:t>DESAFIO</a:t>
            </a:r>
            <a:endParaRPr sz="4600" b="1">
              <a:latin typeface="Montserrat"/>
              <a:ea typeface="Montserrat"/>
              <a:cs typeface="Montserrat"/>
              <a:sym typeface="Montserrat"/>
            </a:endParaRPr>
          </a:p>
          <a:p>
            <a:pPr marL="0" lvl="0" indent="0" algn="ctr" rtl="0">
              <a:lnSpc>
                <a:spcPct val="90000"/>
              </a:lnSpc>
              <a:spcBef>
                <a:spcPts val="0"/>
              </a:spcBef>
              <a:spcAft>
                <a:spcPts val="0"/>
              </a:spcAft>
              <a:buClr>
                <a:schemeClr val="dk1"/>
              </a:buClr>
              <a:buSzPts val="4000"/>
              <a:buFont typeface="Arial"/>
              <a:buNone/>
            </a:pPr>
            <a:r>
              <a:rPr lang="en-US" sz="3200" b="1">
                <a:latin typeface="Montserrat"/>
                <a:ea typeface="Montserrat"/>
                <a:cs typeface="Montserrat"/>
                <a:sym typeface="Montserrat"/>
              </a:rPr>
              <a:t>(Loteria da Babilônia v2)</a:t>
            </a:r>
            <a:endParaRPr sz="3200" b="1">
              <a:latin typeface="Montserrat"/>
              <a:ea typeface="Montserrat"/>
              <a:cs typeface="Montserrat"/>
              <a:sym typeface="Montserrat"/>
            </a:endParaRPr>
          </a:p>
        </p:txBody>
      </p:sp>
      <p:sp>
        <p:nvSpPr>
          <p:cNvPr id="710" name="Google Shape;710;p84"/>
          <p:cNvSpPr txBox="1"/>
          <p:nvPr/>
        </p:nvSpPr>
        <p:spPr>
          <a:xfrm>
            <a:off x="1187095" y="2182295"/>
            <a:ext cx="9817800" cy="4325100"/>
          </a:xfrm>
          <a:prstGeom prst="rect">
            <a:avLst/>
          </a:prstGeom>
          <a:noFill/>
          <a:ln>
            <a:noFill/>
          </a:ln>
        </p:spPr>
        <p:txBody>
          <a:bodyPr spcFirstLastPara="1" wrap="square" lIns="91425" tIns="45700" rIns="91425" bIns="45700" anchor="t" anchorCtr="0">
            <a:spAutoFit/>
          </a:bodyPr>
          <a:lstStyle/>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Construa um programa que realiza o sorteio de um número entre 1 e 15.</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O usuário terá 3 chances de acertar o valor.</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A cada tentativa você deve informar se o chute e maior ou menor que o número sorteado.</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Caso o usuário acerte, dê os parabéns.</a:t>
            </a: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endParaRPr sz="2500">
              <a:solidFill>
                <a:schemeClr val="dk1"/>
              </a:solidFill>
              <a:latin typeface="Montserrat"/>
              <a:ea typeface="Montserrat"/>
              <a:cs typeface="Montserrat"/>
              <a:sym typeface="Montserrat"/>
            </a:endParaRPr>
          </a:p>
          <a:p>
            <a:pPr marL="457200" marR="0" lvl="0" indent="-514350" algn="just" rtl="0">
              <a:lnSpc>
                <a:spcPct val="100000"/>
              </a:lnSpc>
              <a:spcBef>
                <a:spcPts val="0"/>
              </a:spcBef>
              <a:spcAft>
                <a:spcPts val="0"/>
              </a:spcAft>
              <a:buClr>
                <a:srgbClr val="000000"/>
              </a:buClr>
              <a:buSzPts val="1100"/>
              <a:buFont typeface="Arial"/>
              <a:buNone/>
            </a:pPr>
            <a:r>
              <a:rPr lang="en-US" sz="2500">
                <a:solidFill>
                  <a:schemeClr val="dk1"/>
                </a:solidFill>
                <a:latin typeface="Montserrat"/>
                <a:ea typeface="Montserrat"/>
                <a:cs typeface="Montserrat"/>
                <a:sym typeface="Montserrat"/>
              </a:rPr>
              <a:t>Faça com o streamlit.</a:t>
            </a:r>
            <a:endParaRPr sz="2500">
              <a:solidFill>
                <a:schemeClr val="dk1"/>
              </a:solidFill>
              <a:latin typeface="Montserrat"/>
              <a:ea typeface="Montserrat"/>
              <a:cs typeface="Montserrat"/>
              <a:sym typeface="Montserra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85"/>
          <p:cNvSpPr txBox="1"/>
          <p:nvPr/>
        </p:nvSpPr>
        <p:spPr>
          <a:xfrm>
            <a:off x="17407" y="-209439"/>
            <a:ext cx="1460700" cy="1323150"/>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16000"/>
              <a:buFont typeface="Arial"/>
              <a:buNone/>
            </a:pPr>
            <a:r>
              <a:rPr lang="en-US" sz="8000" b="0" i="0" u="none" strike="noStrike" cap="none">
                <a:solidFill>
                  <a:schemeClr val="lt1"/>
                </a:solidFill>
                <a:latin typeface="Calibri"/>
                <a:ea typeface="Calibri"/>
                <a:cs typeface="Calibri"/>
                <a:sym typeface="Calibri"/>
              </a:rPr>
              <a:t>Big</a:t>
            </a:r>
            <a:endParaRPr sz="1450" b="0" i="0" u="none" strike="noStrike" cap="none">
              <a:solidFill>
                <a:srgbClr val="000000"/>
              </a:solidFill>
              <a:latin typeface="Arial"/>
              <a:ea typeface="Arial"/>
              <a:cs typeface="Arial"/>
              <a:sym typeface="Arial"/>
            </a:endParaRPr>
          </a:p>
        </p:txBody>
      </p:sp>
      <p:pic>
        <p:nvPicPr>
          <p:cNvPr id="716" name="Google Shape;716;p85"/>
          <p:cNvPicPr preferRelativeResize="0"/>
          <p:nvPr/>
        </p:nvPicPr>
        <p:blipFill rotWithShape="1">
          <a:blip r:embed="rId3">
            <a:alphaModFix/>
          </a:blip>
          <a:srcRect/>
          <a:stretch/>
        </p:blipFill>
        <p:spPr>
          <a:xfrm>
            <a:off x="0" y="0"/>
            <a:ext cx="12191577" cy="5801332"/>
          </a:xfrm>
          <a:prstGeom prst="rect">
            <a:avLst/>
          </a:prstGeom>
          <a:noFill/>
          <a:ln>
            <a:noFill/>
          </a:ln>
        </p:spPr>
      </p:pic>
      <p:sp>
        <p:nvSpPr>
          <p:cNvPr id="717" name="Google Shape;717;p85"/>
          <p:cNvSpPr/>
          <p:nvPr/>
        </p:nvSpPr>
        <p:spPr>
          <a:xfrm>
            <a:off x="352425" y="1937886"/>
            <a:ext cx="3486450" cy="630900"/>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7000"/>
              <a:buFont typeface="Arial"/>
              <a:buNone/>
            </a:pPr>
            <a:r>
              <a:rPr lang="en-US" sz="3500" b="0" i="0" u="none" strike="noStrike" cap="none">
                <a:solidFill>
                  <a:srgbClr val="333333"/>
                </a:solidFill>
                <a:latin typeface="Helvetica Neue"/>
                <a:ea typeface="Helvetica Neue"/>
                <a:cs typeface="Helvetica Neue"/>
                <a:sym typeface="Helvetica Neue"/>
              </a:rPr>
              <a:t>stories need</a:t>
            </a:r>
            <a:endParaRPr sz="3500" b="0" i="0" u="none" strike="noStrike" cap="none">
              <a:solidFill>
                <a:schemeClr val="dk1"/>
              </a:solidFill>
              <a:latin typeface="Calibri"/>
              <a:ea typeface="Calibri"/>
              <a:cs typeface="Calibri"/>
              <a:sym typeface="Calibri"/>
            </a:endParaRPr>
          </a:p>
        </p:txBody>
      </p:sp>
      <p:sp>
        <p:nvSpPr>
          <p:cNvPr id="718" name="Google Shape;718;p85"/>
          <p:cNvSpPr txBox="1"/>
          <p:nvPr/>
        </p:nvSpPr>
        <p:spPr>
          <a:xfrm>
            <a:off x="352425" y="590283"/>
            <a:ext cx="2933850" cy="1200150"/>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14500"/>
              <a:buFont typeface="Arial"/>
              <a:buNone/>
            </a:pPr>
            <a:r>
              <a:rPr lang="en-US" sz="7250" b="0" i="0" u="none" strike="noStrike" cap="none">
                <a:solidFill>
                  <a:srgbClr val="333333"/>
                </a:solidFill>
                <a:latin typeface="Helvetica Neue"/>
                <a:ea typeface="Helvetica Neue"/>
                <a:cs typeface="Helvetica Neue"/>
                <a:sym typeface="Helvetica Neue"/>
              </a:rPr>
              <a:t>“Big </a:t>
            </a:r>
            <a:endParaRPr sz="7250" b="0" i="0" u="none" strike="noStrike" cap="none">
              <a:solidFill>
                <a:schemeClr val="dk1"/>
              </a:solidFill>
              <a:latin typeface="Calibri"/>
              <a:ea typeface="Calibri"/>
              <a:cs typeface="Calibri"/>
              <a:sym typeface="Calibri"/>
            </a:endParaRPr>
          </a:p>
        </p:txBody>
      </p:sp>
      <p:sp>
        <p:nvSpPr>
          <p:cNvPr id="719" name="Google Shape;719;p85"/>
          <p:cNvSpPr/>
          <p:nvPr/>
        </p:nvSpPr>
        <p:spPr>
          <a:xfrm>
            <a:off x="1423988" y="2492058"/>
            <a:ext cx="4032568" cy="1092518"/>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12100"/>
              <a:buFont typeface="Arial"/>
              <a:buNone/>
            </a:pPr>
            <a:r>
              <a:rPr lang="en-US" sz="6050" b="1" i="0" u="none" strike="noStrike" cap="none">
                <a:solidFill>
                  <a:srgbClr val="3C78D8"/>
                </a:solidFill>
                <a:latin typeface="Helvetica Neue"/>
                <a:ea typeface="Helvetica Neue"/>
                <a:cs typeface="Helvetica Neue"/>
                <a:sym typeface="Helvetica Neue"/>
              </a:rPr>
              <a:t>human</a:t>
            </a:r>
            <a:endParaRPr sz="6050" b="1" i="0" u="none" strike="noStrike" cap="none">
              <a:solidFill>
                <a:srgbClr val="3C78D8"/>
              </a:solidFill>
              <a:latin typeface="Helvetica Neue"/>
              <a:ea typeface="Helvetica Neue"/>
              <a:cs typeface="Helvetica Neue"/>
              <a:sym typeface="Helvetica Neue"/>
            </a:endParaRPr>
          </a:p>
        </p:txBody>
      </p:sp>
      <p:sp>
        <p:nvSpPr>
          <p:cNvPr id="720" name="Google Shape;720;p85"/>
          <p:cNvSpPr/>
          <p:nvPr/>
        </p:nvSpPr>
        <p:spPr>
          <a:xfrm>
            <a:off x="352434" y="3392960"/>
            <a:ext cx="2933850" cy="784800"/>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7000"/>
              <a:buFont typeface="Arial"/>
              <a:buNone/>
            </a:pPr>
            <a:r>
              <a:rPr lang="en-US" sz="3500" b="0" i="0" u="none" strike="noStrike" cap="none">
                <a:solidFill>
                  <a:srgbClr val="333333"/>
                </a:solidFill>
                <a:latin typeface="Helvetica Neue"/>
                <a:ea typeface="Helvetica Neue"/>
                <a:cs typeface="Helvetica Neue"/>
                <a:sym typeface="Helvetica Neue"/>
              </a:rPr>
              <a:t>stakes”</a:t>
            </a:r>
            <a:endParaRPr sz="3500" b="0" i="0" u="none" strike="noStrike" cap="none">
              <a:solidFill>
                <a:schemeClr val="dk1"/>
              </a:solidFill>
              <a:latin typeface="Calibri"/>
              <a:ea typeface="Calibri"/>
              <a:cs typeface="Calibri"/>
              <a:sym typeface="Calibri"/>
            </a:endParaRPr>
          </a:p>
        </p:txBody>
      </p:sp>
      <p:sp>
        <p:nvSpPr>
          <p:cNvPr id="721" name="Google Shape;721;p85"/>
          <p:cNvSpPr/>
          <p:nvPr/>
        </p:nvSpPr>
        <p:spPr>
          <a:xfrm>
            <a:off x="1424074" y="4286107"/>
            <a:ext cx="2514450" cy="369300"/>
          </a:xfrm>
          <a:prstGeom prst="rect">
            <a:avLst/>
          </a:prstGeom>
          <a:noFill/>
          <a:ln>
            <a:noFill/>
          </a:ln>
        </p:spPr>
        <p:txBody>
          <a:bodyPr spcFirstLastPara="1" wrap="square" lIns="91425" tIns="45675" rIns="91425" bIns="45675" anchor="t" anchorCtr="0">
            <a:noAutofit/>
          </a:bodyPr>
          <a:lstStyle/>
          <a:p>
            <a:pPr marL="0" marR="0" lvl="0" indent="0" algn="l" rtl="0">
              <a:lnSpc>
                <a:spcPct val="100000"/>
              </a:lnSpc>
              <a:spcBef>
                <a:spcPts val="0"/>
              </a:spcBef>
              <a:spcAft>
                <a:spcPts val="0"/>
              </a:spcAft>
              <a:buClr>
                <a:srgbClr val="000000"/>
              </a:buClr>
              <a:buSzPts val="4400"/>
              <a:buFont typeface="Arial"/>
              <a:buNone/>
            </a:pPr>
            <a:r>
              <a:rPr lang="en-US" sz="2200" b="0" i="0" u="none" strike="noStrike" cap="none">
                <a:solidFill>
                  <a:srgbClr val="000000"/>
                </a:solidFill>
                <a:latin typeface="Arial"/>
                <a:ea typeface="Arial"/>
                <a:cs typeface="Arial"/>
                <a:sym typeface="Arial"/>
              </a:rPr>
              <a:t>Aaron Swartz</a:t>
            </a:r>
            <a:endParaRPr sz="2200" b="0" i="0" u="none" strike="noStrike" cap="none">
              <a:solidFill>
                <a:schemeClr val="dk1"/>
              </a:solidFill>
              <a:latin typeface="Calibri"/>
              <a:ea typeface="Calibri"/>
              <a:cs typeface="Calibri"/>
              <a:sym typeface="Calibri"/>
            </a:endParaRPr>
          </a:p>
        </p:txBody>
      </p:sp>
      <p:grpSp>
        <p:nvGrpSpPr>
          <p:cNvPr id="722" name="Google Shape;722;p85"/>
          <p:cNvGrpSpPr/>
          <p:nvPr/>
        </p:nvGrpSpPr>
        <p:grpSpPr>
          <a:xfrm>
            <a:off x="456198" y="6132566"/>
            <a:ext cx="3278947" cy="503232"/>
            <a:chOff x="360945" y="5025600"/>
            <a:chExt cx="2711105" cy="416100"/>
          </a:xfrm>
        </p:grpSpPr>
        <p:pic>
          <p:nvPicPr>
            <p:cNvPr id="723" name="Google Shape;723;p85"/>
            <p:cNvPicPr preferRelativeResize="0"/>
            <p:nvPr/>
          </p:nvPicPr>
          <p:blipFill rotWithShape="1">
            <a:blip r:embed="rId4">
              <a:alphaModFix/>
            </a:blip>
            <a:srcRect/>
            <a:stretch/>
          </p:blipFill>
          <p:spPr>
            <a:xfrm>
              <a:off x="360945" y="5056650"/>
              <a:ext cx="354001" cy="353999"/>
            </a:xfrm>
            <a:prstGeom prst="rect">
              <a:avLst/>
            </a:prstGeom>
            <a:noFill/>
            <a:ln>
              <a:noFill/>
            </a:ln>
          </p:spPr>
        </p:pic>
        <p:sp>
          <p:nvSpPr>
            <p:cNvPr id="724" name="Google Shape;724;p85"/>
            <p:cNvSpPr txBox="1"/>
            <p:nvPr/>
          </p:nvSpPr>
          <p:spPr>
            <a:xfrm>
              <a:off x="714950" y="5025600"/>
              <a:ext cx="2357100" cy="416100"/>
            </a:xfrm>
            <a:prstGeom prst="rect">
              <a:avLst/>
            </a:prstGeom>
            <a:noFill/>
            <a:ln>
              <a:noFill/>
            </a:ln>
          </p:spPr>
          <p:txBody>
            <a:bodyPr spcFirstLastPara="1" wrap="square" lIns="110575" tIns="110575" rIns="110575" bIns="110575" anchor="ctr" anchorCtr="0">
              <a:noAutofit/>
            </a:bodyPr>
            <a:lstStyle/>
            <a:p>
              <a:pPr marL="0" marR="0" lvl="0" indent="0" algn="l" rtl="0">
                <a:lnSpc>
                  <a:spcPct val="115000"/>
                </a:lnSpc>
                <a:spcBef>
                  <a:spcPts val="0"/>
                </a:spcBef>
                <a:spcAft>
                  <a:spcPts val="0"/>
                </a:spcAft>
                <a:buClr>
                  <a:srgbClr val="000000"/>
                </a:buClr>
                <a:buSzPts val="2800"/>
                <a:buFont typeface="Arial"/>
                <a:buNone/>
              </a:pPr>
              <a:r>
                <a:rPr lang="en-US" sz="1400" b="1" i="0" u="none" strike="noStrike" cap="none">
                  <a:solidFill>
                    <a:srgbClr val="000000"/>
                  </a:solidFill>
                  <a:latin typeface="Arial"/>
                  <a:ea typeface="Arial"/>
                  <a:cs typeface="Arial"/>
                  <a:sym typeface="Arial"/>
                </a:rPr>
                <a:t>teo@teomewhy.org</a:t>
              </a:r>
              <a:endParaRPr sz="1400" b="0" i="0" u="none" strike="noStrike" cap="none">
                <a:solidFill>
                  <a:srgbClr val="000000"/>
                </a:solidFill>
                <a:latin typeface="Arial"/>
                <a:ea typeface="Arial"/>
                <a:cs typeface="Arial"/>
                <a:sym typeface="Arial"/>
              </a:endParaRPr>
            </a:p>
          </p:txBody>
        </p:sp>
      </p:grpSp>
      <p:grpSp>
        <p:nvGrpSpPr>
          <p:cNvPr id="725" name="Google Shape;725;p85"/>
          <p:cNvGrpSpPr/>
          <p:nvPr/>
        </p:nvGrpSpPr>
        <p:grpSpPr>
          <a:xfrm>
            <a:off x="4727967" y="6163767"/>
            <a:ext cx="3977005" cy="428129"/>
            <a:chOff x="3436149" y="5025599"/>
            <a:chExt cx="3288301" cy="354001"/>
          </a:xfrm>
        </p:grpSpPr>
        <p:sp>
          <p:nvSpPr>
            <p:cNvPr id="726" name="Google Shape;726;p85"/>
            <p:cNvSpPr txBox="1"/>
            <p:nvPr/>
          </p:nvSpPr>
          <p:spPr>
            <a:xfrm>
              <a:off x="3790150" y="5025600"/>
              <a:ext cx="2934300" cy="354000"/>
            </a:xfrm>
            <a:prstGeom prst="rect">
              <a:avLst/>
            </a:prstGeom>
            <a:noFill/>
            <a:ln>
              <a:noFill/>
            </a:ln>
          </p:spPr>
          <p:txBody>
            <a:bodyPr spcFirstLastPara="1" wrap="square" lIns="91425" tIns="45675" rIns="91425" bIns="45675" anchor="ctr" anchorCtr="0">
              <a:noAutofit/>
            </a:bodyPr>
            <a:lstStyle/>
            <a:p>
              <a:pPr marL="0" marR="0" lvl="0" indent="0" algn="l" rtl="0">
                <a:lnSpc>
                  <a:spcPct val="115000"/>
                </a:lnSpc>
                <a:spcBef>
                  <a:spcPts val="0"/>
                </a:spcBef>
                <a:spcAft>
                  <a:spcPts val="0"/>
                </a:spcAft>
                <a:buClr>
                  <a:schemeClr val="dk1"/>
                </a:buClr>
                <a:buSzPts val="3400"/>
                <a:buFont typeface="Arial"/>
                <a:buNone/>
              </a:pPr>
              <a:r>
                <a:rPr lang="en-US" sz="1600" b="0" i="0" u="none" strike="noStrike" cap="none">
                  <a:solidFill>
                    <a:srgbClr val="3C78D8"/>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/teocalvo</a:t>
              </a:r>
              <a:endParaRPr sz="1600" b="0" i="0" u="none" strike="noStrike" cap="none">
                <a:solidFill>
                  <a:srgbClr val="3C78D8"/>
                </a:solidFill>
                <a:latin typeface="Arial"/>
                <a:ea typeface="Arial"/>
                <a:cs typeface="Arial"/>
                <a:sym typeface="Arial"/>
              </a:endParaRPr>
            </a:p>
          </p:txBody>
        </p:sp>
        <p:pic>
          <p:nvPicPr>
            <p:cNvPr id="727" name="Google Shape;727;p85"/>
            <p:cNvPicPr preferRelativeResize="0"/>
            <p:nvPr/>
          </p:nvPicPr>
          <p:blipFill rotWithShape="1">
            <a:blip r:embed="rId6">
              <a:alphaModFix/>
            </a:blip>
            <a:srcRect/>
            <a:stretch/>
          </p:blipFill>
          <p:spPr>
            <a:xfrm>
              <a:off x="3436149" y="5025599"/>
              <a:ext cx="354001" cy="354001"/>
            </a:xfrm>
            <a:prstGeom prst="rect">
              <a:avLst/>
            </a:prstGeom>
            <a:noFill/>
            <a:ln>
              <a:noFill/>
            </a:ln>
          </p:spPr>
        </p:pic>
      </p:grpSp>
      <p:grpSp>
        <p:nvGrpSpPr>
          <p:cNvPr id="728" name="Google Shape;728;p85"/>
          <p:cNvGrpSpPr/>
          <p:nvPr/>
        </p:nvGrpSpPr>
        <p:grpSpPr>
          <a:xfrm>
            <a:off x="8625915" y="6163507"/>
            <a:ext cx="3416935" cy="441360"/>
            <a:chOff x="7131625" y="5020134"/>
            <a:chExt cx="2825400" cy="364941"/>
          </a:xfrm>
        </p:grpSpPr>
        <p:sp>
          <p:nvSpPr>
            <p:cNvPr id="729" name="Google Shape;729;p85"/>
            <p:cNvSpPr txBox="1"/>
            <p:nvPr/>
          </p:nvSpPr>
          <p:spPr>
            <a:xfrm>
              <a:off x="7485625" y="5049900"/>
              <a:ext cx="2471400" cy="305400"/>
            </a:xfrm>
            <a:prstGeom prst="rect">
              <a:avLst/>
            </a:prstGeom>
            <a:noFill/>
            <a:ln>
              <a:noFill/>
            </a:ln>
          </p:spPr>
          <p:txBody>
            <a:bodyPr spcFirstLastPara="1" wrap="square" lIns="110575" tIns="110575" rIns="110575" bIns="110575" anchor="ctr" anchorCtr="0">
              <a:noAutofit/>
            </a:bodyPr>
            <a:lstStyle/>
            <a:p>
              <a:pPr marL="0" marR="0" lvl="0" indent="0" algn="l" rtl="0">
                <a:lnSpc>
                  <a:spcPct val="115000"/>
                </a:lnSpc>
                <a:spcBef>
                  <a:spcPts val="0"/>
                </a:spcBef>
                <a:spcAft>
                  <a:spcPts val="0"/>
                </a:spcAft>
                <a:buClr>
                  <a:srgbClr val="000000"/>
                </a:buClr>
                <a:buSzPts val="2800"/>
                <a:buFont typeface="Arial"/>
                <a:buNone/>
              </a:pPr>
              <a:r>
                <a:rPr lang="en-US" sz="1400" b="1" i="0" u="none" strike="noStrike" cap="none">
                  <a:solidFill>
                    <a:srgbClr val="3C78D8"/>
                  </a:solidFill>
                  <a:latin typeface="Arial"/>
                  <a:ea typeface="Arial"/>
                  <a:cs typeface="Arial"/>
                  <a:sym typeface="Arial"/>
                </a:rPr>
                <a:t>/teomewhy</a:t>
              </a:r>
              <a:endParaRPr sz="1400" b="1" i="0" u="none" strike="noStrike" cap="none">
                <a:solidFill>
                  <a:srgbClr val="3C78D8"/>
                </a:solidFill>
                <a:latin typeface="Arial"/>
                <a:ea typeface="Arial"/>
                <a:cs typeface="Arial"/>
                <a:sym typeface="Arial"/>
              </a:endParaRPr>
            </a:p>
          </p:txBody>
        </p:sp>
        <p:pic>
          <p:nvPicPr>
            <p:cNvPr id="730" name="Google Shape;730;p85"/>
            <p:cNvPicPr preferRelativeResize="0"/>
            <p:nvPr/>
          </p:nvPicPr>
          <p:blipFill rotWithShape="1">
            <a:blip r:embed="rId7">
              <a:alphaModFix/>
            </a:blip>
            <a:srcRect/>
            <a:stretch/>
          </p:blipFill>
          <p:spPr>
            <a:xfrm>
              <a:off x="7131625" y="5020134"/>
              <a:ext cx="354000" cy="364941"/>
            </a:xfrm>
            <a:prstGeom prst="rect">
              <a:avLst/>
            </a:prstGeom>
            <a:noFill/>
            <a:ln>
              <a:noFill/>
            </a:ln>
          </p:spPr>
        </p:pic>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pic>
        <p:nvPicPr>
          <p:cNvPr id="736" name="Google Shape;736;p86"/>
          <p:cNvPicPr preferRelativeResize="0"/>
          <p:nvPr/>
        </p:nvPicPr>
        <p:blipFill rotWithShape="1">
          <a:blip r:embed="rId3">
            <a:alphaModFix/>
          </a:blip>
          <a:srcRect/>
          <a:stretch/>
        </p:blipFill>
        <p:spPr>
          <a:xfrm>
            <a:off x="9178100" y="458475"/>
            <a:ext cx="685800" cy="685800"/>
          </a:xfrm>
          <a:prstGeom prst="rect">
            <a:avLst/>
          </a:prstGeom>
          <a:noFill/>
          <a:ln>
            <a:noFill/>
          </a:ln>
        </p:spPr>
      </p:pic>
      <p:pic>
        <p:nvPicPr>
          <p:cNvPr id="737" name="Google Shape;737;p86"/>
          <p:cNvPicPr preferRelativeResize="0"/>
          <p:nvPr/>
        </p:nvPicPr>
        <p:blipFill rotWithShape="1">
          <a:blip r:embed="rId4">
            <a:alphaModFix/>
          </a:blip>
          <a:srcRect/>
          <a:stretch/>
        </p:blipFill>
        <p:spPr>
          <a:xfrm>
            <a:off x="10016300" y="458475"/>
            <a:ext cx="685800" cy="685800"/>
          </a:xfrm>
          <a:prstGeom prst="rect">
            <a:avLst/>
          </a:prstGeom>
          <a:noFill/>
          <a:ln>
            <a:noFill/>
          </a:ln>
        </p:spPr>
      </p:pic>
      <p:pic>
        <p:nvPicPr>
          <p:cNvPr id="738" name="Google Shape;738;p86"/>
          <p:cNvPicPr preferRelativeResize="0"/>
          <p:nvPr/>
        </p:nvPicPr>
        <p:blipFill rotWithShape="1">
          <a:blip r:embed="rId5">
            <a:alphaModFix/>
          </a:blip>
          <a:srcRect/>
          <a:stretch/>
        </p:blipFill>
        <p:spPr>
          <a:xfrm>
            <a:off x="8856400" y="4080100"/>
            <a:ext cx="685800" cy="685800"/>
          </a:xfrm>
          <a:prstGeom prst="rect">
            <a:avLst/>
          </a:prstGeom>
          <a:noFill/>
          <a:ln>
            <a:noFill/>
          </a:ln>
        </p:spPr>
      </p:pic>
      <p:pic>
        <p:nvPicPr>
          <p:cNvPr id="739" name="Google Shape;739;p86"/>
          <p:cNvPicPr preferRelativeResize="0"/>
          <p:nvPr/>
        </p:nvPicPr>
        <p:blipFill rotWithShape="1">
          <a:blip r:embed="rId6">
            <a:alphaModFix/>
          </a:blip>
          <a:srcRect/>
          <a:stretch/>
        </p:blipFill>
        <p:spPr>
          <a:xfrm>
            <a:off x="9178100" y="1296675"/>
            <a:ext cx="685800" cy="685800"/>
          </a:xfrm>
          <a:prstGeom prst="rect">
            <a:avLst/>
          </a:prstGeom>
          <a:noFill/>
          <a:ln>
            <a:noFill/>
          </a:ln>
        </p:spPr>
      </p:pic>
      <p:pic>
        <p:nvPicPr>
          <p:cNvPr id="740" name="Google Shape;740;p86"/>
          <p:cNvPicPr preferRelativeResize="0"/>
          <p:nvPr/>
        </p:nvPicPr>
        <p:blipFill rotWithShape="1">
          <a:blip r:embed="rId7">
            <a:alphaModFix/>
          </a:blip>
          <a:srcRect/>
          <a:stretch/>
        </p:blipFill>
        <p:spPr>
          <a:xfrm>
            <a:off x="9694600" y="4080100"/>
            <a:ext cx="685800" cy="685800"/>
          </a:xfrm>
          <a:prstGeom prst="rect">
            <a:avLst/>
          </a:prstGeom>
          <a:noFill/>
          <a:ln>
            <a:noFill/>
          </a:ln>
        </p:spPr>
      </p:pic>
      <p:pic>
        <p:nvPicPr>
          <p:cNvPr id="741" name="Google Shape;741;p86"/>
          <p:cNvPicPr preferRelativeResize="0"/>
          <p:nvPr/>
        </p:nvPicPr>
        <p:blipFill rotWithShape="1">
          <a:blip r:embed="rId8">
            <a:alphaModFix/>
          </a:blip>
          <a:srcRect/>
          <a:stretch/>
        </p:blipFill>
        <p:spPr>
          <a:xfrm>
            <a:off x="4733000" y="152400"/>
            <a:ext cx="685800" cy="68580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2512</Words>
  <Application>Microsoft Office PowerPoint</Application>
  <PresentationFormat>Widescreen</PresentationFormat>
  <Paragraphs>435</Paragraphs>
  <Slides>72</Slides>
  <Notes>72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72</vt:i4>
      </vt:variant>
    </vt:vector>
  </HeadingPairs>
  <TitlesOfParts>
    <vt:vector size="81" baseType="lpstr">
      <vt:lpstr>Montserrat Medium</vt:lpstr>
      <vt:lpstr>Helvetica Neue</vt:lpstr>
      <vt:lpstr>Montserrat</vt:lpstr>
      <vt:lpstr>Arial</vt:lpstr>
      <vt:lpstr>Arial Black</vt:lpstr>
      <vt:lpstr>Calibri</vt:lpstr>
      <vt:lpstr>Montserrat SemiBold</vt:lpstr>
      <vt:lpstr>SimSun</vt:lpstr>
      <vt:lpstr>Office Theme</vt:lpstr>
      <vt:lpstr>Introdução à Programação com Python</vt:lpstr>
      <vt:lpstr>PowerPoint Presentation</vt:lpstr>
      <vt:lpstr>Trajetória</vt:lpstr>
      <vt:lpstr>Ementa (⅓)</vt:lpstr>
      <vt:lpstr>Ementa (⅔)</vt:lpstr>
      <vt:lpstr>Ementa (3/3)</vt:lpstr>
      <vt:lpstr>Combinados</vt:lpstr>
      <vt:lpstr>Avisos</vt:lpstr>
      <vt:lpstr>Avisos</vt:lpstr>
      <vt:lpstr>PowerPoint Presentation</vt:lpstr>
      <vt:lpstr>Computação</vt:lpstr>
      <vt:lpstr>Computação</vt:lpstr>
      <vt:lpstr>Programação</vt:lpstr>
      <vt:lpstr>Instruções</vt:lpstr>
      <vt:lpstr>Programação</vt:lpstr>
      <vt:lpstr>Python</vt:lpstr>
      <vt:lpstr>Python (Instalação)</vt:lpstr>
      <vt:lpstr>Visual Studio Code</vt:lpstr>
      <vt:lpstr>Visual Studio Code</vt:lpstr>
      <vt:lpstr>Visual Studio Code</vt:lpstr>
      <vt:lpstr>Python (sintaxe)</vt:lpstr>
      <vt:lpstr>Python (sintaxe)</vt:lpstr>
      <vt:lpstr>Python (sintaxe)</vt:lpstr>
      <vt:lpstr>PowerPoint Presentation</vt:lpstr>
      <vt:lpstr>Exercícios</vt:lpstr>
      <vt:lpstr>Exercícios</vt:lpstr>
      <vt:lpstr>PowerPoint Presentation</vt:lpstr>
      <vt:lpstr>IF</vt:lpstr>
      <vt:lpstr>IF, ELSE</vt:lpstr>
      <vt:lpstr>IF, ELIF, ELSE</vt:lpstr>
      <vt:lpstr>Exercícios</vt:lpstr>
      <vt:lpstr>Exercícios</vt:lpstr>
      <vt:lpstr>while</vt:lpstr>
      <vt:lpstr>while</vt:lpstr>
      <vt:lpstr>for</vt:lpstr>
      <vt:lpstr>for</vt:lpstr>
      <vt:lpstr>Exercícios</vt:lpstr>
      <vt:lpstr>PowerPoint Presentation</vt:lpstr>
      <vt:lpstr>Listas</vt:lpstr>
      <vt:lpstr>Listas</vt:lpstr>
      <vt:lpstr>Dicionário</vt:lpstr>
      <vt:lpstr>PowerPoint Presentation</vt:lpstr>
      <vt:lpstr>Exercício 1.1</vt:lpstr>
      <vt:lpstr>Exercício 1.2</vt:lpstr>
      <vt:lpstr>Exercício 1.3</vt:lpstr>
      <vt:lpstr>Exercício 1.4</vt:lpstr>
      <vt:lpstr>Exercício 1.5</vt:lpstr>
      <vt:lpstr>Exercício 1.6</vt:lpstr>
      <vt:lpstr>PowerPoint Presentation</vt:lpstr>
      <vt:lpstr>Exercício 2.1</vt:lpstr>
      <vt:lpstr>Exercício 2.2</vt:lpstr>
      <vt:lpstr>Exercício 2.3</vt:lpstr>
      <vt:lpstr>Exercício 2.4</vt:lpstr>
      <vt:lpstr>Exercício 2.5</vt:lpstr>
      <vt:lpstr>Exercício 2.6</vt:lpstr>
      <vt:lpstr>Exercício 2.7</vt:lpstr>
      <vt:lpstr>Exercício 2.8</vt:lpstr>
      <vt:lpstr>Exercício 2.9</vt:lpstr>
      <vt:lpstr>Exercício 2.10</vt:lpstr>
      <vt:lpstr>Exercício 2.11</vt:lpstr>
      <vt:lpstr>Exercício 2.12</vt:lpstr>
      <vt:lpstr>Exercício 2.13</vt:lpstr>
      <vt:lpstr>Exercício 2.14</vt:lpstr>
      <vt:lpstr>Exercício 2.15</vt:lpstr>
      <vt:lpstr>Exercício 2.16</vt:lpstr>
      <vt:lpstr>Exercício 2.17</vt:lpstr>
      <vt:lpstr>Exercício 2.18</vt:lpstr>
      <vt:lpstr>Exercício x.xx</vt:lpstr>
      <vt:lpstr>DESAFIO (Loteria da Babilônia)</vt:lpstr>
      <vt:lpstr>DESAFIO (Loteria da Babilônia v2)</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Robson Fagner</cp:lastModifiedBy>
  <cp:revision>1</cp:revision>
  <dcterms:modified xsi:type="dcterms:W3CDTF">2026-06-28T08:54:25Z</dcterms:modified>
</cp:coreProperties>
</file>