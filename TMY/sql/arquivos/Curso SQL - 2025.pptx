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5" r:id="rId1"/>
  </p:sldMasterIdLst>
  <p:notesMasterIdLst>
    <p:notesMasterId r:id="rId5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12192000" cy="6858000"/>
  <p:notesSz cx="7104063" cy="10234613"/>
  <p:embeddedFontLst>
    <p:embeddedFont>
      <p:font typeface="Arial Black" panose="020B0A04020102020204" pitchFamily="34" charset="0"/>
      <p:regular r:id="rId56"/>
      <p:bold r:id="rId57"/>
    </p:embeddedFont>
    <p:embeddedFont>
      <p:font typeface="Montserrat" panose="00000500000000000000" pitchFamily="2" charset="0"/>
      <p:regular r:id="rId58"/>
      <p:bold r:id="rId59"/>
      <p:italic r:id="rId60"/>
      <p:boldItalic r:id="rId61"/>
    </p:embeddedFont>
    <p:embeddedFont>
      <p:font typeface="Montserrat Medium" panose="00000600000000000000" pitchFamily="2" charset="0"/>
      <p:regular r:id="rId62"/>
      <p:bold r:id="rId63"/>
      <p:italic r:id="rId64"/>
      <p:boldItalic r:id="rId65"/>
    </p:embeddedFont>
    <p:embeddedFont>
      <p:font typeface="Montserrat SemiBold" panose="00000700000000000000" pitchFamily="2" charset="0"/>
      <p:regular r:id="rId66"/>
      <p:bold r:id="rId67"/>
      <p:italic r:id="rId68"/>
      <p:boldItalic r:id="rId6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768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4F253B9-B06C-46B4-BBF9-D6F8C7843E18}">
  <a:tblStyle styleId="{B4F253B9-B06C-46B4-BBF9-D6F8C7843E1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866139B3-FF2D-48A4-90DC-69A59AD31E8C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tcBdr/>
        <a:fill>
          <a:solidFill>
            <a:srgbClr val="D0DEEF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0DEEF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84"/>
      </p:cViewPr>
      <p:guideLst>
        <p:guide orient="horz" pos="2160"/>
        <p:guide pos="37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8.fntdata"/><Relationship Id="rId68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3.fntdata"/><Relationship Id="rId66" Type="http://schemas.openxmlformats.org/officeDocument/2006/relationships/font" Target="fonts/font11.fntdata"/><Relationship Id="rId74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font" Target="fonts/font6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1.fntdata"/><Relationship Id="rId64" Type="http://schemas.openxmlformats.org/officeDocument/2006/relationships/font" Target="fonts/font9.fntdata"/><Relationship Id="rId69" Type="http://schemas.openxmlformats.org/officeDocument/2006/relationships/font" Target="fonts/font14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4.fntdata"/><Relationship Id="rId67" Type="http://schemas.openxmlformats.org/officeDocument/2006/relationships/font" Target="fonts/font1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7.fntdata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2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5.fntdata"/><Relationship Id="rId65" Type="http://schemas.openxmlformats.org/officeDocument/2006/relationships/font" Target="fonts/font10.fntdata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son Fagner" userId="766083af60d28191" providerId="LiveId" clId="{598285DC-EFF4-4A46-BC92-AF3C1E922EC1}"/>
    <pc:docChg chg="modSld">
      <pc:chgData name="Robson Fagner" userId="766083af60d28191" providerId="LiveId" clId="{598285DC-EFF4-4A46-BC92-AF3C1E922EC1}" dt="2026-07-16T17:17:15.443" v="8" actId="13926"/>
      <pc:docMkLst>
        <pc:docMk/>
      </pc:docMkLst>
      <pc:sldChg chg="modSp mod">
        <pc:chgData name="Robson Fagner" userId="766083af60d28191" providerId="LiveId" clId="{598285DC-EFF4-4A46-BC92-AF3C1E922EC1}" dt="2026-07-16T13:30:23.871" v="0" actId="2711"/>
        <pc:sldMkLst>
          <pc:docMk/>
          <pc:sldMk cId="0" sldId="256"/>
        </pc:sldMkLst>
        <pc:spChg chg="mod">
          <ac:chgData name="Robson Fagner" userId="766083af60d28191" providerId="LiveId" clId="{598285DC-EFF4-4A46-BC92-AF3C1E922EC1}" dt="2026-07-16T13:30:23.871" v="0" actId="2711"/>
          <ac:spMkLst>
            <pc:docMk/>
            <pc:sldMk cId="0" sldId="256"/>
            <ac:spMk id="75" creationId="{00000000-0000-0000-0000-000000000000}"/>
          </ac:spMkLst>
        </pc:spChg>
      </pc:sldChg>
      <pc:sldChg chg="modSp mod">
        <pc:chgData name="Robson Fagner" userId="766083af60d28191" providerId="LiveId" clId="{598285DC-EFF4-4A46-BC92-AF3C1E922EC1}" dt="2026-07-16T17:17:15.443" v="8" actId="13926"/>
        <pc:sldMkLst>
          <pc:docMk/>
          <pc:sldMk cId="0" sldId="295"/>
        </pc:sldMkLst>
        <pc:spChg chg="mod">
          <ac:chgData name="Robson Fagner" userId="766083af60d28191" providerId="LiveId" clId="{598285DC-EFF4-4A46-BC92-AF3C1E922EC1}" dt="2026-07-16T17:17:15.443" v="8" actId="13926"/>
          <ac:spMkLst>
            <pc:docMk/>
            <pc:sldMk cId="0" sldId="295"/>
            <ac:spMk id="607" creationId="{00000000-0000-0000-0000-000000000000}"/>
          </ac:spMkLst>
        </pc:spChg>
      </pc:sldChg>
    </pc:docChg>
  </pc:docChgLst>
  <pc:docChgLst>
    <pc:chgData name="Robson Fagner" userId="766083af60d28191" providerId="LiveId" clId="{D87C208A-15A3-4EC7-964F-7E65DC55BFEE}"/>
    <pc:docChg chg="undo custSel modSld">
      <pc:chgData name="Robson Fagner" userId="766083af60d28191" providerId="LiveId" clId="{D87C208A-15A3-4EC7-964F-7E65DC55BFEE}" dt="2026-07-13T00:43:39.534" v="9" actId="13926"/>
      <pc:docMkLst>
        <pc:docMk/>
      </pc:docMkLst>
      <pc:sldChg chg="modSp mod">
        <pc:chgData name="Robson Fagner" userId="766083af60d28191" providerId="LiveId" clId="{D87C208A-15A3-4EC7-964F-7E65DC55BFEE}" dt="2026-07-13T00:28:13.257" v="5" actId="27636"/>
        <pc:sldMkLst>
          <pc:docMk/>
          <pc:sldMk cId="0" sldId="262"/>
        </pc:sldMkLst>
        <pc:spChg chg="mod">
          <ac:chgData name="Robson Fagner" userId="766083af60d28191" providerId="LiveId" clId="{D87C208A-15A3-4EC7-964F-7E65DC55BFEE}" dt="2026-07-13T00:28:13.257" v="5" actId="27636"/>
          <ac:spMkLst>
            <pc:docMk/>
            <pc:sldMk cId="0" sldId="262"/>
            <ac:spMk id="188" creationId="{00000000-0000-0000-0000-000000000000}"/>
          </ac:spMkLst>
        </pc:spChg>
      </pc:sldChg>
      <pc:sldChg chg="modSp mod">
        <pc:chgData name="Robson Fagner" userId="766083af60d28191" providerId="LiveId" clId="{D87C208A-15A3-4EC7-964F-7E65DC55BFEE}" dt="2026-07-13T00:28:13.269" v="6" actId="27636"/>
        <pc:sldMkLst>
          <pc:docMk/>
          <pc:sldMk cId="0" sldId="266"/>
        </pc:sldMkLst>
        <pc:spChg chg="mod">
          <ac:chgData name="Robson Fagner" userId="766083af60d28191" providerId="LiveId" clId="{D87C208A-15A3-4EC7-964F-7E65DC55BFEE}" dt="2026-07-13T00:28:13.269" v="6" actId="27636"/>
          <ac:spMkLst>
            <pc:docMk/>
            <pc:sldMk cId="0" sldId="266"/>
            <ac:spMk id="231" creationId="{00000000-0000-0000-0000-000000000000}"/>
          </ac:spMkLst>
        </pc:spChg>
      </pc:sldChg>
      <pc:sldChg chg="modSp mod">
        <pc:chgData name="Robson Fagner" userId="766083af60d28191" providerId="LiveId" clId="{D87C208A-15A3-4EC7-964F-7E65DC55BFEE}" dt="2026-07-11T20:30:05.781" v="1" actId="13926"/>
        <pc:sldMkLst>
          <pc:docMk/>
          <pc:sldMk cId="0" sldId="272"/>
        </pc:sldMkLst>
        <pc:graphicFrameChg chg="modGraphic">
          <ac:chgData name="Robson Fagner" userId="766083af60d28191" providerId="LiveId" clId="{D87C208A-15A3-4EC7-964F-7E65DC55BFEE}" dt="2026-07-11T20:30:05.781" v="1" actId="13926"/>
          <ac:graphicFrameMkLst>
            <pc:docMk/>
            <pc:sldMk cId="0" sldId="272"/>
            <ac:graphicFrameMk id="297" creationId="{00000000-0000-0000-0000-000000000000}"/>
          </ac:graphicFrameMkLst>
        </pc:graphicFrameChg>
      </pc:sldChg>
      <pc:sldChg chg="modSp mod">
        <pc:chgData name="Robson Fagner" userId="766083af60d28191" providerId="LiveId" clId="{D87C208A-15A3-4EC7-964F-7E65DC55BFEE}" dt="2026-07-13T00:43:39.534" v="9" actId="13926"/>
        <pc:sldMkLst>
          <pc:docMk/>
          <pc:sldMk cId="0" sldId="294"/>
        </pc:sldMkLst>
        <pc:spChg chg="mod">
          <ac:chgData name="Robson Fagner" userId="766083af60d28191" providerId="LiveId" clId="{D87C208A-15A3-4EC7-964F-7E65DC55BFEE}" dt="2026-07-13T00:28:13.208" v="4" actId="13926"/>
          <ac:spMkLst>
            <pc:docMk/>
            <pc:sldMk cId="0" sldId="294"/>
            <ac:spMk id="596" creationId="{00000000-0000-0000-0000-000000000000}"/>
          </ac:spMkLst>
        </pc:spChg>
        <pc:spChg chg="mod">
          <ac:chgData name="Robson Fagner" userId="766083af60d28191" providerId="LiveId" clId="{D87C208A-15A3-4EC7-964F-7E65DC55BFEE}" dt="2026-07-13T00:32:45.020" v="7" actId="13926"/>
          <ac:spMkLst>
            <pc:docMk/>
            <pc:sldMk cId="0" sldId="294"/>
            <ac:spMk id="597" creationId="{00000000-0000-0000-0000-000000000000}"/>
          </ac:spMkLst>
        </pc:spChg>
        <pc:spChg chg="mod">
          <ac:chgData name="Robson Fagner" userId="766083af60d28191" providerId="LiveId" clId="{D87C208A-15A3-4EC7-964F-7E65DC55BFEE}" dt="2026-07-13T00:33:46.121" v="8" actId="13926"/>
          <ac:spMkLst>
            <pc:docMk/>
            <pc:sldMk cId="0" sldId="294"/>
            <ac:spMk id="598" creationId="{00000000-0000-0000-0000-000000000000}"/>
          </ac:spMkLst>
        </pc:spChg>
        <pc:spChg chg="mod">
          <ac:chgData name="Robson Fagner" userId="766083af60d28191" providerId="LiveId" clId="{D87C208A-15A3-4EC7-964F-7E65DC55BFEE}" dt="2026-07-13T00:43:39.534" v="9" actId="13926"/>
          <ac:spMkLst>
            <pc:docMk/>
            <pc:sldMk cId="0" sldId="294"/>
            <ac:spMk id="59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4313" y="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850"/>
            <a:ext cx="3078163" cy="512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z="1200" b="0" i="0" u="none" strike="noStrike" cap="none">
                <a:solidFill>
                  <a:schemeClr val="dk1"/>
                </a:solidFill>
                <a:latin typeface="SimSun"/>
                <a:ea typeface="SimSun"/>
                <a:cs typeface="SimSun"/>
                <a:sym typeface="SimSu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51f97a2a3_0_592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45775" rIns="91550" bIns="457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751f97a2a3_0_5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35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751f97a2a3_0_6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4962" y="767571"/>
            <a:ext cx="6314400" cy="3837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35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g3751f97a2a3_0_661:notes"/>
          <p:cNvSpPr txBox="1">
            <a:spLocks noGrp="1"/>
          </p:cNvSpPr>
          <p:nvPr>
            <p:ph type="body" idx="1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45775" rIns="91550" bIns="457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51f97a2a3_0_685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45775" rIns="91550" bIns="457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7" name="Google Shape;107;g3751f97a2a3_0_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35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751f97a2a3_0_7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35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3751f97a2a3_0_795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45775" rIns="91550" bIns="457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8" name="Google Shape;158;g3751f97a2a3_0_795:notes"/>
          <p:cNvSpPr txBox="1">
            <a:spLocks noGrp="1"/>
          </p:cNvSpPr>
          <p:nvPr>
            <p:ph type="sldNum" idx="12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45775" rIns="91550" bIns="4577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 sz="1400"/>
              <a:t>4</a:t>
            </a:fld>
            <a:endParaRPr sz="14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751f97a2a3_0_8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35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3751f97a2a3_0_802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45775" rIns="91550" bIns="457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6" name="Google Shape;166;g3751f97a2a3_0_802:notes"/>
          <p:cNvSpPr txBox="1">
            <a:spLocks noGrp="1"/>
          </p:cNvSpPr>
          <p:nvPr>
            <p:ph type="sldNum" idx="12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45775" rIns="91550" bIns="4577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 sz="1400"/>
              <a:t>5</a:t>
            </a:fld>
            <a:endParaRPr sz="140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751f97a2a3_0_8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35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8" name="Google Shape;178;g3751f97a2a3_0_814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45775" rIns="91550" bIns="457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9" name="Google Shape;179;g3751f97a2a3_0_814:notes"/>
          <p:cNvSpPr txBox="1">
            <a:spLocks noGrp="1"/>
          </p:cNvSpPr>
          <p:nvPr>
            <p:ph type="sldNum" idx="12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550" tIns="45775" rIns="91550" bIns="45775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 sz="1400"/>
              <a:t>6</a:t>
            </a:fld>
            <a:endParaRPr sz="14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51f97a2a3_0_1025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3751f97a2a3_0_10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751f97a2a3_0_1030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g3751f97a2a3_0_10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751f97a2a3_0_8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4962" y="767571"/>
            <a:ext cx="6314400" cy="3837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751f97a2a3_0_880:notes"/>
          <p:cNvSpPr txBox="1">
            <a:spLocks noGrp="1"/>
          </p:cNvSpPr>
          <p:nvPr>
            <p:ph type="body" idx="1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51f97a2a3_0_8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4962" y="767571"/>
            <a:ext cx="6314400" cy="3837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751f97a2a3_0_887:notes"/>
          <p:cNvSpPr txBox="1">
            <a:spLocks noGrp="1"/>
          </p:cNvSpPr>
          <p:nvPr>
            <p:ph type="body" idx="1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751f97a2a3_0_9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751f97a2a3_0_907:notes"/>
          <p:cNvSpPr txBox="1">
            <a:spLocks noGrp="1"/>
          </p:cNvSpPr>
          <p:nvPr>
            <p:ph type="body" idx="1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751f97a2a3_0_9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4962" y="767571"/>
            <a:ext cx="6314400" cy="3837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751f97a2a3_0_916:notes"/>
          <p:cNvSpPr txBox="1">
            <a:spLocks noGrp="1"/>
          </p:cNvSpPr>
          <p:nvPr>
            <p:ph type="body" idx="1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751f97a2a3_0_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4962" y="767571"/>
            <a:ext cx="6314400" cy="3837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751f97a2a3_0_923:notes"/>
          <p:cNvSpPr txBox="1">
            <a:spLocks noGrp="1"/>
          </p:cNvSpPr>
          <p:nvPr>
            <p:ph type="body" idx="1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751f97a2a3_0_9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4962" y="767571"/>
            <a:ext cx="6314400" cy="3837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751f97a2a3_0_927:notes"/>
          <p:cNvSpPr txBox="1">
            <a:spLocks noGrp="1"/>
          </p:cNvSpPr>
          <p:nvPr>
            <p:ph type="body" idx="1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751f97a2a3_0_9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4962" y="767571"/>
            <a:ext cx="6314400" cy="38379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751f97a2a3_0_955:notes"/>
          <p:cNvSpPr txBox="1">
            <a:spLocks noGrp="1"/>
          </p:cNvSpPr>
          <p:nvPr>
            <p:ph type="body" idx="1"/>
          </p:nvPr>
        </p:nvSpPr>
        <p:spPr>
          <a:xfrm>
            <a:off x="710372" y="4861281"/>
            <a:ext cx="5682900" cy="4605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1317753e35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1317753e35c_1_0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g1317753e35c_1_0:notes"/>
          <p:cNvSpPr txBox="1">
            <a:spLocks noGrp="1"/>
          </p:cNvSpPr>
          <p:nvPr>
            <p:ph type="sldNum" idx="12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751f97a2a3_0_10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751f97a2a3_0_1018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g3751f97a2a3_0_1018:notes"/>
          <p:cNvSpPr txBox="1">
            <a:spLocks noGrp="1"/>
          </p:cNvSpPr>
          <p:nvPr>
            <p:ph type="sldNum" idx="12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751f97a2a3_0_0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g3751f97a2a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751f97a2a3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307" name="Google Shape;307;g3751f97a2a3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751f97a2a3_0_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321" name="Google Shape;321;g3751f97a2a3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751f97a2a3_0_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342" name="Google Shape;342;g3751f97a2a3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751f97a2a3_0_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354" name="Google Shape;354;g3751f97a2a3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751f97a2a3_0_6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375" name="Google Shape;375;g3751f97a2a3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751f97a2a3_0_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403" name="Google Shape;403;g3751f97a2a3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751f97a2a3_0_112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g3751f97a2a3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751f97a2a3_0_1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425" name="Google Shape;425;g3751f97a2a3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751f97a2a3_0_253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g3751f97a2a3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751f97a2a3_0_25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489" name="Google Shape;489;g3751f97a2a3_0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3751f97a2a3_0_26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495" name="Google Shape;495;g3751f97a2a3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751f97a2a3_0_26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501" name="Google Shape;501;g3751f97a2a3_0_2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g3751f97a2a3_0_27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507" name="Google Shape;507;g3751f97a2a3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3751f97a2a3_0_1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3751f97a2a3_0_1525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g3751f97a2a3_0_1525:notes"/>
          <p:cNvSpPr txBox="1">
            <a:spLocks noGrp="1"/>
          </p:cNvSpPr>
          <p:nvPr>
            <p:ph type="sldNum" idx="12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751f97a2a3_0_1042:notes"/>
          <p:cNvSpPr txBox="1">
            <a:spLocks noGrp="1"/>
          </p:cNvSpPr>
          <p:nvPr>
            <p:ph type="body" idx="1"/>
          </p:nvPr>
        </p:nvSpPr>
        <p:spPr>
          <a:xfrm>
            <a:off x="710372" y="4925245"/>
            <a:ext cx="5682900" cy="40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7250" tIns="97250" rIns="97250" bIns="972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SimSun"/>
              <a:buNone/>
            </a:pPr>
            <a:endParaRPr sz="13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521" name="Google Shape;521;g3751f97a2a3_0_10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0372" y="1279284"/>
            <a:ext cx="5682900" cy="34542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35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751f97a2a3_0_3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556" name="Google Shape;556;g3751f97a2a3_0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g3751f97a2a3_0_3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564" name="Google Shape;564;g3751f97a2a3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751f97a2a3_0_3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572" name="Google Shape;572;g3751f97a2a3_0_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g3751f97a2a3_0_3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579" name="Google Shape;579;g3751f97a2a3_0_3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751f97a2a3_0_3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587" name="Google Shape;587;g3751f97a2a3_0_3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g3751f97a2a3_0_1212:notes"/>
          <p:cNvSpPr txBox="1">
            <a:spLocks noGrp="1"/>
          </p:cNvSpPr>
          <p:nvPr>
            <p:ph type="body" idx="1"/>
          </p:nvPr>
        </p:nvSpPr>
        <p:spPr>
          <a:xfrm>
            <a:off x="736683" y="5513361"/>
            <a:ext cx="5886900" cy="45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7250" tIns="48600" rIns="97250" bIns="486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g3751f97a2a3_0_1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2888" y="1431925"/>
            <a:ext cx="6873875" cy="3867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35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3751f97a2a3_0_12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2888" y="1431925"/>
            <a:ext cx="6873875" cy="3867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35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3" name="Google Shape;603;g3751f97a2a3_0_1220:notes"/>
          <p:cNvSpPr txBox="1">
            <a:spLocks noGrp="1"/>
          </p:cNvSpPr>
          <p:nvPr>
            <p:ph type="body" idx="1"/>
          </p:nvPr>
        </p:nvSpPr>
        <p:spPr>
          <a:xfrm>
            <a:off x="736683" y="5513361"/>
            <a:ext cx="5886900" cy="45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7250" tIns="48600" rIns="97250" bIns="486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g3751f97a2a3_0_1220:notes"/>
          <p:cNvSpPr txBox="1">
            <a:spLocks noGrp="1"/>
          </p:cNvSpPr>
          <p:nvPr>
            <p:ph type="sldNum" idx="12"/>
          </p:nvPr>
        </p:nvSpPr>
        <p:spPr>
          <a:xfrm>
            <a:off x="4168506" y="10881024"/>
            <a:ext cx="3188700" cy="5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7250" tIns="48600" rIns="97250" bIns="486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fld id="{00000000-1234-1234-1234-123412341234}" type="slidenum">
              <a:rPr lang="pt-BR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g3751f97a2a3_0_4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610" name="Google Shape;610;g3751f97a2a3_0_4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3751f97a2a3_0_45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617" name="Google Shape;617;g3751f97a2a3_0_4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751f97a2a3_0_46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624" name="Google Shape;624;g3751f97a2a3_0_4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751f97a2a3_0_496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1" name="Google Shape;631;g3751f97a2a3_0_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3751f97a2a3_0_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3751f97a2a3_0_504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g3751f97a2a3_0_504:notes"/>
          <p:cNvSpPr txBox="1">
            <a:spLocks noGrp="1"/>
          </p:cNvSpPr>
          <p:nvPr>
            <p:ph type="sldNum" idx="12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751f97a2a3_0_5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647" name="Google Shape;647;g3751f97a2a3_0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3751f97a2a3_0_5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SimSun"/>
              <a:buNone/>
            </a:pPr>
            <a:endParaRPr sz="1200">
              <a:solidFill>
                <a:schemeClr val="dk1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653" name="Google Shape;653;g3751f97a2a3_0_5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751f97a2a3_0_553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8" name="Google Shape;658;g3751f97a2a3_0_5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3751f97a2a3_0_5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3751f97a2a3_0_561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8" name="Google Shape;668;g3751f97a2a3_0_561:notes"/>
          <p:cNvSpPr txBox="1">
            <a:spLocks noGrp="1"/>
          </p:cNvSpPr>
          <p:nvPr>
            <p:ph type="sldNum" idx="12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g3797a422936_20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4" name="Google Shape;674;g3797a422936_206_0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g3797a422936_206_0:notes"/>
          <p:cNvSpPr txBox="1">
            <a:spLocks noGrp="1"/>
          </p:cNvSpPr>
          <p:nvPr>
            <p:ph type="sldNum" idx="12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78d85edc04_24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1" name="Google Shape;681;g378d85edc04_247_0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2" name="Google Shape;682;g378d85edc04_247_0:notes"/>
          <p:cNvSpPr txBox="1">
            <a:spLocks noGrp="1"/>
          </p:cNvSpPr>
          <p:nvPr>
            <p:ph type="sldNum" idx="12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653ef1cc8a_5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3653ef1cc8a_5_0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00" cy="40290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g3653ef1cc8a_5_0:notes"/>
          <p:cNvSpPr txBox="1">
            <a:spLocks noGrp="1"/>
          </p:cNvSpPr>
          <p:nvPr>
            <p:ph type="sldNum" idx="12"/>
          </p:nvPr>
        </p:nvSpPr>
        <p:spPr>
          <a:xfrm>
            <a:off x="4024313" y="9721850"/>
            <a:ext cx="3078300" cy="512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p23:notes"/>
          <p:cNvSpPr txBox="1">
            <a:spLocks noGrp="1"/>
          </p:cNvSpPr>
          <p:nvPr>
            <p:ph type="body" idx="1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00" cy="34545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2" descr="tmw-slides-bg-Artboard 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9525" y="-5715"/>
            <a:ext cx="12211051" cy="68687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descr="tmw-slides-bg-v2-Artboard 2 copy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24130" y="-12065"/>
            <a:ext cx="12240895" cy="68821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3" descr="teomewhy-logo-interrogacao-v01_Prancheta 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4130" y="6285865"/>
            <a:ext cx="686433" cy="5841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 descr="YT-capa-canal-fundo-v02"/>
          <p:cNvPicPr preferRelativeResize="0"/>
          <p:nvPr/>
        </p:nvPicPr>
        <p:blipFill rotWithShape="1">
          <a:blip r:embed="rId2">
            <a:alphaModFix amt="25000"/>
          </a:blip>
          <a:srcRect/>
          <a:stretch/>
        </p:blipFill>
        <p:spPr>
          <a:xfrm>
            <a:off x="-17780" y="-10160"/>
            <a:ext cx="12227558" cy="68783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" descr="teomewhy-logo-interrogacao-v01_Prancheta 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4130" y="6285865"/>
            <a:ext cx="686433" cy="5841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 descr="YT-capa-canal-fundo-v02"/>
          <p:cNvPicPr preferRelativeResize="0"/>
          <p:nvPr/>
        </p:nvPicPr>
        <p:blipFill rotWithShape="1">
          <a:blip r:embed="rId2">
            <a:alphaModFix/>
          </a:blip>
          <a:srcRect l="49418" t="42986"/>
          <a:stretch/>
        </p:blipFill>
        <p:spPr>
          <a:xfrm>
            <a:off x="-26670" y="-10160"/>
            <a:ext cx="12244704" cy="68789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6" descr="tmw-slides-bg-v2-Artboard 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33655" y="-17145"/>
            <a:ext cx="12259308" cy="68922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6" descr="teomewhy-logo-interrogacao-v01_Prancheta 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24130" y="6285865"/>
            <a:ext cx="686433" cy="5841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>
  <p:cSld name="2_Section 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7" descr="YT-capa-canal-fundo-v02"/>
          <p:cNvPicPr preferRelativeResize="0"/>
          <p:nvPr/>
        </p:nvPicPr>
        <p:blipFill rotWithShape="1">
          <a:blip r:embed="rId2">
            <a:alphaModFix/>
          </a:blip>
          <a:srcRect t="19023" r="37672" b="17299"/>
          <a:stretch/>
        </p:blipFill>
        <p:spPr>
          <a:xfrm>
            <a:off x="-10160" y="-78740"/>
            <a:ext cx="12202163" cy="70123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>
  <p:cSld name="1_Custom Layou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8" descr="YT-capa-canal-fundo-v0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7780" y="-10160"/>
            <a:ext cx="12227558" cy="68783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 1">
  <p:cSld name="TITLE_1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9"/>
          <p:cNvSpPr txBox="1">
            <a:spLocks noGrp="1"/>
          </p:cNvSpPr>
          <p:nvPr>
            <p:ph type="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Calibri"/>
              <a:buNone/>
              <a:defRPr sz="6000"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body" idx="1"/>
          </p:nvPr>
        </p:nvSpPr>
        <p:spPr>
          <a:xfrm>
            <a:off x="1524000" y="3602037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5136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2400"/>
            </a:lvl1pPr>
            <a:lvl2pPr marL="914400" lvl="1" indent="-228600" algn="ctr">
              <a:lnSpc>
                <a:spcPct val="90000"/>
              </a:lnSpc>
              <a:spcBef>
                <a:spcPts val="5136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2400"/>
            </a:lvl2pPr>
            <a:lvl3pPr marL="1371600" lvl="2" indent="-228600" algn="ctr">
              <a:lnSpc>
                <a:spcPct val="90000"/>
              </a:lnSpc>
              <a:spcBef>
                <a:spcPts val="5136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2400"/>
            </a:lvl3pPr>
            <a:lvl4pPr marL="1828800" lvl="3" indent="-228600" algn="ctr">
              <a:lnSpc>
                <a:spcPct val="90000"/>
              </a:lnSpc>
              <a:spcBef>
                <a:spcPts val="5136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2400"/>
            </a:lvl4pPr>
            <a:lvl5pPr marL="2286000" lvl="4" indent="-228600" algn="ctr">
              <a:lnSpc>
                <a:spcPct val="90000"/>
              </a:lnSpc>
              <a:spcBef>
                <a:spcPts val="5136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2400"/>
            </a:lvl5pPr>
            <a:lvl6pPr marL="2743200" lvl="5" indent="-317500" algn="l">
              <a:lnSpc>
                <a:spcPct val="90000"/>
              </a:lnSpc>
              <a:spcBef>
                <a:spcPts val="3852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3852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3852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3852"/>
              </a:spcBef>
              <a:spcAft>
                <a:spcPts val="0"/>
              </a:spcAft>
              <a:buClr>
                <a:srgbClr val="000000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9"/>
          <p:cNvSpPr txBox="1">
            <a:spLocks noGrp="1"/>
          </p:cNvSpPr>
          <p:nvPr>
            <p:ph type="sldNum" idx="12"/>
          </p:nvPr>
        </p:nvSpPr>
        <p:spPr>
          <a:xfrm>
            <a:off x="11089817" y="6404292"/>
            <a:ext cx="264000" cy="26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sp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ado 1 1">
  <p:cSld name="CUSTOM_1_1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11" title="fundo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 Layout_2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12" descr="YT-capa-canal-fundo-v02"/>
          <p:cNvPicPr preferRelativeResize="0"/>
          <p:nvPr/>
        </p:nvPicPr>
        <p:blipFill rotWithShape="1">
          <a:blip r:embed="rId2">
            <a:alphaModFix amt="25000"/>
          </a:blip>
          <a:srcRect/>
          <a:stretch/>
        </p:blipFill>
        <p:spPr>
          <a:xfrm>
            <a:off x="-17780" y="-10160"/>
            <a:ext cx="12227558" cy="68783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 Layout_1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3"/>
          <p:cNvSpPr/>
          <p:nvPr/>
        </p:nvSpPr>
        <p:spPr>
          <a:xfrm>
            <a:off x="-17800" y="0"/>
            <a:ext cx="12227700" cy="6957600"/>
          </a:xfrm>
          <a:prstGeom prst="rect">
            <a:avLst/>
          </a:prstGeom>
          <a:solidFill>
            <a:srgbClr val="000000"/>
          </a:solidFill>
          <a:ln w="127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0" name="Google Shape;40;p13" descr="YT-capa-canal-fundo-v02"/>
          <p:cNvPicPr preferRelativeResize="0"/>
          <p:nvPr/>
        </p:nvPicPr>
        <p:blipFill rotWithShape="1">
          <a:blip r:embed="rId2">
            <a:alphaModFix amt="18000"/>
          </a:blip>
          <a:srcRect/>
          <a:stretch/>
        </p:blipFill>
        <p:spPr>
          <a:xfrm>
            <a:off x="-18063" y="39640"/>
            <a:ext cx="12228122" cy="68783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">
  <p:cSld name="SECTION_HEADER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4"/>
          <p:cNvSpPr txBox="1">
            <a:spLocks noGrp="1"/>
          </p:cNvSpPr>
          <p:nvPr>
            <p:ph type="title"/>
          </p:nvPr>
        </p:nvSpPr>
        <p:spPr>
          <a:xfrm>
            <a:off x="1484310" y="2666999"/>
            <a:ext cx="8997300" cy="21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  <a:defRPr sz="4000" b="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4"/>
          <p:cNvSpPr txBox="1">
            <a:spLocks noGrp="1"/>
          </p:cNvSpPr>
          <p:nvPr>
            <p:ph type="body" idx="1"/>
          </p:nvPr>
        </p:nvSpPr>
        <p:spPr>
          <a:xfrm>
            <a:off x="1484310" y="4777381"/>
            <a:ext cx="8997300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14"/>
          <p:cNvSpPr txBox="1">
            <a:spLocks noGrp="1"/>
          </p:cNvSpPr>
          <p:nvPr>
            <p:ph type="dt" idx="10"/>
          </p:nvPr>
        </p:nvSpPr>
        <p:spPr>
          <a:xfrm>
            <a:off x="8677925" y="5883274"/>
            <a:ext cx="1143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4"/>
          <p:cNvSpPr txBox="1">
            <a:spLocks noGrp="1"/>
          </p:cNvSpPr>
          <p:nvPr>
            <p:ph type="ftr" idx="11"/>
          </p:nvPr>
        </p:nvSpPr>
        <p:spPr>
          <a:xfrm>
            <a:off x="1484310" y="5883274"/>
            <a:ext cx="7084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4"/>
          <p:cNvSpPr txBox="1">
            <a:spLocks noGrp="1"/>
          </p:cNvSpPr>
          <p:nvPr>
            <p:ph type="sldNum" idx="12"/>
          </p:nvPr>
        </p:nvSpPr>
        <p:spPr>
          <a:xfrm>
            <a:off x="9930363" y="5883275"/>
            <a:ext cx="551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 1">
  <p:cSld name="SECTION_HEADER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5"/>
          <p:cNvSpPr txBox="1">
            <a:spLocks noGrp="1"/>
          </p:cNvSpPr>
          <p:nvPr>
            <p:ph type="title"/>
          </p:nvPr>
        </p:nvSpPr>
        <p:spPr>
          <a:xfrm>
            <a:off x="1484310" y="2666999"/>
            <a:ext cx="8997300" cy="21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  <a:defRPr sz="4000" b="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5"/>
          <p:cNvSpPr txBox="1">
            <a:spLocks noGrp="1"/>
          </p:cNvSpPr>
          <p:nvPr>
            <p:ph type="body" idx="1"/>
          </p:nvPr>
        </p:nvSpPr>
        <p:spPr>
          <a:xfrm>
            <a:off x="1484310" y="4777381"/>
            <a:ext cx="8997300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0" name="Google Shape;50;p15"/>
          <p:cNvSpPr txBox="1">
            <a:spLocks noGrp="1"/>
          </p:cNvSpPr>
          <p:nvPr>
            <p:ph type="dt" idx="10"/>
          </p:nvPr>
        </p:nvSpPr>
        <p:spPr>
          <a:xfrm>
            <a:off x="8677925" y="5883274"/>
            <a:ext cx="1143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5"/>
          <p:cNvSpPr txBox="1">
            <a:spLocks noGrp="1"/>
          </p:cNvSpPr>
          <p:nvPr>
            <p:ph type="ftr" idx="11"/>
          </p:nvPr>
        </p:nvSpPr>
        <p:spPr>
          <a:xfrm>
            <a:off x="1484310" y="5883274"/>
            <a:ext cx="7084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sldNum" idx="12"/>
          </p:nvPr>
        </p:nvSpPr>
        <p:spPr>
          <a:xfrm>
            <a:off x="9930363" y="5883275"/>
            <a:ext cx="551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>
  <p:cSld name="OBJECT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6"/>
          <p:cNvSpPr txBox="1">
            <a:spLocks noGrp="1"/>
          </p:cNvSpPr>
          <p:nvPr>
            <p:ph type="title"/>
          </p:nvPr>
        </p:nvSpPr>
        <p:spPr>
          <a:xfrm>
            <a:off x="1484311" y="685800"/>
            <a:ext cx="10018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6"/>
          <p:cNvSpPr txBox="1">
            <a:spLocks noGrp="1"/>
          </p:cNvSpPr>
          <p:nvPr>
            <p:ph type="body" idx="1"/>
          </p:nvPr>
        </p:nvSpPr>
        <p:spPr>
          <a:xfrm>
            <a:off x="1484310" y="2666999"/>
            <a:ext cx="10018800" cy="312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94335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  <a:defRPr/>
            </a:lvl1pPr>
            <a:lvl2pPr marL="914400" lvl="1" indent="-39433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marL="1371600" lvl="2" indent="-39433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marL="1828800" lvl="3" indent="-39433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marL="2286000" lvl="4" indent="-39433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marL="2743200" lvl="5" indent="-39433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marL="3200400" lvl="6" indent="-39433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marL="3657600" lvl="7" indent="-39433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marL="4114800" lvl="8" indent="-394334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16"/>
          <p:cNvSpPr txBox="1">
            <a:spLocks noGrp="1"/>
          </p:cNvSpPr>
          <p:nvPr>
            <p:ph type="dt" idx="10"/>
          </p:nvPr>
        </p:nvSpPr>
        <p:spPr>
          <a:xfrm>
            <a:off x="8677925" y="5883274"/>
            <a:ext cx="1143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ftr" idx="11"/>
          </p:nvPr>
        </p:nvSpPr>
        <p:spPr>
          <a:xfrm>
            <a:off x="1484310" y="5883274"/>
            <a:ext cx="7084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sldNum" idx="12"/>
          </p:nvPr>
        </p:nvSpPr>
        <p:spPr>
          <a:xfrm>
            <a:off x="9930363" y="5883274"/>
            <a:ext cx="551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beçalho da Seção 2">
  <p:cSld name="SECTION_HEADER_3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7"/>
          <p:cNvSpPr txBox="1">
            <a:spLocks noGrp="1"/>
          </p:cNvSpPr>
          <p:nvPr>
            <p:ph type="title"/>
          </p:nvPr>
        </p:nvSpPr>
        <p:spPr>
          <a:xfrm>
            <a:off x="1484310" y="2666999"/>
            <a:ext cx="8997300" cy="211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  <a:defRPr sz="4000" b="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7"/>
          <p:cNvSpPr txBox="1">
            <a:spLocks noGrp="1"/>
          </p:cNvSpPr>
          <p:nvPr>
            <p:ph type="body" idx="1"/>
          </p:nvPr>
        </p:nvSpPr>
        <p:spPr>
          <a:xfrm>
            <a:off x="1484310" y="4777381"/>
            <a:ext cx="8997300" cy="86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32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03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17"/>
          <p:cNvSpPr txBox="1">
            <a:spLocks noGrp="1"/>
          </p:cNvSpPr>
          <p:nvPr>
            <p:ph type="dt" idx="10"/>
          </p:nvPr>
        </p:nvSpPr>
        <p:spPr>
          <a:xfrm>
            <a:off x="8677925" y="5883274"/>
            <a:ext cx="1143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ftr" idx="11"/>
          </p:nvPr>
        </p:nvSpPr>
        <p:spPr>
          <a:xfrm>
            <a:off x="1484310" y="5883274"/>
            <a:ext cx="7084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sldNum" idx="12"/>
          </p:nvPr>
        </p:nvSpPr>
        <p:spPr>
          <a:xfrm>
            <a:off x="9930363" y="5883275"/>
            <a:ext cx="551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 1">
  <p:cSld name="OBJECT_2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8"/>
          <p:cNvSpPr txBox="1">
            <a:spLocks noGrp="1"/>
          </p:cNvSpPr>
          <p:nvPr>
            <p:ph type="title"/>
          </p:nvPr>
        </p:nvSpPr>
        <p:spPr>
          <a:xfrm>
            <a:off x="1484311" y="685800"/>
            <a:ext cx="10018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8"/>
          <p:cNvSpPr txBox="1">
            <a:spLocks noGrp="1"/>
          </p:cNvSpPr>
          <p:nvPr>
            <p:ph type="body" idx="1"/>
          </p:nvPr>
        </p:nvSpPr>
        <p:spPr>
          <a:xfrm>
            <a:off x="1484310" y="2666999"/>
            <a:ext cx="10018800" cy="312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94335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2610"/>
              <a:buChar char="•"/>
              <a:defRPr/>
            </a:lvl1pPr>
            <a:lvl2pPr marL="914400" lvl="1" indent="-39433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2pPr>
            <a:lvl3pPr marL="1371600" lvl="2" indent="-39433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3pPr>
            <a:lvl4pPr marL="1828800" lvl="3" indent="-39433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4pPr>
            <a:lvl5pPr marL="2286000" lvl="4" indent="-39433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5pPr>
            <a:lvl6pPr marL="2743200" lvl="5" indent="-39433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6pPr>
            <a:lvl7pPr marL="3200400" lvl="6" indent="-39433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7pPr>
            <a:lvl8pPr marL="3657600" lvl="7" indent="-39433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610"/>
              <a:buChar char="•"/>
              <a:defRPr/>
            </a:lvl8pPr>
            <a:lvl9pPr marL="4114800" lvl="8" indent="-394334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261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18"/>
          <p:cNvSpPr txBox="1">
            <a:spLocks noGrp="1"/>
          </p:cNvSpPr>
          <p:nvPr>
            <p:ph type="dt" idx="10"/>
          </p:nvPr>
        </p:nvSpPr>
        <p:spPr>
          <a:xfrm>
            <a:off x="8677925" y="5883274"/>
            <a:ext cx="1143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8"/>
          <p:cNvSpPr txBox="1">
            <a:spLocks noGrp="1"/>
          </p:cNvSpPr>
          <p:nvPr>
            <p:ph type="ftr" idx="11"/>
          </p:nvPr>
        </p:nvSpPr>
        <p:spPr>
          <a:xfrm>
            <a:off x="1484310" y="5883274"/>
            <a:ext cx="7084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ldNum" idx="12"/>
          </p:nvPr>
        </p:nvSpPr>
        <p:spPr>
          <a:xfrm>
            <a:off x="9930363" y="5883274"/>
            <a:ext cx="5511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 Black"/>
              <a:buNone/>
              <a:defRPr sz="40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0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://comunidade.teomewhy.org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ponsors/TeoMeWhy" TargetMode="External"/><Relationship Id="rId3" Type="http://schemas.openxmlformats.org/officeDocument/2006/relationships/image" Target="../media/image27.png"/><Relationship Id="rId7" Type="http://schemas.openxmlformats.org/officeDocument/2006/relationships/hyperlink" Target="https://www.youtube.com/@teomewhy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twitch.tv/teomewhy" TargetMode="External"/><Relationship Id="rId5" Type="http://schemas.openxmlformats.org/officeDocument/2006/relationships/hyperlink" Target="https://livepix.gg/teomewhy" TargetMode="External"/><Relationship Id="rId4" Type="http://schemas.openxmlformats.org/officeDocument/2006/relationships/hyperlink" Target="https://apoia.se/teomewhy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32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58.jpg"/><Relationship Id="rId9" Type="http://schemas.openxmlformats.org/officeDocument/2006/relationships/image" Target="../media/image6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0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7.png"/><Relationship Id="rId5" Type="http://schemas.openxmlformats.org/officeDocument/2006/relationships/image" Target="../media/image55.png"/><Relationship Id="rId10" Type="http://schemas.openxmlformats.org/officeDocument/2006/relationships/image" Target="../media/image65.png"/><Relationship Id="rId4" Type="http://schemas.openxmlformats.org/officeDocument/2006/relationships/image" Target="../media/image52.png"/><Relationship Id="rId9" Type="http://schemas.openxmlformats.org/officeDocument/2006/relationships/image" Target="../media/image6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0.png"/><Relationship Id="rId4" Type="http://schemas.openxmlformats.org/officeDocument/2006/relationships/image" Target="../media/image5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3.png"/><Relationship Id="rId11" Type="http://schemas.openxmlformats.org/officeDocument/2006/relationships/image" Target="../media/image49.png"/><Relationship Id="rId5" Type="http://schemas.openxmlformats.org/officeDocument/2006/relationships/image" Target="../media/image52.png"/><Relationship Id="rId10" Type="http://schemas.openxmlformats.org/officeDocument/2006/relationships/image" Target="../media/image32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hyperlink" Target="https://github.com/TeoMeWhy/sql-2025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marketplace.visualstudio.com/items?itemName=alexcvzz.vscode-sqlite" TargetMode="External"/><Relationship Id="rId5" Type="http://schemas.openxmlformats.org/officeDocument/2006/relationships/hyperlink" Target="https://code.visualstudio.com/" TargetMode="External"/><Relationship Id="rId4" Type="http://schemas.openxmlformats.org/officeDocument/2006/relationships/hyperlink" Target="https://www.kaggle.com/datasets/teocalvo/teomewhy-loyalty-system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qjFWYi2csXA&amp;list=PLshkB4NQEfC6KQH18stSMJ6-AJ2oYyrwq&amp;ab_channel=ApoenaStack-IuryRosal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hyperlink" Target="https://www.hackerrank.com/domains/sql" TargetMode="External"/><Relationship Id="rId4" Type="http://schemas.openxmlformats.org/officeDocument/2006/relationships/hyperlink" Target="https://judge.beecrowd.com/pt/problems/index/9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ctrTitle" idx="4294967295"/>
          </p:nvPr>
        </p:nvSpPr>
        <p:spPr>
          <a:xfrm>
            <a:off x="1379133" y="813964"/>
            <a:ext cx="9595500" cy="18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4800" dirty="0">
                <a:latin typeface="+mn-lt"/>
                <a:ea typeface="Montserrat Medium"/>
                <a:cs typeface="Montserrat Medium"/>
                <a:sym typeface="Montserrat Medium"/>
              </a:rPr>
              <a:t>Aprendendo</a:t>
            </a:r>
            <a:r>
              <a:rPr lang="pt-BR" sz="4800" dirty="0">
                <a:latin typeface="Montserrat Medium"/>
                <a:ea typeface="Montserrat Medium"/>
                <a:cs typeface="Montserrat Medium"/>
                <a:sym typeface="Montserrat Medium"/>
              </a:rPr>
              <a:t> SQL</a:t>
            </a:r>
            <a:endParaRPr sz="4800" dirty="0"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0" marR="0" lvl="0" indent="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2000" dirty="0">
                <a:latin typeface="Montserrat"/>
                <a:ea typeface="Montserrat"/>
                <a:cs typeface="Montserrat"/>
                <a:sym typeface="Montserrat"/>
              </a:rPr>
              <a:t>Primeiras magias na linguagem dos dados</a:t>
            </a:r>
            <a:endParaRPr sz="2000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" name="Google Shape;76;p19"/>
          <p:cNvSpPr txBox="1"/>
          <p:nvPr/>
        </p:nvSpPr>
        <p:spPr>
          <a:xfrm>
            <a:off x="9084976" y="951875"/>
            <a:ext cx="20511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pt-BR" sz="2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25</a:t>
            </a:r>
            <a:r>
              <a:rPr lang="pt-BR" sz="23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/</a:t>
            </a:r>
            <a:r>
              <a:rPr lang="pt-BR" sz="2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08</a:t>
            </a:r>
            <a:r>
              <a:rPr lang="pt-BR" sz="23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/202</a:t>
            </a:r>
            <a:r>
              <a:rPr lang="pt-BR" sz="23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</a:t>
            </a:r>
            <a:endParaRPr sz="23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77" name="Google Shape;77;p19" descr="teomewhy-logo-v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57526" y="2638223"/>
            <a:ext cx="3679400" cy="2342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22177" y="2874599"/>
            <a:ext cx="4587151" cy="1870258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9"/>
          <p:cNvSpPr txBox="1"/>
          <p:nvPr/>
        </p:nvSpPr>
        <p:spPr>
          <a:xfrm>
            <a:off x="1453267" y="5477100"/>
            <a:ext cx="7631700" cy="72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3333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Aprendendo SQL © 2025 by Téo Calvo is licensed under CC BY-NC-SA 4.0.</a:t>
            </a:r>
            <a:endParaRPr sz="1300">
              <a:solidFill>
                <a:srgbClr val="3333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3333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To view a copy of this license, visit: https://creativecommons.org/licenses/by-nc-sa/4.0/</a:t>
            </a:r>
            <a:endParaRPr sz="1300"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4067" y="832000"/>
            <a:ext cx="655433" cy="65543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20"/>
          <p:cNvSpPr txBox="1"/>
          <p:nvPr/>
        </p:nvSpPr>
        <p:spPr>
          <a:xfrm>
            <a:off x="1183733" y="806317"/>
            <a:ext cx="48375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rmAutofit/>
          </a:bodyPr>
          <a:lstStyle/>
          <a:p>
            <a:pPr marL="0" marR="0" lvl="0" indent="0" algn="l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300"/>
              <a:buFont typeface="Arial"/>
              <a:buNone/>
            </a:pPr>
            <a:r>
              <a:rPr lang="pt-BR" sz="4300" b="0" i="0" u="none" strike="noStrike" cap="non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Quem</a:t>
            </a:r>
            <a:endParaRPr sz="4300" b="0" i="0" u="none" strike="noStrike" cap="none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86" name="Google Shape;86;p20"/>
          <p:cNvGrpSpPr/>
          <p:nvPr/>
        </p:nvGrpSpPr>
        <p:grpSpPr>
          <a:xfrm>
            <a:off x="517294" y="1750994"/>
            <a:ext cx="5197503" cy="563186"/>
            <a:chOff x="1188100" y="1677988"/>
            <a:chExt cx="3898225" cy="422400"/>
          </a:xfrm>
        </p:grpSpPr>
        <p:pic>
          <p:nvPicPr>
            <p:cNvPr id="87" name="Google Shape;87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188100" y="1751038"/>
              <a:ext cx="276325" cy="2763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8" name="Google Shape;88;p20"/>
            <p:cNvSpPr txBox="1"/>
            <p:nvPr/>
          </p:nvSpPr>
          <p:spPr>
            <a:xfrm>
              <a:off x="1464425" y="1677988"/>
              <a:ext cx="3621900" cy="42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pt-BR" sz="2400" b="1" i="0" u="none" strike="noStrike" cap="none">
                  <a:solidFill>
                    <a:schemeClr val="dk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Teodoro “Téo” Calvo</a:t>
              </a:r>
              <a:endParaRPr sz="2400" b="1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89" name="Google Shape;89;p20"/>
          <p:cNvGrpSpPr/>
          <p:nvPr/>
        </p:nvGrpSpPr>
        <p:grpSpPr>
          <a:xfrm>
            <a:off x="517294" y="2644854"/>
            <a:ext cx="6706266" cy="563186"/>
            <a:chOff x="1188100" y="2232825"/>
            <a:chExt cx="5029825" cy="422400"/>
          </a:xfrm>
        </p:grpSpPr>
        <p:pic>
          <p:nvPicPr>
            <p:cNvPr id="90" name="Google Shape;90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188100" y="2305863"/>
              <a:ext cx="276325" cy="2763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1" name="Google Shape;91;p20"/>
            <p:cNvSpPr txBox="1"/>
            <p:nvPr/>
          </p:nvSpPr>
          <p:spPr>
            <a:xfrm>
              <a:off x="1464425" y="2232825"/>
              <a:ext cx="4753500" cy="42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pt-BR" sz="2400" b="0" i="0" u="none" strike="noStrike" cap="none">
                  <a:solidFill>
                    <a:schemeClr val="dk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Bacharel em Estatística - FCT UNESP</a:t>
              </a:r>
              <a:endParaRPr sz="2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92" name="Google Shape;92;p20"/>
          <p:cNvGrpSpPr/>
          <p:nvPr/>
        </p:nvGrpSpPr>
        <p:grpSpPr>
          <a:xfrm>
            <a:off x="517294" y="3538715"/>
            <a:ext cx="8509021" cy="563186"/>
            <a:chOff x="1188100" y="2787650"/>
            <a:chExt cx="6381925" cy="422400"/>
          </a:xfrm>
        </p:grpSpPr>
        <p:pic>
          <p:nvPicPr>
            <p:cNvPr id="93" name="Google Shape;93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188100" y="2860688"/>
              <a:ext cx="276325" cy="2763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4" name="Google Shape;94;p20"/>
            <p:cNvSpPr txBox="1"/>
            <p:nvPr/>
          </p:nvSpPr>
          <p:spPr>
            <a:xfrm>
              <a:off x="1464425" y="2787650"/>
              <a:ext cx="6105600" cy="42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pt-BR" sz="2400" b="0" i="0" u="none" strike="noStrike" cap="none">
                  <a:solidFill>
                    <a:schemeClr val="dk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Especialista em Big Data &amp; Data Science - UFPR</a:t>
              </a:r>
              <a:endParaRPr sz="2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95" name="Google Shape;95;p20"/>
          <p:cNvGrpSpPr/>
          <p:nvPr/>
        </p:nvGrpSpPr>
        <p:grpSpPr>
          <a:xfrm>
            <a:off x="517292" y="4432576"/>
            <a:ext cx="8509021" cy="563186"/>
            <a:chOff x="1244325" y="3342475"/>
            <a:chExt cx="6381925" cy="422400"/>
          </a:xfrm>
        </p:grpSpPr>
        <p:pic>
          <p:nvPicPr>
            <p:cNvPr id="96" name="Google Shape;96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244325" y="3415513"/>
              <a:ext cx="276325" cy="2763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" name="Google Shape;97;p20"/>
            <p:cNvSpPr txBox="1"/>
            <p:nvPr/>
          </p:nvSpPr>
          <p:spPr>
            <a:xfrm>
              <a:off x="1520650" y="3342475"/>
              <a:ext cx="6105600" cy="42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pt-BR" sz="2400" b="0" i="0" u="none" strike="noStrike" cap="none">
                  <a:solidFill>
                    <a:schemeClr val="dk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Streamer - Twitch</a:t>
              </a:r>
              <a:endParaRPr sz="2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98" name="Google Shape;98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681867" y="513400"/>
            <a:ext cx="2878600" cy="287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9" name="Google Shape;99;p20"/>
          <p:cNvGrpSpPr/>
          <p:nvPr/>
        </p:nvGrpSpPr>
        <p:grpSpPr>
          <a:xfrm>
            <a:off x="517294" y="5326418"/>
            <a:ext cx="9586593" cy="563186"/>
            <a:chOff x="1188100" y="4452126"/>
            <a:chExt cx="7190125" cy="422400"/>
          </a:xfrm>
        </p:grpSpPr>
        <p:pic>
          <p:nvPicPr>
            <p:cNvPr id="100" name="Google Shape;100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188100" y="4525163"/>
              <a:ext cx="276325" cy="2763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1" name="Google Shape;101;p20"/>
            <p:cNvSpPr txBox="1"/>
            <p:nvPr/>
          </p:nvSpPr>
          <p:spPr>
            <a:xfrm>
              <a:off x="1464425" y="4452126"/>
              <a:ext cx="6913800" cy="422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lang="pt-BR" sz="2400" b="0" i="0" u="none" strike="noStrike" cap="none">
                  <a:solidFill>
                    <a:schemeClr val="dk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Membro do Conse</a:t>
              </a:r>
              <a:r>
                <a:rPr lang="pt-BR" sz="2400">
                  <a:solidFill>
                    <a:schemeClr val="dk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lho </a:t>
              </a:r>
              <a:r>
                <a:rPr lang="pt-BR" sz="2400" b="0" i="0" u="none" strike="noStrike" cap="none">
                  <a:solidFill>
                    <a:schemeClr val="dk2"/>
                  </a:solidFill>
                  <a:latin typeface="Montserrat"/>
                  <a:ea typeface="Montserrat"/>
                  <a:cs typeface="Montserrat"/>
                  <a:sym typeface="Montserrat"/>
                </a:rPr>
                <a:t>e Instrutor - Instituto Aaron Swartz</a:t>
              </a:r>
              <a:endParaRPr sz="24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pic>
        <p:nvPicPr>
          <p:cNvPr id="102" name="Google Shape;102;p20"/>
          <p:cNvPicPr preferRelativeResize="0"/>
          <p:nvPr/>
        </p:nvPicPr>
        <p:blipFill rotWithShape="1">
          <a:blip r:embed="rId5">
            <a:alphaModFix/>
          </a:blip>
          <a:srcRect l="23274" r="23258" b="56687"/>
          <a:stretch/>
        </p:blipFill>
        <p:spPr>
          <a:xfrm>
            <a:off x="9399675" y="6129126"/>
            <a:ext cx="1979524" cy="728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0"/>
          <p:cNvPicPr preferRelativeResize="0"/>
          <p:nvPr/>
        </p:nvPicPr>
        <p:blipFill rotWithShape="1">
          <a:blip r:embed="rId6">
            <a:alphaModFix/>
          </a:blip>
          <a:srcRect t="10911" b="7047"/>
          <a:stretch/>
        </p:blipFill>
        <p:spPr>
          <a:xfrm>
            <a:off x="7668909" y="6129125"/>
            <a:ext cx="1692303" cy="728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/>
          <p:cNvPicPr preferRelativeResize="0"/>
          <p:nvPr/>
        </p:nvPicPr>
        <p:blipFill rotWithShape="1">
          <a:blip r:embed="rId7">
            <a:alphaModFix/>
          </a:blip>
          <a:srcRect t="3488" b="2993"/>
          <a:stretch/>
        </p:blipFill>
        <p:spPr>
          <a:xfrm>
            <a:off x="11396875" y="6109350"/>
            <a:ext cx="795126" cy="743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>
            <a:spLocks noGrp="1"/>
          </p:cNvSpPr>
          <p:nvPr>
            <p:ph type="title" idx="4294967295"/>
          </p:nvPr>
        </p:nvSpPr>
        <p:spPr>
          <a:xfrm>
            <a:off x="800500" y="259715"/>
            <a:ext cx="6191700" cy="10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3600">
                <a:latin typeface="Montserrat"/>
                <a:ea typeface="Montserrat"/>
                <a:cs typeface="Montserrat"/>
                <a:sym typeface="Montserrat"/>
              </a:rPr>
              <a:t>Trajetória</a:t>
            </a:r>
            <a:endParaRPr sz="36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10" name="Google Shape;11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8450" y="417225"/>
            <a:ext cx="685800" cy="6858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1" name="Google Shape;111;p21"/>
          <p:cNvCxnSpPr/>
          <p:nvPr/>
        </p:nvCxnSpPr>
        <p:spPr>
          <a:xfrm>
            <a:off x="262690" y="1888351"/>
            <a:ext cx="0" cy="4929900"/>
          </a:xfrm>
          <a:prstGeom prst="straightConnector1">
            <a:avLst/>
          </a:prstGeom>
          <a:noFill/>
          <a:ln w="16925" cap="flat" cmpd="sng">
            <a:solidFill>
              <a:srgbClr val="3F3F3F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12" name="Google Shape;112;p21"/>
          <p:cNvCxnSpPr/>
          <p:nvPr/>
        </p:nvCxnSpPr>
        <p:spPr>
          <a:xfrm>
            <a:off x="8281422" y="1888351"/>
            <a:ext cx="0" cy="4929900"/>
          </a:xfrm>
          <a:prstGeom prst="straightConnector1">
            <a:avLst/>
          </a:prstGeom>
          <a:noFill/>
          <a:ln w="16925" cap="flat" cmpd="sng">
            <a:solidFill>
              <a:srgbClr val="3F3F3F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13" name="Google Shape;113;p21"/>
          <p:cNvSpPr txBox="1"/>
          <p:nvPr/>
        </p:nvSpPr>
        <p:spPr>
          <a:xfrm>
            <a:off x="383506" y="1689156"/>
            <a:ext cx="9039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pt-BR"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2016</a:t>
            </a:r>
            <a:endParaRPr sz="16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1"/>
          <p:cNvSpPr txBox="1"/>
          <p:nvPr/>
        </p:nvSpPr>
        <p:spPr>
          <a:xfrm>
            <a:off x="2674568" y="1689156"/>
            <a:ext cx="9039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pt-BR"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sz="16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1"/>
          <p:cNvSpPr txBox="1"/>
          <p:nvPr/>
        </p:nvSpPr>
        <p:spPr>
          <a:xfrm>
            <a:off x="1555874" y="1689156"/>
            <a:ext cx="9039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pt-BR"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2017</a:t>
            </a:r>
            <a:endParaRPr sz="16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1"/>
          <p:cNvSpPr txBox="1"/>
          <p:nvPr/>
        </p:nvSpPr>
        <p:spPr>
          <a:xfrm>
            <a:off x="3820111" y="1689156"/>
            <a:ext cx="9039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pt-BR"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sz="16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1"/>
          <p:cNvSpPr txBox="1"/>
          <p:nvPr/>
        </p:nvSpPr>
        <p:spPr>
          <a:xfrm>
            <a:off x="4965642" y="1689156"/>
            <a:ext cx="9039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pt-BR"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sz="16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1"/>
          <p:cNvSpPr txBox="1"/>
          <p:nvPr/>
        </p:nvSpPr>
        <p:spPr>
          <a:xfrm>
            <a:off x="7291204" y="1689156"/>
            <a:ext cx="8349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pt-BR"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sz="16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479575" y="2670925"/>
            <a:ext cx="1017498" cy="4093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0" name="Google Shape;120;p21"/>
          <p:cNvCxnSpPr/>
          <p:nvPr/>
        </p:nvCxnSpPr>
        <p:spPr>
          <a:xfrm>
            <a:off x="6322225" y="3403650"/>
            <a:ext cx="2268000" cy="0"/>
          </a:xfrm>
          <a:prstGeom prst="straightConnector1">
            <a:avLst/>
          </a:prstGeom>
          <a:noFill/>
          <a:ln w="50800" cap="flat" cmpd="sng">
            <a:solidFill>
              <a:srgbClr val="005196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21" name="Google Shape;121;p21" descr="gc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60987" y="2670933"/>
            <a:ext cx="714528" cy="701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1" descr="Glitch_Purple_RGB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820101" y="5915521"/>
            <a:ext cx="607507" cy="62509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21"/>
          <p:cNvCxnSpPr/>
          <p:nvPr/>
        </p:nvCxnSpPr>
        <p:spPr>
          <a:xfrm>
            <a:off x="4500575" y="6668550"/>
            <a:ext cx="7809600" cy="0"/>
          </a:xfrm>
          <a:prstGeom prst="straightConnector1">
            <a:avLst/>
          </a:prstGeom>
          <a:noFill/>
          <a:ln w="50800" cap="flat" cmpd="sng">
            <a:solidFill>
              <a:srgbClr val="6441A4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21"/>
          <p:cNvCxnSpPr/>
          <p:nvPr/>
        </p:nvCxnSpPr>
        <p:spPr>
          <a:xfrm>
            <a:off x="1408223" y="1888351"/>
            <a:ext cx="0" cy="4929900"/>
          </a:xfrm>
          <a:prstGeom prst="straightConnector1">
            <a:avLst/>
          </a:prstGeom>
          <a:noFill/>
          <a:ln w="16925" cap="flat" cmpd="sng">
            <a:solidFill>
              <a:srgbClr val="3F3F3F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5" name="Google Shape;125;p21"/>
          <p:cNvCxnSpPr/>
          <p:nvPr/>
        </p:nvCxnSpPr>
        <p:spPr>
          <a:xfrm>
            <a:off x="2553756" y="1888351"/>
            <a:ext cx="0" cy="4929900"/>
          </a:xfrm>
          <a:prstGeom prst="straightConnector1">
            <a:avLst/>
          </a:prstGeom>
          <a:noFill/>
          <a:ln w="16925" cap="flat" cmpd="sng">
            <a:solidFill>
              <a:srgbClr val="3F3F3F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6" name="Google Shape;126;p21"/>
          <p:cNvCxnSpPr/>
          <p:nvPr/>
        </p:nvCxnSpPr>
        <p:spPr>
          <a:xfrm>
            <a:off x="3699289" y="1888351"/>
            <a:ext cx="0" cy="4929900"/>
          </a:xfrm>
          <a:prstGeom prst="straightConnector1">
            <a:avLst/>
          </a:prstGeom>
          <a:noFill/>
          <a:ln w="16925" cap="flat" cmpd="sng">
            <a:solidFill>
              <a:srgbClr val="3F3F3F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7" name="Google Shape;127;p21"/>
          <p:cNvCxnSpPr/>
          <p:nvPr/>
        </p:nvCxnSpPr>
        <p:spPr>
          <a:xfrm>
            <a:off x="4844822" y="1888351"/>
            <a:ext cx="0" cy="4929900"/>
          </a:xfrm>
          <a:prstGeom prst="straightConnector1">
            <a:avLst/>
          </a:prstGeom>
          <a:noFill/>
          <a:ln w="16925" cap="flat" cmpd="sng">
            <a:solidFill>
              <a:srgbClr val="3F3F3F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8" name="Google Shape;128;p21"/>
          <p:cNvCxnSpPr/>
          <p:nvPr/>
        </p:nvCxnSpPr>
        <p:spPr>
          <a:xfrm>
            <a:off x="5990355" y="1888351"/>
            <a:ext cx="0" cy="4929900"/>
          </a:xfrm>
          <a:prstGeom prst="straightConnector1">
            <a:avLst/>
          </a:prstGeom>
          <a:noFill/>
          <a:ln w="16925" cap="flat" cmpd="sng">
            <a:solidFill>
              <a:srgbClr val="3F3F3F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9" name="Google Shape;129;p21"/>
          <p:cNvCxnSpPr/>
          <p:nvPr/>
        </p:nvCxnSpPr>
        <p:spPr>
          <a:xfrm>
            <a:off x="7135889" y="1888351"/>
            <a:ext cx="0" cy="4929900"/>
          </a:xfrm>
          <a:prstGeom prst="straightConnector1">
            <a:avLst/>
          </a:prstGeom>
          <a:noFill/>
          <a:ln w="16925" cap="flat" cmpd="sng">
            <a:solidFill>
              <a:srgbClr val="3F3F3F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30" name="Google Shape;130;p21"/>
          <p:cNvSpPr txBox="1"/>
          <p:nvPr/>
        </p:nvSpPr>
        <p:spPr>
          <a:xfrm>
            <a:off x="6111173" y="1689156"/>
            <a:ext cx="9039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pt-BR"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sz="16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p21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930229" y="2433380"/>
            <a:ext cx="974699" cy="625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1"/>
          <p:cNvPicPr preferRelativeResize="0"/>
          <p:nvPr/>
        </p:nvPicPr>
        <p:blipFill rotWithShape="1">
          <a:blip r:embed="rId8">
            <a:alphaModFix/>
          </a:blip>
          <a:srcRect r="57155"/>
          <a:stretch/>
        </p:blipFill>
        <p:spPr>
          <a:xfrm>
            <a:off x="513877" y="2312970"/>
            <a:ext cx="714527" cy="679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591427" y="2820796"/>
            <a:ext cx="1198682" cy="108493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4" name="Google Shape;134;p21"/>
          <p:cNvCxnSpPr/>
          <p:nvPr/>
        </p:nvCxnSpPr>
        <p:spPr>
          <a:xfrm>
            <a:off x="9426955" y="1888805"/>
            <a:ext cx="0" cy="4929900"/>
          </a:xfrm>
          <a:prstGeom prst="straightConnector1">
            <a:avLst/>
          </a:prstGeom>
          <a:noFill/>
          <a:ln w="16925" cap="flat" cmpd="sng">
            <a:solidFill>
              <a:srgbClr val="3F3F3F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35" name="Google Shape;135;p21"/>
          <p:cNvSpPr txBox="1"/>
          <p:nvPr/>
        </p:nvSpPr>
        <p:spPr>
          <a:xfrm>
            <a:off x="8436747" y="1689156"/>
            <a:ext cx="8349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pt-BR"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sz="16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6" name="Google Shape;136;p21"/>
          <p:cNvCxnSpPr/>
          <p:nvPr/>
        </p:nvCxnSpPr>
        <p:spPr>
          <a:xfrm>
            <a:off x="3286125" y="2820800"/>
            <a:ext cx="1392900" cy="0"/>
          </a:xfrm>
          <a:prstGeom prst="straightConnector1">
            <a:avLst/>
          </a:prstGeom>
          <a:noFill/>
          <a:ln w="50800" cap="flat" cmpd="sng">
            <a:solidFill>
              <a:srgbClr val="F7822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37" name="Google Shape;137;p21"/>
          <p:cNvCxnSpPr/>
          <p:nvPr/>
        </p:nvCxnSpPr>
        <p:spPr>
          <a:xfrm>
            <a:off x="4688075" y="3112225"/>
            <a:ext cx="1500300" cy="0"/>
          </a:xfrm>
          <a:prstGeom prst="straightConnector1">
            <a:avLst/>
          </a:prstGeom>
          <a:noFill/>
          <a:ln w="50800" cap="flat" cmpd="sng">
            <a:solidFill>
              <a:srgbClr val="0CC5C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38" name="Google Shape;138;p21"/>
          <p:cNvCxnSpPr/>
          <p:nvPr/>
        </p:nvCxnSpPr>
        <p:spPr>
          <a:xfrm>
            <a:off x="1655149" y="2529371"/>
            <a:ext cx="1577700" cy="0"/>
          </a:xfrm>
          <a:prstGeom prst="straightConnector1">
            <a:avLst/>
          </a:prstGeom>
          <a:noFill/>
          <a:ln w="50800" cap="flat" cmpd="sng">
            <a:solidFill>
              <a:srgbClr val="007CC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39" name="Google Shape;139;p21"/>
          <p:cNvCxnSpPr/>
          <p:nvPr/>
        </p:nvCxnSpPr>
        <p:spPr>
          <a:xfrm>
            <a:off x="1228399" y="2237948"/>
            <a:ext cx="414900" cy="0"/>
          </a:xfrm>
          <a:prstGeom prst="straightConnector1">
            <a:avLst/>
          </a:prstGeom>
          <a:noFill/>
          <a:ln w="50800" cap="flat" cmpd="sng">
            <a:solidFill>
              <a:srgbClr val="20C3F3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40" name="Google Shape;140;p21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314500" y="4703181"/>
            <a:ext cx="903901" cy="88682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1" name="Google Shape;141;p21"/>
          <p:cNvCxnSpPr/>
          <p:nvPr/>
        </p:nvCxnSpPr>
        <p:spPr>
          <a:xfrm>
            <a:off x="8340325" y="5638800"/>
            <a:ext cx="3969300" cy="0"/>
          </a:xfrm>
          <a:prstGeom prst="straightConnector1">
            <a:avLst/>
          </a:prstGeom>
          <a:noFill/>
          <a:ln w="508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42" name="Google Shape;142;p21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494251" y="5202691"/>
            <a:ext cx="992197" cy="97350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21"/>
          <p:cNvCxnSpPr/>
          <p:nvPr/>
        </p:nvCxnSpPr>
        <p:spPr>
          <a:xfrm>
            <a:off x="4857750" y="6102075"/>
            <a:ext cx="7452900" cy="0"/>
          </a:xfrm>
          <a:prstGeom prst="straightConnector1">
            <a:avLst/>
          </a:prstGeom>
          <a:noFill/>
          <a:ln w="50800" cap="flat" cmpd="sng">
            <a:solidFill>
              <a:srgbClr val="F90373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44" name="Google Shape;144;p21"/>
          <p:cNvPicPr preferRelativeResize="0"/>
          <p:nvPr/>
        </p:nvPicPr>
        <p:blipFill rotWithShape="1">
          <a:blip r:embed="rId12">
            <a:alphaModFix/>
          </a:blip>
          <a:srcRect t="20250" b="20137"/>
          <a:stretch/>
        </p:blipFill>
        <p:spPr>
          <a:xfrm>
            <a:off x="8254873" y="3702884"/>
            <a:ext cx="1198677" cy="70107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5" name="Google Shape;145;p21"/>
          <p:cNvCxnSpPr/>
          <p:nvPr/>
        </p:nvCxnSpPr>
        <p:spPr>
          <a:xfrm>
            <a:off x="9099350" y="3753775"/>
            <a:ext cx="339300" cy="0"/>
          </a:xfrm>
          <a:prstGeom prst="straightConnector1">
            <a:avLst/>
          </a:prstGeom>
          <a:noFill/>
          <a:ln w="50800" cap="flat" cmpd="sng">
            <a:solidFill>
              <a:srgbClr val="5400F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46" name="Google Shape;146;p21"/>
          <p:cNvSpPr txBox="1"/>
          <p:nvPr/>
        </p:nvSpPr>
        <p:spPr>
          <a:xfrm>
            <a:off x="9582278" y="1689156"/>
            <a:ext cx="8349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pt-BR"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sz="16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7" name="Google Shape;147;p21"/>
          <p:cNvCxnSpPr/>
          <p:nvPr/>
        </p:nvCxnSpPr>
        <p:spPr>
          <a:xfrm>
            <a:off x="11718021" y="1888805"/>
            <a:ext cx="0" cy="4929900"/>
          </a:xfrm>
          <a:prstGeom prst="straightConnector1">
            <a:avLst/>
          </a:prstGeom>
          <a:noFill/>
          <a:ln w="16925" cap="flat" cmpd="sng">
            <a:solidFill>
              <a:srgbClr val="3F3F3F"/>
            </a:solidFill>
            <a:prstDash val="dash"/>
            <a:miter lim="800000"/>
            <a:headEnd type="none" w="sm" len="sm"/>
            <a:tailEnd type="none" w="sm" len="sm"/>
          </a:ln>
        </p:spPr>
      </p:cxnSp>
      <p:pic>
        <p:nvPicPr>
          <p:cNvPr id="148" name="Google Shape;148;p21"/>
          <p:cNvPicPr preferRelativeResize="0"/>
          <p:nvPr/>
        </p:nvPicPr>
        <p:blipFill rotWithShape="1">
          <a:blip r:embed="rId13">
            <a:alphaModFix/>
          </a:blip>
          <a:srcRect l="9713" t="21244" r="33620" b="21604"/>
          <a:stretch/>
        </p:blipFill>
        <p:spPr>
          <a:xfrm>
            <a:off x="9453550" y="6327502"/>
            <a:ext cx="339300" cy="3066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693517" y="4356501"/>
            <a:ext cx="834760" cy="81903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0" name="Google Shape;150;p21"/>
          <p:cNvCxnSpPr/>
          <p:nvPr/>
        </p:nvCxnSpPr>
        <p:spPr>
          <a:xfrm>
            <a:off x="10572488" y="1888355"/>
            <a:ext cx="0" cy="4929900"/>
          </a:xfrm>
          <a:prstGeom prst="straightConnector1">
            <a:avLst/>
          </a:prstGeom>
          <a:noFill/>
          <a:ln w="16925" cap="flat" cmpd="sng">
            <a:solidFill>
              <a:srgbClr val="3F3F3F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51" name="Google Shape;151;p21"/>
          <p:cNvSpPr txBox="1"/>
          <p:nvPr/>
        </p:nvSpPr>
        <p:spPr>
          <a:xfrm>
            <a:off x="10727822" y="1689156"/>
            <a:ext cx="834900" cy="3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pt-BR"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sz="16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" name="Google Shape;152;p21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10233200" y="6311977"/>
            <a:ext cx="339300" cy="3377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3" name="Google Shape;153;p21"/>
          <p:cNvCxnSpPr/>
          <p:nvPr/>
        </p:nvCxnSpPr>
        <p:spPr>
          <a:xfrm>
            <a:off x="10083150" y="5227725"/>
            <a:ext cx="888300" cy="0"/>
          </a:xfrm>
          <a:prstGeom prst="straightConnector1">
            <a:avLst/>
          </a:prstGeom>
          <a:noFill/>
          <a:ln w="50800" cap="flat" cmpd="sng">
            <a:solidFill>
              <a:srgbClr val="FF940D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154" name="Google Shape;154;p21"/>
          <p:cNvPicPr preferRelativeResize="0"/>
          <p:nvPr/>
        </p:nvPicPr>
        <p:blipFill rotWithShape="1">
          <a:blip r:embed="rId16">
            <a:alphaModFix/>
          </a:blip>
          <a:srcRect t="3488" b="2993"/>
          <a:stretch/>
        </p:blipFill>
        <p:spPr>
          <a:xfrm>
            <a:off x="10895434" y="6311968"/>
            <a:ext cx="361119" cy="3377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8450" y="41722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2"/>
          <p:cNvSpPr txBox="1">
            <a:spLocks noGrp="1"/>
          </p:cNvSpPr>
          <p:nvPr>
            <p:ph type="title" idx="4294967295"/>
          </p:nvPr>
        </p:nvSpPr>
        <p:spPr>
          <a:xfrm>
            <a:off x="800500" y="259715"/>
            <a:ext cx="6191700" cy="10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3600">
                <a:latin typeface="Montserrat SemiBold"/>
                <a:ea typeface="Montserrat SemiBold"/>
                <a:cs typeface="Montserrat SemiBold"/>
                <a:sym typeface="Montserrat SemiBold"/>
              </a:rPr>
              <a:t>Combinados</a:t>
            </a:r>
            <a:endParaRPr sz="3600"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62" name="Google Shape;162;p22"/>
          <p:cNvSpPr txBox="1"/>
          <p:nvPr/>
        </p:nvSpPr>
        <p:spPr>
          <a:xfrm>
            <a:off x="844250" y="1337675"/>
            <a:ext cx="11001300" cy="544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Sempre das </a:t>
            </a:r>
            <a:r>
              <a:rPr lang="pt-BR" sz="2000" b="1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9AM</a:t>
            </a:r>
            <a:r>
              <a:rPr lang="pt-BR" sz="2000" b="1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 às ~</a:t>
            </a:r>
            <a:r>
              <a:rPr lang="pt-BR" sz="2000" b="1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11</a:t>
            </a:r>
            <a:r>
              <a:rPr lang="pt-BR" sz="2000" b="1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 horas</a:t>
            </a: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 estaremos online</a:t>
            </a: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Pausa às </a:t>
            </a:r>
            <a:r>
              <a:rPr lang="pt-BR" sz="2000" b="1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10</a:t>
            </a:r>
            <a:r>
              <a:rPr lang="pt-BR" sz="2000" b="1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r>
              <a:rPr lang="pt-BR" sz="2000" b="1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00</a:t>
            </a:r>
            <a:r>
              <a:rPr lang="pt-BR" sz="2000" b="1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hrs</a:t>
            </a: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 até as </a:t>
            </a: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10:15</a:t>
            </a: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Notificações serão </a:t>
            </a:r>
            <a:r>
              <a:rPr lang="pt-BR" sz="2000" b="1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desligadas</a:t>
            </a: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, mas sua contribuição é sempre bem-vinda</a:t>
            </a: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Quando houver ADs, a explicação é </a:t>
            </a:r>
            <a:r>
              <a:rPr lang="pt-BR" sz="2000" b="1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pausada</a:t>
            </a:r>
            <a:endParaRPr sz="2000" b="1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Evite </a:t>
            </a:r>
            <a:r>
              <a:rPr lang="pt-BR" sz="2000" b="1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spamar</a:t>
            </a: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 a mesma coisa no chat, moderadores estarão de olho</a:t>
            </a: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00"/>
              <a:buFont typeface="Arial"/>
              <a:buNone/>
            </a:pP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Comentários discriminatórios e babacas </a:t>
            </a: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serão</a:t>
            </a: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000" b="1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bani</a:t>
            </a:r>
            <a:r>
              <a:rPr lang="pt-BR" sz="2000" b="1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dos</a:t>
            </a: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 sem aviso prévio</a:t>
            </a: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 b="1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!ppt</a:t>
            </a: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 para acessar todo material o curso</a:t>
            </a: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Sorteio no último dia!</a:t>
            </a: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8450" y="41722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3"/>
          <p:cNvSpPr txBox="1">
            <a:spLocks noGrp="1"/>
          </p:cNvSpPr>
          <p:nvPr>
            <p:ph type="title" idx="4294967295"/>
          </p:nvPr>
        </p:nvSpPr>
        <p:spPr>
          <a:xfrm>
            <a:off x="800500" y="259715"/>
            <a:ext cx="6191700" cy="10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3600">
                <a:latin typeface="Montserrat SemiBold"/>
                <a:ea typeface="Montserrat SemiBold"/>
                <a:cs typeface="Montserrat SemiBold"/>
                <a:sym typeface="Montserrat SemiBold"/>
              </a:rPr>
              <a:t>Avisos</a:t>
            </a:r>
            <a:endParaRPr sz="3600"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70" name="Google Shape;170;p23"/>
          <p:cNvSpPr txBox="1"/>
          <p:nvPr/>
        </p:nvSpPr>
        <p:spPr>
          <a:xfrm>
            <a:off x="844250" y="1337675"/>
            <a:ext cx="11001300" cy="47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609600" marR="0" lvl="0" indent="-431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Montserrat"/>
              <a:buChar char="●"/>
            </a:pP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Participe de nossa comunidade: </a:t>
            </a:r>
            <a:r>
              <a:rPr lang="pt-BR" sz="2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comunidade.teomewhy.org</a:t>
            </a: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marR="0" lvl="0" indent="-431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Nosso foco </a:t>
            </a: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é</a:t>
            </a: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 o básico bem feito</a:t>
            </a: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.  Estamos melhorando ano após ano!</a:t>
            </a: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marR="0" lvl="0" indent="-431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O sucesso do curso também depende de você!</a:t>
            </a: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marR="0" lvl="0" indent="-431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Me ajude com as perguntas repetidas;</a:t>
            </a: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marR="0" lvl="0" indent="-431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Tem algo que não abordei?</a:t>
            </a:r>
            <a:endParaRPr sz="2000" b="1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marR="0" lvl="0" indent="-431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Tem algo que você explicaria diferente?</a:t>
            </a: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marR="0" lvl="0" indent="-431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 b="0" i="0" u="none" strike="noStrike" cap="none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Tem algo mais complexo que deixei passar?</a:t>
            </a:r>
            <a:endParaRPr sz="2000" b="0" i="0" u="none" strike="noStrike" cap="none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71" name="Google Shape;171;p23"/>
          <p:cNvGrpSpPr/>
          <p:nvPr/>
        </p:nvGrpSpPr>
        <p:grpSpPr>
          <a:xfrm>
            <a:off x="7279290" y="4015933"/>
            <a:ext cx="5019508" cy="2175546"/>
            <a:chOff x="5307200" y="3012025"/>
            <a:chExt cx="3764725" cy="1631700"/>
          </a:xfrm>
        </p:grpSpPr>
        <p:grpSp>
          <p:nvGrpSpPr>
            <p:cNvPr id="172" name="Google Shape;172;p23"/>
            <p:cNvGrpSpPr/>
            <p:nvPr/>
          </p:nvGrpSpPr>
          <p:grpSpPr>
            <a:xfrm>
              <a:off x="5724553" y="3503206"/>
              <a:ext cx="3347372" cy="649350"/>
              <a:chOff x="7110713" y="3970517"/>
              <a:chExt cx="4463163" cy="865800"/>
            </a:xfrm>
          </p:grpSpPr>
          <p:sp>
            <p:nvSpPr>
              <p:cNvPr id="173" name="Google Shape;173;p23"/>
              <p:cNvSpPr/>
              <p:nvPr/>
            </p:nvSpPr>
            <p:spPr>
              <a:xfrm>
                <a:off x="7110713" y="4169867"/>
                <a:ext cx="934500" cy="467100"/>
              </a:xfrm>
              <a:prstGeom prst="notchedRightArrow">
                <a:avLst>
                  <a:gd name="adj1" fmla="val 50000"/>
                  <a:gd name="adj2" fmla="val 50000"/>
                </a:avLst>
              </a:prstGeom>
              <a:solidFill>
                <a:srgbClr val="D9D9D9"/>
              </a:solidFill>
              <a:ln w="38100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500"/>
                  <a:buFont typeface="Arial"/>
                  <a:buNone/>
                </a:pPr>
                <a:endParaRPr sz="15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4" name="Google Shape;174;p23"/>
              <p:cNvSpPr txBox="1"/>
              <p:nvPr/>
            </p:nvSpPr>
            <p:spPr>
              <a:xfrm>
                <a:off x="8321275" y="3970517"/>
                <a:ext cx="3252600" cy="86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00"/>
                  <a:buFont typeface="Arial"/>
                  <a:buNone/>
                </a:pPr>
                <a:r>
                  <a:rPr lang="pt-BR" sz="2400" b="0" i="0" u="none" strike="noStrike" cap="none">
                    <a:solidFill>
                      <a:srgbClr val="000000"/>
                    </a:solidFill>
                    <a:latin typeface="Montserrat"/>
                    <a:ea typeface="Montserrat"/>
                    <a:cs typeface="Montserrat"/>
                    <a:sym typeface="Montserrat"/>
                  </a:rPr>
                  <a:t>Faça um vídeo/material</a:t>
                </a:r>
                <a:endParaRPr sz="2400" b="0" i="0" u="none" strike="noStrike" cap="none">
                  <a:solidFill>
                    <a:srgbClr val="000000"/>
                  </a:solidFill>
                  <a:latin typeface="Montserrat"/>
                  <a:ea typeface="Montserrat"/>
                  <a:cs typeface="Montserrat"/>
                  <a:sym typeface="Montserrat"/>
                </a:endParaRPr>
              </a:p>
            </p:txBody>
          </p:sp>
        </p:grpSp>
        <p:sp>
          <p:nvSpPr>
            <p:cNvPr id="175" name="Google Shape;175;p23"/>
            <p:cNvSpPr/>
            <p:nvPr/>
          </p:nvSpPr>
          <p:spPr>
            <a:xfrm>
              <a:off x="5307200" y="3012025"/>
              <a:ext cx="210300" cy="1631700"/>
            </a:xfrm>
            <a:prstGeom prst="rightBrace">
              <a:avLst>
                <a:gd name="adj1" fmla="val 50000"/>
                <a:gd name="adj2" fmla="val 50000"/>
              </a:avLst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0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8450" y="41722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4"/>
          <p:cNvSpPr txBox="1">
            <a:spLocks noGrp="1"/>
          </p:cNvSpPr>
          <p:nvPr>
            <p:ph type="title" idx="4294967295"/>
          </p:nvPr>
        </p:nvSpPr>
        <p:spPr>
          <a:xfrm>
            <a:off x="800500" y="259715"/>
            <a:ext cx="6191700" cy="10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3600">
                <a:latin typeface="Montserrat SemiBold"/>
                <a:ea typeface="Montserrat SemiBold"/>
                <a:cs typeface="Montserrat SemiBold"/>
                <a:sym typeface="Montserrat SemiBold"/>
              </a:rPr>
              <a:t>Nos Apoie</a:t>
            </a:r>
            <a:endParaRPr sz="3600"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183" name="Google Shape;183;p24"/>
          <p:cNvSpPr txBox="1"/>
          <p:nvPr/>
        </p:nvSpPr>
        <p:spPr>
          <a:xfrm>
            <a:off x="844250" y="1337675"/>
            <a:ext cx="11001300" cy="44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 b="1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Nossos cursos são 100% gratuitos</a:t>
            </a:r>
            <a:endParaRPr sz="2500" b="1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e você pode nos apoiar em diferentes plataformas:</a:t>
            </a: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Apoia.se: </a:t>
            </a:r>
            <a:r>
              <a:rPr lang="pt-BR" sz="2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apoia.se/teomewhy</a:t>
            </a: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LivePix: </a:t>
            </a:r>
            <a:r>
              <a:rPr lang="pt-BR" sz="2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livepix.gg/teomewhy</a:t>
            </a: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Assinante na Twitch: </a:t>
            </a:r>
            <a:r>
              <a:rPr lang="pt-BR" sz="2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twitch.tv/teomewhy</a:t>
            </a: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Membros no YouTube: </a:t>
            </a:r>
            <a:r>
              <a:rPr lang="pt-BR" sz="2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youtube.com/@teomewhy</a:t>
            </a: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2000"/>
              <a:buFont typeface="Montserrat"/>
              <a:buChar char="●"/>
            </a:pPr>
            <a:r>
              <a:rPr lang="pt-BR" sz="2000">
                <a:solidFill>
                  <a:srgbClr val="374151"/>
                </a:solidFill>
                <a:latin typeface="Montserrat"/>
                <a:ea typeface="Montserrat"/>
                <a:cs typeface="Montserrat"/>
                <a:sym typeface="Montserrat"/>
              </a:rPr>
              <a:t>GitHub Sponsors: </a:t>
            </a:r>
            <a:r>
              <a:rPr lang="pt-BR" sz="20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8"/>
              </a:rPr>
              <a:t>github.com/sponsors/TeoMeWhy</a:t>
            </a:r>
            <a:endParaRPr sz="2000">
              <a:solidFill>
                <a:srgbClr val="37415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>
            <a:spLocks noGrp="1"/>
          </p:cNvSpPr>
          <p:nvPr>
            <p:ph type="body" idx="4294967295"/>
          </p:nvPr>
        </p:nvSpPr>
        <p:spPr>
          <a:xfrm>
            <a:off x="1086485" y="1680210"/>
            <a:ext cx="10019100" cy="39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228600" marR="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Montserrat"/>
              <a:buChar char="•"/>
            </a:pPr>
            <a:r>
              <a:rPr lang="pt-BR" sz="2600">
                <a:latin typeface="Montserrat"/>
                <a:ea typeface="Montserrat"/>
                <a:cs typeface="Montserrat"/>
                <a:sym typeface="Montserrat"/>
              </a:rPr>
              <a:t>Pouco ou nenhum conhecimento em SQL;</a:t>
            </a:r>
            <a:endParaRPr sz="2600">
              <a:latin typeface="Montserrat"/>
              <a:ea typeface="Montserrat"/>
              <a:cs typeface="Montserrat"/>
              <a:sym typeface="Montserrat"/>
            </a:endParaRPr>
          </a:p>
          <a:p>
            <a:pPr marL="228600" marR="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600"/>
              <a:buFont typeface="Montserrat"/>
              <a:buChar char="•"/>
            </a:pPr>
            <a:r>
              <a:rPr lang="pt-BR" sz="2600">
                <a:latin typeface="Montserrat"/>
                <a:ea typeface="Montserrat"/>
                <a:cs typeface="Montserrat"/>
                <a:sym typeface="Montserrat"/>
              </a:rPr>
              <a:t>Migração de carreira;</a:t>
            </a:r>
            <a:endParaRPr sz="2600">
              <a:latin typeface="Montserrat"/>
              <a:ea typeface="Montserrat"/>
              <a:cs typeface="Montserrat"/>
              <a:sym typeface="Montserrat"/>
            </a:endParaRPr>
          </a:p>
          <a:p>
            <a:pPr marL="228600" marR="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Montserrat"/>
              <a:buChar char="•"/>
            </a:pPr>
            <a:r>
              <a:rPr lang="pt-BR" sz="2600">
                <a:latin typeface="Montserrat"/>
                <a:ea typeface="Montserrat"/>
                <a:cs typeface="Montserrat"/>
                <a:sym typeface="Montserrat"/>
              </a:rPr>
              <a:t>Acessar dados em bancos de dados;</a:t>
            </a:r>
            <a:endParaRPr sz="2600">
              <a:latin typeface="Montserrat"/>
              <a:ea typeface="Montserrat"/>
              <a:cs typeface="Montserrat"/>
              <a:sym typeface="Montserrat"/>
            </a:endParaRPr>
          </a:p>
          <a:p>
            <a:pPr marL="228600" marR="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600"/>
              <a:buFont typeface="Montserrat"/>
              <a:buChar char="•"/>
            </a:pPr>
            <a:r>
              <a:rPr lang="pt-BR" sz="2600">
                <a:latin typeface="Montserrat"/>
                <a:ea typeface="Montserrat"/>
                <a:cs typeface="Montserrat"/>
                <a:sym typeface="Montserrat"/>
              </a:rPr>
              <a:t>Analisar dados;</a:t>
            </a:r>
            <a:endParaRPr sz="2600">
              <a:latin typeface="Montserrat"/>
              <a:ea typeface="Montserrat"/>
              <a:cs typeface="Montserrat"/>
              <a:sym typeface="Montserrat"/>
            </a:endParaRPr>
          </a:p>
          <a:p>
            <a:pPr marL="228600" marR="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600"/>
              <a:buFont typeface="Montserrat"/>
              <a:buChar char="•"/>
            </a:pPr>
            <a:r>
              <a:rPr lang="pt-BR" sz="2600">
                <a:latin typeface="Montserrat"/>
                <a:ea typeface="Montserrat"/>
                <a:cs typeface="Montserrat"/>
                <a:sym typeface="Montserrat"/>
              </a:rPr>
              <a:t>Gerar relatórios;</a:t>
            </a:r>
            <a:endParaRPr sz="2600">
              <a:latin typeface="Montserrat"/>
              <a:ea typeface="Montserrat"/>
              <a:cs typeface="Montserrat"/>
              <a:sym typeface="Montserrat"/>
            </a:endParaRPr>
          </a:p>
          <a:p>
            <a:pPr marL="228600" marR="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2600"/>
              <a:buFont typeface="Montserrat"/>
              <a:buChar char="•"/>
            </a:pPr>
            <a:r>
              <a:rPr lang="pt-BR" sz="2600">
                <a:latin typeface="Montserrat"/>
                <a:ea typeface="Montserrat"/>
                <a:cs typeface="Montserrat"/>
                <a:sym typeface="Montserrat"/>
              </a:rPr>
              <a:t>Tomar decisões suportadas em dados;</a:t>
            </a:r>
            <a:endParaRPr sz="26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89" name="Google Shape;189;p2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8450" y="41722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5"/>
          <p:cNvSpPr txBox="1">
            <a:spLocks noGrp="1"/>
          </p:cNvSpPr>
          <p:nvPr>
            <p:ph type="title" idx="4294967295"/>
          </p:nvPr>
        </p:nvSpPr>
        <p:spPr>
          <a:xfrm>
            <a:off x="800500" y="259715"/>
            <a:ext cx="6191700" cy="10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3600">
                <a:latin typeface="Montserrat SemiBold"/>
                <a:ea typeface="Montserrat SemiBold"/>
                <a:cs typeface="Montserrat SemiBold"/>
                <a:sym typeface="Montserrat SemiBold"/>
              </a:rPr>
              <a:t>Para quem é este curso</a:t>
            </a:r>
            <a:endParaRPr sz="3600"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6"/>
          <p:cNvSpPr txBox="1">
            <a:spLocks noGrp="1"/>
          </p:cNvSpPr>
          <p:nvPr>
            <p:ph type="body" idx="4294967295"/>
          </p:nvPr>
        </p:nvSpPr>
        <p:spPr>
          <a:xfrm>
            <a:off x="563725" y="2137400"/>
            <a:ext cx="11248200" cy="39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marR="0" lvl="0" indent="-393700" algn="l" rtl="0">
              <a:lnSpc>
                <a:spcPct val="200000"/>
              </a:lnSpc>
              <a:spcBef>
                <a:spcPts val="1000"/>
              </a:spcBef>
              <a:spcAft>
                <a:spcPts val="0"/>
              </a:spcAft>
              <a:buSzPts val="2600"/>
              <a:buFont typeface="Montserrat"/>
              <a:buChar char="•"/>
            </a:pPr>
            <a:r>
              <a:rPr lang="pt-BR" sz="2600">
                <a:latin typeface="Montserrat"/>
                <a:ea typeface="Montserrat"/>
                <a:cs typeface="Montserrat"/>
                <a:sym typeface="Montserrat"/>
              </a:rPr>
              <a:t>Vasta experiência e usa SQL intensivamente no seu dia a dia;</a:t>
            </a:r>
            <a:endParaRPr sz="2600"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937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Montserrat"/>
              <a:buChar char="•"/>
            </a:pPr>
            <a:r>
              <a:rPr lang="pt-BR" sz="2600">
                <a:latin typeface="Montserrat"/>
                <a:ea typeface="Montserrat"/>
                <a:cs typeface="Montserrat"/>
                <a:sym typeface="Montserrat"/>
              </a:rPr>
              <a:t>Deseja construir um banco de dados;</a:t>
            </a:r>
            <a:endParaRPr sz="2600"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937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600"/>
              <a:buFont typeface="Montserrat"/>
              <a:buChar char="•"/>
            </a:pPr>
            <a:r>
              <a:rPr lang="pt-BR" sz="2600">
                <a:latin typeface="Montserrat"/>
                <a:ea typeface="Montserrat"/>
                <a:cs typeface="Montserrat"/>
                <a:sym typeface="Montserrat"/>
              </a:rPr>
              <a:t>Conhecer melhores práticas em modelagem de dados;</a:t>
            </a:r>
            <a:endParaRPr sz="26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96" name="Google Shape;196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8450" y="41722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6"/>
          <p:cNvSpPr txBox="1">
            <a:spLocks noGrp="1"/>
          </p:cNvSpPr>
          <p:nvPr>
            <p:ph type="title" idx="4294967295"/>
          </p:nvPr>
        </p:nvSpPr>
        <p:spPr>
          <a:xfrm>
            <a:off x="800500" y="259725"/>
            <a:ext cx="8612400" cy="10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3600">
                <a:latin typeface="Montserrat SemiBold"/>
                <a:ea typeface="Montserrat SemiBold"/>
                <a:cs typeface="Montserrat SemiBold"/>
                <a:sym typeface="Montserrat SemiBold"/>
              </a:rPr>
              <a:t>Para quem </a:t>
            </a:r>
            <a:r>
              <a:rPr lang="pt-BR" sz="3600" b="1">
                <a:latin typeface="Montserrat"/>
                <a:ea typeface="Montserrat"/>
                <a:cs typeface="Montserrat"/>
                <a:sym typeface="Montserrat"/>
              </a:rPr>
              <a:t>NÃO</a:t>
            </a:r>
            <a:r>
              <a:rPr lang="pt-BR" sz="3600">
                <a:latin typeface="Montserrat SemiBold"/>
                <a:ea typeface="Montserrat SemiBold"/>
                <a:cs typeface="Montserrat SemiBold"/>
                <a:sym typeface="Montserrat SemiBold"/>
              </a:rPr>
              <a:t> é este curso</a:t>
            </a:r>
            <a:endParaRPr sz="3600"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/>
        </p:nvSpPr>
        <p:spPr>
          <a:xfrm>
            <a:off x="379600" y="346300"/>
            <a:ext cx="11131500" cy="13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Um pouco sobre a área de dados</a:t>
            </a:r>
            <a:endParaRPr sz="4800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398000" y="2403200"/>
            <a:ext cx="11094900" cy="9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Quando se fala em dados, qual a primeira coisa que vem na sua cabeça?</a:t>
            </a:r>
            <a:endParaRPr sz="2300" b="1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4" name="Google Shape;204;p27"/>
          <p:cNvSpPr txBox="1"/>
          <p:nvPr/>
        </p:nvSpPr>
        <p:spPr>
          <a:xfrm>
            <a:off x="398000" y="3913533"/>
            <a:ext cx="100512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Por que dados são importantes? Por que coletar dados?</a:t>
            </a:r>
            <a:endParaRPr sz="2300" b="1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05" name="Google Shape;205;p27"/>
          <p:cNvSpPr txBox="1"/>
          <p:nvPr/>
        </p:nvSpPr>
        <p:spPr>
          <a:xfrm>
            <a:off x="398000" y="5423867"/>
            <a:ext cx="100512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Que tipo de uso de dados você conhece?</a:t>
            </a:r>
            <a:endParaRPr sz="2300" b="1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8"/>
          <p:cNvSpPr txBox="1"/>
          <p:nvPr/>
        </p:nvSpPr>
        <p:spPr>
          <a:xfrm>
            <a:off x="301350" y="350783"/>
            <a:ext cx="7814700" cy="9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7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Coleta de dados</a:t>
            </a:r>
            <a:endParaRPr sz="5700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11" name="Google Shape;21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4776" y="3579193"/>
            <a:ext cx="964521" cy="9645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28"/>
          <p:cNvPicPr preferRelativeResize="0"/>
          <p:nvPr/>
        </p:nvPicPr>
        <p:blipFill rotWithShape="1">
          <a:blip r:embed="rId4">
            <a:alphaModFix/>
          </a:blip>
          <a:srcRect l="15733" t="15773" r="15562" b="15916"/>
          <a:stretch/>
        </p:blipFill>
        <p:spPr>
          <a:xfrm>
            <a:off x="7714599" y="4474536"/>
            <a:ext cx="1231353" cy="11578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75653" y="4619497"/>
            <a:ext cx="964521" cy="964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75354" y="5563151"/>
            <a:ext cx="1157833" cy="11578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28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246666" y="2774421"/>
            <a:ext cx="1498139" cy="14981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896187" y="3530854"/>
            <a:ext cx="1414929" cy="10611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2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944777" y="1681984"/>
            <a:ext cx="964515" cy="964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28"/>
          <p:cNvPicPr preferRelativeResize="0"/>
          <p:nvPr/>
        </p:nvPicPr>
        <p:blipFill rotWithShape="1">
          <a:blip r:embed="rId10">
            <a:alphaModFix/>
          </a:blip>
          <a:srcRect l="8256" t="11174" r="6282" b="15118"/>
          <a:stretch/>
        </p:blipFill>
        <p:spPr>
          <a:xfrm>
            <a:off x="9896187" y="1554050"/>
            <a:ext cx="1414931" cy="122037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9" name="Google Shape;219;p28"/>
          <p:cNvCxnSpPr>
            <a:endCxn id="215" idx="2"/>
          </p:cNvCxnSpPr>
          <p:nvPr/>
        </p:nvCxnSpPr>
        <p:spPr>
          <a:xfrm rot="10800000">
            <a:off x="5995735" y="4272584"/>
            <a:ext cx="0" cy="1143300"/>
          </a:xfrm>
          <a:prstGeom prst="straightConnector1">
            <a:avLst/>
          </a:prstGeom>
          <a:noFill/>
          <a:ln w="38100" cap="flat" cmpd="sng">
            <a:solidFill>
              <a:srgbClr val="EFEFE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0" name="Google Shape;220;p28"/>
          <p:cNvSpPr txBox="1"/>
          <p:nvPr/>
        </p:nvSpPr>
        <p:spPr>
          <a:xfrm>
            <a:off x="5246642" y="1509122"/>
            <a:ext cx="1498500" cy="14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>
                <a:solidFill>
                  <a:srgbClr val="F3F3F3"/>
                </a:solidFill>
                <a:latin typeface="Montserrat"/>
                <a:ea typeface="Montserrat"/>
                <a:cs typeface="Montserrat"/>
                <a:sym typeface="Montserrat"/>
              </a:rPr>
              <a:t>Banco de Dados</a:t>
            </a:r>
            <a:endParaRPr sz="2500">
              <a:solidFill>
                <a:srgbClr val="F3F3F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221" name="Google Shape;221;p28"/>
          <p:cNvCxnSpPr/>
          <p:nvPr/>
        </p:nvCxnSpPr>
        <p:spPr>
          <a:xfrm rot="10800000" flipH="1">
            <a:off x="4163512" y="4175318"/>
            <a:ext cx="1149600" cy="637500"/>
          </a:xfrm>
          <a:prstGeom prst="straightConnector1">
            <a:avLst/>
          </a:prstGeom>
          <a:noFill/>
          <a:ln w="38100" cap="flat" cmpd="sng">
            <a:solidFill>
              <a:srgbClr val="EFEFE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2" name="Google Shape;222;p28"/>
          <p:cNvCxnSpPr>
            <a:endCxn id="215" idx="1"/>
          </p:cNvCxnSpPr>
          <p:nvPr/>
        </p:nvCxnSpPr>
        <p:spPr>
          <a:xfrm rot="10800000" flipH="1">
            <a:off x="2151866" y="3523503"/>
            <a:ext cx="3094800" cy="533100"/>
          </a:xfrm>
          <a:prstGeom prst="straightConnector1">
            <a:avLst/>
          </a:prstGeom>
          <a:noFill/>
          <a:ln w="38100" cap="flat" cmpd="sng">
            <a:solidFill>
              <a:srgbClr val="EFEFE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3" name="Google Shape;223;p28"/>
          <p:cNvCxnSpPr/>
          <p:nvPr/>
        </p:nvCxnSpPr>
        <p:spPr>
          <a:xfrm>
            <a:off x="1864138" y="2443318"/>
            <a:ext cx="3400800" cy="715500"/>
          </a:xfrm>
          <a:prstGeom prst="straightConnector1">
            <a:avLst/>
          </a:prstGeom>
          <a:noFill/>
          <a:ln w="38100" cap="flat" cmpd="sng">
            <a:solidFill>
              <a:srgbClr val="EFEFE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4" name="Google Shape;224;p28"/>
          <p:cNvCxnSpPr/>
          <p:nvPr/>
        </p:nvCxnSpPr>
        <p:spPr>
          <a:xfrm rot="10800000">
            <a:off x="6632964" y="4087001"/>
            <a:ext cx="1427700" cy="532500"/>
          </a:xfrm>
          <a:prstGeom prst="straightConnector1">
            <a:avLst/>
          </a:prstGeom>
          <a:noFill/>
          <a:ln w="38100" cap="flat" cmpd="sng">
            <a:solidFill>
              <a:srgbClr val="EFEFE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5" name="Google Shape;225;p28"/>
          <p:cNvCxnSpPr>
            <a:endCxn id="215" idx="3"/>
          </p:cNvCxnSpPr>
          <p:nvPr/>
        </p:nvCxnSpPr>
        <p:spPr>
          <a:xfrm rot="10800000">
            <a:off x="6744804" y="3523503"/>
            <a:ext cx="3241200" cy="404100"/>
          </a:xfrm>
          <a:prstGeom prst="straightConnector1">
            <a:avLst/>
          </a:prstGeom>
          <a:noFill/>
          <a:ln w="38100" cap="flat" cmpd="sng">
            <a:solidFill>
              <a:srgbClr val="EFEFE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6" name="Google Shape;226;p28"/>
          <p:cNvCxnSpPr/>
          <p:nvPr/>
        </p:nvCxnSpPr>
        <p:spPr>
          <a:xfrm flipH="1">
            <a:off x="6689496" y="2610286"/>
            <a:ext cx="3374400" cy="524700"/>
          </a:xfrm>
          <a:prstGeom prst="straightConnector1">
            <a:avLst/>
          </a:prstGeom>
          <a:noFill/>
          <a:ln w="38100" cap="flat" cmpd="sng">
            <a:solidFill>
              <a:srgbClr val="EFEFEF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9"/>
          <p:cNvSpPr txBox="1"/>
          <p:nvPr/>
        </p:nvSpPr>
        <p:spPr>
          <a:xfrm>
            <a:off x="188166" y="227867"/>
            <a:ext cx="9824100" cy="10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rmAutofit fontScale="77500"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7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Coleta de dados (pesquisa e censo)</a:t>
            </a:r>
            <a:endParaRPr sz="57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32" name="Google Shape;23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811" y="1761448"/>
            <a:ext cx="5109412" cy="135468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811" y="5021365"/>
            <a:ext cx="4016446" cy="104426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9"/>
          <p:cNvPicPr preferRelativeResize="0"/>
          <p:nvPr/>
        </p:nvPicPr>
        <p:blipFill rotWithShape="1">
          <a:blip r:embed="rId5">
            <a:alphaModFix/>
          </a:blip>
          <a:srcRect l="22372" t="8576" r="16619" b="8160"/>
          <a:stretch/>
        </p:blipFill>
        <p:spPr>
          <a:xfrm>
            <a:off x="7561936" y="3649606"/>
            <a:ext cx="2703827" cy="24601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65811" y="3570134"/>
            <a:ext cx="4338048" cy="10442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292939" y="1227941"/>
            <a:ext cx="5560095" cy="24216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0"/>
          <p:cNvSpPr txBox="1"/>
          <p:nvPr/>
        </p:nvSpPr>
        <p:spPr>
          <a:xfrm>
            <a:off x="178733" y="1382400"/>
            <a:ext cx="6321900" cy="44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Char char="●"/>
            </a:pPr>
            <a:r>
              <a:rPr lang="pt-BR" sz="2100">
                <a:latin typeface="Montserrat"/>
                <a:ea typeface="Montserrat"/>
                <a:cs typeface="Montserrat"/>
                <a:sym typeface="Montserrat"/>
              </a:rPr>
              <a:t>Previsão de vendas</a:t>
            </a:r>
            <a:endParaRPr sz="2100">
              <a:latin typeface="Montserrat"/>
              <a:ea typeface="Montserrat"/>
              <a:cs typeface="Montserrat"/>
              <a:sym typeface="Montserrat"/>
            </a:endParaRPr>
          </a:p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Char char="●"/>
            </a:pPr>
            <a:r>
              <a:rPr lang="pt-BR" sz="2100">
                <a:latin typeface="Montserrat"/>
                <a:ea typeface="Montserrat"/>
                <a:cs typeface="Montserrat"/>
                <a:sym typeface="Montserrat"/>
              </a:rPr>
              <a:t>Tempo de garantia</a:t>
            </a:r>
            <a:endParaRPr sz="2100">
              <a:latin typeface="Montserrat"/>
              <a:ea typeface="Montserrat"/>
              <a:cs typeface="Montserrat"/>
              <a:sym typeface="Montserrat"/>
            </a:endParaRPr>
          </a:p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Char char="●"/>
            </a:pPr>
            <a:r>
              <a:rPr lang="pt-BR" sz="2100">
                <a:latin typeface="Montserrat"/>
                <a:ea typeface="Montserrat"/>
                <a:cs typeface="Montserrat"/>
                <a:sym typeface="Montserrat"/>
              </a:rPr>
              <a:t>Limite de crédito</a:t>
            </a:r>
            <a:endParaRPr sz="2100">
              <a:latin typeface="Montserrat"/>
              <a:ea typeface="Montserrat"/>
              <a:cs typeface="Montserrat"/>
              <a:sym typeface="Montserrat"/>
            </a:endParaRPr>
          </a:p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Char char="●"/>
            </a:pPr>
            <a:r>
              <a:rPr lang="pt-BR" sz="2100">
                <a:latin typeface="Montserrat"/>
                <a:ea typeface="Montserrat"/>
                <a:cs typeface="Montserrat"/>
                <a:sym typeface="Montserrat"/>
              </a:rPr>
              <a:t>Manutenção de equipamento industrial</a:t>
            </a:r>
            <a:endParaRPr sz="2100">
              <a:latin typeface="Montserrat"/>
              <a:ea typeface="Montserrat"/>
              <a:cs typeface="Montserrat"/>
              <a:sym typeface="Montserrat"/>
            </a:endParaRPr>
          </a:p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Char char="●"/>
            </a:pPr>
            <a:r>
              <a:rPr lang="pt-BR" sz="2100">
                <a:latin typeface="Montserrat"/>
                <a:ea typeface="Montserrat"/>
                <a:cs typeface="Montserrat"/>
                <a:sym typeface="Montserrat"/>
              </a:rPr>
              <a:t>Recomendação de produtos</a:t>
            </a:r>
            <a:endParaRPr sz="2100">
              <a:latin typeface="Montserrat"/>
              <a:ea typeface="Montserrat"/>
              <a:cs typeface="Montserrat"/>
              <a:sym typeface="Montserrat"/>
            </a:endParaRPr>
          </a:p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Montserrat"/>
              <a:buChar char="●"/>
            </a:pPr>
            <a:r>
              <a:rPr lang="pt-BR" sz="2100">
                <a:latin typeface="Montserrat"/>
                <a:ea typeface="Montserrat"/>
                <a:cs typeface="Montserrat"/>
                <a:sym typeface="Montserrat"/>
              </a:rPr>
              <a:t>Definição de metas</a:t>
            </a:r>
            <a:endParaRPr sz="2100">
              <a:latin typeface="Montserrat"/>
              <a:ea typeface="Montserrat"/>
              <a:cs typeface="Montserrat"/>
              <a:sym typeface="Montserrat"/>
            </a:endParaRPr>
          </a:p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Montserrat"/>
              <a:buChar char="●"/>
            </a:pPr>
            <a:r>
              <a:rPr lang="pt-BR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Processamento de Linguagem Natural</a:t>
            </a:r>
            <a:endParaRPr sz="21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2" name="Google Shape;242;p30"/>
          <p:cNvSpPr txBox="1"/>
          <p:nvPr/>
        </p:nvSpPr>
        <p:spPr>
          <a:xfrm>
            <a:off x="6500525" y="1382400"/>
            <a:ext cx="5691600" cy="44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Montserrat"/>
              <a:buChar char="●"/>
            </a:pPr>
            <a:r>
              <a:rPr lang="pt-BR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Conhecer diferentes grupos de clientes</a:t>
            </a:r>
            <a:endParaRPr sz="21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Montserrat"/>
              <a:buChar char="●"/>
            </a:pPr>
            <a:r>
              <a:rPr lang="pt-BR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Validar produtos com usuários</a:t>
            </a:r>
            <a:endParaRPr sz="21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Montserrat"/>
              <a:buChar char="●"/>
            </a:pPr>
            <a:r>
              <a:rPr lang="pt-BR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Entender sazonalidade</a:t>
            </a:r>
            <a:endParaRPr sz="21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Montserrat"/>
              <a:buChar char="●"/>
            </a:pPr>
            <a:r>
              <a:rPr lang="pt-BR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Visão computacional</a:t>
            </a:r>
            <a:endParaRPr sz="21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Montserrat"/>
              <a:buChar char="●"/>
            </a:pPr>
            <a:r>
              <a:rPr lang="pt-BR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Performance de atletas</a:t>
            </a:r>
            <a:endParaRPr sz="21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609600" lvl="0" indent="-4381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Montserrat"/>
              <a:buChar char="●"/>
            </a:pPr>
            <a:r>
              <a:rPr lang="pt-BR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Eficácia de vacinas e </a:t>
            </a:r>
            <a:r>
              <a:rPr lang="pt-BR" sz="2100">
                <a:latin typeface="Montserrat"/>
                <a:ea typeface="Montserrat"/>
                <a:cs typeface="Montserrat"/>
                <a:sym typeface="Montserrat"/>
              </a:rPr>
              <a:t>m</a:t>
            </a:r>
            <a:r>
              <a:rPr lang="pt-BR" sz="21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edicamentos</a:t>
            </a:r>
            <a:endParaRPr sz="21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3" name="Google Shape;243;p30"/>
          <p:cNvSpPr/>
          <p:nvPr/>
        </p:nvSpPr>
        <p:spPr>
          <a:xfrm>
            <a:off x="1816400" y="6075300"/>
            <a:ext cx="8559300" cy="634800"/>
          </a:xfrm>
          <a:prstGeom prst="roundRect">
            <a:avLst>
              <a:gd name="adj" fmla="val 50000"/>
            </a:avLst>
          </a:prstGeom>
          <a:solidFill>
            <a:srgbClr val="E7E6E6"/>
          </a:solidFill>
          <a:ln w="38100" cap="flat" cmpd="sng">
            <a:solidFill>
              <a:srgbClr val="445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300" b="1">
                <a:latin typeface="Montserrat"/>
                <a:ea typeface="Montserrat"/>
                <a:cs typeface="Montserrat"/>
                <a:sym typeface="Montserrat"/>
              </a:rPr>
              <a:t>Tomar melhores decisões</a:t>
            </a:r>
            <a:endParaRPr sz="3300" b="1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44" name="Google Shape;244;p30"/>
          <p:cNvSpPr txBox="1"/>
          <p:nvPr/>
        </p:nvSpPr>
        <p:spPr>
          <a:xfrm>
            <a:off x="188166" y="227867"/>
            <a:ext cx="9824100" cy="104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>
                <a:latin typeface="Montserrat"/>
                <a:ea typeface="Montserrat"/>
                <a:cs typeface="Montserrat"/>
                <a:sym typeface="Montserrat"/>
              </a:rPr>
              <a:t>Possibilidades em dados</a:t>
            </a:r>
            <a:endParaRPr sz="44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31"/>
          <p:cNvPicPr preferRelativeResize="0"/>
          <p:nvPr/>
        </p:nvPicPr>
        <p:blipFill rotWithShape="1">
          <a:blip r:embed="rId3">
            <a:alphaModFix/>
          </a:blip>
          <a:srcRect r="9428"/>
          <a:stretch/>
        </p:blipFill>
        <p:spPr>
          <a:xfrm>
            <a:off x="952500" y="0"/>
            <a:ext cx="9316967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4" name="Google Shape;254;p32"/>
          <p:cNvGrpSpPr/>
          <p:nvPr/>
        </p:nvGrpSpPr>
        <p:grpSpPr>
          <a:xfrm>
            <a:off x="6111712" y="1121635"/>
            <a:ext cx="6097671" cy="2833402"/>
            <a:chOff x="6054975" y="729600"/>
            <a:chExt cx="5565600" cy="2736000"/>
          </a:xfrm>
        </p:grpSpPr>
        <p:sp>
          <p:nvSpPr>
            <p:cNvPr id="255" name="Google Shape;255;p32"/>
            <p:cNvSpPr/>
            <p:nvPr/>
          </p:nvSpPr>
          <p:spPr>
            <a:xfrm>
              <a:off x="6054975" y="729600"/>
              <a:ext cx="5565600" cy="2736000"/>
            </a:xfrm>
            <a:prstGeom prst="roundRect">
              <a:avLst>
                <a:gd name="adj" fmla="val 803"/>
              </a:avLst>
            </a:prstGeom>
            <a:solidFill>
              <a:srgbClr val="D9D2E9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2"/>
            <p:cNvSpPr txBox="1"/>
            <p:nvPr/>
          </p:nvSpPr>
          <p:spPr>
            <a:xfrm>
              <a:off x="8044950" y="2719800"/>
              <a:ext cx="3446700" cy="668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900">
                  <a:solidFill>
                    <a:srgbClr val="20124D"/>
                  </a:solidFill>
                </a:rPr>
                <a:t>Análise de Dados</a:t>
              </a:r>
              <a:endParaRPr sz="2900">
                <a:solidFill>
                  <a:srgbClr val="20124D"/>
                </a:solidFill>
              </a:endParaRPr>
            </a:p>
          </p:txBody>
        </p:sp>
      </p:grpSp>
      <p:sp>
        <p:nvSpPr>
          <p:cNvPr id="257" name="Google Shape;257;p32"/>
          <p:cNvSpPr/>
          <p:nvPr/>
        </p:nvSpPr>
        <p:spPr>
          <a:xfrm>
            <a:off x="6111374" y="3954713"/>
            <a:ext cx="6097200" cy="2912100"/>
          </a:xfrm>
          <a:prstGeom prst="roundRect">
            <a:avLst>
              <a:gd name="adj" fmla="val 803"/>
            </a:avLst>
          </a:prstGeom>
          <a:solidFill>
            <a:srgbClr val="FCE5CD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32"/>
          <p:cNvSpPr txBox="1"/>
          <p:nvPr/>
        </p:nvSpPr>
        <p:spPr>
          <a:xfrm>
            <a:off x="8264829" y="6074967"/>
            <a:ext cx="37008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>
                <a:solidFill>
                  <a:srgbClr val="7F6000"/>
                </a:solidFill>
              </a:rPr>
              <a:t>Ciência de Dados</a:t>
            </a:r>
            <a:endParaRPr sz="2900">
              <a:solidFill>
                <a:srgbClr val="7F6000"/>
              </a:solidFill>
            </a:endParaRPr>
          </a:p>
        </p:txBody>
      </p:sp>
      <p:sp>
        <p:nvSpPr>
          <p:cNvPr id="259" name="Google Shape;259;p32"/>
          <p:cNvSpPr/>
          <p:nvPr/>
        </p:nvSpPr>
        <p:spPr>
          <a:xfrm>
            <a:off x="-61400" y="1121567"/>
            <a:ext cx="6176100" cy="5745300"/>
          </a:xfrm>
          <a:prstGeom prst="roundRect">
            <a:avLst>
              <a:gd name="adj" fmla="val 0"/>
            </a:avLst>
          </a:prstGeom>
          <a:solidFill>
            <a:srgbClr val="CFE2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32"/>
          <p:cNvSpPr txBox="1"/>
          <p:nvPr/>
        </p:nvSpPr>
        <p:spPr>
          <a:xfrm>
            <a:off x="881201" y="6074967"/>
            <a:ext cx="42480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>
                <a:solidFill>
                  <a:srgbClr val="073763"/>
                </a:solidFill>
              </a:rPr>
              <a:t>Engenharia de dados</a:t>
            </a:r>
            <a:endParaRPr sz="2900">
              <a:solidFill>
                <a:srgbClr val="073763"/>
              </a:solidFill>
            </a:endParaRPr>
          </a:p>
        </p:txBody>
      </p:sp>
      <p:grpSp>
        <p:nvGrpSpPr>
          <p:cNvPr id="261" name="Google Shape;261;p32"/>
          <p:cNvGrpSpPr/>
          <p:nvPr/>
        </p:nvGrpSpPr>
        <p:grpSpPr>
          <a:xfrm>
            <a:off x="5150237" y="1524156"/>
            <a:ext cx="1767418" cy="3255125"/>
            <a:chOff x="5272963" y="1102061"/>
            <a:chExt cx="1646100" cy="3031689"/>
          </a:xfrm>
        </p:grpSpPr>
        <p:pic>
          <p:nvPicPr>
            <p:cNvPr id="262" name="Google Shape;262;p3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272989" y="2487700"/>
              <a:ext cx="1646025" cy="16460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3" name="Google Shape;263;p32"/>
            <p:cNvSpPr txBox="1"/>
            <p:nvPr/>
          </p:nvSpPr>
          <p:spPr>
            <a:xfrm>
              <a:off x="5272963" y="1102061"/>
              <a:ext cx="1646100" cy="156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3100"/>
                <a:t>Banco de Dados</a:t>
              </a:r>
              <a:endParaRPr sz="3100"/>
            </a:p>
          </p:txBody>
        </p:sp>
      </p:grpSp>
      <p:pic>
        <p:nvPicPr>
          <p:cNvPr id="264" name="Google Shape;264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612467"/>
            <a:ext cx="1308687" cy="13086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5" name="Google Shape;265;p32"/>
          <p:cNvGrpSpPr/>
          <p:nvPr/>
        </p:nvGrpSpPr>
        <p:grpSpPr>
          <a:xfrm>
            <a:off x="1036923" y="2130166"/>
            <a:ext cx="1545726" cy="1324720"/>
            <a:chOff x="1672943" y="2121408"/>
            <a:chExt cx="1829045" cy="1572741"/>
          </a:xfrm>
        </p:grpSpPr>
        <p:pic>
          <p:nvPicPr>
            <p:cNvPr id="266" name="Google Shape;266;p32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672943" y="2249575"/>
              <a:ext cx="1829045" cy="144457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7" name="Google Shape;267;p32"/>
            <p:cNvSpPr txBox="1"/>
            <p:nvPr/>
          </p:nvSpPr>
          <p:spPr>
            <a:xfrm>
              <a:off x="2069955" y="2121408"/>
              <a:ext cx="1035000" cy="107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1900" tIns="121900" rIns="121900" bIns="12190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4300"/>
                <a:t>@</a:t>
              </a:r>
              <a:endParaRPr sz="4300"/>
            </a:p>
          </p:txBody>
        </p:sp>
      </p:grpSp>
      <p:pic>
        <p:nvPicPr>
          <p:cNvPr id="268" name="Google Shape;268;p3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84446" y="3828039"/>
            <a:ext cx="1308691" cy="13086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9" name="Google Shape;269;p32"/>
          <p:cNvCxnSpPr/>
          <p:nvPr/>
        </p:nvCxnSpPr>
        <p:spPr>
          <a:xfrm>
            <a:off x="1036900" y="1936173"/>
            <a:ext cx="4113600" cy="1713900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rgbClr val="44546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70" name="Google Shape;270;p32"/>
          <p:cNvCxnSpPr>
            <a:stCxn id="266" idx="3"/>
          </p:cNvCxnSpPr>
          <p:nvPr/>
        </p:nvCxnSpPr>
        <p:spPr>
          <a:xfrm>
            <a:off x="2582649" y="2846504"/>
            <a:ext cx="2538300" cy="1028100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rgbClr val="44546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71" name="Google Shape;271;p32"/>
          <p:cNvCxnSpPr>
            <a:stCxn id="268" idx="3"/>
          </p:cNvCxnSpPr>
          <p:nvPr/>
        </p:nvCxnSpPr>
        <p:spPr>
          <a:xfrm rot="10800000" flipH="1">
            <a:off x="1593137" y="4082480"/>
            <a:ext cx="3509700" cy="399900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rgbClr val="44546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72" name="Google Shape;272;p32"/>
          <p:cNvCxnSpPr/>
          <p:nvPr/>
        </p:nvCxnSpPr>
        <p:spPr>
          <a:xfrm rot="10800000" flipH="1">
            <a:off x="3405087" y="4270994"/>
            <a:ext cx="1687500" cy="1427700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rgbClr val="44546A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73" name="Google Shape;273;p32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158915" y="1301708"/>
            <a:ext cx="2121714" cy="177997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4" name="Google Shape;274;p32"/>
          <p:cNvCxnSpPr>
            <a:stCxn id="262" idx="3"/>
            <a:endCxn id="273" idx="1"/>
          </p:cNvCxnSpPr>
          <p:nvPr/>
        </p:nvCxnSpPr>
        <p:spPr>
          <a:xfrm rot="10800000" flipH="1">
            <a:off x="6917602" y="2191598"/>
            <a:ext cx="2241300" cy="1704000"/>
          </a:xfrm>
          <a:prstGeom prst="bentConnector3">
            <a:avLst>
              <a:gd name="adj1" fmla="val 49997"/>
            </a:avLst>
          </a:prstGeom>
          <a:noFill/>
          <a:ln w="25400" cap="flat" cmpd="sng">
            <a:solidFill>
              <a:srgbClr val="44546A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75" name="Google Shape;275;p3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336071" y="4256692"/>
            <a:ext cx="1767393" cy="1771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6" name="Google Shape;276;p32"/>
          <p:cNvCxnSpPr>
            <a:stCxn id="262" idx="3"/>
            <a:endCxn id="275" idx="1"/>
          </p:cNvCxnSpPr>
          <p:nvPr/>
        </p:nvCxnSpPr>
        <p:spPr>
          <a:xfrm>
            <a:off x="6917602" y="3895598"/>
            <a:ext cx="2418600" cy="1246500"/>
          </a:xfrm>
          <a:prstGeom prst="bentConnector3">
            <a:avLst>
              <a:gd name="adj1" fmla="val 46150"/>
            </a:avLst>
          </a:prstGeom>
          <a:noFill/>
          <a:ln w="25400" cap="flat" cmpd="sng">
            <a:solidFill>
              <a:srgbClr val="44546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77" name="Google Shape;277;p32"/>
          <p:cNvSpPr txBox="1"/>
          <p:nvPr/>
        </p:nvSpPr>
        <p:spPr>
          <a:xfrm>
            <a:off x="0" y="47033"/>
            <a:ext cx="9219300" cy="10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Profissionais de Dados</a:t>
            </a:r>
            <a:endParaRPr sz="44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pic>
        <p:nvPicPr>
          <p:cNvPr id="278" name="Google Shape;278;p32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163822" y="5350769"/>
            <a:ext cx="2418693" cy="641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3"/>
          <p:cNvSpPr txBox="1"/>
          <p:nvPr/>
        </p:nvSpPr>
        <p:spPr>
          <a:xfrm>
            <a:off x="318078" y="-4400"/>
            <a:ext cx="8430000" cy="9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25" rIns="121900" bIns="6092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Cargos e salários</a:t>
            </a:r>
            <a:endParaRPr sz="4400">
              <a:solidFill>
                <a:srgbClr val="000000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sp>
        <p:nvSpPr>
          <p:cNvPr id="284" name="Google Shape;284;p33"/>
          <p:cNvSpPr txBox="1"/>
          <p:nvPr/>
        </p:nvSpPr>
        <p:spPr>
          <a:xfrm>
            <a:off x="7588400" y="0"/>
            <a:ext cx="46035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latin typeface="Montserrat"/>
                <a:ea typeface="Montserrat"/>
                <a:cs typeface="Montserrat"/>
                <a:sym typeface="Montserrat"/>
              </a:rPr>
              <a:t>fonte: https://www.stateofdata.com.br/</a:t>
            </a:r>
            <a:endParaRPr sz="16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85" name="Google Shape;285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0003" y="848433"/>
            <a:ext cx="9169396" cy="60095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4"/>
          <p:cNvSpPr txBox="1"/>
          <p:nvPr/>
        </p:nvSpPr>
        <p:spPr>
          <a:xfrm>
            <a:off x="73572" y="228600"/>
            <a:ext cx="6357000" cy="52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200" b="1">
                <a:solidFill>
                  <a:srgbClr val="434343"/>
                </a:solidFill>
              </a:rPr>
              <a:t>Todos</a:t>
            </a:r>
            <a:r>
              <a:rPr lang="pt-BR" sz="4200">
                <a:solidFill>
                  <a:srgbClr val="434343"/>
                </a:solidFill>
              </a:rPr>
              <a:t> usam SQL para </a:t>
            </a:r>
            <a:endParaRPr sz="42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2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300">
                <a:solidFill>
                  <a:srgbClr val="434343"/>
                </a:solidFill>
              </a:rPr>
              <a:t>armazenar</a:t>
            </a:r>
            <a:endParaRPr sz="53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300">
                <a:solidFill>
                  <a:srgbClr val="434343"/>
                </a:solidFill>
              </a:rPr>
              <a:t>organizar</a:t>
            </a:r>
            <a:endParaRPr sz="53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300">
                <a:solidFill>
                  <a:srgbClr val="434343"/>
                </a:solidFill>
              </a:rPr>
              <a:t>consultar</a:t>
            </a:r>
            <a:endParaRPr sz="53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200">
              <a:solidFill>
                <a:srgbClr val="43434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200" b="1">
                <a:solidFill>
                  <a:srgbClr val="434343"/>
                </a:solidFill>
              </a:rPr>
              <a:t>dados</a:t>
            </a:r>
            <a:r>
              <a:rPr lang="pt-BR" sz="4200">
                <a:solidFill>
                  <a:srgbClr val="434343"/>
                </a:solidFill>
              </a:rPr>
              <a:t>!</a:t>
            </a:r>
            <a:endParaRPr sz="4200">
              <a:solidFill>
                <a:srgbClr val="434343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7" name="Google Shape;297;p35"/>
          <p:cNvGraphicFramePr/>
          <p:nvPr>
            <p:extLst>
              <p:ext uri="{D42A27DB-BD31-4B8C-83A1-F6EECF244321}">
                <p14:modId xmlns:p14="http://schemas.microsoft.com/office/powerpoint/2010/main" val="1190535298"/>
              </p:ext>
            </p:extLst>
          </p:nvPr>
        </p:nvGraphicFramePr>
        <p:xfrm>
          <a:off x="110625" y="1663263"/>
          <a:ext cx="11990775" cy="4587546"/>
        </p:xfrm>
        <a:graphic>
          <a:graphicData uri="http://schemas.openxmlformats.org/drawingml/2006/table">
            <a:tbl>
              <a:tblPr>
                <a:noFill/>
                <a:tableStyleId>{B4F253B9-B06C-46B4-BBF9-D6F8C7843E18}</a:tableStyleId>
              </a:tblPr>
              <a:tblGrid>
                <a:gridCol w="3996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6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6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63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1. Introduçao + Setup</a:t>
                      </a:r>
                      <a:endParaRPr sz="150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 dirty="0">
                          <a:solidFill>
                            <a:schemeClr val="dk1"/>
                          </a:solidFill>
                          <a:highlight>
                            <a:srgbClr val="FFFF00"/>
                          </a:highlight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Acesso aos dados</a:t>
                      </a:r>
                      <a:endParaRPr sz="1500" dirty="0">
                        <a:solidFill>
                          <a:schemeClr val="dk1"/>
                        </a:solidFill>
                        <a:highlight>
                          <a:srgbClr val="FFFF00"/>
                        </a:highlight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 dirty="0">
                          <a:solidFill>
                            <a:schemeClr val="dk1"/>
                          </a:solidFill>
                          <a:highlight>
                            <a:srgbClr val="FFFF00"/>
                          </a:highlight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Visual Studio Code</a:t>
                      </a:r>
                      <a:endParaRPr sz="1500" dirty="0">
                        <a:solidFill>
                          <a:schemeClr val="dk1"/>
                        </a:solidFill>
                        <a:highlight>
                          <a:srgbClr val="FFFF00"/>
                        </a:highlight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 dirty="0">
                          <a:solidFill>
                            <a:schemeClr val="dk1"/>
                          </a:solidFill>
                          <a:highlight>
                            <a:srgbClr val="FFFF00"/>
                          </a:highlight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Extensões para SQLite</a:t>
                      </a:r>
                      <a:endParaRPr sz="1500" dirty="0">
                        <a:highlight>
                          <a:srgbClr val="FFFF00"/>
                        </a:highlight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4. JOIN</a:t>
                      </a: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s: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marR="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LEFT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marR="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RIGHT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marR="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INNER</a:t>
                      </a:r>
                      <a:endParaRPr sz="15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7. Window Functions:</a:t>
                      </a:r>
                      <a:endParaRPr sz="1500" b="1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4572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OVER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4572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PARTITION BY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4572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LAG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4572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LEAD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4572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ROW_NUMBER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5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63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1500" b="1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2. Primeiras consultas (DQL)</a:t>
                      </a:r>
                      <a:endParaRPr sz="150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 dirty="0">
                          <a:solidFill>
                            <a:schemeClr val="dk1"/>
                          </a:solidFill>
                          <a:highlight>
                            <a:srgbClr val="FFFF00"/>
                          </a:highlight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SELECT</a:t>
                      </a:r>
                      <a:endParaRPr sz="1500" dirty="0">
                        <a:solidFill>
                          <a:schemeClr val="dk1"/>
                        </a:solidFill>
                        <a:highlight>
                          <a:srgbClr val="FFFF00"/>
                        </a:highlight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 dirty="0">
                          <a:solidFill>
                            <a:schemeClr val="dk1"/>
                          </a:solidFill>
                          <a:highlight>
                            <a:srgbClr val="FFFF00"/>
                          </a:highlight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FROM</a:t>
                      </a:r>
                      <a:endParaRPr sz="1500" dirty="0">
                        <a:solidFill>
                          <a:schemeClr val="dk1"/>
                        </a:solidFill>
                        <a:highlight>
                          <a:srgbClr val="FFFF00"/>
                        </a:highlight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 dirty="0">
                          <a:solidFill>
                            <a:schemeClr val="dk1"/>
                          </a:solidFill>
                          <a:highlight>
                            <a:srgbClr val="FFFF00"/>
                          </a:highlight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WHERE</a:t>
                      </a:r>
                      <a:endParaRPr sz="1500" dirty="0">
                        <a:solidFill>
                          <a:schemeClr val="dk1"/>
                        </a:solidFill>
                        <a:highlight>
                          <a:srgbClr val="FFFF00"/>
                        </a:highlight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CASE WHEN</a:t>
                      </a:r>
                      <a:endParaRPr sz="15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5. Juntando dados com UNIONs</a:t>
                      </a:r>
                      <a:endParaRPr sz="1500" b="1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8. DDL (Data Definition Language)</a:t>
                      </a:r>
                      <a:endParaRPr sz="1500" b="1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CREATE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DROP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TRUNCATE</a:t>
                      </a:r>
                      <a:endParaRPr sz="15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3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4000"/>
                        <a:buFont typeface="Arial"/>
                        <a:buNone/>
                      </a:pPr>
                      <a:r>
                        <a:rPr lang="pt-BR" sz="1500" b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3. Agregações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Funções de agregações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GROUP BY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ORDER BY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HAVING</a:t>
                      </a:r>
                      <a:endParaRPr sz="15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1500" b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6. Subqueries</a:t>
                      </a:r>
                      <a:endParaRPr sz="1500" b="1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CTE</a:t>
                      </a:r>
                      <a:endParaRPr sz="150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500" b="1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9. DML (Data Manipulation Language)</a:t>
                      </a:r>
                      <a:endParaRPr sz="150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INSERT</a:t>
                      </a:r>
                      <a:endParaRPr sz="15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DELETE</a:t>
                      </a:r>
                      <a:endParaRPr sz="15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  <a:p>
                      <a:pPr marL="914400" lvl="0" indent="-3238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ontserrat"/>
                        <a:buChar char="●"/>
                      </a:pPr>
                      <a:r>
                        <a:rPr lang="pt-BR" sz="15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UPDATE</a:t>
                      </a:r>
                      <a:endParaRPr sz="1500" dirty="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B7B7B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434343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8" name="Google Shape;298;p35"/>
          <p:cNvSpPr txBox="1">
            <a:spLocks noGrp="1"/>
          </p:cNvSpPr>
          <p:nvPr>
            <p:ph type="ctrTitle" idx="4294967295"/>
          </p:nvPr>
        </p:nvSpPr>
        <p:spPr>
          <a:xfrm>
            <a:off x="1045625" y="303250"/>
            <a:ext cx="7029000" cy="72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rial"/>
              <a:buNone/>
            </a:pPr>
            <a:r>
              <a:rPr lang="pt-BR" sz="3500" b="1">
                <a:latin typeface="Montserrat"/>
                <a:ea typeface="Montserrat"/>
                <a:cs typeface="Montserrat"/>
                <a:sym typeface="Montserrat"/>
              </a:rPr>
              <a:t>O que vamos abordar</a:t>
            </a:r>
            <a:endParaRPr sz="3500" b="1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99" name="Google Shape;299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6750" y="321250"/>
            <a:ext cx="685800" cy="68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36"/>
          <p:cNvSpPr/>
          <p:nvPr/>
        </p:nvSpPr>
        <p:spPr>
          <a:xfrm>
            <a:off x="207645" y="852170"/>
            <a:ext cx="10019100" cy="10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4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Banco de dados</a:t>
            </a:r>
            <a:endParaRPr sz="42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37"/>
          <p:cNvGraphicFramePr/>
          <p:nvPr/>
        </p:nvGraphicFramePr>
        <p:xfrm>
          <a:off x="809625" y="1181100"/>
          <a:ext cx="8528125" cy="1765345"/>
        </p:xfrm>
        <a:graphic>
          <a:graphicData uri="http://schemas.openxmlformats.org/drawingml/2006/table">
            <a:tbl>
              <a:tblPr firstRow="1" bandRow="1">
                <a:noFill/>
                <a:tableStyleId>{866139B3-FF2D-48A4-90DC-69A59AD31E8C}</a:tableStyleId>
              </a:tblPr>
              <a:tblGrid>
                <a:gridCol w="1325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7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8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7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6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ID Cliente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Nome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email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Data Cadastro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1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Téo Calvo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teozinhoBoladao@gmail.com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2024-06-13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2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Nah Ataide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nahnah@gmail.com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2021-05-04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5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3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Téo Cabeludo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2025-03-10</a:t>
                      </a:r>
                      <a:endParaRPr sz="18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0" name="Google Shape;310;p37"/>
          <p:cNvSpPr txBox="1"/>
          <p:nvPr/>
        </p:nvSpPr>
        <p:spPr>
          <a:xfrm>
            <a:off x="809625" y="752475"/>
            <a:ext cx="2265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Tabela de </a:t>
            </a:r>
            <a:r>
              <a:rPr lang="pt-BR" sz="1800">
                <a:solidFill>
                  <a:schemeClr val="dk1"/>
                </a:solidFill>
              </a:rPr>
              <a:t>Cliente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11" name="Google Shape;311;p37"/>
          <p:cNvGraphicFramePr/>
          <p:nvPr/>
        </p:nvGraphicFramePr>
        <p:xfrm>
          <a:off x="809625" y="4622800"/>
          <a:ext cx="9677375" cy="1552745"/>
        </p:xfrm>
        <a:graphic>
          <a:graphicData uri="http://schemas.openxmlformats.org/drawingml/2006/table">
            <a:tbl>
              <a:tblPr firstRow="1" bandRow="1">
                <a:noFill/>
                <a:tableStyleId>{866139B3-FF2D-48A4-90DC-69A59AD31E8C}</a:tableStyleId>
              </a:tblPr>
              <a:tblGrid>
                <a:gridCol w="1935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35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35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73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ID Venda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ID Cliente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ID Vendedor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Data Venda</a:t>
                      </a:r>
                      <a:endParaRPr sz="1800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Valor Venda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1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1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1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2024-07-15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R$ 120,00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7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2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2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1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2022-01-11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R$ 63,90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1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3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2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4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2024-06-09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pt-BR" sz="1800"/>
                        <a:t>R$ 25,89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2" name="Google Shape;312;p37"/>
          <p:cNvSpPr txBox="1"/>
          <p:nvPr/>
        </p:nvSpPr>
        <p:spPr>
          <a:xfrm>
            <a:off x="809625" y="4194175"/>
            <a:ext cx="23457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Tabela de </a:t>
            </a:r>
            <a:r>
              <a:rPr lang="pt-BR" sz="1800">
                <a:solidFill>
                  <a:schemeClr val="dk1"/>
                </a:solidFill>
              </a:rPr>
              <a:t>Vendas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7"/>
          <p:cNvSpPr/>
          <p:nvPr/>
        </p:nvSpPr>
        <p:spPr>
          <a:xfrm>
            <a:off x="825975" y="1993200"/>
            <a:ext cx="8495400" cy="4866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A64D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37"/>
          <p:cNvSpPr/>
          <p:nvPr/>
        </p:nvSpPr>
        <p:spPr>
          <a:xfrm rot="-5400000">
            <a:off x="7296750" y="4028825"/>
            <a:ext cx="574200" cy="4866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EAD1DC"/>
          </a:solidFill>
          <a:ln w="28575" cap="flat" cmpd="sng">
            <a:solidFill>
              <a:srgbClr val="741B4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37"/>
          <p:cNvSpPr txBox="1"/>
          <p:nvPr/>
        </p:nvSpPr>
        <p:spPr>
          <a:xfrm>
            <a:off x="9999725" y="1566900"/>
            <a:ext cx="1501200" cy="13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>
                <a:solidFill>
                  <a:srgbClr val="741B47"/>
                </a:solidFill>
              </a:rPr>
              <a:t>Linha</a:t>
            </a:r>
            <a:endParaRPr sz="2500">
              <a:solidFill>
                <a:srgbClr val="741B47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>
                <a:solidFill>
                  <a:srgbClr val="741B47"/>
                </a:solidFill>
              </a:rPr>
              <a:t>ou</a:t>
            </a:r>
            <a:endParaRPr sz="2500">
              <a:solidFill>
                <a:srgbClr val="741B47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>
                <a:solidFill>
                  <a:srgbClr val="741B47"/>
                </a:solidFill>
              </a:rPr>
              <a:t>Registro</a:t>
            </a:r>
            <a:endParaRPr sz="2500">
              <a:solidFill>
                <a:srgbClr val="741B47"/>
              </a:solidFill>
            </a:endParaRPr>
          </a:p>
        </p:txBody>
      </p:sp>
      <p:sp>
        <p:nvSpPr>
          <p:cNvPr id="316" name="Google Shape;316;p37"/>
          <p:cNvSpPr/>
          <p:nvPr/>
        </p:nvSpPr>
        <p:spPr>
          <a:xfrm>
            <a:off x="6616050" y="4622763"/>
            <a:ext cx="1935600" cy="1552800"/>
          </a:xfrm>
          <a:prstGeom prst="roundRect">
            <a:avLst>
              <a:gd name="adj" fmla="val 16667"/>
            </a:avLst>
          </a:prstGeom>
          <a:noFill/>
          <a:ln w="38100" cap="flat" cmpd="sng">
            <a:solidFill>
              <a:srgbClr val="A64D7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37"/>
          <p:cNvSpPr txBox="1"/>
          <p:nvPr/>
        </p:nvSpPr>
        <p:spPr>
          <a:xfrm>
            <a:off x="6173700" y="3429000"/>
            <a:ext cx="2820300" cy="5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>
                <a:solidFill>
                  <a:srgbClr val="741B47"/>
                </a:solidFill>
              </a:rPr>
              <a:t>Coluna ou Campo</a:t>
            </a:r>
            <a:endParaRPr sz="2500">
              <a:solidFill>
                <a:srgbClr val="741B47"/>
              </a:solidFill>
            </a:endParaRPr>
          </a:p>
        </p:txBody>
      </p:sp>
      <p:sp>
        <p:nvSpPr>
          <p:cNvPr id="318" name="Google Shape;318;p37"/>
          <p:cNvSpPr/>
          <p:nvPr/>
        </p:nvSpPr>
        <p:spPr>
          <a:xfrm>
            <a:off x="9425525" y="1993200"/>
            <a:ext cx="574200" cy="4866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EAD1DC"/>
          </a:solidFill>
          <a:ln w="28575" cap="flat" cmpd="sng">
            <a:solidFill>
              <a:srgbClr val="741B4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3" name="Google Shape;323;p38"/>
          <p:cNvGrpSpPr/>
          <p:nvPr/>
        </p:nvGrpSpPr>
        <p:grpSpPr>
          <a:xfrm>
            <a:off x="812760" y="1082041"/>
            <a:ext cx="3838489" cy="4803722"/>
            <a:chOff x="1280" y="768"/>
            <a:chExt cx="6045" cy="7565"/>
          </a:xfrm>
        </p:grpSpPr>
        <p:grpSp>
          <p:nvGrpSpPr>
            <p:cNvPr id="324" name="Google Shape;324;p38"/>
            <p:cNvGrpSpPr/>
            <p:nvPr/>
          </p:nvGrpSpPr>
          <p:grpSpPr>
            <a:xfrm>
              <a:off x="1890" y="768"/>
              <a:ext cx="2970" cy="3046"/>
              <a:chOff x="1890" y="1470"/>
              <a:chExt cx="4050" cy="4050"/>
            </a:xfrm>
          </p:grpSpPr>
          <p:pic>
            <p:nvPicPr>
              <p:cNvPr id="325" name="Google Shape;325;p38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890" y="1470"/>
                <a:ext cx="4050" cy="40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26" name="Google Shape;326;p38"/>
              <p:cNvSpPr txBox="1"/>
              <p:nvPr/>
            </p:nvSpPr>
            <p:spPr>
              <a:xfrm>
                <a:off x="2145" y="2095"/>
                <a:ext cx="2700" cy="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800">
                    <a:solidFill>
                      <a:schemeClr val="lt1"/>
                    </a:solidFill>
                  </a:rPr>
                  <a:t>vendedor</a:t>
                </a:r>
                <a:endParaRPr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7" name="Google Shape;327;p38"/>
            <p:cNvGrpSpPr/>
            <p:nvPr/>
          </p:nvGrpSpPr>
          <p:grpSpPr>
            <a:xfrm>
              <a:off x="4355" y="2708"/>
              <a:ext cx="2970" cy="3046"/>
              <a:chOff x="1890" y="1470"/>
              <a:chExt cx="4050" cy="4050"/>
            </a:xfrm>
          </p:grpSpPr>
          <p:pic>
            <p:nvPicPr>
              <p:cNvPr id="328" name="Google Shape;328;p38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890" y="1470"/>
                <a:ext cx="4050" cy="40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29" name="Google Shape;329;p38"/>
              <p:cNvSpPr txBox="1"/>
              <p:nvPr/>
            </p:nvSpPr>
            <p:spPr>
              <a:xfrm>
                <a:off x="2145" y="2095"/>
                <a:ext cx="3300" cy="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800">
                    <a:solidFill>
                      <a:schemeClr val="lt1"/>
                    </a:solidFill>
                  </a:rPr>
                  <a:t>produto</a:t>
                </a:r>
                <a:endParaRPr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0" name="Google Shape;330;p38"/>
            <p:cNvGrpSpPr/>
            <p:nvPr/>
          </p:nvGrpSpPr>
          <p:grpSpPr>
            <a:xfrm>
              <a:off x="1280" y="3023"/>
              <a:ext cx="2970" cy="3046"/>
              <a:chOff x="1890" y="1470"/>
              <a:chExt cx="4050" cy="4050"/>
            </a:xfrm>
          </p:grpSpPr>
          <p:pic>
            <p:nvPicPr>
              <p:cNvPr id="331" name="Google Shape;331;p38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890" y="1470"/>
                <a:ext cx="4050" cy="40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32" name="Google Shape;332;p38"/>
              <p:cNvSpPr txBox="1"/>
              <p:nvPr/>
            </p:nvSpPr>
            <p:spPr>
              <a:xfrm>
                <a:off x="2145" y="2095"/>
                <a:ext cx="2700" cy="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800">
                    <a:solidFill>
                      <a:schemeClr val="lt1"/>
                    </a:solidFill>
                  </a:rPr>
                  <a:t>cliente</a:t>
                </a:r>
                <a:endParaRPr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33" name="Google Shape;333;p38"/>
            <p:cNvGrpSpPr/>
            <p:nvPr/>
          </p:nvGrpSpPr>
          <p:grpSpPr>
            <a:xfrm>
              <a:off x="2660" y="5033"/>
              <a:ext cx="3538" cy="3300"/>
              <a:chOff x="1890" y="1470"/>
              <a:chExt cx="4155" cy="4050"/>
            </a:xfrm>
          </p:grpSpPr>
          <p:pic>
            <p:nvPicPr>
              <p:cNvPr id="334" name="Google Shape;334;p38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1890" y="1470"/>
                <a:ext cx="4050" cy="40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35" name="Google Shape;335;p38"/>
              <p:cNvSpPr txBox="1"/>
              <p:nvPr/>
            </p:nvSpPr>
            <p:spPr>
              <a:xfrm>
                <a:off x="2145" y="2095"/>
                <a:ext cx="3900" cy="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1800">
                    <a:solidFill>
                      <a:schemeClr val="lt1"/>
                    </a:solidFill>
                  </a:rPr>
                  <a:t>pedido</a:t>
                </a:r>
                <a:endParaRPr sz="18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36" name="Google Shape;336;p38"/>
          <p:cNvSpPr/>
          <p:nvPr/>
        </p:nvSpPr>
        <p:spPr>
          <a:xfrm>
            <a:off x="5149850" y="3258185"/>
            <a:ext cx="1314300" cy="790500"/>
          </a:xfrm>
          <a:prstGeom prst="notchedRightArrow">
            <a:avLst>
              <a:gd name="adj1" fmla="val 50000"/>
              <a:gd name="adj2" fmla="val 50000"/>
            </a:avLst>
          </a:prstGeom>
          <a:solidFill>
            <a:schemeClr val="accent1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7" name="Google Shape;337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55890" y="1912830"/>
            <a:ext cx="2322170" cy="232217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8"/>
          <p:cNvSpPr txBox="1"/>
          <p:nvPr/>
        </p:nvSpPr>
        <p:spPr>
          <a:xfrm>
            <a:off x="7197725" y="1213725"/>
            <a:ext cx="3238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Banco de dados</a:t>
            </a:r>
            <a:endParaRPr sz="28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9" name="Google Shape;339;p38"/>
          <p:cNvSpPr txBox="1"/>
          <p:nvPr/>
        </p:nvSpPr>
        <p:spPr>
          <a:xfrm>
            <a:off x="6578825" y="4729725"/>
            <a:ext cx="4476300" cy="10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0" b="1">
                <a:solidFill>
                  <a:srgbClr val="0070C0"/>
                </a:solidFill>
                <a:latin typeface="Montserrat"/>
                <a:ea typeface="Montserrat"/>
                <a:cs typeface="Montserrat"/>
                <a:sym typeface="Montserrat"/>
              </a:rPr>
              <a:t>Sistema de Gerenciamento</a:t>
            </a:r>
            <a:endParaRPr sz="2100" b="1">
              <a:solidFill>
                <a:srgbClr val="0070C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0" b="1">
                <a:solidFill>
                  <a:srgbClr val="0070C0"/>
                </a:solidFill>
                <a:latin typeface="Montserrat"/>
                <a:ea typeface="Montserrat"/>
                <a:cs typeface="Montserrat"/>
                <a:sym typeface="Montserrat"/>
              </a:rPr>
              <a:t>de Banco de Dados</a:t>
            </a:r>
            <a:endParaRPr sz="2100" b="1">
              <a:solidFill>
                <a:srgbClr val="0070C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0">
                <a:solidFill>
                  <a:srgbClr val="0070C0"/>
                </a:solidFill>
                <a:latin typeface="Montserrat"/>
                <a:ea typeface="Montserrat"/>
                <a:cs typeface="Montserrat"/>
                <a:sym typeface="Montserrat"/>
              </a:rPr>
              <a:t>(SGBD)</a:t>
            </a:r>
            <a:endParaRPr sz="2100">
              <a:solidFill>
                <a:srgbClr val="0070C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9"/>
          <p:cNvSpPr txBox="1"/>
          <p:nvPr/>
        </p:nvSpPr>
        <p:spPr>
          <a:xfrm>
            <a:off x="762627" y="710575"/>
            <a:ext cx="10817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Alguns SGBD Relacionais (sabores de engine)</a:t>
            </a:r>
            <a:endParaRPr sz="3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45" name="Google Shape;345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64210" y="1720050"/>
            <a:ext cx="3115310" cy="1475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3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626" y="4368225"/>
            <a:ext cx="2156572" cy="1750748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3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74427" y="1312385"/>
            <a:ext cx="3435982" cy="2291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3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281525" y="3556562"/>
            <a:ext cx="3435975" cy="9736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3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257925" y="4530250"/>
            <a:ext cx="3022600" cy="10706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0" name="Google Shape;350;p3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699810" y="1571625"/>
            <a:ext cx="2332355" cy="21316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3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730275" y="5005150"/>
            <a:ext cx="2408949" cy="1250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40"/>
          <p:cNvSpPr txBox="1"/>
          <p:nvPr/>
        </p:nvSpPr>
        <p:spPr>
          <a:xfrm>
            <a:off x="762627" y="710575"/>
            <a:ext cx="10826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Algumas IDEs </a:t>
            </a:r>
            <a:r>
              <a:rPr lang="pt-BR" sz="2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(Ambiente de Desenvolvimento Integrado)</a:t>
            </a:r>
            <a:endParaRPr sz="24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57" name="Google Shape;357;p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50475" y="1944974"/>
            <a:ext cx="1127738" cy="111987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18389" y="4307825"/>
            <a:ext cx="981681" cy="98168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09475" y="4855588"/>
            <a:ext cx="2719550" cy="1359775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0"/>
          <p:cNvSpPr txBox="1"/>
          <p:nvPr/>
        </p:nvSpPr>
        <p:spPr>
          <a:xfrm>
            <a:off x="986550" y="3064859"/>
            <a:ext cx="2255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/>
              <a:t>Visual Studio Code</a:t>
            </a:r>
            <a:endParaRPr sz="1700"/>
          </a:p>
        </p:txBody>
      </p:sp>
      <p:sp>
        <p:nvSpPr>
          <p:cNvPr id="361" name="Google Shape;361;p40"/>
          <p:cNvSpPr txBox="1"/>
          <p:nvPr/>
        </p:nvSpPr>
        <p:spPr>
          <a:xfrm>
            <a:off x="986550" y="5312281"/>
            <a:ext cx="2445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/>
              <a:t>Sublime Text</a:t>
            </a:r>
            <a:endParaRPr sz="1700"/>
          </a:p>
        </p:txBody>
      </p:sp>
      <p:grpSp>
        <p:nvGrpSpPr>
          <p:cNvPr id="362" name="Google Shape;362;p40"/>
          <p:cNvGrpSpPr/>
          <p:nvPr/>
        </p:nvGrpSpPr>
        <p:grpSpPr>
          <a:xfrm>
            <a:off x="3983200" y="1635300"/>
            <a:ext cx="1707000" cy="1556256"/>
            <a:chOff x="3927150" y="3064850"/>
            <a:chExt cx="1707000" cy="1556256"/>
          </a:xfrm>
        </p:grpSpPr>
        <p:pic>
          <p:nvPicPr>
            <p:cNvPr id="363" name="Google Shape;363;p4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4225670" y="3064850"/>
              <a:ext cx="1109850" cy="1109857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4" name="Google Shape;364;p40"/>
            <p:cNvSpPr txBox="1"/>
            <p:nvPr/>
          </p:nvSpPr>
          <p:spPr>
            <a:xfrm>
              <a:off x="3927150" y="4174706"/>
              <a:ext cx="17070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700"/>
                <a:t>Eclipse</a:t>
              </a:r>
              <a:endParaRPr sz="1700"/>
            </a:p>
          </p:txBody>
        </p:sp>
      </p:grpSp>
      <p:grpSp>
        <p:nvGrpSpPr>
          <p:cNvPr id="365" name="Google Shape;365;p40"/>
          <p:cNvGrpSpPr/>
          <p:nvPr/>
        </p:nvGrpSpPr>
        <p:grpSpPr>
          <a:xfrm>
            <a:off x="5981688" y="2780412"/>
            <a:ext cx="1707000" cy="1577931"/>
            <a:chOff x="6775688" y="1944975"/>
            <a:chExt cx="1707000" cy="1577931"/>
          </a:xfrm>
        </p:grpSpPr>
        <p:pic>
          <p:nvPicPr>
            <p:cNvPr id="366" name="Google Shape;366;p40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7065323" y="1944975"/>
              <a:ext cx="1127726" cy="112772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7" name="Google Shape;367;p40"/>
            <p:cNvSpPr txBox="1"/>
            <p:nvPr/>
          </p:nvSpPr>
          <p:spPr>
            <a:xfrm>
              <a:off x="6775688" y="3076506"/>
              <a:ext cx="17070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700"/>
                <a:t>PyCharm</a:t>
              </a:r>
              <a:endParaRPr sz="1700"/>
            </a:p>
          </p:txBody>
        </p:sp>
      </p:grpSp>
      <p:grpSp>
        <p:nvGrpSpPr>
          <p:cNvPr id="368" name="Google Shape;368;p40"/>
          <p:cNvGrpSpPr/>
          <p:nvPr/>
        </p:nvGrpSpPr>
        <p:grpSpPr>
          <a:xfrm>
            <a:off x="3931963" y="4507175"/>
            <a:ext cx="2445600" cy="1772231"/>
            <a:chOff x="4335013" y="4064100"/>
            <a:chExt cx="2445600" cy="1772231"/>
          </a:xfrm>
        </p:grpSpPr>
        <p:pic>
          <p:nvPicPr>
            <p:cNvPr id="369" name="Google Shape;369;p40"/>
            <p:cNvPicPr preferRelativeResize="0"/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4925775" y="4064100"/>
              <a:ext cx="1264063" cy="126406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70" name="Google Shape;370;p40"/>
            <p:cNvSpPr txBox="1"/>
            <p:nvPr/>
          </p:nvSpPr>
          <p:spPr>
            <a:xfrm>
              <a:off x="4335013" y="5389931"/>
              <a:ext cx="24456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700"/>
                <a:t>MySQL Workbench</a:t>
              </a:r>
              <a:endParaRPr sz="1700"/>
            </a:p>
          </p:txBody>
        </p:sp>
      </p:grpSp>
      <p:pic>
        <p:nvPicPr>
          <p:cNvPr id="371" name="Google Shape;371;p4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83085" y="1381863"/>
            <a:ext cx="2590029" cy="135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4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8336325" y="2994800"/>
            <a:ext cx="3005553" cy="1577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1"/>
          <p:cNvSpPr txBox="1"/>
          <p:nvPr/>
        </p:nvSpPr>
        <p:spPr>
          <a:xfrm>
            <a:off x="762618" y="481975"/>
            <a:ext cx="87843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 Fluxo Geral</a:t>
            </a:r>
            <a:endParaRPr sz="24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78" name="Google Shape;378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76427" y="2055800"/>
            <a:ext cx="2123848" cy="10060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79" name="Google Shape;379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876425" y="3224699"/>
            <a:ext cx="2123850" cy="14161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80" name="Google Shape;380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84604" y="4890956"/>
            <a:ext cx="1507495" cy="137779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1" name="Google Shape;381;p41"/>
          <p:cNvGrpSpPr/>
          <p:nvPr/>
        </p:nvGrpSpPr>
        <p:grpSpPr>
          <a:xfrm>
            <a:off x="4973111" y="1850083"/>
            <a:ext cx="2017177" cy="4418663"/>
            <a:chOff x="4802613" y="1663997"/>
            <a:chExt cx="2127375" cy="4660053"/>
          </a:xfrm>
        </p:grpSpPr>
        <p:grpSp>
          <p:nvGrpSpPr>
            <p:cNvPr id="382" name="Google Shape;382;p41"/>
            <p:cNvGrpSpPr/>
            <p:nvPr/>
          </p:nvGrpSpPr>
          <p:grpSpPr>
            <a:xfrm>
              <a:off x="4883740" y="1663997"/>
              <a:ext cx="1965105" cy="3231162"/>
              <a:chOff x="4621941" y="2328091"/>
              <a:chExt cx="2226496" cy="3660959"/>
            </a:xfrm>
          </p:grpSpPr>
          <p:grpSp>
            <p:nvGrpSpPr>
              <p:cNvPr id="383" name="Google Shape;383;p41"/>
              <p:cNvGrpSpPr/>
              <p:nvPr/>
            </p:nvGrpSpPr>
            <p:grpSpPr>
              <a:xfrm>
                <a:off x="4621941" y="2328091"/>
                <a:ext cx="2226496" cy="2278259"/>
                <a:chOff x="954800" y="1944974"/>
                <a:chExt cx="2719550" cy="2782776"/>
              </a:xfrm>
            </p:grpSpPr>
            <p:pic>
              <p:nvPicPr>
                <p:cNvPr id="384" name="Google Shape;384;p41"/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/>
                <a:stretch/>
              </p:blipFill>
              <p:spPr>
                <a:xfrm>
                  <a:off x="1750707" y="1944974"/>
                  <a:ext cx="1127738" cy="1119873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pic>
              <p:nvPicPr>
                <p:cNvPr id="385" name="Google Shape;385;p41"/>
                <p:cNvPicPr preferRelativeResize="0"/>
                <p:nvPr/>
              </p:nvPicPr>
              <p:blipFill>
                <a:blip r:embed="rId7">
                  <a:alphaModFix/>
                </a:blip>
                <a:stretch>
                  <a:fillRect/>
                </a:stretch>
              </p:blipFill>
              <p:spPr>
                <a:xfrm>
                  <a:off x="954800" y="3367975"/>
                  <a:ext cx="2719550" cy="1359775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pic>
            <p:nvPicPr>
              <p:cNvPr id="386" name="Google Shape;386;p41"/>
              <p:cNvPicPr preferRelativeResize="0"/>
              <p:nvPr/>
            </p:nvPicPr>
            <p:blipFill>
              <a:blip r:embed="rId8">
                <a:alphaModFix/>
              </a:blip>
              <a:stretch>
                <a:fillRect/>
              </a:stretch>
            </p:blipFill>
            <p:spPr>
              <a:xfrm>
                <a:off x="5184738" y="4888150"/>
                <a:ext cx="1100900" cy="11009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387" name="Google Shape;387;p41"/>
            <p:cNvPicPr preferRelativeResize="0"/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4802613" y="5207175"/>
              <a:ext cx="2127375" cy="111687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388" name="Google Shape;388;p41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289188" y="3223675"/>
            <a:ext cx="1671475" cy="16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41"/>
          <p:cNvSpPr txBox="1"/>
          <p:nvPr/>
        </p:nvSpPr>
        <p:spPr>
          <a:xfrm>
            <a:off x="987475" y="4640875"/>
            <a:ext cx="2274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Montserrat"/>
                <a:ea typeface="Montserrat"/>
                <a:cs typeface="Montserrat"/>
                <a:sym typeface="Montserrat"/>
              </a:rPr>
              <a:t>Usuário / Desenvolvedor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390" name="Google Shape;390;p41"/>
          <p:cNvCxnSpPr/>
          <p:nvPr/>
        </p:nvCxnSpPr>
        <p:spPr>
          <a:xfrm>
            <a:off x="3886825" y="1756550"/>
            <a:ext cx="0" cy="4494000"/>
          </a:xfrm>
          <a:prstGeom prst="straightConnector1">
            <a:avLst/>
          </a:prstGeom>
          <a:noFill/>
          <a:ln w="38100" cap="flat" cmpd="sng">
            <a:solidFill>
              <a:srgbClr val="0070C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391" name="Google Shape;391;p41"/>
          <p:cNvCxnSpPr/>
          <p:nvPr/>
        </p:nvCxnSpPr>
        <p:spPr>
          <a:xfrm>
            <a:off x="8075550" y="1812413"/>
            <a:ext cx="0" cy="4494000"/>
          </a:xfrm>
          <a:prstGeom prst="straightConnector1">
            <a:avLst/>
          </a:prstGeom>
          <a:noFill/>
          <a:ln w="38100" cap="flat" cmpd="sng">
            <a:solidFill>
              <a:srgbClr val="0070C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92" name="Google Shape;392;p41"/>
          <p:cNvSpPr/>
          <p:nvPr/>
        </p:nvSpPr>
        <p:spPr>
          <a:xfrm>
            <a:off x="7465325" y="3596963"/>
            <a:ext cx="1308000" cy="9249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9DAF8"/>
          </a:solidFill>
          <a:ln w="28575" cap="flat" cmpd="sng">
            <a:solidFill>
              <a:srgbClr val="1C45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solidFill>
                  <a:srgbClr val="1C4587"/>
                </a:solidFill>
                <a:latin typeface="Montserrat"/>
                <a:ea typeface="Montserrat"/>
                <a:cs typeface="Montserrat"/>
                <a:sym typeface="Montserrat"/>
              </a:rPr>
              <a:t>Conexão</a:t>
            </a:r>
            <a:endParaRPr b="1">
              <a:solidFill>
                <a:srgbClr val="1C4587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3" name="Google Shape;393;p41"/>
          <p:cNvSpPr/>
          <p:nvPr/>
        </p:nvSpPr>
        <p:spPr>
          <a:xfrm>
            <a:off x="3312888" y="3596963"/>
            <a:ext cx="1308000" cy="9249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9DAF8"/>
          </a:solidFill>
          <a:ln w="28575" cap="flat" cmpd="sng">
            <a:solidFill>
              <a:srgbClr val="1C45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solidFill>
                  <a:srgbClr val="1C4587"/>
                </a:solidFill>
                <a:latin typeface="Montserrat"/>
                <a:ea typeface="Montserrat"/>
                <a:cs typeface="Montserrat"/>
                <a:sym typeface="Montserrat"/>
              </a:rPr>
              <a:t>Código</a:t>
            </a:r>
            <a:endParaRPr b="1">
              <a:solidFill>
                <a:srgbClr val="1C4587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4" name="Google Shape;394;p41"/>
          <p:cNvSpPr/>
          <p:nvPr/>
        </p:nvSpPr>
        <p:spPr>
          <a:xfrm>
            <a:off x="7421550" y="4821150"/>
            <a:ext cx="1308000" cy="8130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solidFill>
                  <a:srgbClr val="274E13"/>
                </a:solidFill>
                <a:latin typeface="Montserrat"/>
                <a:ea typeface="Montserrat"/>
                <a:cs typeface="Montserrat"/>
                <a:sym typeface="Montserrat"/>
              </a:rPr>
              <a:t>Dados</a:t>
            </a:r>
            <a:endParaRPr b="1">
              <a:solidFill>
                <a:srgbClr val="274E1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5" name="Google Shape;395;p41"/>
          <p:cNvSpPr/>
          <p:nvPr/>
        </p:nvSpPr>
        <p:spPr>
          <a:xfrm>
            <a:off x="3283088" y="4821150"/>
            <a:ext cx="1308000" cy="8130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solidFill>
                  <a:srgbClr val="274E13"/>
                </a:solidFill>
                <a:latin typeface="Montserrat"/>
                <a:ea typeface="Montserrat"/>
                <a:cs typeface="Montserrat"/>
                <a:sym typeface="Montserrat"/>
              </a:rPr>
              <a:t>Dados</a:t>
            </a:r>
            <a:endParaRPr b="1">
              <a:solidFill>
                <a:srgbClr val="274E1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6" name="Google Shape;396;p41"/>
          <p:cNvSpPr txBox="1"/>
          <p:nvPr/>
        </p:nvSpPr>
        <p:spPr>
          <a:xfrm>
            <a:off x="1071550" y="1146950"/>
            <a:ext cx="22749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latin typeface="Montserrat"/>
                <a:ea typeface="Montserrat"/>
                <a:cs typeface="Montserrat"/>
                <a:sym typeface="Montserrat"/>
              </a:rPr>
              <a:t>Usuário / Desenvolvedor</a:t>
            </a:r>
            <a:endParaRPr sz="17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7" name="Google Shape;397;p41"/>
          <p:cNvSpPr txBox="1"/>
          <p:nvPr/>
        </p:nvSpPr>
        <p:spPr>
          <a:xfrm>
            <a:off x="4092374" y="1202825"/>
            <a:ext cx="38136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latin typeface="Montserrat"/>
                <a:ea typeface="Montserrat"/>
                <a:cs typeface="Montserrat"/>
                <a:sym typeface="Montserrat"/>
              </a:rPr>
              <a:t>IDE</a:t>
            </a:r>
            <a:br>
              <a:rPr lang="pt-BR" sz="170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200">
                <a:latin typeface="Montserrat"/>
                <a:ea typeface="Montserrat"/>
                <a:cs typeface="Montserrat"/>
                <a:sym typeface="Montserrat"/>
              </a:rPr>
              <a:t>Ambiente de Desenvolvimento Integrado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8" name="Google Shape;398;p41"/>
          <p:cNvSpPr txBox="1"/>
          <p:nvPr/>
        </p:nvSpPr>
        <p:spPr>
          <a:xfrm>
            <a:off x="8245125" y="1202825"/>
            <a:ext cx="31764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latin typeface="Montserrat"/>
                <a:ea typeface="Montserrat"/>
                <a:cs typeface="Montserrat"/>
                <a:sym typeface="Montserrat"/>
              </a:rPr>
              <a:t>SGDB</a:t>
            </a:r>
            <a:br>
              <a:rPr lang="pt-BR" sz="170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200">
                <a:latin typeface="Montserrat"/>
                <a:ea typeface="Montserrat"/>
                <a:cs typeface="Montserrat"/>
                <a:sym typeface="Montserrat"/>
              </a:rPr>
              <a:t>Sistema de Gerenciamento de Banco de Dados</a:t>
            </a:r>
            <a:endParaRPr sz="12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99" name="Google Shape;399;p41"/>
          <p:cNvSpPr/>
          <p:nvPr/>
        </p:nvSpPr>
        <p:spPr>
          <a:xfrm>
            <a:off x="1865375" y="1973588"/>
            <a:ext cx="2123820" cy="1416204"/>
          </a:xfrm>
          <a:prstGeom prst="cloud">
            <a:avLst/>
          </a:prstGeom>
          <a:solidFill>
            <a:srgbClr val="EAD1DC"/>
          </a:solidFill>
          <a:ln w="19050" cap="flat" cmpd="sng">
            <a:solidFill>
              <a:srgbClr val="4C113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>
                <a:solidFill>
                  <a:srgbClr val="4C1130"/>
                </a:solidFill>
                <a:latin typeface="Montserrat"/>
                <a:ea typeface="Montserrat"/>
                <a:cs typeface="Montserrat"/>
                <a:sym typeface="Montserrat"/>
              </a:rPr>
              <a:t>É aqui que você escreve o código</a:t>
            </a:r>
            <a:endParaRPr sz="1600">
              <a:solidFill>
                <a:srgbClr val="4C113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0" name="Google Shape;400;p41"/>
          <p:cNvSpPr/>
          <p:nvPr/>
        </p:nvSpPr>
        <p:spPr>
          <a:xfrm rot="1309611">
            <a:off x="3717588" y="803051"/>
            <a:ext cx="1505637" cy="1360906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EAD1DC"/>
          </a:solidFill>
          <a:ln w="19050" cap="flat" cmpd="sng">
            <a:solidFill>
              <a:srgbClr val="4C113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42"/>
          <p:cNvSpPr txBox="1"/>
          <p:nvPr/>
        </p:nvSpPr>
        <p:spPr>
          <a:xfrm>
            <a:off x="762618" y="710575"/>
            <a:ext cx="87843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 Fluxo em nosso curso</a:t>
            </a:r>
            <a:endParaRPr sz="24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06" name="Google Shape;406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89188" y="3223675"/>
            <a:ext cx="1671475" cy="1671475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42"/>
          <p:cNvSpPr txBox="1"/>
          <p:nvPr/>
        </p:nvSpPr>
        <p:spPr>
          <a:xfrm>
            <a:off x="1071550" y="1756550"/>
            <a:ext cx="22749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>
                <a:latin typeface="Montserrat"/>
                <a:ea typeface="Montserrat"/>
                <a:cs typeface="Montserrat"/>
                <a:sym typeface="Montserrat"/>
              </a:rPr>
              <a:t>Usuário / Desenvolvedor</a:t>
            </a:r>
            <a:endParaRPr sz="2000"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408" name="Google Shape;408;p42"/>
          <p:cNvCxnSpPr/>
          <p:nvPr/>
        </p:nvCxnSpPr>
        <p:spPr>
          <a:xfrm>
            <a:off x="3886825" y="1756550"/>
            <a:ext cx="0" cy="4494000"/>
          </a:xfrm>
          <a:prstGeom prst="straightConnector1">
            <a:avLst/>
          </a:prstGeom>
          <a:noFill/>
          <a:ln w="38100" cap="flat" cmpd="sng">
            <a:solidFill>
              <a:srgbClr val="0070C0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09" name="Google Shape;409;p42"/>
          <p:cNvCxnSpPr/>
          <p:nvPr/>
        </p:nvCxnSpPr>
        <p:spPr>
          <a:xfrm>
            <a:off x="8075550" y="1812413"/>
            <a:ext cx="0" cy="4494000"/>
          </a:xfrm>
          <a:prstGeom prst="straightConnector1">
            <a:avLst/>
          </a:prstGeom>
          <a:noFill/>
          <a:ln w="38100" cap="flat" cmpd="sng">
            <a:solidFill>
              <a:srgbClr val="0070C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10" name="Google Shape;410;p42"/>
          <p:cNvSpPr txBox="1"/>
          <p:nvPr/>
        </p:nvSpPr>
        <p:spPr>
          <a:xfrm>
            <a:off x="4092374" y="1812425"/>
            <a:ext cx="3813600" cy="9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>
                <a:latin typeface="Montserrat"/>
                <a:ea typeface="Montserrat"/>
                <a:cs typeface="Montserrat"/>
                <a:sym typeface="Montserrat"/>
              </a:rPr>
              <a:t>IDE</a:t>
            </a:r>
            <a:br>
              <a:rPr lang="pt-BR" sz="200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500">
                <a:latin typeface="Montserrat"/>
                <a:ea typeface="Montserrat"/>
                <a:cs typeface="Montserrat"/>
                <a:sym typeface="Montserrat"/>
              </a:rPr>
              <a:t>Ambiente de Desenvolvimento Integrado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1" name="Google Shape;411;p42"/>
          <p:cNvSpPr txBox="1"/>
          <p:nvPr/>
        </p:nvSpPr>
        <p:spPr>
          <a:xfrm>
            <a:off x="8245125" y="1812425"/>
            <a:ext cx="3176400" cy="9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>
                <a:latin typeface="Montserrat"/>
                <a:ea typeface="Montserrat"/>
                <a:cs typeface="Montserrat"/>
                <a:sym typeface="Montserrat"/>
              </a:rPr>
              <a:t>SGDB</a:t>
            </a:r>
            <a:br>
              <a:rPr lang="pt-BR" sz="2000">
                <a:latin typeface="Montserrat"/>
                <a:ea typeface="Montserrat"/>
                <a:cs typeface="Montserrat"/>
                <a:sym typeface="Montserrat"/>
              </a:rPr>
            </a:br>
            <a:r>
              <a:rPr lang="pt-BR" sz="1500">
                <a:latin typeface="Montserrat"/>
                <a:ea typeface="Montserrat"/>
                <a:cs typeface="Montserrat"/>
                <a:sym typeface="Montserrat"/>
              </a:rPr>
              <a:t>Sistema de Gerenciamento de Banco de Dados</a:t>
            </a:r>
            <a:endParaRPr sz="150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2" name="Google Shape;412;p42"/>
          <p:cNvSpPr/>
          <p:nvPr/>
        </p:nvSpPr>
        <p:spPr>
          <a:xfrm>
            <a:off x="7465325" y="3596963"/>
            <a:ext cx="1308000" cy="9249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9DAF8"/>
          </a:solidFill>
          <a:ln w="28575" cap="flat" cmpd="sng">
            <a:solidFill>
              <a:srgbClr val="1C45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solidFill>
                  <a:srgbClr val="1C4587"/>
                </a:solidFill>
                <a:latin typeface="Montserrat"/>
                <a:ea typeface="Montserrat"/>
                <a:cs typeface="Montserrat"/>
                <a:sym typeface="Montserrat"/>
              </a:rPr>
              <a:t>Conexão</a:t>
            </a:r>
            <a:endParaRPr b="1">
              <a:solidFill>
                <a:srgbClr val="1C4587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3" name="Google Shape;413;p42"/>
          <p:cNvSpPr/>
          <p:nvPr/>
        </p:nvSpPr>
        <p:spPr>
          <a:xfrm>
            <a:off x="3312888" y="3596963"/>
            <a:ext cx="1308000" cy="9249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9DAF8"/>
          </a:solidFill>
          <a:ln w="28575" cap="flat" cmpd="sng">
            <a:solidFill>
              <a:srgbClr val="1C458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solidFill>
                  <a:srgbClr val="1C4587"/>
                </a:solidFill>
                <a:latin typeface="Montserrat"/>
                <a:ea typeface="Montserrat"/>
                <a:cs typeface="Montserrat"/>
                <a:sym typeface="Montserrat"/>
              </a:rPr>
              <a:t>Código</a:t>
            </a:r>
            <a:endParaRPr b="1">
              <a:solidFill>
                <a:srgbClr val="1C4587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4" name="Google Shape;414;p42"/>
          <p:cNvSpPr/>
          <p:nvPr/>
        </p:nvSpPr>
        <p:spPr>
          <a:xfrm>
            <a:off x="7421550" y="4821150"/>
            <a:ext cx="1308000" cy="8130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solidFill>
                  <a:srgbClr val="274E13"/>
                </a:solidFill>
                <a:latin typeface="Montserrat"/>
                <a:ea typeface="Montserrat"/>
                <a:cs typeface="Montserrat"/>
                <a:sym typeface="Montserrat"/>
              </a:rPr>
              <a:t>Dados</a:t>
            </a:r>
            <a:endParaRPr b="1">
              <a:solidFill>
                <a:srgbClr val="274E1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15" name="Google Shape;415;p42"/>
          <p:cNvSpPr/>
          <p:nvPr/>
        </p:nvSpPr>
        <p:spPr>
          <a:xfrm>
            <a:off x="3283088" y="4821150"/>
            <a:ext cx="1308000" cy="8130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solidFill>
                  <a:srgbClr val="274E13"/>
                </a:solidFill>
                <a:latin typeface="Montserrat"/>
                <a:ea typeface="Montserrat"/>
                <a:cs typeface="Montserrat"/>
                <a:sym typeface="Montserrat"/>
              </a:rPr>
              <a:t>Dados</a:t>
            </a:r>
            <a:endParaRPr b="1">
              <a:solidFill>
                <a:srgbClr val="274E1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16" name="Google Shape;416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131769" y="3619890"/>
            <a:ext cx="1786337" cy="1773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7" name="Google Shape;417;p4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68400" y="3828025"/>
            <a:ext cx="2713774" cy="1285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43"/>
          <p:cNvSpPr/>
          <p:nvPr/>
        </p:nvSpPr>
        <p:spPr>
          <a:xfrm>
            <a:off x="207650" y="-416000"/>
            <a:ext cx="10019100" cy="48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3700" b="1">
                <a:solidFill>
                  <a:schemeClr val="dk1"/>
                </a:solidFill>
              </a:rPr>
              <a:t>-&gt; Instância do Banco</a:t>
            </a:r>
            <a:endParaRPr sz="37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endParaRPr sz="37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3700" b="1">
                <a:solidFill>
                  <a:schemeClr val="dk1"/>
                </a:solidFill>
              </a:rPr>
              <a:t>-&gt; Database</a:t>
            </a:r>
            <a:endParaRPr sz="37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endParaRPr sz="37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3700" b="1">
                <a:solidFill>
                  <a:schemeClr val="dk1"/>
                </a:solidFill>
              </a:rPr>
              <a:t>-&gt; Tabela</a:t>
            </a:r>
            <a:endParaRPr sz="37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endParaRPr sz="3700" b="1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3700" b="1">
                <a:solidFill>
                  <a:schemeClr val="dk1"/>
                </a:solidFill>
              </a:rPr>
              <a:t>-&gt; Registros</a:t>
            </a:r>
            <a:endParaRPr sz="3700" b="1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7" name="Google Shape;427;p44"/>
          <p:cNvGrpSpPr/>
          <p:nvPr/>
        </p:nvGrpSpPr>
        <p:grpSpPr>
          <a:xfrm>
            <a:off x="625000" y="420811"/>
            <a:ext cx="10945800" cy="1825639"/>
            <a:chOff x="625000" y="420811"/>
            <a:chExt cx="10945800" cy="1825639"/>
          </a:xfrm>
        </p:grpSpPr>
        <p:grpSp>
          <p:nvGrpSpPr>
            <p:cNvPr id="428" name="Google Shape;428;p44"/>
            <p:cNvGrpSpPr/>
            <p:nvPr/>
          </p:nvGrpSpPr>
          <p:grpSpPr>
            <a:xfrm>
              <a:off x="625000" y="420811"/>
              <a:ext cx="10945800" cy="1825639"/>
              <a:chOff x="625000" y="420811"/>
              <a:chExt cx="10945800" cy="1825639"/>
            </a:xfrm>
          </p:grpSpPr>
          <p:sp>
            <p:nvSpPr>
              <p:cNvPr id="429" name="Google Shape;429;p44"/>
              <p:cNvSpPr/>
              <p:nvPr/>
            </p:nvSpPr>
            <p:spPr>
              <a:xfrm>
                <a:off x="625000" y="506750"/>
                <a:ext cx="10945800" cy="1739700"/>
              </a:xfrm>
              <a:prstGeom prst="rect">
                <a:avLst/>
              </a:prstGeom>
              <a:solidFill>
                <a:srgbClr val="C9DAF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44"/>
              <p:cNvSpPr txBox="1"/>
              <p:nvPr/>
            </p:nvSpPr>
            <p:spPr>
              <a:xfrm>
                <a:off x="692850" y="1154400"/>
                <a:ext cx="4592700" cy="538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2300" b="1">
                    <a:solidFill>
                      <a:srgbClr val="1C4587"/>
                    </a:solidFill>
                  </a:rPr>
                  <a:t>Instância de Banco de Dados</a:t>
                </a:r>
                <a:endParaRPr sz="2300" b="1">
                  <a:solidFill>
                    <a:srgbClr val="1C4587"/>
                  </a:solidFill>
                </a:endParaRPr>
              </a:p>
            </p:txBody>
          </p:sp>
          <p:pic>
            <p:nvPicPr>
              <p:cNvPr id="431" name="Google Shape;431;p44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6820250" y="650226"/>
                <a:ext cx="1201530" cy="5691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32" name="Google Shape;432;p4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6664000" y="1484350"/>
                <a:ext cx="935397" cy="75937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33" name="Google Shape;433;p44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751650" y="420811"/>
                <a:ext cx="1541698" cy="1028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34" name="Google Shape;434;p44"/>
              <p:cNvPicPr preferRelativeResize="0"/>
              <p:nvPr/>
            </p:nvPicPr>
            <p:blipFill rotWithShape="1">
              <a:blip r:embed="rId6">
                <a:alphaModFix/>
              </a:blip>
              <a:srcRect/>
              <a:stretch/>
            </p:blipFill>
            <p:spPr>
              <a:xfrm>
                <a:off x="7543449" y="1308453"/>
                <a:ext cx="1582026" cy="44832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35" name="Google Shape;435;p44"/>
              <p:cNvPicPr preferRelativeResize="0"/>
              <p:nvPr/>
            </p:nvPicPr>
            <p:blipFill rotWithShape="1">
              <a:blip r:embed="rId7">
                <a:alphaModFix/>
              </a:blip>
              <a:srcRect/>
              <a:stretch/>
            </p:blipFill>
            <p:spPr>
              <a:xfrm>
                <a:off x="10293349" y="1756766"/>
                <a:ext cx="1063715" cy="37677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36" name="Google Shape;436;p44"/>
              <p:cNvPicPr preferRelativeResize="0"/>
              <p:nvPr/>
            </p:nvPicPr>
            <p:blipFill rotWithShape="1">
              <a:blip r:embed="rId8">
                <a:alphaModFix/>
              </a:blip>
              <a:srcRect/>
              <a:stretch/>
            </p:blipFill>
            <p:spPr>
              <a:xfrm>
                <a:off x="10385774" y="575423"/>
                <a:ext cx="990600" cy="9053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37" name="Google Shape;437;p44"/>
              <p:cNvPicPr preferRelativeResize="0"/>
              <p:nvPr/>
            </p:nvPicPr>
            <p:blipFill>
              <a:blip r:embed="rId9">
                <a:alphaModFix/>
              </a:blip>
              <a:stretch>
                <a:fillRect/>
              </a:stretch>
            </p:blipFill>
            <p:spPr>
              <a:xfrm>
                <a:off x="8974326" y="1660572"/>
                <a:ext cx="1096350" cy="56919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38" name="Google Shape;438;p44"/>
            <p:cNvGrpSpPr/>
            <p:nvPr/>
          </p:nvGrpSpPr>
          <p:grpSpPr>
            <a:xfrm>
              <a:off x="5285711" y="575434"/>
              <a:ext cx="1378294" cy="1558111"/>
              <a:chOff x="4360749" y="718976"/>
              <a:chExt cx="1620951" cy="1832425"/>
            </a:xfrm>
          </p:grpSpPr>
          <p:pic>
            <p:nvPicPr>
              <p:cNvPr id="439" name="Google Shape;439;p44"/>
              <p:cNvPicPr preferRelativeResize="0"/>
              <p:nvPr/>
            </p:nvPicPr>
            <p:blipFill rotWithShape="1">
              <a:blip r:embed="rId10">
                <a:alphaModFix/>
              </a:blip>
              <a:srcRect/>
              <a:stretch/>
            </p:blipFill>
            <p:spPr>
              <a:xfrm>
                <a:off x="4360749" y="1638801"/>
                <a:ext cx="810476" cy="8105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40" name="Google Shape;440;p44"/>
              <p:cNvPicPr preferRelativeResize="0"/>
              <p:nvPr/>
            </p:nvPicPr>
            <p:blipFill rotWithShape="1">
              <a:blip r:embed="rId10">
                <a:alphaModFix/>
              </a:blip>
              <a:srcRect/>
              <a:stretch/>
            </p:blipFill>
            <p:spPr>
              <a:xfrm>
                <a:off x="5171224" y="1638801"/>
                <a:ext cx="810476" cy="8105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41" name="Google Shape;441;p44"/>
              <p:cNvPicPr preferRelativeResize="0"/>
              <p:nvPr/>
            </p:nvPicPr>
            <p:blipFill rotWithShape="1">
              <a:blip r:embed="rId10">
                <a:alphaModFix/>
              </a:blip>
              <a:srcRect/>
              <a:stretch/>
            </p:blipFill>
            <p:spPr>
              <a:xfrm>
                <a:off x="4724324" y="1740901"/>
                <a:ext cx="810476" cy="8105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42" name="Google Shape;442;p44"/>
              <p:cNvPicPr preferRelativeResize="0"/>
              <p:nvPr/>
            </p:nvPicPr>
            <p:blipFill rotWithShape="1">
              <a:blip r:embed="rId10">
                <a:alphaModFix/>
              </a:blip>
              <a:srcRect/>
              <a:stretch/>
            </p:blipFill>
            <p:spPr>
              <a:xfrm>
                <a:off x="5171224" y="1115901"/>
                <a:ext cx="810476" cy="8105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43" name="Google Shape;443;p44"/>
              <p:cNvPicPr preferRelativeResize="0"/>
              <p:nvPr/>
            </p:nvPicPr>
            <p:blipFill rotWithShape="1">
              <a:blip r:embed="rId10">
                <a:alphaModFix/>
              </a:blip>
              <a:srcRect/>
              <a:stretch/>
            </p:blipFill>
            <p:spPr>
              <a:xfrm>
                <a:off x="4724324" y="1225326"/>
                <a:ext cx="810476" cy="8105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44" name="Google Shape;444;p44"/>
              <p:cNvPicPr preferRelativeResize="0"/>
              <p:nvPr/>
            </p:nvPicPr>
            <p:blipFill rotWithShape="1">
              <a:blip r:embed="rId10">
                <a:alphaModFix/>
              </a:blip>
              <a:srcRect/>
              <a:stretch/>
            </p:blipFill>
            <p:spPr>
              <a:xfrm>
                <a:off x="4724324" y="718976"/>
                <a:ext cx="810476" cy="8105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445" name="Google Shape;445;p44"/>
          <p:cNvGrpSpPr/>
          <p:nvPr/>
        </p:nvGrpSpPr>
        <p:grpSpPr>
          <a:xfrm>
            <a:off x="623100" y="2133545"/>
            <a:ext cx="10945800" cy="2199105"/>
            <a:chOff x="623100" y="2133545"/>
            <a:chExt cx="10945800" cy="2199105"/>
          </a:xfrm>
        </p:grpSpPr>
        <p:sp>
          <p:nvSpPr>
            <p:cNvPr id="446" name="Google Shape;446;p44"/>
            <p:cNvSpPr/>
            <p:nvPr/>
          </p:nvSpPr>
          <p:spPr>
            <a:xfrm>
              <a:off x="623100" y="2592950"/>
              <a:ext cx="10945800" cy="1739700"/>
            </a:xfrm>
            <a:prstGeom prst="rect">
              <a:avLst/>
            </a:pr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4"/>
            <p:cNvSpPr txBox="1"/>
            <p:nvPr/>
          </p:nvSpPr>
          <p:spPr>
            <a:xfrm>
              <a:off x="625000" y="3045650"/>
              <a:ext cx="4592700" cy="83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300" b="1">
                  <a:solidFill>
                    <a:srgbClr val="1C4587"/>
                  </a:solidFill>
                </a:rPr>
                <a:t>Database ou </a:t>
              </a:r>
              <a:endParaRPr sz="2300" b="1">
                <a:solidFill>
                  <a:srgbClr val="1C4587"/>
                </a:solidFill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300" b="1">
                  <a:solidFill>
                    <a:srgbClr val="1C4587"/>
                  </a:solidFill>
                </a:rPr>
                <a:t>Schema</a:t>
              </a:r>
              <a:endParaRPr sz="2300" b="1">
                <a:solidFill>
                  <a:srgbClr val="1C4587"/>
                </a:solidFill>
              </a:endParaRPr>
            </a:p>
          </p:txBody>
        </p:sp>
        <p:sp>
          <p:nvSpPr>
            <p:cNvPr id="448" name="Google Shape;448;p44"/>
            <p:cNvSpPr txBox="1"/>
            <p:nvPr/>
          </p:nvSpPr>
          <p:spPr>
            <a:xfrm>
              <a:off x="3196275" y="3078800"/>
              <a:ext cx="1252500" cy="70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700" b="1">
                  <a:solidFill>
                    <a:srgbClr val="1C4587"/>
                  </a:solidFill>
                </a:rPr>
                <a:t>Banco Central</a:t>
              </a:r>
              <a:endParaRPr sz="1700" b="1">
                <a:solidFill>
                  <a:srgbClr val="1C4587"/>
                </a:solidFill>
              </a:endParaRPr>
            </a:p>
          </p:txBody>
        </p:sp>
        <p:sp>
          <p:nvSpPr>
            <p:cNvPr id="449" name="Google Shape;449;p44"/>
            <p:cNvSpPr txBox="1"/>
            <p:nvPr/>
          </p:nvSpPr>
          <p:spPr>
            <a:xfrm>
              <a:off x="6192675" y="2970950"/>
              <a:ext cx="1091700" cy="96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700" b="1">
                  <a:solidFill>
                    <a:srgbClr val="1C4587"/>
                  </a:solidFill>
                </a:rPr>
                <a:t>Tribunal Superior Eleitoral</a:t>
              </a:r>
              <a:endParaRPr sz="1700" b="1">
                <a:solidFill>
                  <a:srgbClr val="1C4587"/>
                </a:solidFill>
              </a:endParaRPr>
            </a:p>
          </p:txBody>
        </p:sp>
        <p:sp>
          <p:nvSpPr>
            <p:cNvPr id="450" name="Google Shape;450;p44"/>
            <p:cNvSpPr txBox="1"/>
            <p:nvPr/>
          </p:nvSpPr>
          <p:spPr>
            <a:xfrm>
              <a:off x="9094700" y="3186500"/>
              <a:ext cx="11862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700" b="1">
                  <a:solidFill>
                    <a:srgbClr val="1C4587"/>
                  </a:solidFill>
                </a:rPr>
                <a:t>DataSUS</a:t>
              </a:r>
              <a:endParaRPr sz="1700" b="1">
                <a:solidFill>
                  <a:srgbClr val="1C4587"/>
                </a:solidFill>
              </a:endParaRPr>
            </a:p>
          </p:txBody>
        </p:sp>
        <p:pic>
          <p:nvPicPr>
            <p:cNvPr id="451" name="Google Shape;451;p44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088848" y="3011791"/>
              <a:ext cx="834388" cy="83441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2" name="Google Shape;452;p44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10150684" y="3045591"/>
              <a:ext cx="834388" cy="83441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3" name="Google Shape;453;p44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7234054" y="3011791"/>
              <a:ext cx="834388" cy="83441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454" name="Google Shape;454;p44"/>
            <p:cNvCxnSpPr>
              <a:stCxn id="441" idx="2"/>
              <a:endCxn id="451" idx="0"/>
            </p:cNvCxnSpPr>
            <p:nvPr/>
          </p:nvCxnSpPr>
          <p:spPr>
            <a:xfrm flipH="1">
              <a:off x="4506033" y="2133545"/>
              <a:ext cx="1433400" cy="878100"/>
            </a:xfrm>
            <a:prstGeom prst="straightConnector1">
              <a:avLst/>
            </a:prstGeom>
            <a:noFill/>
            <a:ln w="28575" cap="flat" cmpd="sng">
              <a:solidFill>
                <a:srgbClr val="888888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55" name="Google Shape;455;p44"/>
            <p:cNvCxnSpPr>
              <a:stCxn id="441" idx="2"/>
              <a:endCxn id="453" idx="0"/>
            </p:cNvCxnSpPr>
            <p:nvPr/>
          </p:nvCxnSpPr>
          <p:spPr>
            <a:xfrm>
              <a:off x="5939433" y="2133545"/>
              <a:ext cx="1711800" cy="878100"/>
            </a:xfrm>
            <a:prstGeom prst="straightConnector1">
              <a:avLst/>
            </a:prstGeom>
            <a:noFill/>
            <a:ln w="28575" cap="flat" cmpd="sng">
              <a:solidFill>
                <a:srgbClr val="888888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56" name="Google Shape;456;p44"/>
            <p:cNvCxnSpPr>
              <a:stCxn id="441" idx="2"/>
              <a:endCxn id="452" idx="0"/>
            </p:cNvCxnSpPr>
            <p:nvPr/>
          </p:nvCxnSpPr>
          <p:spPr>
            <a:xfrm>
              <a:off x="5939433" y="2133545"/>
              <a:ext cx="4628400" cy="912000"/>
            </a:xfrm>
            <a:prstGeom prst="straightConnector1">
              <a:avLst/>
            </a:prstGeom>
            <a:noFill/>
            <a:ln w="28575" cap="flat" cmpd="sng">
              <a:solidFill>
                <a:srgbClr val="888888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457" name="Google Shape;457;p44"/>
          <p:cNvGrpSpPr/>
          <p:nvPr/>
        </p:nvGrpSpPr>
        <p:grpSpPr>
          <a:xfrm>
            <a:off x="623100" y="3846201"/>
            <a:ext cx="10979884" cy="2457999"/>
            <a:chOff x="623100" y="3846201"/>
            <a:chExt cx="10979884" cy="2457999"/>
          </a:xfrm>
        </p:grpSpPr>
        <p:grpSp>
          <p:nvGrpSpPr>
            <p:cNvPr id="458" name="Google Shape;458;p44"/>
            <p:cNvGrpSpPr/>
            <p:nvPr/>
          </p:nvGrpSpPr>
          <p:grpSpPr>
            <a:xfrm>
              <a:off x="623100" y="4564500"/>
              <a:ext cx="10947700" cy="1739700"/>
              <a:chOff x="623100" y="4564500"/>
              <a:chExt cx="10947700" cy="1739700"/>
            </a:xfrm>
          </p:grpSpPr>
          <p:sp>
            <p:nvSpPr>
              <p:cNvPr id="459" name="Google Shape;459;p44"/>
              <p:cNvSpPr/>
              <p:nvPr/>
            </p:nvSpPr>
            <p:spPr>
              <a:xfrm>
                <a:off x="625000" y="4564500"/>
                <a:ext cx="10945800" cy="1739700"/>
              </a:xfrm>
              <a:prstGeom prst="rect">
                <a:avLst/>
              </a:prstGeom>
              <a:solidFill>
                <a:srgbClr val="6D9E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44"/>
              <p:cNvSpPr txBox="1"/>
              <p:nvPr/>
            </p:nvSpPr>
            <p:spPr>
              <a:xfrm>
                <a:off x="623100" y="5227900"/>
                <a:ext cx="2070300" cy="538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pt-BR" sz="2300" b="1">
                    <a:solidFill>
                      <a:schemeClr val="lt1"/>
                    </a:solidFill>
                  </a:rPr>
                  <a:t>Tabelas</a:t>
                </a:r>
                <a:endParaRPr sz="2300" b="1">
                  <a:solidFill>
                    <a:schemeClr val="lt1"/>
                  </a:solidFill>
                </a:endParaRPr>
              </a:p>
            </p:txBody>
          </p:sp>
        </p:grpSp>
        <p:grpSp>
          <p:nvGrpSpPr>
            <p:cNvPr id="461" name="Google Shape;461;p44"/>
            <p:cNvGrpSpPr/>
            <p:nvPr/>
          </p:nvGrpSpPr>
          <p:grpSpPr>
            <a:xfrm>
              <a:off x="3490268" y="4663629"/>
              <a:ext cx="1746848" cy="1531852"/>
              <a:chOff x="888775" y="4435175"/>
              <a:chExt cx="2138648" cy="1875431"/>
            </a:xfrm>
          </p:grpSpPr>
          <p:pic>
            <p:nvPicPr>
              <p:cNvPr id="462" name="Google Shape;462;p44"/>
              <p:cNvPicPr preferRelativeResize="0"/>
              <p:nvPr/>
            </p:nvPicPr>
            <p:blipFill rotWithShape="1">
              <a:blip r:embed="rId11">
                <a:alphaModFix/>
              </a:blip>
              <a:srcRect/>
              <a:stretch/>
            </p:blipFill>
            <p:spPr>
              <a:xfrm>
                <a:off x="1104586" y="4435175"/>
                <a:ext cx="1050703" cy="107763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63" name="Google Shape;463;p44"/>
              <p:cNvPicPr preferRelativeResize="0"/>
              <p:nvPr/>
            </p:nvPicPr>
            <p:blipFill rotWithShape="1">
              <a:blip r:embed="rId11">
                <a:alphaModFix/>
              </a:blip>
              <a:srcRect/>
              <a:stretch/>
            </p:blipFill>
            <p:spPr>
              <a:xfrm>
                <a:off x="1976673" y="5121524"/>
                <a:ext cx="1050750" cy="107763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64" name="Google Shape;464;p44"/>
              <p:cNvPicPr preferRelativeResize="0"/>
              <p:nvPr/>
            </p:nvPicPr>
            <p:blipFill rotWithShape="1">
              <a:blip r:embed="rId11">
                <a:alphaModFix/>
              </a:blip>
              <a:srcRect/>
              <a:stretch/>
            </p:blipFill>
            <p:spPr>
              <a:xfrm>
                <a:off x="888775" y="5232966"/>
                <a:ext cx="1050703" cy="107763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65" name="Google Shape;465;p44"/>
            <p:cNvGrpSpPr/>
            <p:nvPr/>
          </p:nvGrpSpPr>
          <p:grpSpPr>
            <a:xfrm>
              <a:off x="6962210" y="4793314"/>
              <a:ext cx="1746924" cy="1343352"/>
              <a:chOff x="4848246" y="4564499"/>
              <a:chExt cx="2184202" cy="1679610"/>
            </a:xfrm>
          </p:grpSpPr>
          <p:pic>
            <p:nvPicPr>
              <p:cNvPr id="466" name="Google Shape;466;p44"/>
              <p:cNvPicPr preferRelativeResize="0"/>
              <p:nvPr/>
            </p:nvPicPr>
            <p:blipFill rotWithShape="1">
              <a:blip r:embed="rId11">
                <a:alphaModFix/>
              </a:blip>
              <a:srcRect/>
              <a:stretch/>
            </p:blipFill>
            <p:spPr>
              <a:xfrm>
                <a:off x="4848246" y="5076609"/>
                <a:ext cx="1220214" cy="11675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67" name="Google Shape;467;p44"/>
              <p:cNvPicPr preferRelativeResize="0"/>
              <p:nvPr/>
            </p:nvPicPr>
            <p:blipFill rotWithShape="1">
              <a:blip r:embed="rId11">
                <a:alphaModFix/>
              </a:blip>
              <a:srcRect/>
              <a:stretch/>
            </p:blipFill>
            <p:spPr>
              <a:xfrm>
                <a:off x="5981698" y="4564499"/>
                <a:ext cx="1050750" cy="107763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68" name="Google Shape;468;p44"/>
            <p:cNvGrpSpPr/>
            <p:nvPr/>
          </p:nvGrpSpPr>
          <p:grpSpPr>
            <a:xfrm>
              <a:off x="9532773" y="4793091"/>
              <a:ext cx="2070210" cy="1468537"/>
              <a:chOff x="8411148" y="4435174"/>
              <a:chExt cx="2484650" cy="1790463"/>
            </a:xfrm>
          </p:grpSpPr>
          <p:pic>
            <p:nvPicPr>
              <p:cNvPr id="469" name="Google Shape;469;p44"/>
              <p:cNvPicPr preferRelativeResize="0"/>
              <p:nvPr/>
            </p:nvPicPr>
            <p:blipFill rotWithShape="1">
              <a:blip r:embed="rId11">
                <a:alphaModFix/>
              </a:blip>
              <a:srcRect/>
              <a:stretch/>
            </p:blipFill>
            <p:spPr>
              <a:xfrm>
                <a:off x="8773948" y="4435174"/>
                <a:ext cx="1050750" cy="107763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70" name="Google Shape;470;p44"/>
              <p:cNvPicPr preferRelativeResize="0"/>
              <p:nvPr/>
            </p:nvPicPr>
            <p:blipFill rotWithShape="1">
              <a:blip r:embed="rId11">
                <a:alphaModFix/>
              </a:blip>
              <a:srcRect/>
              <a:stretch/>
            </p:blipFill>
            <p:spPr>
              <a:xfrm>
                <a:off x="8411148" y="5147999"/>
                <a:ext cx="1050750" cy="107763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71" name="Google Shape;471;p44"/>
              <p:cNvPicPr preferRelativeResize="0"/>
              <p:nvPr/>
            </p:nvPicPr>
            <p:blipFill rotWithShape="1">
              <a:blip r:embed="rId11">
                <a:alphaModFix/>
              </a:blip>
              <a:srcRect/>
              <a:stretch/>
            </p:blipFill>
            <p:spPr>
              <a:xfrm>
                <a:off x="9335023" y="5002799"/>
                <a:ext cx="1050750" cy="107763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72" name="Google Shape;472;p44"/>
              <p:cNvPicPr preferRelativeResize="0"/>
              <p:nvPr/>
            </p:nvPicPr>
            <p:blipFill rotWithShape="1">
              <a:blip r:embed="rId11">
                <a:alphaModFix/>
              </a:blip>
              <a:srcRect/>
              <a:stretch/>
            </p:blipFill>
            <p:spPr>
              <a:xfrm>
                <a:off x="9845048" y="4488299"/>
                <a:ext cx="1050750" cy="107763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473" name="Google Shape;473;p44"/>
            <p:cNvCxnSpPr>
              <a:stCxn id="451" idx="2"/>
            </p:cNvCxnSpPr>
            <p:nvPr/>
          </p:nvCxnSpPr>
          <p:spPr>
            <a:xfrm>
              <a:off x="4506042" y="3846201"/>
              <a:ext cx="358800" cy="1575900"/>
            </a:xfrm>
            <a:prstGeom prst="straightConnector1">
              <a:avLst/>
            </a:prstGeom>
            <a:noFill/>
            <a:ln w="19050" cap="flat" cmpd="sng">
              <a:solidFill>
                <a:srgbClr val="595959"/>
              </a:solidFill>
              <a:prstDash val="lgDash"/>
              <a:round/>
              <a:headEnd type="none" w="med" len="med"/>
              <a:tailEnd type="triangle" w="med" len="med"/>
            </a:ln>
          </p:spPr>
        </p:cxnSp>
        <p:cxnSp>
          <p:nvCxnSpPr>
            <p:cNvPr id="474" name="Google Shape;474;p44"/>
            <p:cNvCxnSpPr>
              <a:stCxn id="451" idx="2"/>
            </p:cNvCxnSpPr>
            <p:nvPr/>
          </p:nvCxnSpPr>
          <p:spPr>
            <a:xfrm flipH="1">
              <a:off x="3994842" y="3846201"/>
              <a:ext cx="511200" cy="967800"/>
            </a:xfrm>
            <a:prstGeom prst="straightConnector1">
              <a:avLst/>
            </a:prstGeom>
            <a:noFill/>
            <a:ln w="19050" cap="flat" cmpd="sng">
              <a:solidFill>
                <a:srgbClr val="595959"/>
              </a:solidFill>
              <a:prstDash val="lgDash"/>
              <a:round/>
              <a:headEnd type="none" w="med" len="med"/>
              <a:tailEnd type="triangle" w="med" len="med"/>
            </a:ln>
          </p:spPr>
        </p:cxnSp>
        <p:cxnSp>
          <p:nvCxnSpPr>
            <p:cNvPr id="475" name="Google Shape;475;p44"/>
            <p:cNvCxnSpPr>
              <a:stCxn id="451" idx="2"/>
            </p:cNvCxnSpPr>
            <p:nvPr/>
          </p:nvCxnSpPr>
          <p:spPr>
            <a:xfrm flipH="1">
              <a:off x="4028742" y="3846201"/>
              <a:ext cx="477300" cy="1643700"/>
            </a:xfrm>
            <a:prstGeom prst="straightConnector1">
              <a:avLst/>
            </a:prstGeom>
            <a:noFill/>
            <a:ln w="19050" cap="flat" cmpd="sng">
              <a:solidFill>
                <a:srgbClr val="595959"/>
              </a:solidFill>
              <a:prstDash val="lgDash"/>
              <a:round/>
              <a:headEnd type="none" w="med" len="med"/>
              <a:tailEnd type="triangle" w="med" len="med"/>
            </a:ln>
          </p:spPr>
        </p:cxnSp>
        <p:cxnSp>
          <p:nvCxnSpPr>
            <p:cNvPr id="476" name="Google Shape;476;p44"/>
            <p:cNvCxnSpPr>
              <a:stCxn id="452" idx="2"/>
            </p:cNvCxnSpPr>
            <p:nvPr/>
          </p:nvCxnSpPr>
          <p:spPr>
            <a:xfrm>
              <a:off x="10567878" y="3880001"/>
              <a:ext cx="648300" cy="1162200"/>
            </a:xfrm>
            <a:prstGeom prst="straightConnector1">
              <a:avLst/>
            </a:prstGeom>
            <a:noFill/>
            <a:ln w="19050" cap="flat" cmpd="sng">
              <a:solidFill>
                <a:srgbClr val="595959"/>
              </a:solidFill>
              <a:prstDash val="lgDash"/>
              <a:round/>
              <a:headEnd type="none" w="med" len="med"/>
              <a:tailEnd type="triangle" w="med" len="med"/>
            </a:ln>
          </p:spPr>
        </p:cxnSp>
        <p:cxnSp>
          <p:nvCxnSpPr>
            <p:cNvPr id="477" name="Google Shape;477;p44"/>
            <p:cNvCxnSpPr>
              <a:stCxn id="452" idx="2"/>
            </p:cNvCxnSpPr>
            <p:nvPr/>
          </p:nvCxnSpPr>
          <p:spPr>
            <a:xfrm flipH="1">
              <a:off x="10269978" y="3880001"/>
              <a:ext cx="297900" cy="1086000"/>
            </a:xfrm>
            <a:prstGeom prst="straightConnector1">
              <a:avLst/>
            </a:prstGeom>
            <a:noFill/>
            <a:ln w="19050" cap="flat" cmpd="sng">
              <a:solidFill>
                <a:srgbClr val="595959"/>
              </a:solidFill>
              <a:prstDash val="lgDash"/>
              <a:round/>
              <a:headEnd type="none" w="med" len="med"/>
              <a:tailEnd type="triangle" w="med" len="med"/>
            </a:ln>
          </p:spPr>
        </p:cxnSp>
        <p:cxnSp>
          <p:nvCxnSpPr>
            <p:cNvPr id="478" name="Google Shape;478;p44"/>
            <p:cNvCxnSpPr>
              <a:stCxn id="452" idx="2"/>
            </p:cNvCxnSpPr>
            <p:nvPr/>
          </p:nvCxnSpPr>
          <p:spPr>
            <a:xfrm>
              <a:off x="10567878" y="3880001"/>
              <a:ext cx="217500" cy="1567500"/>
            </a:xfrm>
            <a:prstGeom prst="straightConnector1">
              <a:avLst/>
            </a:prstGeom>
            <a:noFill/>
            <a:ln w="19050" cap="flat" cmpd="sng">
              <a:solidFill>
                <a:srgbClr val="595959"/>
              </a:solidFill>
              <a:prstDash val="lgDash"/>
              <a:round/>
              <a:headEnd type="none" w="med" len="med"/>
              <a:tailEnd type="triangle" w="med" len="med"/>
            </a:ln>
          </p:spPr>
        </p:cxnSp>
        <p:cxnSp>
          <p:nvCxnSpPr>
            <p:cNvPr id="479" name="Google Shape;479;p44"/>
            <p:cNvCxnSpPr>
              <a:stCxn id="452" idx="2"/>
            </p:cNvCxnSpPr>
            <p:nvPr/>
          </p:nvCxnSpPr>
          <p:spPr>
            <a:xfrm flipH="1">
              <a:off x="9754878" y="3880001"/>
              <a:ext cx="813000" cy="1635000"/>
            </a:xfrm>
            <a:prstGeom prst="straightConnector1">
              <a:avLst/>
            </a:prstGeom>
            <a:noFill/>
            <a:ln w="19050" cap="flat" cmpd="sng">
              <a:solidFill>
                <a:srgbClr val="595959"/>
              </a:solidFill>
              <a:prstDash val="lgDash"/>
              <a:round/>
              <a:headEnd type="none" w="med" len="med"/>
              <a:tailEnd type="triangle" w="med" len="med"/>
            </a:ln>
          </p:spPr>
        </p:cxnSp>
        <p:cxnSp>
          <p:nvCxnSpPr>
            <p:cNvPr id="480" name="Google Shape;480;p44"/>
            <p:cNvCxnSpPr>
              <a:stCxn id="453" idx="2"/>
            </p:cNvCxnSpPr>
            <p:nvPr/>
          </p:nvCxnSpPr>
          <p:spPr>
            <a:xfrm>
              <a:off x="7651248" y="3846201"/>
              <a:ext cx="710100" cy="1111500"/>
            </a:xfrm>
            <a:prstGeom prst="straightConnector1">
              <a:avLst/>
            </a:prstGeom>
            <a:noFill/>
            <a:ln w="19050" cap="flat" cmpd="sng">
              <a:solidFill>
                <a:srgbClr val="595959"/>
              </a:solidFill>
              <a:prstDash val="lgDash"/>
              <a:round/>
              <a:headEnd type="none" w="med" len="med"/>
              <a:tailEnd type="triangle" w="med" len="med"/>
            </a:ln>
          </p:spPr>
        </p:cxnSp>
        <p:cxnSp>
          <p:nvCxnSpPr>
            <p:cNvPr id="481" name="Google Shape;481;p44"/>
            <p:cNvCxnSpPr>
              <a:stCxn id="453" idx="2"/>
            </p:cNvCxnSpPr>
            <p:nvPr/>
          </p:nvCxnSpPr>
          <p:spPr>
            <a:xfrm flipH="1">
              <a:off x="7432248" y="3846201"/>
              <a:ext cx="219000" cy="1533900"/>
            </a:xfrm>
            <a:prstGeom prst="straightConnector1">
              <a:avLst/>
            </a:prstGeom>
            <a:noFill/>
            <a:ln w="19050" cap="flat" cmpd="sng">
              <a:solidFill>
                <a:srgbClr val="595959"/>
              </a:solidFill>
              <a:prstDash val="lgDash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45"/>
          <p:cNvSpPr/>
          <p:nvPr/>
        </p:nvSpPr>
        <p:spPr>
          <a:xfrm>
            <a:off x="207645" y="852170"/>
            <a:ext cx="10019100" cy="10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42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SQL</a:t>
            </a:r>
            <a:endParaRPr sz="42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46"/>
          <p:cNvSpPr txBox="1"/>
          <p:nvPr/>
        </p:nvSpPr>
        <p:spPr>
          <a:xfrm>
            <a:off x="762625" y="710575"/>
            <a:ext cx="39318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Mas o que é SQL?</a:t>
            </a:r>
            <a:endParaRPr sz="32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2" name="Google Shape;492;p46"/>
          <p:cNvSpPr txBox="1"/>
          <p:nvPr/>
        </p:nvSpPr>
        <p:spPr>
          <a:xfrm>
            <a:off x="949325" y="1721485"/>
            <a:ext cx="9759300" cy="21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i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“Structured Query Language, ou Linguagem de Consulta Estruturada ou SQL, é a linguagem de pesquisa declarativa padrão para banco de dados relacional (base de dados relacional).” - Wikipedia</a:t>
            </a:r>
            <a:endParaRPr sz="2400" i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47"/>
          <p:cNvSpPr txBox="1"/>
          <p:nvPr/>
        </p:nvSpPr>
        <p:spPr>
          <a:xfrm>
            <a:off x="762622" y="329575"/>
            <a:ext cx="48003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Mas o que é SQL?</a:t>
            </a:r>
            <a:endParaRPr sz="32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98" name="Google Shape;498;p47"/>
          <p:cNvSpPr txBox="1"/>
          <p:nvPr/>
        </p:nvSpPr>
        <p:spPr>
          <a:xfrm>
            <a:off x="799800" y="1063343"/>
            <a:ext cx="10592400" cy="544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Alguns de seus principais elementos: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800" b="1">
                <a:latin typeface="Montserrat"/>
                <a:ea typeface="Montserrat"/>
                <a:cs typeface="Montserrat"/>
                <a:sym typeface="Montserrat"/>
              </a:rPr>
              <a:t>Comandos</a:t>
            </a: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 – executados resultam em efeito persistente sobre dados e estruturas, ou controlam transações, conexões, sessões, etc. 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EX: SELECT, INSERT, UPDATE, DELETE, CREATE TABLE, GRANT, etc.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800" b="1">
                <a:latin typeface="Montserrat"/>
                <a:ea typeface="Montserrat"/>
                <a:cs typeface="Montserrat"/>
                <a:sym typeface="Montserrat"/>
              </a:rPr>
              <a:t>Cláusulas</a:t>
            </a: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 - componentes dos comandos. Em muitos casos, alguns são opcionais. 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Ex: FROM, WHERE, GROUP BY 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800" b="1">
                <a:latin typeface="Montserrat"/>
                <a:ea typeface="Montserrat"/>
                <a:cs typeface="Montserrat"/>
                <a:sym typeface="Montserrat"/>
              </a:rPr>
              <a:t>Expressões</a:t>
            </a: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 - os quais produzem tanto valores escalares, como tabelas consistindo de colunas e linhas 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Ex: A+B, A*ABS(B-20)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800" b="1">
                <a:latin typeface="Montserrat"/>
                <a:ea typeface="Montserrat"/>
                <a:cs typeface="Montserrat"/>
                <a:sym typeface="Montserrat"/>
              </a:rPr>
              <a:t>Predicados</a:t>
            </a: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 - especificam condições que podem ser avaliadas pela lógica, retornando verdadeiro, falso ou desconhecido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Ex: A&gt;B, C BETWEEN 20 AND 200 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800" b="1">
                <a:latin typeface="Montserrat"/>
                <a:ea typeface="Montserrat"/>
                <a:cs typeface="Montserrat"/>
                <a:sym typeface="Montserrat"/>
              </a:rPr>
              <a:t>Queries</a:t>
            </a: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 - que retornam dados baseados em critérios específicos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Ex: SELECT COLUNA FROM TABELA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8"/>
          <p:cNvSpPr txBox="1"/>
          <p:nvPr/>
        </p:nvSpPr>
        <p:spPr>
          <a:xfrm>
            <a:off x="762635" y="710565"/>
            <a:ext cx="61209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Tipos de dados</a:t>
            </a:r>
            <a:endParaRPr sz="32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504" name="Google Shape;504;p48"/>
          <p:cNvGraphicFramePr/>
          <p:nvPr/>
        </p:nvGraphicFramePr>
        <p:xfrm>
          <a:off x="2510750" y="2075775"/>
          <a:ext cx="7170500" cy="3696320"/>
        </p:xfrm>
        <a:graphic>
          <a:graphicData uri="http://schemas.openxmlformats.org/drawingml/2006/table">
            <a:tbl>
              <a:tblPr>
                <a:noFill/>
                <a:tableStyleId>{B4F253B9-B06C-46B4-BBF9-D6F8C7843E18}</a:tableStyleId>
              </a:tblPr>
              <a:tblGrid>
                <a:gridCol w="3585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5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4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000" b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Linguagem Natural</a:t>
                      </a:r>
                      <a:endParaRPr sz="2000" b="1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000" b="1">
                          <a:solidFill>
                            <a:schemeClr val="lt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Spark / SQL</a:t>
                      </a:r>
                      <a:endParaRPr sz="2000" b="1">
                        <a:solidFill>
                          <a:schemeClr val="lt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1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Número (inteiro)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Int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56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Número (com casa decimal)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Float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1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Texto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String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1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Sim/Não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Boolean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1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Data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Date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Data - Hora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Timestamp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10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Vazio / Nulo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800"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null</a:t>
                      </a:r>
                      <a:endParaRPr sz="1800"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9"/>
          <p:cNvSpPr txBox="1"/>
          <p:nvPr/>
        </p:nvSpPr>
        <p:spPr>
          <a:xfrm>
            <a:off x="762621" y="710575"/>
            <a:ext cx="8466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Outras Estruturas Importantes</a:t>
            </a:r>
            <a:endParaRPr sz="32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10" name="Google Shape;510;p49"/>
          <p:cNvSpPr txBox="1"/>
          <p:nvPr/>
        </p:nvSpPr>
        <p:spPr>
          <a:xfrm>
            <a:off x="762625" y="1670650"/>
            <a:ext cx="11429400" cy="42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800" b="1">
                <a:latin typeface="Montserrat"/>
                <a:ea typeface="Montserrat"/>
                <a:cs typeface="Montserrat"/>
                <a:sym typeface="Montserrat"/>
              </a:rPr>
              <a:t>Chaves primárias (Primary Key)</a:t>
            </a: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 e </a:t>
            </a:r>
            <a:r>
              <a:rPr lang="pt-BR" sz="1800" b="1">
                <a:latin typeface="Montserrat"/>
                <a:ea typeface="Montserrat"/>
                <a:cs typeface="Montserrat"/>
                <a:sym typeface="Montserrat"/>
              </a:rPr>
              <a:t>referenciais (Foreign Key)</a:t>
            </a:r>
            <a:endParaRPr sz="1800" b="1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PK, FK - garantem integridade e relacionamento consistente entre tabelas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Servem como uma documentação também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Exemplos: CPF, CNPJ, ID de cliente – PKs. Colocar um ID de cliente válido num pedido - FK 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800" b="1">
                <a:latin typeface="Montserrat"/>
                <a:ea typeface="Montserrat"/>
                <a:cs typeface="Montserrat"/>
                <a:sym typeface="Montserrat"/>
              </a:rPr>
              <a:t>Constraints</a:t>
            </a: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Assim como PKs e FKs, servem para garantir integridade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Não são mais muito utilizadas pois acabam onerando o SGBD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A mais comum é a NOT NULL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800" b="1">
                <a:latin typeface="Montserrat"/>
                <a:ea typeface="Montserrat"/>
                <a:cs typeface="Montserrat"/>
                <a:sym typeface="Montserrat"/>
              </a:rPr>
              <a:t>Sequências</a:t>
            </a: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Servem para garantir que informações únicas sejam criadas, com continuidade e unicidade 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Normalmente são identificadores internos das aplicações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6" name="Google Shape;516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8450" y="417225"/>
            <a:ext cx="685800" cy="6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517" name="Google Shape;517;p50"/>
          <p:cNvSpPr txBox="1">
            <a:spLocks noGrp="1"/>
          </p:cNvSpPr>
          <p:nvPr>
            <p:ph type="title" idx="4294967295"/>
          </p:nvPr>
        </p:nvSpPr>
        <p:spPr>
          <a:xfrm>
            <a:off x="800500" y="259725"/>
            <a:ext cx="8612400" cy="10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3600">
                <a:latin typeface="Montserrat SemiBold"/>
                <a:ea typeface="Montserrat SemiBold"/>
                <a:cs typeface="Montserrat SemiBold"/>
                <a:sym typeface="Montserrat SemiBold"/>
              </a:rPr>
              <a:t>Setup</a:t>
            </a:r>
            <a:endParaRPr sz="3600"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518" name="Google Shape;518;p50"/>
          <p:cNvSpPr txBox="1"/>
          <p:nvPr/>
        </p:nvSpPr>
        <p:spPr>
          <a:xfrm>
            <a:off x="762625" y="1670650"/>
            <a:ext cx="11429400" cy="30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>
                <a:latin typeface="Montserrat"/>
                <a:ea typeface="Montserrat"/>
                <a:cs typeface="Montserrat"/>
                <a:sym typeface="Montserrat"/>
              </a:rPr>
              <a:t>Download dos dados</a:t>
            </a:r>
            <a:endParaRPr sz="1800" b="1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-"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Kaggle: </a:t>
            </a:r>
            <a:r>
              <a:rPr lang="pt-BR" sz="18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4"/>
              </a:rPr>
              <a:t>kaggle.com/datasets/teocalvo/teomewhy-loyalty-system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lang="pt-BR" sz="1800" b="1">
                <a:latin typeface="Montserrat"/>
                <a:ea typeface="Montserrat"/>
                <a:cs typeface="Montserrat"/>
                <a:sym typeface="Montserrat"/>
              </a:rPr>
              <a:t>Visual Studio Code</a:t>
            </a: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 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-"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Download: </a:t>
            </a:r>
            <a:r>
              <a:rPr lang="pt-BR" sz="18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5"/>
              </a:rPr>
              <a:t>code.visualstudio.com/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-"/>
            </a:pPr>
            <a:r>
              <a:rPr lang="pt-BR" sz="1800">
                <a:latin typeface="Montserrat"/>
                <a:ea typeface="Montserrat"/>
                <a:cs typeface="Montserrat"/>
                <a:sym typeface="Montserrat"/>
              </a:rPr>
              <a:t>Extensão: </a:t>
            </a:r>
            <a:r>
              <a:rPr lang="pt-BR" sz="18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6"/>
              </a:rPr>
              <a:t>marketplace.visualstudio.com/items?itemName=alexcvzz.vscode-sqlite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>
                <a:latin typeface="Montserrat"/>
                <a:ea typeface="Montserrat"/>
                <a:cs typeface="Montserrat"/>
                <a:sym typeface="Montserrat"/>
              </a:rPr>
              <a:t>Repositório</a:t>
            </a:r>
            <a:endParaRPr sz="1800" b="1">
              <a:latin typeface="Montserrat"/>
              <a:ea typeface="Montserrat"/>
              <a:cs typeface="Montserrat"/>
              <a:sym typeface="Montserrat"/>
            </a:endParaRPr>
          </a:p>
          <a:p>
            <a:pPr marL="9144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-"/>
            </a:pPr>
            <a:r>
              <a:rPr lang="pt-BR" sz="1800" u="sng">
                <a:solidFill>
                  <a:schemeClr val="hlink"/>
                </a:solidFill>
                <a:latin typeface="Montserrat"/>
                <a:ea typeface="Montserrat"/>
                <a:cs typeface="Montserrat"/>
                <a:sym typeface="Montserrat"/>
                <a:hlinkClick r:id="rId7"/>
              </a:rPr>
              <a:t>https://github.com/TeoMeWhy/sql-2025</a:t>
            </a:r>
            <a:endParaRPr sz="180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51"/>
          <p:cNvSpPr txBox="1"/>
          <p:nvPr/>
        </p:nvSpPr>
        <p:spPr>
          <a:xfrm>
            <a:off x="228600" y="280500"/>
            <a:ext cx="10145400" cy="75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700" b="1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Database: </a:t>
            </a:r>
            <a:r>
              <a:rPr lang="pt-BR" sz="2700">
                <a:latin typeface="Montserrat"/>
                <a:ea typeface="Montserrat"/>
                <a:cs typeface="Montserrat"/>
                <a:sym typeface="Montserrat"/>
              </a:rPr>
              <a:t>sistema de pontos Téo Me Why</a:t>
            </a:r>
            <a:endParaRPr sz="2700">
              <a:solidFill>
                <a:srgbClr val="00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524" name="Google Shape;524;p51"/>
          <p:cNvGrpSpPr/>
          <p:nvPr/>
        </p:nvGrpSpPr>
        <p:grpSpPr>
          <a:xfrm>
            <a:off x="944804" y="3851839"/>
            <a:ext cx="1639434" cy="1859635"/>
            <a:chOff x="981563" y="1535225"/>
            <a:chExt cx="1217100" cy="1380575"/>
          </a:xfrm>
        </p:grpSpPr>
        <p:grpSp>
          <p:nvGrpSpPr>
            <p:cNvPr id="525" name="Google Shape;525;p51"/>
            <p:cNvGrpSpPr/>
            <p:nvPr/>
          </p:nvGrpSpPr>
          <p:grpSpPr>
            <a:xfrm>
              <a:off x="1264025" y="1535225"/>
              <a:ext cx="652175" cy="869550"/>
              <a:chOff x="1264025" y="1535225"/>
              <a:chExt cx="652175" cy="869550"/>
            </a:xfrm>
          </p:grpSpPr>
          <p:sp>
            <p:nvSpPr>
              <p:cNvPr id="526" name="Google Shape;526;p51"/>
              <p:cNvSpPr/>
              <p:nvPr/>
            </p:nvSpPr>
            <p:spPr>
              <a:xfrm>
                <a:off x="1264025" y="1970000"/>
                <a:ext cx="652175" cy="434775"/>
              </a:xfrm>
              <a:prstGeom prst="flowChartMagneticDisk">
                <a:avLst/>
              </a:prstGeom>
              <a:solidFill>
                <a:srgbClr val="6D9EEB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51"/>
              <p:cNvSpPr/>
              <p:nvPr/>
            </p:nvSpPr>
            <p:spPr>
              <a:xfrm>
                <a:off x="1264025" y="1761538"/>
                <a:ext cx="652175" cy="434775"/>
              </a:xfrm>
              <a:prstGeom prst="flowChartMagneticDisk">
                <a:avLst/>
              </a:prstGeom>
              <a:solidFill>
                <a:srgbClr val="6D9EEB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51"/>
              <p:cNvSpPr/>
              <p:nvPr/>
            </p:nvSpPr>
            <p:spPr>
              <a:xfrm>
                <a:off x="1264025" y="1535225"/>
                <a:ext cx="652175" cy="434775"/>
              </a:xfrm>
              <a:prstGeom prst="flowChartMagneticDisk">
                <a:avLst/>
              </a:prstGeom>
              <a:solidFill>
                <a:srgbClr val="6D9EEB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29" name="Google Shape;529;p51"/>
            <p:cNvSpPr txBox="1"/>
            <p:nvPr/>
          </p:nvSpPr>
          <p:spPr>
            <a:xfrm>
              <a:off x="981563" y="2454100"/>
              <a:ext cx="1217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59595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cliente</a:t>
              </a:r>
              <a:endParaRPr sz="2100" b="1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530" name="Google Shape;530;p51"/>
          <p:cNvGrpSpPr/>
          <p:nvPr/>
        </p:nvGrpSpPr>
        <p:grpSpPr>
          <a:xfrm>
            <a:off x="4421095" y="3851839"/>
            <a:ext cx="2719997" cy="1859635"/>
            <a:chOff x="2669238" y="1535225"/>
            <a:chExt cx="2019300" cy="1380575"/>
          </a:xfrm>
        </p:grpSpPr>
        <p:grpSp>
          <p:nvGrpSpPr>
            <p:cNvPr id="531" name="Google Shape;531;p51"/>
            <p:cNvGrpSpPr/>
            <p:nvPr/>
          </p:nvGrpSpPr>
          <p:grpSpPr>
            <a:xfrm>
              <a:off x="3352800" y="1535225"/>
              <a:ext cx="652175" cy="869550"/>
              <a:chOff x="1264025" y="1535225"/>
              <a:chExt cx="652175" cy="869550"/>
            </a:xfrm>
          </p:grpSpPr>
          <p:sp>
            <p:nvSpPr>
              <p:cNvPr id="532" name="Google Shape;532;p51"/>
              <p:cNvSpPr/>
              <p:nvPr/>
            </p:nvSpPr>
            <p:spPr>
              <a:xfrm>
                <a:off x="1264025" y="1970000"/>
                <a:ext cx="652175" cy="434775"/>
              </a:xfrm>
              <a:prstGeom prst="flowChartMagneticDisk">
                <a:avLst/>
              </a:prstGeom>
              <a:solidFill>
                <a:srgbClr val="F6B26B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51"/>
              <p:cNvSpPr/>
              <p:nvPr/>
            </p:nvSpPr>
            <p:spPr>
              <a:xfrm>
                <a:off x="1264025" y="1761538"/>
                <a:ext cx="652175" cy="434775"/>
              </a:xfrm>
              <a:prstGeom prst="flowChartMagneticDisk">
                <a:avLst/>
              </a:prstGeom>
              <a:solidFill>
                <a:srgbClr val="F6B26B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51"/>
              <p:cNvSpPr/>
              <p:nvPr/>
            </p:nvSpPr>
            <p:spPr>
              <a:xfrm>
                <a:off x="1264025" y="1535225"/>
                <a:ext cx="652175" cy="434775"/>
              </a:xfrm>
              <a:prstGeom prst="flowChartMagneticDisk">
                <a:avLst/>
              </a:prstGeom>
              <a:solidFill>
                <a:srgbClr val="F6B26B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35" name="Google Shape;535;p51"/>
            <p:cNvSpPr txBox="1"/>
            <p:nvPr/>
          </p:nvSpPr>
          <p:spPr>
            <a:xfrm>
              <a:off x="2669238" y="2454100"/>
              <a:ext cx="20193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59595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transacoes</a:t>
              </a:r>
              <a:endParaRPr sz="2100" b="1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grpSp>
        <p:nvGrpSpPr>
          <p:cNvPr id="536" name="Google Shape;536;p51"/>
          <p:cNvGrpSpPr/>
          <p:nvPr/>
        </p:nvGrpSpPr>
        <p:grpSpPr>
          <a:xfrm>
            <a:off x="7879110" y="3918280"/>
            <a:ext cx="3788842" cy="1793194"/>
            <a:chOff x="5040338" y="1584550"/>
            <a:chExt cx="2812800" cy="1331250"/>
          </a:xfrm>
        </p:grpSpPr>
        <p:grpSp>
          <p:nvGrpSpPr>
            <p:cNvPr id="537" name="Google Shape;537;p51"/>
            <p:cNvGrpSpPr/>
            <p:nvPr/>
          </p:nvGrpSpPr>
          <p:grpSpPr>
            <a:xfrm>
              <a:off x="6120650" y="1584550"/>
              <a:ext cx="652175" cy="869550"/>
              <a:chOff x="1264025" y="1535225"/>
              <a:chExt cx="652175" cy="869550"/>
            </a:xfrm>
          </p:grpSpPr>
          <p:sp>
            <p:nvSpPr>
              <p:cNvPr id="538" name="Google Shape;538;p51"/>
              <p:cNvSpPr/>
              <p:nvPr/>
            </p:nvSpPr>
            <p:spPr>
              <a:xfrm>
                <a:off x="1264025" y="1970000"/>
                <a:ext cx="652175" cy="434775"/>
              </a:xfrm>
              <a:prstGeom prst="flowChartMagneticDisk">
                <a:avLst/>
              </a:prstGeom>
              <a:solidFill>
                <a:srgbClr val="FFD966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Google Shape;539;p51"/>
              <p:cNvSpPr/>
              <p:nvPr/>
            </p:nvSpPr>
            <p:spPr>
              <a:xfrm>
                <a:off x="1264025" y="1761538"/>
                <a:ext cx="652175" cy="434775"/>
              </a:xfrm>
              <a:prstGeom prst="flowChartMagneticDisk">
                <a:avLst/>
              </a:prstGeom>
              <a:solidFill>
                <a:srgbClr val="FFD966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Google Shape;540;p51"/>
              <p:cNvSpPr/>
              <p:nvPr/>
            </p:nvSpPr>
            <p:spPr>
              <a:xfrm>
                <a:off x="1264025" y="1535225"/>
                <a:ext cx="652175" cy="434775"/>
              </a:xfrm>
              <a:prstGeom prst="flowChartMagneticDisk">
                <a:avLst/>
              </a:prstGeom>
              <a:solidFill>
                <a:srgbClr val="FFD966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41" name="Google Shape;541;p51"/>
            <p:cNvSpPr txBox="1"/>
            <p:nvPr/>
          </p:nvSpPr>
          <p:spPr>
            <a:xfrm>
              <a:off x="5040338" y="2454100"/>
              <a:ext cx="28128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59595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transacao_produto</a:t>
              </a:r>
              <a:endParaRPr sz="2100" b="1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cxnSp>
        <p:nvCxnSpPr>
          <p:cNvPr id="542" name="Google Shape;542;p51"/>
          <p:cNvCxnSpPr/>
          <p:nvPr/>
        </p:nvCxnSpPr>
        <p:spPr>
          <a:xfrm>
            <a:off x="2203597" y="4452559"/>
            <a:ext cx="31380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543" name="Google Shape;543;p51"/>
          <p:cNvSpPr txBox="1"/>
          <p:nvPr/>
        </p:nvSpPr>
        <p:spPr>
          <a:xfrm>
            <a:off x="2881231" y="3957558"/>
            <a:ext cx="1639200" cy="49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idCliente</a:t>
            </a:r>
            <a:endParaRPr sz="1700">
              <a:solidFill>
                <a:srgbClr val="595959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cxnSp>
        <p:nvCxnSpPr>
          <p:cNvPr id="544" name="Google Shape;544;p51"/>
          <p:cNvCxnSpPr/>
          <p:nvPr/>
        </p:nvCxnSpPr>
        <p:spPr>
          <a:xfrm>
            <a:off x="6230711" y="4452559"/>
            <a:ext cx="3138000" cy="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545" name="Google Shape;545;p51"/>
          <p:cNvSpPr txBox="1"/>
          <p:nvPr/>
        </p:nvSpPr>
        <p:spPr>
          <a:xfrm>
            <a:off x="6908177" y="3957558"/>
            <a:ext cx="1783200" cy="49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idTransacao</a:t>
            </a:r>
            <a:endParaRPr sz="1700">
              <a:solidFill>
                <a:srgbClr val="595959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  <p:grpSp>
        <p:nvGrpSpPr>
          <p:cNvPr id="546" name="Google Shape;546;p51"/>
          <p:cNvGrpSpPr/>
          <p:nvPr/>
        </p:nvGrpSpPr>
        <p:grpSpPr>
          <a:xfrm>
            <a:off x="7879110" y="975814"/>
            <a:ext cx="3788842" cy="1793200"/>
            <a:chOff x="5040338" y="1122845"/>
            <a:chExt cx="2812800" cy="1331255"/>
          </a:xfrm>
        </p:grpSpPr>
        <p:grpSp>
          <p:nvGrpSpPr>
            <p:cNvPr id="547" name="Google Shape;547;p51"/>
            <p:cNvGrpSpPr/>
            <p:nvPr/>
          </p:nvGrpSpPr>
          <p:grpSpPr>
            <a:xfrm>
              <a:off x="6120650" y="1584550"/>
              <a:ext cx="652175" cy="869550"/>
              <a:chOff x="1264025" y="1535225"/>
              <a:chExt cx="652175" cy="869550"/>
            </a:xfrm>
          </p:grpSpPr>
          <p:sp>
            <p:nvSpPr>
              <p:cNvPr id="548" name="Google Shape;548;p51"/>
              <p:cNvSpPr/>
              <p:nvPr/>
            </p:nvSpPr>
            <p:spPr>
              <a:xfrm>
                <a:off x="1264025" y="1970000"/>
                <a:ext cx="652175" cy="434775"/>
              </a:xfrm>
              <a:prstGeom prst="flowChartMagneticDisk">
                <a:avLst/>
              </a:prstGeom>
              <a:solidFill>
                <a:srgbClr val="D5A6BD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Google Shape;549;p51"/>
              <p:cNvSpPr/>
              <p:nvPr/>
            </p:nvSpPr>
            <p:spPr>
              <a:xfrm>
                <a:off x="1264025" y="1761538"/>
                <a:ext cx="652175" cy="434775"/>
              </a:xfrm>
              <a:prstGeom prst="flowChartMagneticDisk">
                <a:avLst/>
              </a:prstGeom>
              <a:solidFill>
                <a:srgbClr val="D5A6BD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51"/>
              <p:cNvSpPr/>
              <p:nvPr/>
            </p:nvSpPr>
            <p:spPr>
              <a:xfrm>
                <a:off x="1264025" y="1535225"/>
                <a:ext cx="652175" cy="434775"/>
              </a:xfrm>
              <a:prstGeom prst="flowChartMagneticDisk">
                <a:avLst/>
              </a:prstGeom>
              <a:solidFill>
                <a:srgbClr val="D5A6BD"/>
              </a:solidFill>
              <a:ln w="19050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51" name="Google Shape;551;p51"/>
            <p:cNvSpPr txBox="1"/>
            <p:nvPr/>
          </p:nvSpPr>
          <p:spPr>
            <a:xfrm>
              <a:off x="5040338" y="1122845"/>
              <a:ext cx="28128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2100" b="1">
                  <a:solidFill>
                    <a:srgbClr val="595959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produto</a:t>
              </a:r>
              <a:endParaRPr sz="2100" b="1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</p:txBody>
        </p:sp>
      </p:grpSp>
      <p:cxnSp>
        <p:nvCxnSpPr>
          <p:cNvPr id="552" name="Google Shape;552;p51"/>
          <p:cNvCxnSpPr>
            <a:stCxn id="548" idx="3"/>
          </p:cNvCxnSpPr>
          <p:nvPr/>
        </p:nvCxnSpPr>
        <p:spPr>
          <a:xfrm>
            <a:off x="9773531" y="2769014"/>
            <a:ext cx="0" cy="1149300"/>
          </a:xfrm>
          <a:prstGeom prst="straightConnector1">
            <a:avLst/>
          </a:prstGeom>
          <a:noFill/>
          <a:ln w="38100" cap="flat" cmpd="sng">
            <a:solidFill>
              <a:srgbClr val="595959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553" name="Google Shape;553;p51"/>
          <p:cNvSpPr txBox="1"/>
          <p:nvPr/>
        </p:nvSpPr>
        <p:spPr>
          <a:xfrm>
            <a:off x="9826727" y="3096158"/>
            <a:ext cx="1783200" cy="49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59595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idProduto</a:t>
            </a:r>
            <a:endParaRPr sz="1700">
              <a:solidFill>
                <a:srgbClr val="595959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52"/>
          <p:cNvSpPr txBox="1"/>
          <p:nvPr/>
        </p:nvSpPr>
        <p:spPr>
          <a:xfrm>
            <a:off x="762621" y="710575"/>
            <a:ext cx="24135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b="1" i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SELECT</a:t>
            </a:r>
            <a:endParaRPr sz="3200" b="1" i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59" name="Google Shape;559;p52"/>
          <p:cNvSpPr txBox="1"/>
          <p:nvPr/>
        </p:nvSpPr>
        <p:spPr>
          <a:xfrm>
            <a:off x="949325" y="1721485"/>
            <a:ext cx="9759300" cy="19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Toda consulta de tabelas precisa ao menos de duas instruções em sua sintaxe. A primeira é a </a:t>
            </a:r>
            <a:r>
              <a:rPr lang="pt-BR" sz="2200" i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SELECT, </a:t>
            </a: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onde é passado uma lista de </a:t>
            </a:r>
            <a:r>
              <a:rPr lang="pt-BR" sz="22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colunas</a:t>
            </a: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que se deseja obter, bem como realizar a criação de novas colunas e cálculos.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0" name="Google Shape;560;p52"/>
          <p:cNvSpPr txBox="1"/>
          <p:nvPr/>
        </p:nvSpPr>
        <p:spPr>
          <a:xfrm>
            <a:off x="1051115" y="4030876"/>
            <a:ext cx="9759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>
                <a:solidFill>
                  <a:srgbClr val="2E75B5"/>
                </a:solidFill>
              </a:rPr>
              <a:t>SELECT</a:t>
            </a:r>
            <a:r>
              <a:rPr lang="pt-BR" sz="2600">
                <a:solidFill>
                  <a:srgbClr val="2E75B5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2600">
                <a:solidFill>
                  <a:srgbClr val="548135"/>
                </a:solidFill>
              </a:rPr>
              <a:t>‘Olá mundo!’</a:t>
            </a:r>
            <a:endParaRPr sz="2600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52"/>
          <p:cNvSpPr txBox="1"/>
          <p:nvPr/>
        </p:nvSpPr>
        <p:spPr>
          <a:xfrm>
            <a:off x="1051115" y="5179876"/>
            <a:ext cx="9759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>
                <a:solidFill>
                  <a:srgbClr val="2E75B5"/>
                </a:solidFill>
              </a:rPr>
              <a:t>SELECT</a:t>
            </a:r>
            <a:r>
              <a:rPr lang="pt-BR" sz="2600">
                <a:solidFill>
                  <a:srgbClr val="2E75B5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2600">
                <a:solidFill>
                  <a:srgbClr val="8E7CC3"/>
                </a:solidFill>
              </a:rPr>
              <a:t>2 * 136</a:t>
            </a:r>
            <a:endParaRPr sz="2600">
              <a:solidFill>
                <a:srgbClr val="8E7CC3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53"/>
          <p:cNvSpPr txBox="1"/>
          <p:nvPr/>
        </p:nvSpPr>
        <p:spPr>
          <a:xfrm>
            <a:off x="762618" y="710575"/>
            <a:ext cx="2151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b="1" i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FROM</a:t>
            </a:r>
            <a:endParaRPr sz="3200" b="1" i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7" name="Google Shape;567;p53"/>
          <p:cNvSpPr txBox="1"/>
          <p:nvPr/>
        </p:nvSpPr>
        <p:spPr>
          <a:xfrm>
            <a:off x="848725" y="1729750"/>
            <a:ext cx="10506300" cy="19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Esta é a segunda instrução necessária para realizar uma consulta simples. Devemos informar a partir de qual tabela desejamos obter os dados.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Assim, para selecionar </a:t>
            </a:r>
            <a:r>
              <a:rPr lang="pt-BR" sz="22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todas </a:t>
            </a: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colunas de uma tabela, temos: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8" name="Google Shape;568;p53"/>
          <p:cNvSpPr txBox="1"/>
          <p:nvPr/>
        </p:nvSpPr>
        <p:spPr>
          <a:xfrm>
            <a:off x="1034215" y="3920100"/>
            <a:ext cx="9759300" cy="10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SELECT</a:t>
            </a:r>
            <a:r>
              <a:rPr lang="pt-BR" sz="26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 b="1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sz="26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FROM</a:t>
            </a:r>
            <a:r>
              <a:rPr lang="pt-BR" sz="26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 b="1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tabela</a:t>
            </a:r>
            <a:endParaRPr sz="2600" b="1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69" name="Google Shape;569;p53"/>
          <p:cNvSpPr txBox="1"/>
          <p:nvPr/>
        </p:nvSpPr>
        <p:spPr>
          <a:xfrm>
            <a:off x="949325" y="5455465"/>
            <a:ext cx="9759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Note que o </a:t>
            </a:r>
            <a:r>
              <a:rPr lang="pt-BR" sz="2600">
                <a:solidFill>
                  <a:srgbClr val="38761D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(asterisco) representa todas as colunas.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54"/>
          <p:cNvSpPr txBox="1"/>
          <p:nvPr/>
        </p:nvSpPr>
        <p:spPr>
          <a:xfrm>
            <a:off x="762621" y="710575"/>
            <a:ext cx="8492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Nossa primeira </a:t>
            </a:r>
            <a:r>
              <a:rPr lang="pt-BR" sz="3200" i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Query</a:t>
            </a:r>
            <a:r>
              <a:rPr lang="pt-BR" sz="3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(consulta)</a:t>
            </a:r>
            <a:endParaRPr sz="3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5" name="Google Shape;575;p54"/>
          <p:cNvSpPr txBox="1"/>
          <p:nvPr/>
        </p:nvSpPr>
        <p:spPr>
          <a:xfrm>
            <a:off x="958215" y="2644775"/>
            <a:ext cx="9759300" cy="109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SELECT</a:t>
            </a:r>
            <a:r>
              <a:rPr lang="pt-BR" sz="26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 b="1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sz="26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FROM</a:t>
            </a:r>
            <a:r>
              <a:rPr lang="pt-BR" sz="26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cliente</a:t>
            </a:r>
            <a:endParaRPr sz="26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76" name="Google Shape;576;p54"/>
          <p:cNvSpPr txBox="1"/>
          <p:nvPr/>
        </p:nvSpPr>
        <p:spPr>
          <a:xfrm>
            <a:off x="958225" y="4797250"/>
            <a:ext cx="97593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Podemos ler esse código em linguagem natural da seguinte forma: “</a:t>
            </a:r>
            <a:r>
              <a:rPr lang="pt-BR" sz="22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selecione</a:t>
            </a: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 b="1">
                <a:solidFill>
                  <a:srgbClr val="38761D"/>
                </a:solidFill>
                <a:latin typeface="Montserrat"/>
                <a:ea typeface="Montserrat"/>
                <a:cs typeface="Montserrat"/>
                <a:sym typeface="Montserrat"/>
              </a:rPr>
              <a:t>todas</a:t>
            </a:r>
            <a:r>
              <a:rPr lang="pt-BR" sz="2200">
                <a:solidFill>
                  <a:srgbClr val="38761D"/>
                </a:solidFill>
                <a:latin typeface="Montserrat"/>
                <a:ea typeface="Montserrat"/>
                <a:cs typeface="Montserrat"/>
                <a:sym typeface="Montserrat"/>
              </a:rPr>
              <a:t> colunas</a:t>
            </a: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da </a:t>
            </a:r>
            <a:r>
              <a:rPr lang="pt-BR" sz="2200" b="1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tabela</a:t>
            </a:r>
            <a:r>
              <a:rPr lang="pt-BR" sz="2200" b="1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cliente</a:t>
            </a: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”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55"/>
          <p:cNvSpPr txBox="1"/>
          <p:nvPr/>
        </p:nvSpPr>
        <p:spPr>
          <a:xfrm>
            <a:off x="642375" y="710575"/>
            <a:ext cx="26535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b="1" i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WHERE</a:t>
            </a:r>
            <a:endParaRPr sz="3200" b="1" i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2" name="Google Shape;582;p55"/>
          <p:cNvSpPr txBox="1"/>
          <p:nvPr/>
        </p:nvSpPr>
        <p:spPr>
          <a:xfrm>
            <a:off x="848110" y="1577340"/>
            <a:ext cx="10753800" cy="144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Agora que temos uma query simples, podemos adicionar algumas instruções adicionais. Talvez seja necessário realizar algum tipo de filtro, para isso utilizamos o WHERE com uma condição lógica.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3" name="Google Shape;583;p55"/>
          <p:cNvSpPr txBox="1"/>
          <p:nvPr/>
        </p:nvSpPr>
        <p:spPr>
          <a:xfrm>
            <a:off x="848110" y="3174365"/>
            <a:ext cx="8988000" cy="169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SELECT</a:t>
            </a:r>
            <a:r>
              <a:rPr lang="pt-BR" sz="26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*</a:t>
            </a:r>
            <a:endParaRPr sz="26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FROM</a:t>
            </a:r>
            <a:r>
              <a:rPr lang="pt-BR" sz="26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cliente</a:t>
            </a:r>
            <a:endParaRPr sz="2600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WHERE</a:t>
            </a:r>
            <a:r>
              <a:rPr lang="pt-BR" sz="26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flEmail</a:t>
            </a:r>
            <a:r>
              <a:rPr lang="pt-BR" sz="26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=</a:t>
            </a:r>
            <a:r>
              <a:rPr lang="pt-BR" sz="26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E69138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2600">
              <a:solidFill>
                <a:srgbClr val="E69138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84" name="Google Shape;584;p55"/>
          <p:cNvSpPr txBox="1"/>
          <p:nvPr/>
        </p:nvSpPr>
        <p:spPr>
          <a:xfrm>
            <a:off x="848123" y="5193450"/>
            <a:ext cx="107538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Podemos ler esse código em linguagem natural da seguinte forma: “</a:t>
            </a:r>
            <a:r>
              <a:rPr lang="pt-BR" sz="22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selecione</a:t>
            </a: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 b="1">
                <a:solidFill>
                  <a:srgbClr val="38761D"/>
                </a:solidFill>
                <a:latin typeface="Montserrat"/>
                <a:ea typeface="Montserrat"/>
                <a:cs typeface="Montserrat"/>
                <a:sym typeface="Montserrat"/>
              </a:rPr>
              <a:t>todas</a:t>
            </a:r>
            <a:r>
              <a:rPr lang="pt-BR" sz="2200">
                <a:solidFill>
                  <a:srgbClr val="38761D"/>
                </a:solidFill>
                <a:latin typeface="Montserrat"/>
                <a:ea typeface="Montserrat"/>
                <a:cs typeface="Montserrat"/>
                <a:sym typeface="Montserrat"/>
              </a:rPr>
              <a:t> colunas</a:t>
            </a: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da </a:t>
            </a:r>
            <a:r>
              <a:rPr lang="pt-BR" sz="2200" b="1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tabela</a:t>
            </a: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 b="1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cliente</a:t>
            </a:r>
            <a:r>
              <a:rPr lang="pt-BR" sz="22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 b="1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onde</a:t>
            </a:r>
            <a:r>
              <a:rPr lang="pt-BR" sz="22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>
                <a:solidFill>
                  <a:srgbClr val="3C78D8"/>
                </a:solidFill>
                <a:latin typeface="Montserrat"/>
                <a:ea typeface="Montserrat"/>
                <a:cs typeface="Montserrat"/>
                <a:sym typeface="Montserrat"/>
              </a:rPr>
              <a:t>os valores da coluna</a:t>
            </a:r>
            <a:r>
              <a:rPr lang="pt-BR" sz="22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 b="1">
                <a:solidFill>
                  <a:srgbClr val="38761D"/>
                </a:solidFill>
                <a:latin typeface="Montserrat"/>
                <a:ea typeface="Montserrat"/>
                <a:cs typeface="Montserrat"/>
                <a:sym typeface="Montserrat"/>
              </a:rPr>
              <a:t>flEmail</a:t>
            </a:r>
            <a:r>
              <a:rPr lang="pt-BR" sz="22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sejam iguais a</a:t>
            </a:r>
            <a:r>
              <a:rPr lang="pt-BR" sz="22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 b="1">
                <a:solidFill>
                  <a:srgbClr val="E69138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r>
              <a:rPr lang="pt-BR" sz="22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”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56"/>
          <p:cNvSpPr txBox="1"/>
          <p:nvPr/>
        </p:nvSpPr>
        <p:spPr>
          <a:xfrm>
            <a:off x="762615" y="710575"/>
            <a:ext cx="22590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i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CASE</a:t>
            </a:r>
            <a:endParaRPr sz="3200" i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0" name="Google Shape;590;p56"/>
          <p:cNvSpPr txBox="1"/>
          <p:nvPr/>
        </p:nvSpPr>
        <p:spPr>
          <a:xfrm>
            <a:off x="949325" y="1729740"/>
            <a:ext cx="97593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Como podemos identificar se um pedido atrasou ou não? Podemos realizar comparações lógicas ao criar novas variáveis?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1" name="Google Shape;591;p56"/>
          <p:cNvSpPr txBox="1"/>
          <p:nvPr/>
        </p:nvSpPr>
        <p:spPr>
          <a:xfrm>
            <a:off x="714600" y="3387725"/>
            <a:ext cx="10881000" cy="163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SELECT</a:t>
            </a:r>
            <a:r>
              <a:rPr lang="pt-BR" sz="25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5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*,</a:t>
            </a:r>
            <a:endParaRPr sz="2500">
              <a:solidFill>
                <a:srgbClr val="54813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     </a:t>
            </a:r>
            <a:r>
              <a:rPr lang="pt-BR" sz="25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CASE WHEN</a:t>
            </a:r>
            <a:r>
              <a:rPr lang="pt-BR" sz="25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 QtdePontos</a:t>
            </a:r>
            <a:r>
              <a:rPr lang="pt-BR" sz="25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5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&gt;</a:t>
            </a:r>
            <a:r>
              <a:rPr lang="pt-BR" sz="2500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500">
                <a:solidFill>
                  <a:schemeClr val="accent4"/>
                </a:solidFill>
                <a:latin typeface="Montserrat"/>
                <a:ea typeface="Montserrat"/>
                <a:cs typeface="Montserrat"/>
                <a:sym typeface="Montserrat"/>
              </a:rPr>
              <a:t>500</a:t>
            </a:r>
            <a:r>
              <a:rPr lang="pt-BR" sz="25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5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THEN </a:t>
            </a:r>
            <a:r>
              <a:rPr lang="pt-BR" sz="2500">
                <a:solidFill>
                  <a:srgbClr val="E69138"/>
                </a:solidFill>
                <a:latin typeface="Montserrat"/>
                <a:ea typeface="Montserrat"/>
                <a:cs typeface="Montserrat"/>
                <a:sym typeface="Montserrat"/>
              </a:rPr>
              <a:t>‘alto’</a:t>
            </a:r>
            <a:r>
              <a:rPr lang="pt-BR" sz="25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5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END </a:t>
            </a:r>
            <a:r>
              <a:rPr lang="pt-BR" sz="2500">
                <a:solidFill>
                  <a:srgbClr val="333333"/>
                </a:solidFill>
                <a:latin typeface="Montserrat"/>
                <a:ea typeface="Montserrat"/>
                <a:cs typeface="Montserrat"/>
                <a:sym typeface="Montserrat"/>
              </a:rPr>
              <a:t>AS </a:t>
            </a:r>
            <a:r>
              <a:rPr lang="pt-BR" sz="25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NivelPontos</a:t>
            </a:r>
            <a:endParaRPr sz="2500">
              <a:solidFill>
                <a:srgbClr val="54813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FROM</a:t>
            </a:r>
            <a:r>
              <a:rPr lang="pt-BR" sz="25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500" b="1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cliente</a:t>
            </a:r>
            <a:endParaRPr sz="25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57"/>
          <p:cNvSpPr txBox="1"/>
          <p:nvPr/>
        </p:nvSpPr>
        <p:spPr>
          <a:xfrm>
            <a:off x="349500" y="2307475"/>
            <a:ext cx="11493000" cy="600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683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Char char="●"/>
            </a:pP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Selecione todos os clientes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com email cadastrado</a:t>
            </a:r>
            <a:endParaRPr sz="2200" i="0" u="none" strike="noStrike" cap="none" dirty="0">
              <a:solidFill>
                <a:schemeClr val="dk1"/>
              </a:solidFill>
              <a:highlight>
                <a:srgbClr val="FFFF00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7" name="Google Shape;597;p57"/>
          <p:cNvSpPr txBox="1"/>
          <p:nvPr/>
        </p:nvSpPr>
        <p:spPr>
          <a:xfrm>
            <a:off x="349503" y="3328617"/>
            <a:ext cx="10920000" cy="600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683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Char char="●"/>
            </a:pP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Selecione tod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s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transações de 50 pontos (exatos)</a:t>
            </a:r>
            <a:endParaRPr sz="2200" i="0" u="none" strike="noStrike" cap="none" dirty="0">
              <a:solidFill>
                <a:schemeClr val="dk1"/>
              </a:solidFill>
              <a:highlight>
                <a:srgbClr val="FFFF00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8" name="Google Shape;598;p57"/>
          <p:cNvSpPr txBox="1"/>
          <p:nvPr/>
        </p:nvSpPr>
        <p:spPr>
          <a:xfrm>
            <a:off x="349503" y="4349758"/>
            <a:ext cx="10920000" cy="600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683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Char char="●"/>
            </a:pP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Selecione todos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clientes com mais de 500 pontos</a:t>
            </a:r>
            <a:endParaRPr sz="2200" i="0" u="none" strike="noStrike" cap="none" dirty="0">
              <a:solidFill>
                <a:schemeClr val="dk1"/>
              </a:solidFill>
              <a:highlight>
                <a:srgbClr val="FFFF00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99" name="Google Shape;599;p57"/>
          <p:cNvSpPr txBox="1"/>
          <p:nvPr/>
        </p:nvSpPr>
        <p:spPr>
          <a:xfrm>
            <a:off x="349503" y="5370900"/>
            <a:ext cx="10920000" cy="600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683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Char char="●"/>
            </a:pP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Selecione produtos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que contêm ‘churn’ no nome</a:t>
            </a:r>
            <a:endParaRPr sz="2200" i="0" u="none" strike="noStrike" cap="none" dirty="0">
              <a:solidFill>
                <a:schemeClr val="dk1"/>
              </a:solidFill>
              <a:highlight>
                <a:srgbClr val="FFFF00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0" name="Google Shape;600;p57"/>
          <p:cNvSpPr/>
          <p:nvPr/>
        </p:nvSpPr>
        <p:spPr>
          <a:xfrm>
            <a:off x="699115" y="417925"/>
            <a:ext cx="10019100" cy="10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4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Bora praticar?</a:t>
            </a:r>
            <a:endParaRPr sz="4200" b="1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58"/>
          <p:cNvSpPr/>
          <p:nvPr/>
        </p:nvSpPr>
        <p:spPr>
          <a:xfrm>
            <a:off x="620815" y="501475"/>
            <a:ext cx="10019100" cy="10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4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Tempo de foco</a:t>
            </a:r>
            <a:endParaRPr sz="3500" b="1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07" name="Google Shape;607;p58"/>
          <p:cNvSpPr txBox="1"/>
          <p:nvPr/>
        </p:nvSpPr>
        <p:spPr>
          <a:xfrm>
            <a:off x="629400" y="1681673"/>
            <a:ext cx="10933200" cy="5262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Lista de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transações com apenas 1 ponto;</a:t>
            </a:r>
            <a:endParaRPr sz="2200" i="0" u="none" strike="noStrike" cap="none" dirty="0">
              <a:solidFill>
                <a:schemeClr val="dk1"/>
              </a:solidFill>
              <a:highlight>
                <a:srgbClr val="FFFF00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Lista de pedidos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realizados no fim de semana;</a:t>
            </a:r>
            <a:endParaRPr sz="2200" i="0" u="none" strike="noStrike" cap="none" dirty="0">
              <a:solidFill>
                <a:schemeClr val="dk1"/>
              </a:solidFill>
              <a:highlight>
                <a:srgbClr val="FFFF00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Lista de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clientes com 0 (zero) pontos;</a:t>
            </a:r>
            <a:endParaRPr sz="2200" i="0" u="none" strike="noStrike" cap="none" dirty="0">
              <a:solidFill>
                <a:schemeClr val="dk1"/>
              </a:solidFill>
              <a:highlight>
                <a:srgbClr val="FFFF00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Lista de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clientes</a:t>
            </a: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com 100 a 200 pontos (inclusive ambos);</a:t>
            </a:r>
            <a:endParaRPr sz="2200" i="0" u="none" strike="noStrike" cap="none" dirty="0">
              <a:solidFill>
                <a:schemeClr val="dk1"/>
              </a:solidFill>
              <a:highlight>
                <a:srgbClr val="FFFF00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Lista de produtos com nome que começa com “Venda de”;</a:t>
            </a:r>
            <a:endParaRPr sz="2200" i="0" u="none" strike="noStrike" cap="none" dirty="0">
              <a:solidFill>
                <a:schemeClr val="dk1"/>
              </a:solidFill>
              <a:highlight>
                <a:srgbClr val="FFFF00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Lista de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produtos com nome que termina com “Lover”;</a:t>
            </a:r>
            <a:endParaRPr sz="2200" i="0" u="none" strike="noStrike" cap="none" dirty="0">
              <a:solidFill>
                <a:schemeClr val="dk1"/>
              </a:solidFill>
              <a:highlight>
                <a:srgbClr val="FFFF00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Lista de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produtos</a:t>
            </a: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que são “chapéu”;</a:t>
            </a:r>
            <a:endParaRPr sz="2200" i="0" u="none" strike="noStrike" cap="none" dirty="0">
              <a:solidFill>
                <a:schemeClr val="dk1"/>
              </a:solidFill>
              <a:highlight>
                <a:srgbClr val="FFFF00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 i="0" u="none" strike="noStrike" cap="none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Lista de </a:t>
            </a:r>
            <a:r>
              <a:rPr lang="pt-BR" sz="2200" dirty="0">
                <a:solidFill>
                  <a:schemeClr val="dk1"/>
                </a:solidFill>
                <a:highlight>
                  <a:srgbClr val="FFFF00"/>
                </a:highlight>
                <a:latin typeface="Montserrat"/>
                <a:ea typeface="Montserrat"/>
                <a:cs typeface="Montserrat"/>
                <a:sym typeface="Montserrat"/>
              </a:rPr>
              <a:t>transações com o produto “Resgatar Ponei”;</a:t>
            </a:r>
            <a:endParaRPr sz="2200" dirty="0">
              <a:solidFill>
                <a:schemeClr val="dk1"/>
              </a:solidFill>
              <a:highlight>
                <a:srgbClr val="FFFF00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marR="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Listar todas as transações adicionando uma coluna nova sinalizando “alto”, “médio” e “baixo” para o valor dos pontos [&lt;10 ; &lt;500; &gt;=500]</a:t>
            </a:r>
            <a:endParaRPr sz="2200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59"/>
          <p:cNvSpPr txBox="1"/>
          <p:nvPr/>
        </p:nvSpPr>
        <p:spPr>
          <a:xfrm>
            <a:off x="762619" y="710575"/>
            <a:ext cx="36693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Agregações</a:t>
            </a:r>
            <a:endParaRPr sz="32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3" name="Google Shape;613;p59"/>
          <p:cNvSpPr txBox="1"/>
          <p:nvPr/>
        </p:nvSpPr>
        <p:spPr>
          <a:xfrm>
            <a:off x="949325" y="1729740"/>
            <a:ext cx="9759300" cy="9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Em muitos momentos desejamos alguns dados sumarizados, como por exemplo: contagem, média, variância, mínimo, máximo, etc.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14" name="Google Shape;614;p59"/>
          <p:cNvSpPr txBox="1"/>
          <p:nvPr/>
        </p:nvSpPr>
        <p:spPr>
          <a:xfrm>
            <a:off x="949325" y="3235325"/>
            <a:ext cx="10646400" cy="28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>
                <a:solidFill>
                  <a:srgbClr val="E69138"/>
                </a:solidFill>
                <a:latin typeface="Montserrat"/>
                <a:ea typeface="Montserrat"/>
                <a:cs typeface="Montserrat"/>
                <a:sym typeface="Montserrat"/>
              </a:rPr>
              <a:t>Contagem de linhas:</a:t>
            </a:r>
            <a:r>
              <a:rPr lang="pt-BR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38761D"/>
                </a:solidFill>
                <a:latin typeface="Montserrat"/>
                <a:ea typeface="Montserrat"/>
                <a:cs typeface="Montserrat"/>
                <a:sym typeface="Montserrat"/>
              </a:rPr>
              <a:t>count(*)</a:t>
            </a:r>
            <a:endParaRPr sz="2600">
              <a:solidFill>
                <a:srgbClr val="38761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>
                <a:solidFill>
                  <a:srgbClr val="E69138"/>
                </a:solidFill>
                <a:latin typeface="Montserrat"/>
                <a:ea typeface="Montserrat"/>
                <a:cs typeface="Montserrat"/>
                <a:sym typeface="Montserrat"/>
              </a:rPr>
              <a:t>Contagem de linhas distintas:</a:t>
            </a:r>
            <a:r>
              <a:rPr lang="pt-BR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38761D"/>
                </a:solidFill>
                <a:latin typeface="Montserrat"/>
                <a:ea typeface="Montserrat"/>
                <a:cs typeface="Montserrat"/>
                <a:sym typeface="Montserrat"/>
              </a:rPr>
              <a:t>count(distinct column)</a:t>
            </a:r>
            <a:endParaRPr sz="2600">
              <a:solidFill>
                <a:srgbClr val="38761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>
                <a:solidFill>
                  <a:srgbClr val="E69138"/>
                </a:solidFill>
                <a:latin typeface="Montserrat"/>
                <a:ea typeface="Montserrat"/>
                <a:cs typeface="Montserrat"/>
                <a:sym typeface="Montserrat"/>
              </a:rPr>
              <a:t>Soma:</a:t>
            </a:r>
            <a:r>
              <a:rPr lang="pt-BR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38761D"/>
                </a:solidFill>
                <a:latin typeface="Montserrat"/>
                <a:ea typeface="Montserrat"/>
                <a:cs typeface="Montserrat"/>
                <a:sym typeface="Montserrat"/>
              </a:rPr>
              <a:t>sum(column)</a:t>
            </a:r>
            <a:endParaRPr sz="2600">
              <a:solidFill>
                <a:srgbClr val="38761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>
                <a:solidFill>
                  <a:srgbClr val="E69138"/>
                </a:solidFill>
                <a:latin typeface="Montserrat"/>
                <a:ea typeface="Montserrat"/>
                <a:cs typeface="Montserrat"/>
                <a:sym typeface="Montserrat"/>
              </a:rPr>
              <a:t>Média:</a:t>
            </a:r>
            <a:r>
              <a:rPr lang="pt-BR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38761D"/>
                </a:solidFill>
                <a:latin typeface="Montserrat"/>
                <a:ea typeface="Montserrat"/>
                <a:cs typeface="Montserrat"/>
                <a:sym typeface="Montserrat"/>
              </a:rPr>
              <a:t>avg(column)</a:t>
            </a:r>
            <a:endParaRPr sz="2600">
              <a:solidFill>
                <a:srgbClr val="38761D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>
                <a:solidFill>
                  <a:srgbClr val="E69138"/>
                </a:solidFill>
                <a:latin typeface="Montserrat"/>
                <a:ea typeface="Montserrat"/>
                <a:cs typeface="Montserrat"/>
                <a:sym typeface="Montserrat"/>
              </a:rPr>
              <a:t>Máximo:</a:t>
            </a:r>
            <a:r>
              <a:rPr lang="pt-BR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38761D"/>
                </a:solidFill>
                <a:latin typeface="Montserrat"/>
                <a:ea typeface="Montserrat"/>
                <a:cs typeface="Montserrat"/>
                <a:sym typeface="Montserrat"/>
              </a:rPr>
              <a:t>max(column)</a:t>
            </a:r>
            <a:endParaRPr sz="2600">
              <a:solidFill>
                <a:srgbClr val="38761D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60"/>
          <p:cNvSpPr txBox="1"/>
          <p:nvPr/>
        </p:nvSpPr>
        <p:spPr>
          <a:xfrm>
            <a:off x="762619" y="710575"/>
            <a:ext cx="3327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i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GROUP BY</a:t>
            </a:r>
            <a:endParaRPr sz="3200" i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0" name="Google Shape;620;p60"/>
          <p:cNvSpPr txBox="1"/>
          <p:nvPr/>
        </p:nvSpPr>
        <p:spPr>
          <a:xfrm>
            <a:off x="949325" y="1341755"/>
            <a:ext cx="9759300" cy="195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Será que temos uma forma melhor para sumarizar dados em diferentes níveis? 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Para isso, podemos AGREGAR os dados utilizando a instrução GROUP BY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21" name="Google Shape;621;p60"/>
          <p:cNvSpPr txBox="1"/>
          <p:nvPr/>
        </p:nvSpPr>
        <p:spPr>
          <a:xfrm>
            <a:off x="949325" y="3783965"/>
            <a:ext cx="8156700" cy="22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SELECT</a:t>
            </a:r>
            <a:r>
              <a:rPr lang="pt-BR" sz="26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idCliente,</a:t>
            </a:r>
            <a:endParaRPr sz="2600">
              <a:solidFill>
                <a:srgbClr val="54813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</a:t>
            </a:r>
            <a:r>
              <a:rPr lang="pt-BR" sz="2600" b="1">
                <a:solidFill>
                  <a:srgbClr val="1155CC"/>
                </a:solidFill>
                <a:latin typeface="Montserrat"/>
                <a:ea typeface="Montserrat"/>
                <a:cs typeface="Montserrat"/>
                <a:sym typeface="Montserrat"/>
              </a:rPr>
              <a:t>count</a:t>
            </a:r>
            <a:r>
              <a:rPr lang="pt-BR" sz="2600">
                <a:solidFill>
                  <a:srgbClr val="1155CC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lang="pt-BR" sz="26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 idTransacao </a:t>
            </a:r>
            <a:r>
              <a:rPr lang="pt-BR" sz="2600">
                <a:solidFill>
                  <a:srgbClr val="1155CC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600">
              <a:solidFill>
                <a:srgbClr val="1155C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FROM</a:t>
            </a:r>
            <a:r>
              <a:rPr lang="pt-BR" sz="26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 b="1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transacoes</a:t>
            </a:r>
            <a:endParaRPr sz="2600" b="1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GROUP BY</a:t>
            </a:r>
            <a:r>
              <a:rPr lang="pt-BR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idCliente</a:t>
            </a:r>
            <a:endParaRPr sz="2600">
              <a:solidFill>
                <a:srgbClr val="548135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61"/>
          <p:cNvSpPr txBox="1"/>
          <p:nvPr/>
        </p:nvSpPr>
        <p:spPr>
          <a:xfrm>
            <a:off x="762619" y="710575"/>
            <a:ext cx="3327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BY</a:t>
            </a:r>
            <a:endParaRPr sz="3200"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61"/>
          <p:cNvSpPr txBox="1"/>
          <p:nvPr/>
        </p:nvSpPr>
        <p:spPr>
          <a:xfrm>
            <a:off x="949325" y="1341755"/>
            <a:ext cx="97593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</a:rPr>
              <a:t>Qual a diferença da consulta anterior para essa?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61"/>
          <p:cNvSpPr txBox="1"/>
          <p:nvPr/>
        </p:nvSpPr>
        <p:spPr>
          <a:xfrm>
            <a:off x="949325" y="2711365"/>
            <a:ext cx="8156700" cy="22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SELECT</a:t>
            </a:r>
            <a:r>
              <a:rPr lang="pt-BR" sz="26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idCliente,</a:t>
            </a:r>
            <a:endParaRPr sz="2600">
              <a:solidFill>
                <a:srgbClr val="548135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26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               </a:t>
            </a:r>
            <a:r>
              <a:rPr lang="pt-BR" sz="2600" b="1">
                <a:solidFill>
                  <a:srgbClr val="1155CC"/>
                </a:solidFill>
                <a:latin typeface="Montserrat"/>
                <a:ea typeface="Montserrat"/>
                <a:cs typeface="Montserrat"/>
                <a:sym typeface="Montserrat"/>
              </a:rPr>
              <a:t>count</a:t>
            </a:r>
            <a:r>
              <a:rPr lang="pt-BR" sz="2600">
                <a:solidFill>
                  <a:srgbClr val="1155CC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lang="pt-BR" sz="2600" b="1">
                <a:solidFill>
                  <a:srgbClr val="1155CC"/>
                </a:solidFill>
                <a:latin typeface="Montserrat"/>
                <a:ea typeface="Montserrat"/>
                <a:cs typeface="Montserrat"/>
                <a:sym typeface="Montserrat"/>
              </a:rPr>
              <a:t>distinct</a:t>
            </a:r>
            <a:r>
              <a:rPr lang="pt-BR" sz="26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 idTransacao</a:t>
            </a:r>
            <a:r>
              <a:rPr lang="pt-BR" sz="2600">
                <a:solidFill>
                  <a:srgbClr val="1155CC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2600">
              <a:solidFill>
                <a:srgbClr val="1155CC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FROM</a:t>
            </a:r>
            <a:r>
              <a:rPr lang="pt-BR" sz="2600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 b="1">
                <a:solidFill>
                  <a:srgbClr val="FF0000"/>
                </a:solidFill>
                <a:latin typeface="Montserrat"/>
                <a:ea typeface="Montserrat"/>
                <a:cs typeface="Montserrat"/>
                <a:sym typeface="Montserrat"/>
              </a:rPr>
              <a:t>transacoes</a:t>
            </a:r>
            <a:endParaRPr sz="2600" b="1">
              <a:solidFill>
                <a:srgbClr val="FF0000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pt-BR" sz="2600" b="1">
                <a:solidFill>
                  <a:srgbClr val="2E75B5"/>
                </a:solidFill>
                <a:latin typeface="Montserrat"/>
                <a:ea typeface="Montserrat"/>
                <a:cs typeface="Montserrat"/>
                <a:sym typeface="Montserrat"/>
              </a:rPr>
              <a:t>GROUP BY</a:t>
            </a:r>
            <a:r>
              <a:rPr lang="pt-BR" sz="26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pt-BR" sz="2600">
                <a:solidFill>
                  <a:srgbClr val="548135"/>
                </a:solidFill>
                <a:latin typeface="Montserrat"/>
                <a:ea typeface="Montserrat"/>
                <a:cs typeface="Montserrat"/>
                <a:sym typeface="Montserrat"/>
              </a:rPr>
              <a:t>idCliente</a:t>
            </a:r>
            <a:endParaRPr sz="2600">
              <a:solidFill>
                <a:srgbClr val="2E75B5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2"/>
          <p:cNvSpPr/>
          <p:nvPr/>
        </p:nvSpPr>
        <p:spPr>
          <a:xfrm>
            <a:off x="1558290" y="3175"/>
            <a:ext cx="10019100" cy="10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4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Bora praticar?</a:t>
            </a:r>
            <a:endParaRPr sz="42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62"/>
          <p:cNvSpPr txBox="1"/>
          <p:nvPr/>
        </p:nvSpPr>
        <p:spPr>
          <a:xfrm>
            <a:off x="4770685" y="1406940"/>
            <a:ext cx="6592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pt-BR" sz="2000">
                <a:solidFill>
                  <a:schemeClr val="dk1"/>
                </a:solidFill>
              </a:rPr>
              <a:t>Qual o saldo de pontos total do sistema?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62"/>
          <p:cNvSpPr txBox="1"/>
          <p:nvPr/>
        </p:nvSpPr>
        <p:spPr>
          <a:xfrm>
            <a:off x="6348105" y="2653212"/>
            <a:ext cx="49245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pt-BR" sz="2000">
                <a:solidFill>
                  <a:schemeClr val="dk1"/>
                </a:solidFill>
              </a:rPr>
              <a:t>Quantos pontos já foram subtraídos dos clientes?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62"/>
          <p:cNvSpPr txBox="1"/>
          <p:nvPr/>
        </p:nvSpPr>
        <p:spPr>
          <a:xfrm>
            <a:off x="7262425" y="4133355"/>
            <a:ext cx="4003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pt-BR" sz="2000">
                <a:solidFill>
                  <a:schemeClr val="dk1"/>
                </a:solidFill>
              </a:rPr>
              <a:t>Quantos clientes tem Twitch?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62"/>
          <p:cNvSpPr txBox="1"/>
          <p:nvPr/>
        </p:nvSpPr>
        <p:spPr>
          <a:xfrm>
            <a:off x="8047275" y="5202605"/>
            <a:ext cx="40038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</a:pPr>
            <a:r>
              <a:rPr lang="pt-BR" sz="2000">
                <a:solidFill>
                  <a:schemeClr val="dk1"/>
                </a:solidFill>
              </a:rPr>
              <a:t>Qual a média de saldo em carteira?</a:t>
            </a:r>
            <a:endParaRPr sz="20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63"/>
          <p:cNvSpPr txBox="1"/>
          <p:nvPr/>
        </p:nvSpPr>
        <p:spPr>
          <a:xfrm>
            <a:off x="629400" y="2112750"/>
            <a:ext cx="10933200" cy="4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pt-BR" sz="2200">
                <a:latin typeface="Montserrat"/>
                <a:ea typeface="Montserrat"/>
                <a:cs typeface="Montserrat"/>
                <a:sym typeface="Montserrat"/>
              </a:rPr>
              <a:t>Quantos clientes tem email cadastrado?</a:t>
            </a:r>
            <a:endParaRPr sz="2200"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pt-BR" sz="2200">
                <a:latin typeface="Montserrat"/>
                <a:ea typeface="Montserrat"/>
                <a:cs typeface="Montserrat"/>
                <a:sym typeface="Montserrat"/>
              </a:rPr>
              <a:t>Qual cliente juntou mais pontos positivos em 2025-05?</a:t>
            </a:r>
            <a:endParaRPr sz="2200"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pt-BR" sz="2200">
                <a:latin typeface="Montserrat"/>
                <a:ea typeface="Montserrat"/>
                <a:cs typeface="Montserrat"/>
                <a:sym typeface="Montserrat"/>
              </a:rPr>
              <a:t>Qual cliente fez mais transações no ano de 2024?</a:t>
            </a:r>
            <a:endParaRPr sz="2200"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pt-BR" sz="2200">
                <a:latin typeface="Montserrat"/>
                <a:ea typeface="Montserrat"/>
                <a:cs typeface="Montserrat"/>
                <a:sym typeface="Montserrat"/>
              </a:rPr>
              <a:t>Quantos produtos são de rpg?</a:t>
            </a:r>
            <a:endParaRPr sz="2200"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Qual o valor médio de pontos positivos por dia?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Qual dia da semana quem mais pedidos em 2025?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Qual o produto mais transacionado?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Qual o produto com mais pontos transacionados?</a:t>
            </a:r>
            <a:endParaRPr sz="22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44" name="Google Shape;644;p63"/>
          <p:cNvSpPr/>
          <p:nvPr/>
        </p:nvSpPr>
        <p:spPr>
          <a:xfrm>
            <a:off x="620815" y="501475"/>
            <a:ext cx="10019100" cy="10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42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Tempo de foco </a:t>
            </a:r>
            <a:r>
              <a:rPr lang="pt-BR"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(</a:t>
            </a:r>
            <a:r>
              <a:rPr lang="pt-BR"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Group By</a:t>
            </a:r>
            <a:r>
              <a:rPr lang="pt-BR"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)</a:t>
            </a:r>
            <a:endParaRPr sz="3500" b="1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64"/>
          <p:cNvSpPr txBox="1"/>
          <p:nvPr/>
        </p:nvSpPr>
        <p:spPr>
          <a:xfrm>
            <a:off x="762614" y="710575"/>
            <a:ext cx="2022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i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JOIN</a:t>
            </a:r>
            <a:endParaRPr sz="3200" i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0" name="Google Shape;650;p64"/>
          <p:cNvSpPr txBox="1"/>
          <p:nvPr/>
        </p:nvSpPr>
        <p:spPr>
          <a:xfrm>
            <a:off x="949325" y="1341755"/>
            <a:ext cx="9759300" cy="297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Como podemos cruzar dados de diferentes tabelas para obter informações mais interessantes a respeito de nossas vendas?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Por exemplo, quantidade de vendas realizadas por vendedores do Ceará?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Para isso, teremos que aprender os diferentes tipos de JOINs: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LEFT, RIGHT, INNER...</a:t>
            </a:r>
            <a:endParaRPr sz="2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5" name="Google Shape;655;p6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21815" y="66675"/>
            <a:ext cx="8548371" cy="67252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66"/>
          <p:cNvSpPr/>
          <p:nvPr/>
        </p:nvSpPr>
        <p:spPr>
          <a:xfrm>
            <a:off x="1710690" y="155575"/>
            <a:ext cx="10019100" cy="10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42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Bora praticar?</a:t>
            </a:r>
            <a:endParaRPr sz="42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66"/>
          <p:cNvSpPr txBox="1"/>
          <p:nvPr/>
        </p:nvSpPr>
        <p:spPr>
          <a:xfrm>
            <a:off x="5137235" y="1285215"/>
            <a:ext cx="6592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•"/>
            </a:pPr>
            <a:r>
              <a:rPr lang="pt-BR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Qual categoria tem mais produtos vendidos?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2" name="Google Shape;662;p66"/>
          <p:cNvSpPr txBox="1"/>
          <p:nvPr/>
        </p:nvSpPr>
        <p:spPr>
          <a:xfrm>
            <a:off x="6125630" y="2136227"/>
            <a:ext cx="49245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•"/>
            </a:pPr>
            <a:r>
              <a:rPr lang="pt-BR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Em 2024, quantas transações de Lovers tivemos?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3" name="Google Shape;663;p66"/>
          <p:cNvSpPr txBox="1"/>
          <p:nvPr/>
        </p:nvSpPr>
        <p:spPr>
          <a:xfrm>
            <a:off x="7371076" y="3448939"/>
            <a:ext cx="41742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•"/>
            </a:pPr>
            <a:r>
              <a:rPr lang="pt-BR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Qual mês tivemos mais lista de presença assinada?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4" name="Google Shape;664;p66"/>
          <p:cNvSpPr txBox="1"/>
          <p:nvPr/>
        </p:nvSpPr>
        <p:spPr>
          <a:xfrm>
            <a:off x="8619050" y="4761651"/>
            <a:ext cx="3373800" cy="17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ontserrat"/>
              <a:buChar char="•"/>
            </a:pPr>
            <a:r>
              <a:rPr lang="pt-BR" sz="20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Qual o total de pontos trocados no Stream Elements em Junho de 2025?</a:t>
            </a:r>
            <a:endParaRPr sz="20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67"/>
          <p:cNvSpPr/>
          <p:nvPr/>
        </p:nvSpPr>
        <p:spPr>
          <a:xfrm>
            <a:off x="620815" y="120475"/>
            <a:ext cx="10019100" cy="10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42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Tempo de foco</a:t>
            </a:r>
            <a:endParaRPr sz="35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1" name="Google Shape;671;p67"/>
          <p:cNvSpPr txBox="1"/>
          <p:nvPr/>
        </p:nvSpPr>
        <p:spPr>
          <a:xfrm>
            <a:off x="629400" y="1198350"/>
            <a:ext cx="10933200" cy="509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Quais clientes mais perderam pontos por Lover?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Montserrat"/>
              <a:buAutoNum type="arabicPeriod"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Quais clientes assinaram a lista de presença no dia 2025/08/25?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Do início ao fim do nosso curso (2025/08/25 a 2025/08/29), quantos clientes assinaram a lista de presença?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Clientes mais antigos, tem mais frequência de transação?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Quantidade de transações Acumuladas ao longo do tempo?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Quantidade de usuários cadastrados (absoluto e acumulado) ao longo do tempo?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Qual o dia da semana mais ativo de cada usuário?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683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200"/>
              <a:buFont typeface="Montserrat"/>
              <a:buAutoNum type="arabicPeriod"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Saldo de pontos acumulado de cada usuário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p68"/>
          <p:cNvSpPr/>
          <p:nvPr/>
        </p:nvSpPr>
        <p:spPr>
          <a:xfrm>
            <a:off x="620815" y="120475"/>
            <a:ext cx="10019100" cy="10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42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Tempo de foco</a:t>
            </a:r>
            <a:endParaRPr sz="35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8" name="Google Shape;678;p68"/>
          <p:cNvSpPr txBox="1"/>
          <p:nvPr/>
        </p:nvSpPr>
        <p:spPr>
          <a:xfrm>
            <a:off x="629400" y="1198350"/>
            <a:ext cx="10933200" cy="35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9. Dos clientes que começaram SQL no primeiro dia, quantos chegaram ao 5o dia?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10. Como foi a curva de Churn do Curso de SQL?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11. Quem iniciou o curso no primeiro dia, em média assistiu quantas aulas?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12. Dentre os clientes de janeiro/2025, quantos assistiram o curso de SQL?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13. Qual o dia com maior engajamento de cada aluno que iniciou o curso no dia 01?</a:t>
            </a:r>
            <a:endParaRPr sz="22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69"/>
          <p:cNvSpPr/>
          <p:nvPr/>
        </p:nvSpPr>
        <p:spPr>
          <a:xfrm>
            <a:off x="620815" y="120475"/>
            <a:ext cx="10019100" cy="10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None/>
            </a:pPr>
            <a:r>
              <a:rPr lang="pt-BR" sz="42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Projeto Final</a:t>
            </a:r>
            <a:endParaRPr sz="3500" b="1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5" name="Google Shape;685;p69"/>
          <p:cNvSpPr txBox="1"/>
          <p:nvPr/>
        </p:nvSpPr>
        <p:spPr>
          <a:xfrm>
            <a:off x="629400" y="1198350"/>
            <a:ext cx="10933200" cy="52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latin typeface="Montserrat"/>
                <a:ea typeface="Montserrat"/>
                <a:cs typeface="Montserrat"/>
                <a:sym typeface="Montserrat"/>
              </a:rPr>
              <a:t>Vamos construir uma tabela com o perfil comportamental dos nossos usuários.</a:t>
            </a:r>
            <a:endParaRPr sz="2200"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AutoNum type="arabicPeriod"/>
            </a:pPr>
            <a:r>
              <a:rPr lang="pt-BR" sz="18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Quantidade de transações históricas (vida, D7, D14, D28, D56);</a:t>
            </a:r>
            <a:endParaRPr sz="18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AutoNum type="arabicPeriod"/>
            </a:pPr>
            <a:r>
              <a:rPr lang="pt-BR" sz="18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Dias desde a última transação</a:t>
            </a:r>
            <a:endParaRPr sz="18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AutoNum type="arabicPeriod"/>
            </a:pPr>
            <a:r>
              <a:rPr lang="pt-BR" sz="18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Idade na base</a:t>
            </a:r>
            <a:endParaRPr sz="1800"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AutoNum type="arabicPeriod"/>
            </a:pPr>
            <a:r>
              <a:rPr lang="pt-BR" sz="1800"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Produto mais usado </a:t>
            </a:r>
            <a:r>
              <a:rPr lang="pt-BR" sz="1800">
                <a:solidFill>
                  <a:schemeClr val="dk1"/>
                </a:solidFill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(vida, D7, D14, D28, D56);</a:t>
            </a:r>
            <a:endParaRPr sz="1800">
              <a:solidFill>
                <a:schemeClr val="dk1"/>
              </a:solidFill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AutoNum type="arabicPeriod"/>
            </a:pPr>
            <a:r>
              <a:rPr lang="pt-BR" sz="1800">
                <a:solidFill>
                  <a:schemeClr val="dk1"/>
                </a:solidFill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Saldo de pontos atual;</a:t>
            </a:r>
            <a:endParaRPr sz="1800">
              <a:solidFill>
                <a:schemeClr val="dk1"/>
              </a:solidFill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AutoNum type="arabicPeriod"/>
            </a:pPr>
            <a:r>
              <a:rPr lang="pt-BR" sz="1800">
                <a:solidFill>
                  <a:schemeClr val="dk1"/>
                </a:solidFill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Pontos acumulados positivos (vida, D7, D14, D28, D56);</a:t>
            </a:r>
            <a:endParaRPr sz="1800">
              <a:solidFill>
                <a:schemeClr val="dk1"/>
              </a:solidFill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AutoNum type="arabicPeriod"/>
            </a:pPr>
            <a:r>
              <a:rPr lang="pt-BR" sz="1800">
                <a:solidFill>
                  <a:schemeClr val="dk1"/>
                </a:solidFill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Pontos acumulados negativos (vida, D7, D14, D28, D56);</a:t>
            </a:r>
            <a:endParaRPr sz="1800">
              <a:solidFill>
                <a:schemeClr val="dk1"/>
              </a:solidFill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AutoNum type="arabicPeriod"/>
            </a:pPr>
            <a:r>
              <a:rPr lang="pt-BR" sz="1800">
                <a:solidFill>
                  <a:schemeClr val="dk1"/>
                </a:solidFill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Dias da semana mais ativos (D28)</a:t>
            </a:r>
            <a:endParaRPr sz="1800">
              <a:solidFill>
                <a:schemeClr val="dk1"/>
              </a:solidFill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AutoNum type="arabicPeriod"/>
            </a:pPr>
            <a:r>
              <a:rPr lang="pt-BR" sz="1800">
                <a:solidFill>
                  <a:schemeClr val="dk1"/>
                </a:solidFill>
                <a:highlight>
                  <a:srgbClr val="D9EAD3"/>
                </a:highlight>
                <a:latin typeface="Montserrat"/>
                <a:ea typeface="Montserrat"/>
                <a:cs typeface="Montserrat"/>
                <a:sym typeface="Montserrat"/>
              </a:rPr>
              <a:t>Período do dia mais ativo (D28)</a:t>
            </a:r>
            <a:endParaRPr sz="1800">
              <a:solidFill>
                <a:schemeClr val="dk1"/>
              </a:solidFill>
              <a:highlight>
                <a:srgbClr val="D9EAD3"/>
              </a:highlight>
              <a:latin typeface="Montserrat"/>
              <a:ea typeface="Montserrat"/>
              <a:cs typeface="Montserrat"/>
              <a:sym typeface="Montserrat"/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"/>
              <a:buAutoNum type="arabicPeriod"/>
            </a:pPr>
            <a:r>
              <a:rPr lang="pt-BR" sz="18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Engajamento em D28 versus Vida</a:t>
            </a:r>
            <a:endParaRPr sz="180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70"/>
          <p:cNvSpPr txBox="1"/>
          <p:nvPr/>
        </p:nvSpPr>
        <p:spPr>
          <a:xfrm>
            <a:off x="844250" y="1445625"/>
            <a:ext cx="9503100" cy="461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chemeClr val="dk1"/>
                </a:solidFill>
              </a:rPr>
              <a:t>Curso de Modelagem de Dados: </a:t>
            </a:r>
            <a:endParaRPr sz="2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-"/>
            </a:pPr>
            <a:r>
              <a:rPr lang="pt-BR" sz="2400" u="sng">
                <a:solidFill>
                  <a:schemeClr val="hlink"/>
                </a:solidFill>
                <a:hlinkClick r:id="rId3"/>
              </a:rPr>
              <a:t>https://www.youtube.com/watch?v=qjFWYi2csXA&amp;list=PLshkB4NQEfC6KQH18stSMJ6-AJ2oYyrwq&amp;ab_channel=ApoenaStack-IuryRosal</a:t>
            </a:r>
            <a:endParaRPr sz="2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>
                <a:solidFill>
                  <a:schemeClr val="dk1"/>
                </a:solidFill>
              </a:rPr>
              <a:t>Exercícios:</a:t>
            </a:r>
            <a:endParaRPr sz="2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-"/>
            </a:pPr>
            <a:r>
              <a:rPr lang="pt-BR" sz="2400" u="sng">
                <a:solidFill>
                  <a:schemeClr val="hlink"/>
                </a:solidFill>
                <a:hlinkClick r:id="rId4"/>
              </a:rPr>
              <a:t>https://judge.beecrowd.com/pt/problems/index/9</a:t>
            </a:r>
            <a:endParaRPr sz="24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-"/>
            </a:pPr>
            <a:r>
              <a:rPr lang="pt-BR" sz="2400" u="sng">
                <a:solidFill>
                  <a:schemeClr val="hlink"/>
                </a:solidFill>
                <a:hlinkClick r:id="rId5"/>
              </a:rPr>
              <a:t>https://www.hackerrank.com/domains/sql</a:t>
            </a:r>
            <a:endParaRPr sz="2400">
              <a:solidFill>
                <a:schemeClr val="dk1"/>
              </a:solidFill>
            </a:endParaRPr>
          </a:p>
        </p:txBody>
      </p:sp>
      <p:sp>
        <p:nvSpPr>
          <p:cNvPr id="692" name="Google Shape;692;p70"/>
          <p:cNvSpPr txBox="1">
            <a:spLocks noGrp="1"/>
          </p:cNvSpPr>
          <p:nvPr>
            <p:ph type="title" idx="4294967295"/>
          </p:nvPr>
        </p:nvSpPr>
        <p:spPr>
          <a:xfrm>
            <a:off x="800500" y="259715"/>
            <a:ext cx="6191700" cy="10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pt-BR" sz="3600">
                <a:latin typeface="Montserrat"/>
                <a:ea typeface="Montserrat"/>
                <a:cs typeface="Montserrat"/>
                <a:sym typeface="Montserrat"/>
              </a:rPr>
              <a:t>Próximos passos</a:t>
            </a:r>
            <a:endParaRPr sz="360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693" name="Google Shape;693;p7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8450" y="417225"/>
            <a:ext cx="685800" cy="68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71"/>
          <p:cNvSpPr txBox="1">
            <a:spLocks noGrp="1"/>
          </p:cNvSpPr>
          <p:nvPr>
            <p:ph type="ctrTitle" idx="4294967295"/>
          </p:nvPr>
        </p:nvSpPr>
        <p:spPr>
          <a:xfrm>
            <a:off x="1202048" y="507375"/>
            <a:ext cx="6829800" cy="11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Arial"/>
              <a:buNone/>
            </a:pPr>
            <a:r>
              <a:rPr lang="pt-BR" sz="6500">
                <a:latin typeface="Arial"/>
                <a:ea typeface="Arial"/>
                <a:cs typeface="Arial"/>
                <a:sym typeface="Arial"/>
              </a:rPr>
              <a:t>Um ótimo curso!</a:t>
            </a:r>
            <a:endParaRPr sz="6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71"/>
          <p:cNvSpPr txBox="1"/>
          <p:nvPr/>
        </p:nvSpPr>
        <p:spPr>
          <a:xfrm>
            <a:off x="3422015" y="2211070"/>
            <a:ext cx="2352000" cy="61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Téo</a:t>
            </a:r>
            <a:r>
              <a:rPr lang="pt-BR" sz="3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340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Calvo</a:t>
            </a:r>
            <a:endParaRPr sz="34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71"/>
          <p:cNvSpPr txBox="1"/>
          <p:nvPr/>
        </p:nvSpPr>
        <p:spPr>
          <a:xfrm>
            <a:off x="5302250" y="3796665"/>
            <a:ext cx="1518900" cy="3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/in/teocalvo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1" name="Google Shape;701;p71" descr="LI-In-Bu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31410" y="3792220"/>
            <a:ext cx="438150" cy="37274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02" name="Google Shape;702;p71"/>
          <p:cNvGrpSpPr/>
          <p:nvPr/>
        </p:nvGrpSpPr>
        <p:grpSpPr>
          <a:xfrm>
            <a:off x="5749290" y="4578975"/>
            <a:ext cx="2084057" cy="431810"/>
            <a:chOff x="8394" y="6665"/>
            <a:chExt cx="3282" cy="680"/>
          </a:xfrm>
        </p:grpSpPr>
        <p:pic>
          <p:nvPicPr>
            <p:cNvPr id="703" name="Google Shape;703;p71" descr="TwitchGlitchPurple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8394" y="6665"/>
              <a:ext cx="582" cy="6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04" name="Google Shape;704;p71"/>
            <p:cNvSpPr txBox="1"/>
            <p:nvPr/>
          </p:nvSpPr>
          <p:spPr>
            <a:xfrm>
              <a:off x="8976" y="6665"/>
              <a:ext cx="2700" cy="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/teomewhy</a:t>
              </a:r>
              <a:endPara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05" name="Google Shape;705;p71"/>
          <p:cNvSpPr txBox="1"/>
          <p:nvPr/>
        </p:nvSpPr>
        <p:spPr>
          <a:xfrm>
            <a:off x="4143375" y="3013710"/>
            <a:ext cx="2795400" cy="3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teo.bcalvo@gmail.com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2294</Words>
  <Application>Microsoft Office PowerPoint</Application>
  <PresentationFormat>Widescreen</PresentationFormat>
  <Paragraphs>446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1" baseType="lpstr">
      <vt:lpstr>Arial</vt:lpstr>
      <vt:lpstr>Calibri</vt:lpstr>
      <vt:lpstr>Montserrat Medium</vt:lpstr>
      <vt:lpstr>SimSun</vt:lpstr>
      <vt:lpstr>Montserrat</vt:lpstr>
      <vt:lpstr>Arial Black</vt:lpstr>
      <vt:lpstr>Montserrat SemiBold</vt:lpstr>
      <vt:lpstr>Office Theme</vt:lpstr>
      <vt:lpstr>Aprendendo SQL Primeiras magias na linguagem dos dados</vt:lpstr>
      <vt:lpstr>PowerPoint Presentation</vt:lpstr>
      <vt:lpstr>Trajetória</vt:lpstr>
      <vt:lpstr>Combinados</vt:lpstr>
      <vt:lpstr>Avisos</vt:lpstr>
      <vt:lpstr>Nos Apoie</vt:lpstr>
      <vt:lpstr>Para quem é este curso</vt:lpstr>
      <vt:lpstr>Para quem NÃO é este curso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 que vamos abordar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Setup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Próximos passos</vt:lpstr>
      <vt:lpstr>Um ótimo curso!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Robson Fagner</cp:lastModifiedBy>
  <cp:revision>1</cp:revision>
  <dcterms:modified xsi:type="dcterms:W3CDTF">2026-07-16T17:17:26Z</dcterms:modified>
</cp:coreProperties>
</file>