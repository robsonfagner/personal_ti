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_rels/presentation.xml.rels" ContentType="application/vnd.openxmlformats-package.relationships+xml"/>
  <Override PartName="/ppt/media/image56.png" ContentType="image/png"/>
  <Override PartName="/ppt/media/image55.png" ContentType="image/png"/>
  <Override PartName="/ppt/media/image54.png" ContentType="image/png"/>
  <Override PartName="/ppt/media/image53.png" ContentType="image/png"/>
  <Override PartName="/ppt/media/image52.png" ContentType="image/png"/>
  <Override PartName="/ppt/media/image51.png" ContentType="image/png"/>
  <Override PartName="/ppt/media/image4.jpeg" ContentType="image/jpeg"/>
  <Override PartName="/ppt/media/image50.png" ContentType="image/png"/>
  <Override PartName="/ppt/media/image46.png" ContentType="image/png"/>
  <Override PartName="/ppt/media/image40.png" ContentType="image/png"/>
  <Override PartName="/ppt/media/image10.png" ContentType="image/png"/>
  <Override PartName="/ppt/media/image15.png" ContentType="image/png"/>
  <Override PartName="/ppt/media/image16.png" ContentType="image/png"/>
  <Override PartName="/ppt/media/image7.jpeg" ContentType="image/jpeg"/>
  <Override PartName="/ppt/media/image28.png" ContentType="image/png"/>
  <Override PartName="/ppt/media/image47.png" ContentType="image/png"/>
  <Override PartName="/ppt/media/image58.jpeg" ContentType="image/jpeg"/>
  <Override PartName="/ppt/media/image27.png" ContentType="image/png"/>
  <Override PartName="/ppt/media/image1.jpeg" ContentType="image/jpeg"/>
  <Override PartName="/ppt/media/image21.png" ContentType="image/png"/>
  <Override PartName="/ppt/media/image19.png" ContentType="image/png"/>
  <Override PartName="/ppt/media/image61.png" ContentType="image/png"/>
  <Override PartName="/ppt/media/image22.png" ContentType="image/png"/>
  <Override PartName="/ppt/media/image59.png" ContentType="image/png"/>
  <Override PartName="/ppt/media/image68.png" ContentType="image/png"/>
  <Override PartName="/ppt/media/image31.png" ContentType="image/png"/>
  <Override PartName="/ppt/media/image67.png" ContentType="image/png"/>
  <Override PartName="/ppt/media/image30.png" ContentType="image/png"/>
  <Override PartName="/ppt/media/image66.png" ContentType="image/png"/>
  <Override PartName="/ppt/media/image29.png" ContentType="image/png"/>
  <Override PartName="/ppt/media/image65.png" ContentType="image/png"/>
  <Override PartName="/ppt/media/image25.png" ContentType="image/png"/>
  <Override PartName="/ppt/media/image62.png" ContentType="image/png"/>
  <Override PartName="/ppt/media/image64.png" ContentType="image/png"/>
  <Override PartName="/ppt/media/image24.png" ContentType="image/png"/>
  <Override PartName="/ppt/media/image63.png" ContentType="image/png"/>
  <Override PartName="/ppt/media/image26.png" ContentType="image/png"/>
  <Override PartName="/ppt/media/image23.png" ContentType="image/png"/>
  <Override PartName="/ppt/media/image60.png" ContentType="image/png"/>
  <Override PartName="/ppt/media/image6.jpeg" ContentType="image/jpeg"/>
  <Override PartName="/ppt/media/image14.png" ContentType="image/png"/>
  <Override PartName="/ppt/media/image5.png" ContentType="image/png"/>
  <Override PartName="/ppt/media/image37.png" ContentType="image/png"/>
  <Override PartName="/ppt/media/image13.png" ContentType="image/png"/>
  <Override PartName="/ppt/media/image20.png" ContentType="image/png"/>
  <Override PartName="/ppt/media/image57.png" ContentType="image/png"/>
  <Override PartName="/ppt/media/image18.png" ContentType="image/png"/>
  <Override PartName="/ppt/media/image9.png" ContentType="image/png"/>
  <Override PartName="/ppt/media/image34.png" ContentType="image/png"/>
  <Override PartName="/ppt/media/image2.png" ContentType="image/png"/>
  <Override PartName="/ppt/media/image11.png" ContentType="image/png"/>
  <Override PartName="/ppt/media/image48.png" ContentType="image/png"/>
  <Override PartName="/ppt/media/image17.png" ContentType="image/png"/>
  <Override PartName="/ppt/media/image8.png" ContentType="image/png"/>
  <Override PartName="/ppt/media/image35.png" ContentType="image/png"/>
  <Override PartName="/ppt/media/image3.png" ContentType="image/png"/>
  <Override PartName="/ppt/media/image12.png" ContentType="image/png"/>
  <Override PartName="/ppt/media/image49.png" ContentType="image/png"/>
  <Override PartName="/ppt/media/image32.png" ContentType="image/png"/>
  <Override PartName="/ppt/media/image33.png" ContentType="image/png"/>
  <Override PartName="/ppt/media/image36.png" ContentType="image/png"/>
  <Override PartName="/ppt/media/image38.png" ContentType="image/png"/>
  <Override PartName="/ppt/media/image39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7.xml" ContentType="application/vnd.openxmlformats-officedocument.presentationml.slide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53.xml.rels" ContentType="application/vnd.openxmlformats-package.relationships+xml"/>
  <Override PartName="/ppt/slides/_rels/slide52.xml.rels" ContentType="application/vnd.openxmlformats-package.relationships+xml"/>
  <Override PartName="/ppt/slides/_rels/slide49.xml.rels" ContentType="application/vnd.openxmlformats-package.relationships+xml"/>
  <Override PartName="/ppt/slides/_rels/slide12.xml.rels" ContentType="application/vnd.openxmlformats-package.relationships+xml"/>
  <Override PartName="/ppt/slides/_rels/slide51.xml.rels" ContentType="application/vnd.openxmlformats-package.relationships+xml"/>
  <Override PartName="/ppt/slides/_rels/slide13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29.xml.rels" ContentType="application/vnd.openxmlformats-package.relationships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50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39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50.xml.rels" ContentType="application/vnd.openxmlformats-package.relationships+xml"/>
  <Override PartName="/ppt/notesSlides/_rels/notesSlide4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45.xml.rels" ContentType="application/vnd.openxmlformats-package.relationships+xml"/>
  <Override PartName="/ppt/notesSlides/_rels/notesSlide52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51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</p:sldMasterIdLst>
  <p:notesMasterIdLst>
    <p:notesMasterId r:id="rId19"/>
  </p:notes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  <p:sldId id="276" r:id="rId40"/>
    <p:sldId id="277" r:id="rId41"/>
    <p:sldId id="278" r:id="rId42"/>
    <p:sldId id="279" r:id="rId43"/>
    <p:sldId id="280" r:id="rId44"/>
    <p:sldId id="281" r:id="rId45"/>
    <p:sldId id="282" r:id="rId46"/>
    <p:sldId id="283" r:id="rId47"/>
    <p:sldId id="284" r:id="rId48"/>
    <p:sldId id="285" r:id="rId49"/>
    <p:sldId id="286" r:id="rId50"/>
    <p:sldId id="287" r:id="rId51"/>
    <p:sldId id="288" r:id="rId52"/>
    <p:sldId id="289" r:id="rId53"/>
    <p:sldId id="290" r:id="rId54"/>
    <p:sldId id="291" r:id="rId55"/>
    <p:sldId id="292" r:id="rId56"/>
    <p:sldId id="293" r:id="rId57"/>
    <p:sldId id="294" r:id="rId58"/>
    <p:sldId id="295" r:id="rId59"/>
    <p:sldId id="296" r:id="rId60"/>
    <p:sldId id="297" r:id="rId61"/>
    <p:sldId id="298" r:id="rId62"/>
    <p:sldId id="299" r:id="rId63"/>
    <p:sldId id="300" r:id="rId64"/>
    <p:sldId id="301" r:id="rId65"/>
    <p:sldId id="302" r:id="rId66"/>
    <p:sldId id="303" r:id="rId67"/>
    <p:sldId id="304" r:id="rId68"/>
    <p:sldId id="305" r:id="rId69"/>
    <p:sldId id="306" r:id="rId70"/>
    <p:sldId id="307" r:id="rId71"/>
    <p:sldId id="308" r:id="rId72"/>
  </p:sldIdLst>
  <p:sldSz cx="12192000" cy="6858000"/>
  <p:notesSz cx="7104063" cy="102346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notesMaster" Target="notesMasters/notesMaster1.xml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Relationship Id="rId38" Type="http://schemas.openxmlformats.org/officeDocument/2006/relationships/slide" Target="slides/slide19.xml"/><Relationship Id="rId39" Type="http://schemas.openxmlformats.org/officeDocument/2006/relationships/slide" Target="slides/slide20.xml"/><Relationship Id="rId40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3" Type="http://schemas.openxmlformats.org/officeDocument/2006/relationships/slide" Target="slides/slide24.xml"/><Relationship Id="rId44" Type="http://schemas.openxmlformats.org/officeDocument/2006/relationships/slide" Target="slides/slide25.xml"/><Relationship Id="rId45" Type="http://schemas.openxmlformats.org/officeDocument/2006/relationships/slide" Target="slides/slide26.xml"/><Relationship Id="rId46" Type="http://schemas.openxmlformats.org/officeDocument/2006/relationships/slide" Target="slides/slide27.xml"/><Relationship Id="rId47" Type="http://schemas.openxmlformats.org/officeDocument/2006/relationships/slide" Target="slides/slide28.xml"/><Relationship Id="rId48" Type="http://schemas.openxmlformats.org/officeDocument/2006/relationships/slide" Target="slides/slide29.xml"/><Relationship Id="rId49" Type="http://schemas.openxmlformats.org/officeDocument/2006/relationships/slide" Target="slides/slide30.xml"/><Relationship Id="rId50" Type="http://schemas.openxmlformats.org/officeDocument/2006/relationships/slide" Target="slides/slide31.xml"/><Relationship Id="rId51" Type="http://schemas.openxmlformats.org/officeDocument/2006/relationships/slide" Target="slides/slide32.xml"/><Relationship Id="rId52" Type="http://schemas.openxmlformats.org/officeDocument/2006/relationships/slide" Target="slides/slide33.xml"/><Relationship Id="rId53" Type="http://schemas.openxmlformats.org/officeDocument/2006/relationships/slide" Target="slides/slide34.xml"/><Relationship Id="rId54" Type="http://schemas.openxmlformats.org/officeDocument/2006/relationships/slide" Target="slides/slide35.xml"/><Relationship Id="rId55" Type="http://schemas.openxmlformats.org/officeDocument/2006/relationships/slide" Target="slides/slide36.xml"/><Relationship Id="rId56" Type="http://schemas.openxmlformats.org/officeDocument/2006/relationships/slide" Target="slides/slide37.xml"/><Relationship Id="rId57" Type="http://schemas.openxmlformats.org/officeDocument/2006/relationships/slide" Target="slides/slide38.xml"/><Relationship Id="rId58" Type="http://schemas.openxmlformats.org/officeDocument/2006/relationships/slide" Target="slides/slide39.xml"/><Relationship Id="rId59" Type="http://schemas.openxmlformats.org/officeDocument/2006/relationships/slide" Target="slides/slide40.xml"/><Relationship Id="rId60" Type="http://schemas.openxmlformats.org/officeDocument/2006/relationships/slide" Target="slides/slide41.xml"/><Relationship Id="rId61" Type="http://schemas.openxmlformats.org/officeDocument/2006/relationships/slide" Target="slides/slide42.xml"/><Relationship Id="rId62" Type="http://schemas.openxmlformats.org/officeDocument/2006/relationships/slide" Target="slides/slide43.xml"/><Relationship Id="rId63" Type="http://schemas.openxmlformats.org/officeDocument/2006/relationships/slide" Target="slides/slide44.xml"/><Relationship Id="rId64" Type="http://schemas.openxmlformats.org/officeDocument/2006/relationships/slide" Target="slides/slide45.xml"/><Relationship Id="rId65" Type="http://schemas.openxmlformats.org/officeDocument/2006/relationships/slide" Target="slides/slide46.xml"/><Relationship Id="rId66" Type="http://schemas.openxmlformats.org/officeDocument/2006/relationships/slide" Target="slides/slide47.xml"/><Relationship Id="rId67" Type="http://schemas.openxmlformats.org/officeDocument/2006/relationships/slide" Target="slides/slide48.xml"/><Relationship Id="rId68" Type="http://schemas.openxmlformats.org/officeDocument/2006/relationships/slide" Target="slides/slide49.xml"/><Relationship Id="rId69" Type="http://schemas.openxmlformats.org/officeDocument/2006/relationships/slide" Target="slides/slide50.xml"/><Relationship Id="rId70" Type="http://schemas.openxmlformats.org/officeDocument/2006/relationships/slide" Target="slides/slide51.xml"/><Relationship Id="rId71" Type="http://schemas.openxmlformats.org/officeDocument/2006/relationships/slide" Target="slides/slide52.xml"/><Relationship Id="rId72" Type="http://schemas.openxmlformats.org/officeDocument/2006/relationships/slide" Target="slides/slide53.xml"/><Relationship Id="rId7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mover o slide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de notas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1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1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1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2BCFD76-0FAA-4C5D-9184-FCB2A89717D3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sldImg"/>
          </p:nvPr>
        </p:nvSpPr>
        <p:spPr>
          <a:xfrm>
            <a:off x="482760" y="1279440"/>
            <a:ext cx="6140160" cy="345420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711360" y="4925880"/>
            <a:ext cx="5682960" cy="402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200" spc="-1" strike="noStrike">
              <a:solidFill>
                <a:schemeClr val="dk1"/>
              </a:solidFill>
              <a:latin typeface="SimSun"/>
              <a:ea typeface="SimSun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sldNum" idx="20"/>
          </p:nvPr>
        </p:nvSpPr>
        <p:spPr>
          <a:xfrm>
            <a:off x="4024440" y="9721800"/>
            <a:ext cx="3078000" cy="51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48F04E-065B-4CCE-A8C5-188E9D518CE4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sldImg"/>
          </p:nvPr>
        </p:nvSpPr>
        <p:spPr>
          <a:xfrm>
            <a:off x="482760" y="1279440"/>
            <a:ext cx="6140160" cy="3454200"/>
          </a:xfrm>
          <a:prstGeom prst="rect">
            <a:avLst/>
          </a:prstGeom>
          <a:ln w="0">
            <a:noFill/>
          </a:ln>
        </p:spPr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711360" y="4925880"/>
            <a:ext cx="5682960" cy="402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200" spc="-1" strike="noStrike">
              <a:solidFill>
                <a:schemeClr val="dk1"/>
              </a:solidFill>
              <a:latin typeface="SimSun"/>
              <a:ea typeface="SimSun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sldNum" idx="21"/>
          </p:nvPr>
        </p:nvSpPr>
        <p:spPr>
          <a:xfrm>
            <a:off x="4024440" y="9721800"/>
            <a:ext cx="3078000" cy="51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16DDE1-D1A4-4E54-9548-B4DAFB93046D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sldImg"/>
          </p:nvPr>
        </p:nvSpPr>
        <p:spPr>
          <a:xfrm>
            <a:off x="482760" y="1279440"/>
            <a:ext cx="6140160" cy="3454200"/>
          </a:xfrm>
          <a:prstGeom prst="rect">
            <a:avLst/>
          </a:prstGeom>
          <a:ln w="0">
            <a:noFill/>
          </a:ln>
        </p:spPr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711360" y="4925880"/>
            <a:ext cx="5682960" cy="402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200" spc="-1" strike="noStrike">
              <a:solidFill>
                <a:schemeClr val="dk1"/>
              </a:solidFill>
              <a:latin typeface="SimSun"/>
              <a:ea typeface="SimSun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sldNum" idx="22"/>
          </p:nvPr>
        </p:nvSpPr>
        <p:spPr>
          <a:xfrm>
            <a:off x="4024440" y="9721800"/>
            <a:ext cx="3078000" cy="51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DE5BAF-044B-4D9F-A9CD-AE5AF28481DF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sldImg"/>
          </p:nvPr>
        </p:nvSpPr>
        <p:spPr>
          <a:xfrm>
            <a:off x="482760" y="1279440"/>
            <a:ext cx="6140160" cy="3454200"/>
          </a:xfrm>
          <a:prstGeom prst="rect">
            <a:avLst/>
          </a:prstGeom>
          <a:ln w="0">
            <a:noFill/>
          </a:ln>
        </p:spPr>
      </p:sp>
      <p:sp>
        <p:nvSpPr>
          <p:cNvPr id="489" name="PlaceHolder 2"/>
          <p:cNvSpPr>
            <a:spLocks noGrp="1"/>
          </p:cNvSpPr>
          <p:nvPr>
            <p:ph type="body"/>
          </p:nvPr>
        </p:nvSpPr>
        <p:spPr>
          <a:xfrm>
            <a:off x="711360" y="4925880"/>
            <a:ext cx="5682960" cy="402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200" spc="-1" strike="noStrike">
              <a:solidFill>
                <a:schemeClr val="dk1"/>
              </a:solidFill>
              <a:latin typeface="SimSun"/>
              <a:ea typeface="SimSun"/>
            </a:endParaRPr>
          </a:p>
        </p:txBody>
      </p:sp>
      <p:sp>
        <p:nvSpPr>
          <p:cNvPr id="490" name="PlaceHolder 3"/>
          <p:cNvSpPr>
            <a:spLocks noGrp="1"/>
          </p:cNvSpPr>
          <p:nvPr>
            <p:ph type="sldNum" idx="23"/>
          </p:nvPr>
        </p:nvSpPr>
        <p:spPr>
          <a:xfrm>
            <a:off x="4024440" y="9721800"/>
            <a:ext cx="3078000" cy="51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E5BEB0-D397-4E19-A3B8-55FABD82DA10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sldImg"/>
          </p:nvPr>
        </p:nvSpPr>
        <p:spPr>
          <a:xfrm>
            <a:off x="482760" y="1279440"/>
            <a:ext cx="6140160" cy="3454200"/>
          </a:xfrm>
          <a:prstGeom prst="rect">
            <a:avLst/>
          </a:prstGeom>
          <a:ln w="0">
            <a:noFill/>
          </a:ln>
        </p:spPr>
      </p:sp>
      <p:sp>
        <p:nvSpPr>
          <p:cNvPr id="492" name="PlaceHolder 2"/>
          <p:cNvSpPr>
            <a:spLocks noGrp="1"/>
          </p:cNvSpPr>
          <p:nvPr>
            <p:ph type="body"/>
          </p:nvPr>
        </p:nvSpPr>
        <p:spPr>
          <a:xfrm>
            <a:off x="711360" y="4925880"/>
            <a:ext cx="5682960" cy="402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200" spc="-1" strike="noStrike">
              <a:solidFill>
                <a:schemeClr val="dk1"/>
              </a:solidFill>
              <a:latin typeface="SimSun"/>
              <a:ea typeface="SimSun"/>
            </a:endParaRPr>
          </a:p>
        </p:txBody>
      </p:sp>
      <p:sp>
        <p:nvSpPr>
          <p:cNvPr id="493" name="PlaceHolder 3"/>
          <p:cNvSpPr>
            <a:spLocks noGrp="1"/>
          </p:cNvSpPr>
          <p:nvPr>
            <p:ph type="sldNum" idx="24"/>
          </p:nvPr>
        </p:nvSpPr>
        <p:spPr>
          <a:xfrm>
            <a:off x="4024440" y="9721800"/>
            <a:ext cx="3078000" cy="51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413EFA-A3F3-4F8C-BD9E-56141BF24CFF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sldImg"/>
          </p:nvPr>
        </p:nvSpPr>
        <p:spPr>
          <a:xfrm>
            <a:off x="482760" y="1279440"/>
            <a:ext cx="6140160" cy="3454200"/>
          </a:xfrm>
          <a:prstGeom prst="rect">
            <a:avLst/>
          </a:prstGeom>
          <a:ln w="0">
            <a:noFill/>
          </a:ln>
        </p:spPr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711360" y="4925880"/>
            <a:ext cx="5682960" cy="402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200" spc="-1" strike="noStrike">
              <a:solidFill>
                <a:schemeClr val="dk1"/>
              </a:solidFill>
              <a:latin typeface="SimSun"/>
              <a:ea typeface="SimSun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sldNum" idx="25"/>
          </p:nvPr>
        </p:nvSpPr>
        <p:spPr>
          <a:xfrm>
            <a:off x="4024440" y="9721800"/>
            <a:ext cx="3078000" cy="51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5A9C76-C40F-4F79-83A2-A47B61BAAE97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sldImg"/>
          </p:nvPr>
        </p:nvSpPr>
        <p:spPr>
          <a:xfrm>
            <a:off x="243000" y="1432080"/>
            <a:ext cx="6873480" cy="3866760"/>
          </a:xfrm>
          <a:prstGeom prst="rect">
            <a:avLst/>
          </a:prstGeom>
          <a:ln w="0">
            <a:noFill/>
          </a:ln>
        </p:spPr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736560" y="5513400"/>
            <a:ext cx="5886720" cy="4509000"/>
          </a:xfrm>
          <a:prstGeom prst="rect">
            <a:avLst/>
          </a:prstGeom>
          <a:noFill/>
          <a:ln w="0">
            <a:noFill/>
          </a:ln>
        </p:spPr>
        <p:txBody>
          <a:bodyPr lIns="97200" rIns="97200" tIns="48600" bIns="48600" anchor="t">
            <a:noAutofit/>
          </a:bodyPr>
          <a:p>
            <a:pPr marL="216000" indent="-216000">
              <a:buNone/>
            </a:pPr>
            <a:endParaRPr b="0" lang="pt-BR" sz="1200" spc="-1" strike="noStrike">
              <a:solidFill>
                <a:schemeClr val="dk1"/>
              </a:solidFill>
              <a:latin typeface="SimSun"/>
              <a:ea typeface="SimSun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sldNum" idx="26"/>
          </p:nvPr>
        </p:nvSpPr>
        <p:spPr>
          <a:xfrm>
            <a:off x="4168440" y="10881000"/>
            <a:ext cx="3188520" cy="573480"/>
          </a:xfrm>
          <a:prstGeom prst="rect">
            <a:avLst/>
          </a:prstGeom>
          <a:noFill/>
          <a:ln w="0">
            <a:noFill/>
          </a:ln>
        </p:spPr>
        <p:txBody>
          <a:bodyPr lIns="97200" rIns="97200" tIns="48600" bIns="486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D2B956-11FB-4459-9B3B-124ABA936405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sldImg"/>
          </p:nvPr>
        </p:nvSpPr>
        <p:spPr>
          <a:xfrm>
            <a:off x="482760" y="1279440"/>
            <a:ext cx="6140160" cy="3454200"/>
          </a:xfrm>
          <a:prstGeom prst="rect">
            <a:avLst/>
          </a:prstGeom>
          <a:ln w="0">
            <a:noFill/>
          </a:ln>
        </p:spPr>
      </p:sp>
      <p:sp>
        <p:nvSpPr>
          <p:cNvPr id="501" name="PlaceHolder 2"/>
          <p:cNvSpPr>
            <a:spLocks noGrp="1"/>
          </p:cNvSpPr>
          <p:nvPr>
            <p:ph type="body"/>
          </p:nvPr>
        </p:nvSpPr>
        <p:spPr>
          <a:xfrm>
            <a:off x="711360" y="4925880"/>
            <a:ext cx="5682960" cy="402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200" spc="-1" strike="noStrike">
              <a:solidFill>
                <a:schemeClr val="dk1"/>
              </a:solidFill>
              <a:latin typeface="SimSun"/>
              <a:ea typeface="SimSun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 type="sldNum" idx="27"/>
          </p:nvPr>
        </p:nvSpPr>
        <p:spPr>
          <a:xfrm>
            <a:off x="4024440" y="9721800"/>
            <a:ext cx="3078000" cy="51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BA455E-3CAA-4EA7-8B12-BC4A6A236320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sldImg"/>
          </p:nvPr>
        </p:nvSpPr>
        <p:spPr>
          <a:xfrm>
            <a:off x="482760" y="1279440"/>
            <a:ext cx="6140160" cy="3454200"/>
          </a:xfrm>
          <a:prstGeom prst="rect">
            <a:avLst/>
          </a:prstGeom>
          <a:ln w="0">
            <a:noFill/>
          </a:ln>
        </p:spPr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711360" y="4925880"/>
            <a:ext cx="5682960" cy="402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200" spc="-1" strike="noStrike">
              <a:solidFill>
                <a:schemeClr val="dk1"/>
              </a:solidFill>
              <a:latin typeface="SimSun"/>
              <a:ea typeface="SimSun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sldNum" idx="28"/>
          </p:nvPr>
        </p:nvSpPr>
        <p:spPr>
          <a:xfrm>
            <a:off x="4024440" y="9721800"/>
            <a:ext cx="3078000" cy="51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4C7F39-4374-422D-ABD2-AE3C733FDF14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sldImg"/>
          </p:nvPr>
        </p:nvSpPr>
        <p:spPr>
          <a:xfrm>
            <a:off x="482760" y="1279440"/>
            <a:ext cx="6140160" cy="3454200"/>
          </a:xfrm>
          <a:prstGeom prst="rect">
            <a:avLst/>
          </a:prstGeom>
          <a:ln w="0">
            <a:noFill/>
          </a:ln>
        </p:spPr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711360" y="4925880"/>
            <a:ext cx="5682960" cy="402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200" spc="-1" strike="noStrike">
              <a:solidFill>
                <a:schemeClr val="dk1"/>
              </a:solidFill>
              <a:latin typeface="SimSun"/>
              <a:ea typeface="SimSun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sldNum" idx="29"/>
          </p:nvPr>
        </p:nvSpPr>
        <p:spPr>
          <a:xfrm>
            <a:off x="4024440" y="9721800"/>
            <a:ext cx="3078000" cy="51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A1DF5F-8887-4D2F-AA63-11DE83E87FCD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sldImg"/>
          </p:nvPr>
        </p:nvSpPr>
        <p:spPr>
          <a:xfrm>
            <a:off x="482760" y="1279440"/>
            <a:ext cx="6140160" cy="345420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711360" y="4925880"/>
            <a:ext cx="5682960" cy="402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200" spc="-1" strike="noStrike">
              <a:solidFill>
                <a:schemeClr val="dk1"/>
              </a:solidFill>
              <a:latin typeface="SimSun"/>
              <a:ea typeface="SimSun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sldNum" idx="30"/>
          </p:nvPr>
        </p:nvSpPr>
        <p:spPr>
          <a:xfrm>
            <a:off x="4024440" y="9721800"/>
            <a:ext cx="3078000" cy="51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D5AD74-7D0B-4024-ADC7-ACE0CDD2D135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sldImg"/>
          </p:nvPr>
        </p:nvSpPr>
        <p:spPr>
          <a:xfrm>
            <a:off x="482760" y="1279440"/>
            <a:ext cx="6140160" cy="345420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711360" y="4925880"/>
            <a:ext cx="5682960" cy="402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200" spc="-1" strike="noStrike">
              <a:solidFill>
                <a:schemeClr val="dk1"/>
              </a:solidFill>
              <a:latin typeface="SimSun"/>
              <a:ea typeface="SimSun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31"/>
          </p:nvPr>
        </p:nvSpPr>
        <p:spPr>
          <a:xfrm>
            <a:off x="4024440" y="9721800"/>
            <a:ext cx="3078000" cy="51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D33BB2-B614-4F0F-9398-E495BBE937FD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 Layou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 Layou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FF574F-7E1E-4696-AAE9-20FAB107BE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6DD91E-A19E-46ED-8B5B-D7099C45F6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18DFF5F-11E5-47BA-BC83-7F0A07D76F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6852302-3E8F-4B81-A973-EC7ADC238F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2466D0C-6126-486C-9BBB-3953831FF5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B1501C47-41CC-43FD-A2EA-B93BF2DFB04A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7.jpe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3;p2" descr="tmw-slides-bg-Artboard 1"/>
          <p:cNvPicPr/>
          <p:nvPr/>
        </p:nvPicPr>
        <p:blipFill>
          <a:blip r:embed="rId2"/>
          <a:stretch/>
        </p:blipFill>
        <p:spPr>
          <a:xfrm>
            <a:off x="-9360" y="-5760"/>
            <a:ext cx="12210840" cy="6868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35;p11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editar o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formato do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texto do título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37;p12" descr="YT-capa-canal-fundo-v02"/>
          <p:cNvPicPr/>
          <p:nvPr/>
        </p:nvPicPr>
        <p:blipFill>
          <a:blip r:embed="rId2">
            <a:alphaModFix amt="25000"/>
          </a:blip>
          <a:stretch/>
        </p:blipFill>
        <p:spPr>
          <a:xfrm>
            <a:off x="-17640" y="-10080"/>
            <a:ext cx="12227040" cy="687780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formato do texto do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9;p13"/>
          <p:cNvSpPr/>
          <p:nvPr/>
        </p:nvSpPr>
        <p:spPr>
          <a:xfrm>
            <a:off x="-17640" y="0"/>
            <a:ext cx="12227400" cy="6957360"/>
          </a:xfrm>
          <a:prstGeom prst="rect">
            <a:avLst/>
          </a:prstGeom>
          <a:solidFill>
            <a:srgbClr val="000000"/>
          </a:solidFill>
          <a:ln w="12700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10" name="Google Shape;40;p13" descr="YT-capa-canal-fundo-v02"/>
          <p:cNvPicPr/>
          <p:nvPr/>
        </p:nvPicPr>
        <p:blipFill>
          <a:blip r:embed="rId2">
            <a:alphaModFix amt="18000"/>
          </a:blip>
          <a:stretch/>
        </p:blipFill>
        <p:spPr>
          <a:xfrm>
            <a:off x="-18000" y="39600"/>
            <a:ext cx="12227760" cy="687780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editar o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formato do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texto do título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484280" y="2666880"/>
            <a:ext cx="8997120" cy="21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Clique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editar o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formato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do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texto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do </a:t>
            </a: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484280" y="4777560"/>
            <a:ext cx="8997120" cy="86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18488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1"/>
          </p:nvPr>
        </p:nvSpPr>
        <p:spPr>
          <a:xfrm>
            <a:off x="8677800" y="5883120"/>
            <a:ext cx="1142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2"/>
          </p:nvPr>
        </p:nvSpPr>
        <p:spPr>
          <a:xfrm>
            <a:off x="1484280" y="5883120"/>
            <a:ext cx="7083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3"/>
          </p:nvPr>
        </p:nvSpPr>
        <p:spPr>
          <a:xfrm>
            <a:off x="993024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265EDE-8E80-4005-BCB4-F2EDE8407774}" type="slidenum">
              <a:rPr b="0" lang="pt-BR" sz="1000" spc="-1" strike="noStrike">
                <a:solidFill>
                  <a:schemeClr val="dk1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484280" y="2666880"/>
            <a:ext cx="8997120" cy="21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1484280" y="4777560"/>
            <a:ext cx="8997120" cy="86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18488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4"/>
          </p:nvPr>
        </p:nvSpPr>
        <p:spPr>
          <a:xfrm>
            <a:off x="8677800" y="5883120"/>
            <a:ext cx="1142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5"/>
          </p:nvPr>
        </p:nvSpPr>
        <p:spPr>
          <a:xfrm>
            <a:off x="1484280" y="5883120"/>
            <a:ext cx="7083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6"/>
          </p:nvPr>
        </p:nvSpPr>
        <p:spPr>
          <a:xfrm>
            <a:off x="993024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F0E2331-AE56-4B7B-9F37-1A2B9FFDCE76}" type="slidenum">
              <a:rPr b="0" lang="pt-BR" sz="1000" spc="-1" strike="noStrike">
                <a:solidFill>
                  <a:schemeClr val="dk1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484280" y="2666880"/>
            <a:ext cx="10018440" cy="31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7"/>
          </p:nvPr>
        </p:nvSpPr>
        <p:spPr>
          <a:xfrm>
            <a:off x="8677800" y="5883120"/>
            <a:ext cx="1142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8"/>
          </p:nvPr>
        </p:nvSpPr>
        <p:spPr>
          <a:xfrm>
            <a:off x="1484280" y="5883120"/>
            <a:ext cx="7083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9"/>
          </p:nvPr>
        </p:nvSpPr>
        <p:spPr>
          <a:xfrm>
            <a:off x="993024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575710-45E3-4B12-A22F-9F41B671E074}" type="slidenum">
              <a:rPr b="0" lang="pt-BR" sz="1000" spc="-1" strike="noStrike">
                <a:solidFill>
                  <a:schemeClr val="dk1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484280" y="2666880"/>
            <a:ext cx="8997120" cy="21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1484280" y="4777560"/>
            <a:ext cx="8997120" cy="86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18488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0"/>
          </p:nvPr>
        </p:nvSpPr>
        <p:spPr>
          <a:xfrm>
            <a:off x="8677800" y="5883120"/>
            <a:ext cx="1142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1"/>
          </p:nvPr>
        </p:nvSpPr>
        <p:spPr>
          <a:xfrm>
            <a:off x="1484280" y="5883120"/>
            <a:ext cx="7083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2"/>
          </p:nvPr>
        </p:nvSpPr>
        <p:spPr>
          <a:xfrm>
            <a:off x="993024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A5DAB4-547E-499A-B59C-A1ACEDE14BDE}" type="slidenum">
              <a:rPr b="0" lang="pt-BR" sz="1000" spc="-1" strike="noStrike">
                <a:solidFill>
                  <a:schemeClr val="dk1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484280" y="685800"/>
            <a:ext cx="10018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pt-BR" sz="4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484280" y="2666880"/>
            <a:ext cx="10018440" cy="31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3"/>
          </p:nvPr>
        </p:nvSpPr>
        <p:spPr>
          <a:xfrm>
            <a:off x="8677800" y="5883120"/>
            <a:ext cx="1142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14"/>
          </p:nvPr>
        </p:nvSpPr>
        <p:spPr>
          <a:xfrm>
            <a:off x="1484280" y="5883120"/>
            <a:ext cx="7083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15"/>
          </p:nvPr>
        </p:nvSpPr>
        <p:spPr>
          <a:xfrm>
            <a:off x="993024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AB9004-EA1D-45F1-BD49-A9F4FEB4D661}" type="slidenum">
              <a:rPr b="0" lang="pt-BR" sz="1000" spc="-1" strike="noStrike">
                <a:solidFill>
                  <a:schemeClr val="dk1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15;p3" descr="tmw-slides-bg-v2-Artboard 2 copy"/>
          <p:cNvPicPr/>
          <p:nvPr/>
        </p:nvPicPr>
        <p:blipFill>
          <a:blip r:embed="rId2"/>
          <a:stretch/>
        </p:blipFill>
        <p:spPr>
          <a:xfrm>
            <a:off x="-24120" y="-12240"/>
            <a:ext cx="12240360" cy="6881760"/>
          </a:xfrm>
          <a:prstGeom prst="rect">
            <a:avLst/>
          </a:prstGeom>
          <a:ln w="0">
            <a:noFill/>
          </a:ln>
        </p:spPr>
      </p:pic>
      <p:pic>
        <p:nvPicPr>
          <p:cNvPr id="39" name="Google Shape;16;p3" descr="teomewhy-logo-interrogacao-v01_Prancheta 1"/>
          <p:cNvPicPr/>
          <p:nvPr/>
        </p:nvPicPr>
        <p:blipFill>
          <a:blip r:embed="rId3"/>
          <a:stretch/>
        </p:blipFill>
        <p:spPr>
          <a:xfrm>
            <a:off x="-24120" y="6285960"/>
            <a:ext cx="686160" cy="5839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18;p4" descr="YT-capa-canal-fundo-v02"/>
          <p:cNvPicPr/>
          <p:nvPr/>
        </p:nvPicPr>
        <p:blipFill>
          <a:blip r:embed="rId2">
            <a:alphaModFix amt="25000"/>
          </a:blip>
          <a:stretch/>
        </p:blipFill>
        <p:spPr>
          <a:xfrm>
            <a:off x="-17640" y="-10080"/>
            <a:ext cx="12227040" cy="6877800"/>
          </a:xfrm>
          <a:prstGeom prst="rect">
            <a:avLst/>
          </a:prstGeom>
          <a:ln w="0">
            <a:noFill/>
          </a:ln>
        </p:spPr>
      </p:pic>
      <p:pic>
        <p:nvPicPr>
          <p:cNvPr id="43" name="Google Shape;19;p4" descr="teomewhy-logo-interrogacao-v01_Prancheta 1"/>
          <p:cNvPicPr/>
          <p:nvPr/>
        </p:nvPicPr>
        <p:blipFill>
          <a:blip r:embed="rId3"/>
          <a:stretch/>
        </p:blipFill>
        <p:spPr>
          <a:xfrm>
            <a:off x="-24120" y="6285960"/>
            <a:ext cx="686160" cy="58392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21;p5" descr="YT-capa-canal-fundo-v02"/>
          <p:cNvPicPr/>
          <p:nvPr/>
        </p:nvPicPr>
        <p:blipFill>
          <a:blip r:embed="rId2"/>
          <a:srcRect l="49412" t="42981" r="0" b="0"/>
          <a:stretch/>
        </p:blipFill>
        <p:spPr>
          <a:xfrm>
            <a:off x="-26640" y="-10080"/>
            <a:ext cx="12244320" cy="6878520"/>
          </a:xfrm>
          <a:prstGeom prst="rect">
            <a:avLst/>
          </a:prstGeom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23;p6" descr="tmw-slides-bg-v2-Artboard 2"/>
          <p:cNvPicPr/>
          <p:nvPr/>
        </p:nvPicPr>
        <p:blipFill>
          <a:blip r:embed="rId2"/>
          <a:stretch/>
        </p:blipFill>
        <p:spPr>
          <a:xfrm>
            <a:off x="-33480" y="-17280"/>
            <a:ext cx="12259080" cy="6891840"/>
          </a:xfrm>
          <a:prstGeom prst="rect">
            <a:avLst/>
          </a:prstGeom>
          <a:ln w="0">
            <a:noFill/>
          </a:ln>
        </p:spPr>
      </p:pic>
      <p:pic>
        <p:nvPicPr>
          <p:cNvPr id="50" name="Google Shape;24;p6" descr="teomewhy-logo-interrogacao-v01_Prancheta 1"/>
          <p:cNvPicPr/>
          <p:nvPr/>
        </p:nvPicPr>
        <p:blipFill>
          <a:blip r:embed="rId3"/>
          <a:stretch/>
        </p:blipFill>
        <p:spPr>
          <a:xfrm>
            <a:off x="-24120" y="6285960"/>
            <a:ext cx="686160" cy="583920"/>
          </a:xfrm>
          <a:prstGeom prst="rect">
            <a:avLst/>
          </a:prstGeom>
          <a:ln w="0">
            <a:noFill/>
          </a:ln>
        </p:spPr>
      </p:pic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26;p7" descr="YT-capa-canal-fundo-v02"/>
          <p:cNvPicPr/>
          <p:nvPr/>
        </p:nvPicPr>
        <p:blipFill>
          <a:blip r:embed="rId2"/>
          <a:srcRect l="0" t="19022" r="37668" b="17298"/>
          <a:stretch/>
        </p:blipFill>
        <p:spPr>
          <a:xfrm>
            <a:off x="-10080" y="-78840"/>
            <a:ext cx="12201840" cy="7012080"/>
          </a:xfrm>
          <a:prstGeom prst="rect">
            <a:avLst/>
          </a:prstGeom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28;p8" descr="YT-capa-canal-fundo-v02"/>
          <p:cNvPicPr/>
          <p:nvPr/>
        </p:nvPicPr>
        <p:blipFill>
          <a:blip r:embed="rId2"/>
          <a:stretch/>
        </p:blipFill>
        <p:spPr>
          <a:xfrm>
            <a:off x="-17640" y="-10080"/>
            <a:ext cx="12227040" cy="6877800"/>
          </a:xfrm>
          <a:prstGeom prst="rect">
            <a:avLst/>
          </a:prstGeom>
          <a:ln w="0">
            <a:noFill/>
          </a:ln>
        </p:spPr>
      </p:pic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52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b">
            <a:normAutofit/>
          </a:bodyPr>
          <a:p>
            <a:pPr indent="0">
              <a:buNone/>
            </a:pPr>
            <a:r>
              <a:rPr b="0" lang="pt-BR" sz="60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t">
            <a:normAutofit fontScale="4998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16"/>
          </p:nvPr>
        </p:nvSpPr>
        <p:spPr>
          <a:xfrm>
            <a:off x="11089800" y="4515840"/>
            <a:ext cx="263520" cy="4046040"/>
          </a:xfrm>
          <a:prstGeom prst="rect">
            <a:avLst/>
          </a:prstGeom>
          <a:noFill/>
          <a:ln w="0">
            <a:noFill/>
          </a:ln>
        </p:spPr>
        <p:txBody>
          <a:bodyPr lIns="34200" rIns="342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rgbClr val="888888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80CC05-3F1E-4C49-98FC-726352932188}" type="slidenum">
              <a:rPr b="0" lang="pt-BR" sz="1200" spc="-1" strike="noStrike">
                <a:solidFill>
                  <a:srgbClr val="888888"/>
                </a:solidFill>
                <a:latin typeface="Arial"/>
                <a:ea typeface="Arial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0.png"/><Relationship Id="rId3" Type="http://schemas.openxmlformats.org/officeDocument/2006/relationships/image" Target="../media/image10.png"/><Relationship Id="rId4" Type="http://schemas.openxmlformats.org/officeDocument/2006/relationships/image" Target="../media/image1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14.png"/><Relationship Id="rId15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hyperlink" Target="http://comunidade.teomewhy.org" TargetMode="External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hyperlink" Target="https://apoia.se/teomewhy" TargetMode="External"/><Relationship Id="rId3" Type="http://schemas.openxmlformats.org/officeDocument/2006/relationships/hyperlink" Target="https://livepix.gg/teomewhy" TargetMode="External"/><Relationship Id="rId4" Type="http://schemas.openxmlformats.org/officeDocument/2006/relationships/hyperlink" Target="https://twitch.tv/teomewhy" TargetMode="External"/><Relationship Id="rId5" Type="http://schemas.openxmlformats.org/officeDocument/2006/relationships/hyperlink" Target="https://www.youtube.com/@teomewhy" TargetMode="External"/><Relationship Id="rId6" Type="http://schemas.openxmlformats.org/officeDocument/2006/relationships/hyperlink" Target="https://github.com/sponsors/TeoMeWhy" TargetMode="External"/><Relationship Id="rId7" Type="http://schemas.openxmlformats.org/officeDocument/2006/relationships/slideLayout" Target="../slideLayouts/slideLayout11.xml"/><Relationship Id="rId8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slideLayout" Target="../slideLayouts/slideLayout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36.png"/><Relationship Id="rId8" Type="http://schemas.openxmlformats.org/officeDocument/2006/relationships/slideLayout" Target="../slideLayouts/slideLayout1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1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49.png"/><Relationship Id="rId3" Type="http://schemas.openxmlformats.org/officeDocument/2006/relationships/image" Target="../media/image49.png"/><Relationship Id="rId4" Type="http://schemas.openxmlformats.org/officeDocument/2006/relationships/image" Target="../media/image49.png"/><Relationship Id="rId5" Type="http://schemas.openxmlformats.org/officeDocument/2006/relationships/image" Target="../media/image32.png"/><Relationship Id="rId6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image" Target="../media/image58.jpe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2.png"/><Relationship Id="rId3" Type="http://schemas.openxmlformats.org/officeDocument/2006/relationships/image" Target="../media/image55.png"/><Relationship Id="rId4" Type="http://schemas.openxmlformats.org/officeDocument/2006/relationships/image" Target="../media/image57.png"/><Relationship Id="rId5" Type="http://schemas.openxmlformats.org/officeDocument/2006/relationships/image" Target="../media/image59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5.png"/><Relationship Id="rId9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image" Target="../media/image57.png"/><Relationship Id="rId3" Type="http://schemas.openxmlformats.org/officeDocument/2006/relationships/image" Target="../media/image50.png"/><Relationship Id="rId4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32.png"/><Relationship Id="rId9" Type="http://schemas.openxmlformats.org/officeDocument/2006/relationships/image" Target="../media/image32.png"/><Relationship Id="rId10" Type="http://schemas.openxmlformats.org/officeDocument/2006/relationships/image" Target="../media/image32.png"/><Relationship Id="rId11" Type="http://schemas.openxmlformats.org/officeDocument/2006/relationships/image" Target="../media/image32.png"/><Relationship Id="rId12" Type="http://schemas.openxmlformats.org/officeDocument/2006/relationships/image" Target="../media/image32.png"/><Relationship Id="rId13" Type="http://schemas.openxmlformats.org/officeDocument/2006/relationships/image" Target="../media/image32.png"/><Relationship Id="rId14" Type="http://schemas.openxmlformats.org/officeDocument/2006/relationships/image" Target="../media/image32.png"/><Relationship Id="rId15" Type="http://schemas.openxmlformats.org/officeDocument/2006/relationships/image" Target="../media/image32.png"/><Relationship Id="rId16" Type="http://schemas.openxmlformats.org/officeDocument/2006/relationships/image" Target="../media/image32.png"/><Relationship Id="rId17" Type="http://schemas.openxmlformats.org/officeDocument/2006/relationships/image" Target="../media/image49.png"/><Relationship Id="rId18" Type="http://schemas.openxmlformats.org/officeDocument/2006/relationships/image" Target="../media/image49.png"/><Relationship Id="rId19" Type="http://schemas.openxmlformats.org/officeDocument/2006/relationships/image" Target="../media/image49.png"/><Relationship Id="rId20" Type="http://schemas.openxmlformats.org/officeDocument/2006/relationships/image" Target="../media/image49.png"/><Relationship Id="rId21" Type="http://schemas.openxmlformats.org/officeDocument/2006/relationships/image" Target="../media/image49.png"/><Relationship Id="rId22" Type="http://schemas.openxmlformats.org/officeDocument/2006/relationships/image" Target="../media/image49.png"/><Relationship Id="rId23" Type="http://schemas.openxmlformats.org/officeDocument/2006/relationships/image" Target="../media/image49.png"/><Relationship Id="rId24" Type="http://schemas.openxmlformats.org/officeDocument/2006/relationships/image" Target="../media/image49.png"/><Relationship Id="rId25" Type="http://schemas.openxmlformats.org/officeDocument/2006/relationships/image" Target="../media/image49.png"/><Relationship Id="rId26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hyperlink" Target="https://www.kaggle.com/datasets/teocalvo/teomewhy-loyalty-system" TargetMode="External"/><Relationship Id="rId3" Type="http://schemas.openxmlformats.org/officeDocument/2006/relationships/hyperlink" Target="https://code.visualstudio.com/" TargetMode="External"/><Relationship Id="rId4" Type="http://schemas.openxmlformats.org/officeDocument/2006/relationships/hyperlink" Target="https://marketplace.visualstudio.com/items?itemName=alexcvzz.vscode-sqlite" TargetMode="External"/><Relationship Id="rId5" Type="http://schemas.openxmlformats.org/officeDocument/2006/relationships/hyperlink" Target="https://github.com/TeoMeWhy/sql-2025" TargetMode="External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66.png"/><Relationship Id="rId2" Type="http://schemas.openxmlformats.org/officeDocument/2006/relationships/slideLayout" Target="../slideLayouts/slideLayout13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hyperlink" Target="https://www.youtube.com/watch?v=qjFWYi2csXA&amp;list=PLshkB4NQEfC6KQH18stSMJ6-AJ2oYyrwq&amp;ab_channel=ApoenaStack-IuryRosal" TargetMode="External"/><Relationship Id="rId2" Type="http://schemas.openxmlformats.org/officeDocument/2006/relationships/hyperlink" Target="https://judge.beecrowd.com/pt/problems/index/9" TargetMode="External"/><Relationship Id="rId3" Type="http://schemas.openxmlformats.org/officeDocument/2006/relationships/hyperlink" Target="https://www.hackerrank.com/domains/sql" TargetMode="External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67.png"/><Relationship Id="rId2" Type="http://schemas.openxmlformats.org/officeDocument/2006/relationships/image" Target="../media/image68.png"/><Relationship Id="rId3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379160" y="813960"/>
            <a:ext cx="9595080" cy="187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37000"/>
              </a:lnSpc>
              <a:buNone/>
              <a:tabLst>
                <a:tab algn="l" pos="0"/>
              </a:tabLst>
            </a:pPr>
            <a:r>
              <a:rPr b="0" lang="pt-BR" sz="4800" spc="-1" strike="noStrike">
                <a:solidFill>
                  <a:schemeClr val="dk1"/>
                </a:solidFill>
                <a:latin typeface="Arial"/>
                <a:ea typeface="Montserrat Medium"/>
              </a:rPr>
              <a:t>Aprendendo</a:t>
            </a:r>
            <a:r>
              <a:rPr b="0" lang="pt-BR" sz="4800" spc="-1" strike="noStrike">
                <a:solidFill>
                  <a:schemeClr val="dk1"/>
                </a:solidFill>
                <a:latin typeface="Montserrat Medium"/>
                <a:ea typeface="Montserrat Medium"/>
              </a:rPr>
              <a:t> SQL</a:t>
            </a:r>
            <a:endParaRPr b="0" lang="pt-BR" sz="4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7000"/>
              </a:lnSpc>
              <a:buNone/>
              <a:tabLst>
                <a:tab algn="l" pos="0"/>
              </a:tabLst>
            </a:pPr>
            <a:r>
              <a:rPr b="0" lang="pt-BR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Primeiras magias na linguagem dos dados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Google Shape;76;p19"/>
          <p:cNvSpPr/>
          <p:nvPr/>
        </p:nvSpPr>
        <p:spPr>
          <a:xfrm>
            <a:off x="9084960" y="951840"/>
            <a:ext cx="205092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2300" spc="-1" strike="noStrike">
                <a:solidFill>
                  <a:schemeClr val="dk1"/>
                </a:solidFill>
                <a:latin typeface="Montserrat"/>
                <a:ea typeface="Montserrat"/>
              </a:rPr>
              <a:t>25/08/2025</a:t>
            </a:r>
            <a:endParaRPr b="0" lang="pt-BR" sz="2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Google Shape;77;p19" descr="teomewhy-logo-v01"/>
          <p:cNvPicPr/>
          <p:nvPr/>
        </p:nvPicPr>
        <p:blipFill>
          <a:blip r:embed="rId1"/>
          <a:stretch/>
        </p:blipFill>
        <p:spPr>
          <a:xfrm>
            <a:off x="7157520" y="2638080"/>
            <a:ext cx="3679200" cy="2342520"/>
          </a:xfrm>
          <a:prstGeom prst="rect">
            <a:avLst/>
          </a:prstGeom>
          <a:ln w="0">
            <a:noFill/>
          </a:ln>
        </p:spPr>
      </p:pic>
      <p:pic>
        <p:nvPicPr>
          <p:cNvPr id="71" name="Google Shape;78;p19" descr=""/>
          <p:cNvPicPr/>
          <p:nvPr/>
        </p:nvPicPr>
        <p:blipFill>
          <a:blip r:embed="rId2"/>
          <a:stretch/>
        </p:blipFill>
        <p:spPr>
          <a:xfrm>
            <a:off x="1322280" y="2874600"/>
            <a:ext cx="4586760" cy="1869840"/>
          </a:xfrm>
          <a:prstGeom prst="rect">
            <a:avLst/>
          </a:prstGeom>
          <a:ln w="0">
            <a:noFill/>
          </a:ln>
        </p:spPr>
      </p:pic>
      <p:sp>
        <p:nvSpPr>
          <p:cNvPr id="72" name="Google Shape;79;p19"/>
          <p:cNvSpPr/>
          <p:nvPr/>
        </p:nvSpPr>
        <p:spPr>
          <a:xfrm>
            <a:off x="1453320" y="5477040"/>
            <a:ext cx="763128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t">
            <a:spAutoFit/>
          </a:bodyPr>
          <a:p>
            <a:pPr>
              <a:lnSpc>
                <a:spcPct val="137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333333"/>
                </a:solidFill>
                <a:latin typeface="Montserrat Medium"/>
                <a:ea typeface="Montserrat Medium"/>
              </a:rPr>
              <a:t>Aprendendo SQL © 2025 by Téo Calvo is licensed under CC BY-NC-SA 4.0.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333333"/>
                </a:solidFill>
                <a:latin typeface="Montserrat Medium"/>
                <a:ea typeface="Montserrat Medium"/>
              </a:rPr>
              <a:t>To view a copy of this license, visit: https://creativecommons.org/licenses/by-nc-sa/4.0/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84;p20" descr=""/>
          <p:cNvPicPr/>
          <p:nvPr/>
        </p:nvPicPr>
        <p:blipFill>
          <a:blip r:embed="rId1"/>
          <a:stretch/>
        </p:blipFill>
        <p:spPr>
          <a:xfrm>
            <a:off x="394200" y="831960"/>
            <a:ext cx="655200" cy="655200"/>
          </a:xfrm>
          <a:prstGeom prst="rect">
            <a:avLst/>
          </a:prstGeom>
          <a:ln w="0">
            <a:noFill/>
          </a:ln>
        </p:spPr>
      </p:pic>
      <p:sp>
        <p:nvSpPr>
          <p:cNvPr id="74" name="Google Shape;85;p20"/>
          <p:cNvSpPr/>
          <p:nvPr/>
        </p:nvSpPr>
        <p:spPr>
          <a:xfrm>
            <a:off x="1183680" y="806400"/>
            <a:ext cx="4837320" cy="7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rmAutofit/>
          </a:bodyPr>
          <a:p>
            <a:pPr>
              <a:lnSpc>
                <a:spcPct val="70000"/>
              </a:lnSpc>
              <a:tabLst>
                <a:tab algn="l" pos="0"/>
              </a:tabLst>
            </a:pPr>
            <a:r>
              <a:rPr b="0" lang="pt-BR" sz="4300" spc="-1" strike="noStrike">
                <a:solidFill>
                  <a:srgbClr val="000000"/>
                </a:solidFill>
                <a:latin typeface="Montserrat"/>
                <a:ea typeface="Montserrat"/>
              </a:rPr>
              <a:t>Quem</a:t>
            </a:r>
            <a:endParaRPr b="0" lang="pt-BR" sz="43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5" name="Google Shape;86;p20"/>
          <p:cNvGrpSpPr/>
          <p:nvPr/>
        </p:nvGrpSpPr>
        <p:grpSpPr>
          <a:xfrm>
            <a:off x="517320" y="1751040"/>
            <a:ext cx="5196960" cy="562680"/>
            <a:chOff x="517320" y="1751040"/>
            <a:chExt cx="5196960" cy="562680"/>
          </a:xfrm>
        </p:grpSpPr>
        <p:pic>
          <p:nvPicPr>
            <p:cNvPr id="76" name="Google Shape;87;p20" descr=""/>
            <p:cNvPicPr/>
            <p:nvPr/>
          </p:nvPicPr>
          <p:blipFill>
            <a:blip r:embed="rId2"/>
            <a:stretch/>
          </p:blipFill>
          <p:spPr>
            <a:xfrm>
              <a:off x="517320" y="1848240"/>
              <a:ext cx="367920" cy="367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7" name="Google Shape;88;p20"/>
            <p:cNvSpPr/>
            <p:nvPr/>
          </p:nvSpPr>
          <p:spPr>
            <a:xfrm>
              <a:off x="885600" y="1751040"/>
              <a:ext cx="4828680" cy="56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pt-BR" sz="2400" spc="-1" strike="noStrike">
                  <a:solidFill>
                    <a:schemeClr val="dk2"/>
                  </a:solidFill>
                  <a:latin typeface="Montserrat"/>
                  <a:ea typeface="Montserrat"/>
                </a:rPr>
                <a:t>Teodoro “Téo” Calvo</a:t>
              </a:r>
              <a:endParaRPr b="0" lang="pt-BR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8" name="Google Shape;89;p20"/>
          <p:cNvGrpSpPr/>
          <p:nvPr/>
        </p:nvGrpSpPr>
        <p:grpSpPr>
          <a:xfrm>
            <a:off x="517320" y="2644920"/>
            <a:ext cx="6705720" cy="562680"/>
            <a:chOff x="517320" y="2644920"/>
            <a:chExt cx="6705720" cy="562680"/>
          </a:xfrm>
        </p:grpSpPr>
        <p:pic>
          <p:nvPicPr>
            <p:cNvPr id="79" name="Google Shape;90;p20" descr=""/>
            <p:cNvPicPr/>
            <p:nvPr/>
          </p:nvPicPr>
          <p:blipFill>
            <a:blip r:embed="rId3"/>
            <a:stretch/>
          </p:blipFill>
          <p:spPr>
            <a:xfrm>
              <a:off x="517320" y="2742120"/>
              <a:ext cx="367920" cy="367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0" name="Google Shape;91;p20"/>
            <p:cNvSpPr/>
            <p:nvPr/>
          </p:nvSpPr>
          <p:spPr>
            <a:xfrm>
              <a:off x="885600" y="2644920"/>
              <a:ext cx="6337440" cy="56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pt-BR" sz="2400" spc="-1" strike="noStrike">
                  <a:solidFill>
                    <a:schemeClr val="dk2"/>
                  </a:solidFill>
                  <a:latin typeface="Montserrat"/>
                  <a:ea typeface="Montserrat"/>
                </a:rPr>
                <a:t>Bacharel em Estatística - FCT UNESP</a:t>
              </a:r>
              <a:endParaRPr b="0" lang="pt-BR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1" name="Google Shape;92;p20"/>
          <p:cNvGrpSpPr/>
          <p:nvPr/>
        </p:nvGrpSpPr>
        <p:grpSpPr>
          <a:xfrm>
            <a:off x="517320" y="3538800"/>
            <a:ext cx="8508600" cy="562680"/>
            <a:chOff x="517320" y="3538800"/>
            <a:chExt cx="8508600" cy="562680"/>
          </a:xfrm>
        </p:grpSpPr>
        <p:pic>
          <p:nvPicPr>
            <p:cNvPr id="82" name="Google Shape;93;p20" descr=""/>
            <p:cNvPicPr/>
            <p:nvPr/>
          </p:nvPicPr>
          <p:blipFill>
            <a:blip r:embed="rId4"/>
            <a:stretch/>
          </p:blipFill>
          <p:spPr>
            <a:xfrm>
              <a:off x="517320" y="3636000"/>
              <a:ext cx="367920" cy="367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3" name="Google Shape;94;p20"/>
            <p:cNvSpPr/>
            <p:nvPr/>
          </p:nvSpPr>
          <p:spPr>
            <a:xfrm>
              <a:off x="885600" y="3538800"/>
              <a:ext cx="8140320" cy="56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pt-BR" sz="2400" spc="-1" strike="noStrike">
                  <a:solidFill>
                    <a:schemeClr val="dk2"/>
                  </a:solidFill>
                  <a:latin typeface="Montserrat"/>
                  <a:ea typeface="Montserrat"/>
                </a:rPr>
                <a:t>Especialista em Big Data &amp; Data Science - UFPR</a:t>
              </a:r>
              <a:endParaRPr b="0" lang="pt-BR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4" name="Google Shape;95;p20"/>
          <p:cNvGrpSpPr/>
          <p:nvPr/>
        </p:nvGrpSpPr>
        <p:grpSpPr>
          <a:xfrm>
            <a:off x="517320" y="4432680"/>
            <a:ext cx="8508600" cy="562680"/>
            <a:chOff x="517320" y="4432680"/>
            <a:chExt cx="8508600" cy="562680"/>
          </a:xfrm>
        </p:grpSpPr>
        <p:pic>
          <p:nvPicPr>
            <p:cNvPr id="85" name="Google Shape;96;p20" descr=""/>
            <p:cNvPicPr/>
            <p:nvPr/>
          </p:nvPicPr>
          <p:blipFill>
            <a:blip r:embed="rId5"/>
            <a:stretch/>
          </p:blipFill>
          <p:spPr>
            <a:xfrm>
              <a:off x="517320" y="4529880"/>
              <a:ext cx="367920" cy="367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6" name="Google Shape;97;p20"/>
            <p:cNvSpPr/>
            <p:nvPr/>
          </p:nvSpPr>
          <p:spPr>
            <a:xfrm>
              <a:off x="885600" y="4432680"/>
              <a:ext cx="8140320" cy="56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pt-BR" sz="2400" spc="-1" strike="noStrike">
                  <a:solidFill>
                    <a:schemeClr val="dk2"/>
                  </a:solidFill>
                  <a:latin typeface="Montserrat"/>
                  <a:ea typeface="Montserrat"/>
                </a:rPr>
                <a:t>Streamer - Twitch</a:t>
              </a:r>
              <a:endParaRPr b="0" lang="pt-BR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87" name="Google Shape;98;p20" descr=""/>
          <p:cNvPicPr/>
          <p:nvPr/>
        </p:nvPicPr>
        <p:blipFill>
          <a:blip r:embed="rId6"/>
          <a:stretch/>
        </p:blipFill>
        <p:spPr>
          <a:xfrm>
            <a:off x="8681760" y="513360"/>
            <a:ext cx="2878200" cy="2878200"/>
          </a:xfrm>
          <a:prstGeom prst="rect">
            <a:avLst/>
          </a:prstGeom>
          <a:ln w="0">
            <a:noFill/>
          </a:ln>
        </p:spPr>
      </p:pic>
      <p:grpSp>
        <p:nvGrpSpPr>
          <p:cNvPr id="88" name="Google Shape;99;p20"/>
          <p:cNvGrpSpPr/>
          <p:nvPr/>
        </p:nvGrpSpPr>
        <p:grpSpPr>
          <a:xfrm>
            <a:off x="517320" y="5326560"/>
            <a:ext cx="9586080" cy="562680"/>
            <a:chOff x="517320" y="5326560"/>
            <a:chExt cx="9586080" cy="562680"/>
          </a:xfrm>
        </p:grpSpPr>
        <p:pic>
          <p:nvPicPr>
            <p:cNvPr id="89" name="Google Shape;100;p20" descr=""/>
            <p:cNvPicPr/>
            <p:nvPr/>
          </p:nvPicPr>
          <p:blipFill>
            <a:blip r:embed="rId7"/>
            <a:stretch/>
          </p:blipFill>
          <p:spPr>
            <a:xfrm>
              <a:off x="517320" y="5423760"/>
              <a:ext cx="367920" cy="367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0" name="Google Shape;101;p20"/>
            <p:cNvSpPr/>
            <p:nvPr/>
          </p:nvSpPr>
          <p:spPr>
            <a:xfrm>
              <a:off x="885600" y="5326560"/>
              <a:ext cx="9217800" cy="56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pt-BR" sz="2400" spc="-1" strike="noStrike">
                  <a:solidFill>
                    <a:schemeClr val="dk2"/>
                  </a:solidFill>
                  <a:latin typeface="Montserrat"/>
                  <a:ea typeface="Montserrat"/>
                </a:rPr>
                <a:t>Membro do Conselho e Instrutor - Instituto Aaron Swartz</a:t>
              </a:r>
              <a:endParaRPr b="0" lang="pt-BR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91" name="Google Shape;102;p20" descr=""/>
          <p:cNvPicPr/>
          <p:nvPr/>
        </p:nvPicPr>
        <p:blipFill>
          <a:blip r:embed="rId8"/>
          <a:srcRect l="23272" t="0" r="23255" b="56686"/>
          <a:stretch/>
        </p:blipFill>
        <p:spPr>
          <a:xfrm>
            <a:off x="9399600" y="6129000"/>
            <a:ext cx="1979280" cy="728640"/>
          </a:xfrm>
          <a:prstGeom prst="rect">
            <a:avLst/>
          </a:prstGeom>
          <a:ln w="0">
            <a:noFill/>
          </a:ln>
        </p:spPr>
      </p:pic>
      <p:pic>
        <p:nvPicPr>
          <p:cNvPr id="92" name="Google Shape;103;p20" descr=""/>
          <p:cNvPicPr/>
          <p:nvPr/>
        </p:nvPicPr>
        <p:blipFill>
          <a:blip r:embed="rId9"/>
          <a:srcRect l="0" t="10912" r="0" b="7049"/>
          <a:stretch/>
        </p:blipFill>
        <p:spPr>
          <a:xfrm>
            <a:off x="7669080" y="6129000"/>
            <a:ext cx="1692000" cy="728640"/>
          </a:xfrm>
          <a:prstGeom prst="rect">
            <a:avLst/>
          </a:prstGeom>
          <a:ln w="0">
            <a:noFill/>
          </a:ln>
        </p:spPr>
      </p:pic>
      <p:pic>
        <p:nvPicPr>
          <p:cNvPr id="93" name="Google Shape;104;p20" descr=""/>
          <p:cNvPicPr/>
          <p:nvPr/>
        </p:nvPicPr>
        <p:blipFill>
          <a:blip r:embed="rId10"/>
          <a:srcRect l="0" t="3487" r="0" b="2993"/>
          <a:stretch/>
        </p:blipFill>
        <p:spPr>
          <a:xfrm>
            <a:off x="11396880" y="6109200"/>
            <a:ext cx="794880" cy="743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00640" y="259560"/>
            <a:ext cx="6191280" cy="100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600" spc="-1" strike="noStrike">
                <a:solidFill>
                  <a:schemeClr val="dk1"/>
                </a:solidFill>
                <a:latin typeface="Montserrat"/>
                <a:ea typeface="Montserrat"/>
              </a:rPr>
              <a:t>Trajetória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Google Shape;110;p21" descr=""/>
          <p:cNvPicPr/>
          <p:nvPr/>
        </p:nvPicPr>
        <p:blipFill>
          <a:blip r:embed="rId1"/>
          <a:stretch/>
        </p:blipFill>
        <p:spPr>
          <a:xfrm>
            <a:off x="158400" y="417240"/>
            <a:ext cx="685440" cy="685440"/>
          </a:xfrm>
          <a:prstGeom prst="rect">
            <a:avLst/>
          </a:prstGeom>
          <a:ln w="0">
            <a:noFill/>
          </a:ln>
        </p:spPr>
      </p:pic>
      <p:cxnSp>
        <p:nvCxnSpPr>
          <p:cNvPr id="96" name="Google Shape;111;p21"/>
          <p:cNvCxnSpPr/>
          <p:nvPr/>
        </p:nvCxnSpPr>
        <p:spPr>
          <a:xfrm>
            <a:off x="262440" y="1888200"/>
            <a:ext cx="360" cy="4930200"/>
          </a:xfrm>
          <a:prstGeom prst="straightConnector1">
            <a:avLst/>
          </a:prstGeom>
          <a:ln w="16925">
            <a:solidFill>
              <a:srgbClr val="3f3f3f"/>
            </a:solidFill>
            <a:prstDash val="dash"/>
            <a:miter/>
          </a:ln>
        </p:spPr>
      </p:cxnSp>
      <p:cxnSp>
        <p:nvCxnSpPr>
          <p:cNvPr id="97" name="Google Shape;112;p21"/>
          <p:cNvCxnSpPr/>
          <p:nvPr/>
        </p:nvCxnSpPr>
        <p:spPr>
          <a:xfrm>
            <a:off x="8281080" y="1888200"/>
            <a:ext cx="360" cy="4930200"/>
          </a:xfrm>
          <a:prstGeom prst="straightConnector1">
            <a:avLst/>
          </a:prstGeom>
          <a:ln w="16925">
            <a:solidFill>
              <a:srgbClr val="3f3f3f"/>
            </a:solidFill>
            <a:prstDash val="dash"/>
            <a:miter/>
          </a:ln>
        </p:spPr>
      </p:cxnSp>
      <p:sp>
        <p:nvSpPr>
          <p:cNvPr id="98" name="Google Shape;113;p21"/>
          <p:cNvSpPr/>
          <p:nvPr/>
        </p:nvSpPr>
        <p:spPr>
          <a:xfrm>
            <a:off x="383400" y="1689120"/>
            <a:ext cx="90360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2016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Google Shape;114;p21"/>
          <p:cNvSpPr/>
          <p:nvPr/>
        </p:nvSpPr>
        <p:spPr>
          <a:xfrm>
            <a:off x="2674440" y="1689120"/>
            <a:ext cx="90360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2018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Google Shape;115;p21"/>
          <p:cNvSpPr/>
          <p:nvPr/>
        </p:nvSpPr>
        <p:spPr>
          <a:xfrm>
            <a:off x="1555920" y="1689120"/>
            <a:ext cx="90360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2017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Google Shape;116;p21"/>
          <p:cNvSpPr/>
          <p:nvPr/>
        </p:nvSpPr>
        <p:spPr>
          <a:xfrm>
            <a:off x="3819960" y="1689120"/>
            <a:ext cx="90360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2019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Google Shape;117;p21"/>
          <p:cNvSpPr/>
          <p:nvPr/>
        </p:nvSpPr>
        <p:spPr>
          <a:xfrm>
            <a:off x="4965480" y="1689120"/>
            <a:ext cx="90360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2020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Google Shape;118;p21"/>
          <p:cNvSpPr/>
          <p:nvPr/>
        </p:nvSpPr>
        <p:spPr>
          <a:xfrm>
            <a:off x="7291080" y="1689120"/>
            <a:ext cx="83448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2022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Google Shape;119;p21" descr=""/>
          <p:cNvPicPr/>
          <p:nvPr/>
        </p:nvPicPr>
        <p:blipFill>
          <a:blip r:embed="rId2"/>
          <a:stretch/>
        </p:blipFill>
        <p:spPr>
          <a:xfrm>
            <a:off x="1479600" y="2670840"/>
            <a:ext cx="1017000" cy="408960"/>
          </a:xfrm>
          <a:prstGeom prst="rect">
            <a:avLst/>
          </a:prstGeom>
          <a:ln w="0">
            <a:noFill/>
          </a:ln>
        </p:spPr>
      </p:pic>
      <p:cxnSp>
        <p:nvCxnSpPr>
          <p:cNvPr id="105" name="Google Shape;120;p21"/>
          <p:cNvCxnSpPr/>
          <p:nvPr/>
        </p:nvCxnSpPr>
        <p:spPr>
          <a:xfrm>
            <a:off x="6321960" y="3403440"/>
            <a:ext cx="2268360" cy="360"/>
          </a:xfrm>
          <a:prstGeom prst="straightConnector1">
            <a:avLst/>
          </a:prstGeom>
          <a:ln w="50800">
            <a:solidFill>
              <a:srgbClr val="005196"/>
            </a:solidFill>
            <a:miter/>
          </a:ln>
        </p:spPr>
      </p:cxnSp>
      <p:pic>
        <p:nvPicPr>
          <p:cNvPr id="106" name="Google Shape;121;p21" descr="gc"/>
          <p:cNvPicPr/>
          <p:nvPr/>
        </p:nvPicPr>
        <p:blipFill>
          <a:blip r:embed="rId3"/>
          <a:stretch/>
        </p:blipFill>
        <p:spPr>
          <a:xfrm>
            <a:off x="6360840" y="2670840"/>
            <a:ext cx="714240" cy="700560"/>
          </a:xfrm>
          <a:prstGeom prst="rect">
            <a:avLst/>
          </a:prstGeom>
          <a:ln w="0">
            <a:noFill/>
          </a:ln>
        </p:spPr>
      </p:pic>
      <p:pic>
        <p:nvPicPr>
          <p:cNvPr id="107" name="Google Shape;122;p21" descr="Glitch_Purple_RGB"/>
          <p:cNvPicPr/>
          <p:nvPr/>
        </p:nvPicPr>
        <p:blipFill>
          <a:blip r:embed="rId4"/>
          <a:stretch/>
        </p:blipFill>
        <p:spPr>
          <a:xfrm>
            <a:off x="3819960" y="5915520"/>
            <a:ext cx="607320" cy="624600"/>
          </a:xfrm>
          <a:prstGeom prst="rect">
            <a:avLst/>
          </a:prstGeom>
          <a:ln w="0">
            <a:noFill/>
          </a:ln>
        </p:spPr>
      </p:pic>
      <p:cxnSp>
        <p:nvCxnSpPr>
          <p:cNvPr id="108" name="Google Shape;123;p21"/>
          <p:cNvCxnSpPr/>
          <p:nvPr/>
        </p:nvCxnSpPr>
        <p:spPr>
          <a:xfrm>
            <a:off x="4500360" y="6668280"/>
            <a:ext cx="7809840" cy="360"/>
          </a:xfrm>
          <a:prstGeom prst="straightConnector1">
            <a:avLst/>
          </a:prstGeom>
          <a:ln w="50800">
            <a:solidFill>
              <a:srgbClr val="6441a4"/>
            </a:solidFill>
            <a:miter/>
          </a:ln>
        </p:spPr>
      </p:cxnSp>
      <p:cxnSp>
        <p:nvCxnSpPr>
          <p:cNvPr id="109" name="Google Shape;124;p21"/>
          <p:cNvCxnSpPr/>
          <p:nvPr/>
        </p:nvCxnSpPr>
        <p:spPr>
          <a:xfrm>
            <a:off x="1407960" y="1888200"/>
            <a:ext cx="360" cy="4930200"/>
          </a:xfrm>
          <a:prstGeom prst="straightConnector1">
            <a:avLst/>
          </a:prstGeom>
          <a:ln w="16925">
            <a:solidFill>
              <a:srgbClr val="3f3f3f"/>
            </a:solidFill>
            <a:prstDash val="dash"/>
            <a:miter/>
          </a:ln>
        </p:spPr>
      </p:cxnSp>
      <p:cxnSp>
        <p:nvCxnSpPr>
          <p:cNvPr id="110" name="Google Shape;125;p21"/>
          <p:cNvCxnSpPr/>
          <p:nvPr/>
        </p:nvCxnSpPr>
        <p:spPr>
          <a:xfrm>
            <a:off x="2553480" y="1888200"/>
            <a:ext cx="360" cy="4930200"/>
          </a:xfrm>
          <a:prstGeom prst="straightConnector1">
            <a:avLst/>
          </a:prstGeom>
          <a:ln w="16925">
            <a:solidFill>
              <a:srgbClr val="3f3f3f"/>
            </a:solidFill>
            <a:prstDash val="dash"/>
            <a:miter/>
          </a:ln>
        </p:spPr>
      </p:cxnSp>
      <p:cxnSp>
        <p:nvCxnSpPr>
          <p:cNvPr id="111" name="Google Shape;126;p21"/>
          <p:cNvCxnSpPr/>
          <p:nvPr/>
        </p:nvCxnSpPr>
        <p:spPr>
          <a:xfrm>
            <a:off x="3699000" y="1888200"/>
            <a:ext cx="360" cy="4930200"/>
          </a:xfrm>
          <a:prstGeom prst="straightConnector1">
            <a:avLst/>
          </a:prstGeom>
          <a:ln w="16925">
            <a:solidFill>
              <a:srgbClr val="3f3f3f"/>
            </a:solidFill>
            <a:prstDash val="dash"/>
            <a:miter/>
          </a:ln>
        </p:spPr>
      </p:cxnSp>
      <p:cxnSp>
        <p:nvCxnSpPr>
          <p:cNvPr id="112" name="Google Shape;127;p21"/>
          <p:cNvCxnSpPr/>
          <p:nvPr/>
        </p:nvCxnSpPr>
        <p:spPr>
          <a:xfrm>
            <a:off x="4844520" y="1888200"/>
            <a:ext cx="360" cy="4930200"/>
          </a:xfrm>
          <a:prstGeom prst="straightConnector1">
            <a:avLst/>
          </a:prstGeom>
          <a:ln w="16925">
            <a:solidFill>
              <a:srgbClr val="3f3f3f"/>
            </a:solidFill>
            <a:prstDash val="dash"/>
            <a:miter/>
          </a:ln>
        </p:spPr>
      </p:cxnSp>
      <p:cxnSp>
        <p:nvCxnSpPr>
          <p:cNvPr id="113" name="Google Shape;128;p21"/>
          <p:cNvCxnSpPr/>
          <p:nvPr/>
        </p:nvCxnSpPr>
        <p:spPr>
          <a:xfrm>
            <a:off x="5990040" y="1888200"/>
            <a:ext cx="360" cy="4930200"/>
          </a:xfrm>
          <a:prstGeom prst="straightConnector1">
            <a:avLst/>
          </a:prstGeom>
          <a:ln w="16925">
            <a:solidFill>
              <a:srgbClr val="3f3f3f"/>
            </a:solidFill>
            <a:prstDash val="dash"/>
            <a:miter/>
          </a:ln>
        </p:spPr>
      </p:cxnSp>
      <p:cxnSp>
        <p:nvCxnSpPr>
          <p:cNvPr id="114" name="Google Shape;129;p21"/>
          <p:cNvCxnSpPr/>
          <p:nvPr/>
        </p:nvCxnSpPr>
        <p:spPr>
          <a:xfrm>
            <a:off x="7135560" y="1888200"/>
            <a:ext cx="360" cy="4930200"/>
          </a:xfrm>
          <a:prstGeom prst="straightConnector1">
            <a:avLst/>
          </a:prstGeom>
          <a:ln w="16925">
            <a:solidFill>
              <a:srgbClr val="3f3f3f"/>
            </a:solidFill>
            <a:prstDash val="dash"/>
            <a:miter/>
          </a:ln>
        </p:spPr>
      </p:cxnSp>
      <p:sp>
        <p:nvSpPr>
          <p:cNvPr id="115" name="Google Shape;130;p21"/>
          <p:cNvSpPr/>
          <p:nvPr/>
        </p:nvSpPr>
        <p:spPr>
          <a:xfrm>
            <a:off x="6111000" y="1689120"/>
            <a:ext cx="90360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2021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Google Shape;131;p21" descr=""/>
          <p:cNvPicPr/>
          <p:nvPr/>
        </p:nvPicPr>
        <p:blipFill>
          <a:blip r:embed="rId5"/>
          <a:stretch/>
        </p:blipFill>
        <p:spPr>
          <a:xfrm>
            <a:off x="4930200" y="2433240"/>
            <a:ext cx="974160" cy="624600"/>
          </a:xfrm>
          <a:prstGeom prst="rect">
            <a:avLst/>
          </a:prstGeom>
          <a:ln w="0">
            <a:noFill/>
          </a:ln>
        </p:spPr>
      </p:pic>
      <p:pic>
        <p:nvPicPr>
          <p:cNvPr id="117" name="Google Shape;132;p21" descr=""/>
          <p:cNvPicPr/>
          <p:nvPr/>
        </p:nvPicPr>
        <p:blipFill>
          <a:blip r:embed="rId6"/>
          <a:srcRect l="0" t="0" r="57148" b="0"/>
          <a:stretch/>
        </p:blipFill>
        <p:spPr>
          <a:xfrm>
            <a:off x="513720" y="2313000"/>
            <a:ext cx="714240" cy="678960"/>
          </a:xfrm>
          <a:prstGeom prst="rect">
            <a:avLst/>
          </a:prstGeom>
          <a:ln w="0">
            <a:noFill/>
          </a:ln>
        </p:spPr>
      </p:pic>
      <p:pic>
        <p:nvPicPr>
          <p:cNvPr id="118" name="Google Shape;133;p21" descr=""/>
          <p:cNvPicPr/>
          <p:nvPr/>
        </p:nvPicPr>
        <p:blipFill>
          <a:blip r:embed="rId7"/>
          <a:stretch/>
        </p:blipFill>
        <p:spPr>
          <a:xfrm>
            <a:off x="2591280" y="2820960"/>
            <a:ext cx="1198440" cy="1084680"/>
          </a:xfrm>
          <a:prstGeom prst="rect">
            <a:avLst/>
          </a:prstGeom>
          <a:ln w="0">
            <a:noFill/>
          </a:ln>
        </p:spPr>
      </p:pic>
      <p:cxnSp>
        <p:nvCxnSpPr>
          <p:cNvPr id="119" name="Google Shape;134;p21"/>
          <p:cNvCxnSpPr/>
          <p:nvPr/>
        </p:nvCxnSpPr>
        <p:spPr>
          <a:xfrm>
            <a:off x="9426600" y="1888560"/>
            <a:ext cx="360" cy="4930200"/>
          </a:xfrm>
          <a:prstGeom prst="straightConnector1">
            <a:avLst/>
          </a:prstGeom>
          <a:ln w="16925">
            <a:solidFill>
              <a:srgbClr val="3f3f3f"/>
            </a:solidFill>
            <a:prstDash val="dash"/>
            <a:miter/>
          </a:ln>
        </p:spPr>
      </p:cxnSp>
      <p:sp>
        <p:nvSpPr>
          <p:cNvPr id="120" name="Google Shape;135;p21"/>
          <p:cNvSpPr/>
          <p:nvPr/>
        </p:nvSpPr>
        <p:spPr>
          <a:xfrm>
            <a:off x="8436600" y="1689120"/>
            <a:ext cx="83448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2023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1" name="Google Shape;136;p21"/>
          <p:cNvCxnSpPr/>
          <p:nvPr/>
        </p:nvCxnSpPr>
        <p:spPr>
          <a:xfrm>
            <a:off x="3286080" y="2820600"/>
            <a:ext cx="1393200" cy="360"/>
          </a:xfrm>
          <a:prstGeom prst="straightConnector1">
            <a:avLst/>
          </a:prstGeom>
          <a:ln w="50800">
            <a:solidFill>
              <a:srgbClr val="f78222"/>
            </a:solidFill>
            <a:miter/>
          </a:ln>
        </p:spPr>
      </p:cxnSp>
      <p:cxnSp>
        <p:nvCxnSpPr>
          <p:cNvPr id="122" name="Google Shape;137;p21"/>
          <p:cNvCxnSpPr/>
          <p:nvPr/>
        </p:nvCxnSpPr>
        <p:spPr>
          <a:xfrm>
            <a:off x="4687920" y="3112200"/>
            <a:ext cx="1500480" cy="360"/>
          </a:xfrm>
          <a:prstGeom prst="straightConnector1">
            <a:avLst/>
          </a:prstGeom>
          <a:ln w="50800">
            <a:solidFill>
              <a:srgbClr val="0cc5ca"/>
            </a:solidFill>
            <a:miter/>
          </a:ln>
        </p:spPr>
      </p:cxnSp>
      <p:cxnSp>
        <p:nvCxnSpPr>
          <p:cNvPr id="123" name="Google Shape;138;p21"/>
          <p:cNvCxnSpPr/>
          <p:nvPr/>
        </p:nvCxnSpPr>
        <p:spPr>
          <a:xfrm>
            <a:off x="1654920" y="2529360"/>
            <a:ext cx="1578240" cy="360"/>
          </a:xfrm>
          <a:prstGeom prst="straightConnector1">
            <a:avLst/>
          </a:prstGeom>
          <a:ln w="50800">
            <a:solidFill>
              <a:srgbClr val="007cc2"/>
            </a:solidFill>
            <a:miter/>
          </a:ln>
        </p:spPr>
      </p:cxnSp>
      <p:cxnSp>
        <p:nvCxnSpPr>
          <p:cNvPr id="124" name="Google Shape;139;p21"/>
          <p:cNvCxnSpPr/>
          <p:nvPr/>
        </p:nvCxnSpPr>
        <p:spPr>
          <a:xfrm>
            <a:off x="1228320" y="2237760"/>
            <a:ext cx="415080" cy="360"/>
          </a:xfrm>
          <a:prstGeom prst="straightConnector1">
            <a:avLst/>
          </a:prstGeom>
          <a:ln w="50800">
            <a:solidFill>
              <a:srgbClr val="20c3f3"/>
            </a:solidFill>
            <a:miter/>
          </a:ln>
        </p:spPr>
      </p:cxnSp>
      <p:pic>
        <p:nvPicPr>
          <p:cNvPr id="125" name="Google Shape;140;p21" descr=""/>
          <p:cNvPicPr/>
          <p:nvPr/>
        </p:nvPicPr>
        <p:blipFill>
          <a:blip r:embed="rId8"/>
          <a:stretch/>
        </p:blipFill>
        <p:spPr>
          <a:xfrm>
            <a:off x="8314560" y="4703040"/>
            <a:ext cx="903600" cy="886320"/>
          </a:xfrm>
          <a:prstGeom prst="rect">
            <a:avLst/>
          </a:prstGeom>
          <a:ln w="0">
            <a:noFill/>
          </a:ln>
        </p:spPr>
      </p:pic>
      <p:cxnSp>
        <p:nvCxnSpPr>
          <p:cNvPr id="126" name="Google Shape;141;p21"/>
          <p:cNvCxnSpPr/>
          <p:nvPr/>
        </p:nvCxnSpPr>
        <p:spPr>
          <a:xfrm>
            <a:off x="8340120" y="5638680"/>
            <a:ext cx="3969720" cy="360"/>
          </a:xfrm>
          <a:prstGeom prst="straightConnector1">
            <a:avLst/>
          </a:prstGeom>
          <a:ln w="50800">
            <a:solidFill>
              <a:srgbClr val="000000"/>
            </a:solidFill>
            <a:miter/>
          </a:ln>
        </p:spPr>
      </p:cxnSp>
      <p:pic>
        <p:nvPicPr>
          <p:cNvPr id="127" name="Google Shape;142;p21" descr=""/>
          <p:cNvPicPr/>
          <p:nvPr/>
        </p:nvPicPr>
        <p:blipFill>
          <a:blip r:embed="rId9"/>
          <a:stretch/>
        </p:blipFill>
        <p:spPr>
          <a:xfrm>
            <a:off x="5494320" y="5202720"/>
            <a:ext cx="991800" cy="973080"/>
          </a:xfrm>
          <a:prstGeom prst="rect">
            <a:avLst/>
          </a:prstGeom>
          <a:ln w="0">
            <a:noFill/>
          </a:ln>
        </p:spPr>
      </p:pic>
      <p:cxnSp>
        <p:nvCxnSpPr>
          <p:cNvPr id="128" name="Google Shape;143;p21"/>
          <p:cNvCxnSpPr/>
          <p:nvPr/>
        </p:nvCxnSpPr>
        <p:spPr>
          <a:xfrm>
            <a:off x="4857480" y="6102000"/>
            <a:ext cx="7453440" cy="360"/>
          </a:xfrm>
          <a:prstGeom prst="straightConnector1">
            <a:avLst/>
          </a:prstGeom>
          <a:ln w="50800">
            <a:solidFill>
              <a:srgbClr val="f90373"/>
            </a:solidFill>
            <a:miter/>
          </a:ln>
        </p:spPr>
      </p:cxnSp>
      <p:pic>
        <p:nvPicPr>
          <p:cNvPr id="129" name="Google Shape;144;p21" descr=""/>
          <p:cNvPicPr/>
          <p:nvPr/>
        </p:nvPicPr>
        <p:blipFill>
          <a:blip r:embed="rId10"/>
          <a:srcRect l="0" t="20249" r="0" b="20136"/>
          <a:stretch/>
        </p:blipFill>
        <p:spPr>
          <a:xfrm>
            <a:off x="8254800" y="3702960"/>
            <a:ext cx="1198440" cy="700560"/>
          </a:xfrm>
          <a:prstGeom prst="rect">
            <a:avLst/>
          </a:prstGeom>
          <a:ln w="0">
            <a:noFill/>
          </a:ln>
        </p:spPr>
      </p:pic>
      <p:cxnSp>
        <p:nvCxnSpPr>
          <p:cNvPr id="130" name="Google Shape;145;p21"/>
          <p:cNvCxnSpPr/>
          <p:nvPr/>
        </p:nvCxnSpPr>
        <p:spPr>
          <a:xfrm>
            <a:off x="9099000" y="3753720"/>
            <a:ext cx="339840" cy="360"/>
          </a:xfrm>
          <a:prstGeom prst="straightConnector1">
            <a:avLst/>
          </a:prstGeom>
          <a:ln w="50800">
            <a:solidFill>
              <a:srgbClr val="5400ff"/>
            </a:solidFill>
            <a:miter/>
          </a:ln>
        </p:spPr>
      </p:cxnSp>
      <p:sp>
        <p:nvSpPr>
          <p:cNvPr id="131" name="Google Shape;146;p21"/>
          <p:cNvSpPr/>
          <p:nvPr/>
        </p:nvSpPr>
        <p:spPr>
          <a:xfrm>
            <a:off x="9582120" y="1689120"/>
            <a:ext cx="83448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2024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2" name="Google Shape;147;p21"/>
          <p:cNvCxnSpPr/>
          <p:nvPr/>
        </p:nvCxnSpPr>
        <p:spPr>
          <a:xfrm>
            <a:off x="11718000" y="1888560"/>
            <a:ext cx="360" cy="4930200"/>
          </a:xfrm>
          <a:prstGeom prst="straightConnector1">
            <a:avLst/>
          </a:prstGeom>
          <a:ln w="16925">
            <a:solidFill>
              <a:srgbClr val="3f3f3f"/>
            </a:solidFill>
            <a:prstDash val="dash"/>
            <a:miter/>
          </a:ln>
        </p:spPr>
      </p:cxnSp>
      <p:pic>
        <p:nvPicPr>
          <p:cNvPr id="133" name="Google Shape;148;p21" descr=""/>
          <p:cNvPicPr/>
          <p:nvPr/>
        </p:nvPicPr>
        <p:blipFill>
          <a:blip r:embed="rId11"/>
          <a:srcRect l="9718" t="21242" r="33609" b="21596"/>
          <a:stretch/>
        </p:blipFill>
        <p:spPr>
          <a:xfrm>
            <a:off x="9453600" y="6327360"/>
            <a:ext cx="339120" cy="306360"/>
          </a:xfrm>
          <a:prstGeom prst="rect">
            <a:avLst/>
          </a:prstGeom>
          <a:ln w="0">
            <a:noFill/>
          </a:ln>
        </p:spPr>
      </p:pic>
      <p:pic>
        <p:nvPicPr>
          <p:cNvPr id="134" name="Google Shape;149;p21" descr=""/>
          <p:cNvPicPr/>
          <p:nvPr/>
        </p:nvPicPr>
        <p:blipFill>
          <a:blip r:embed="rId12"/>
          <a:stretch/>
        </p:blipFill>
        <p:spPr>
          <a:xfrm>
            <a:off x="9693360" y="4356360"/>
            <a:ext cx="834480" cy="818640"/>
          </a:xfrm>
          <a:prstGeom prst="rect">
            <a:avLst/>
          </a:prstGeom>
          <a:ln w="0">
            <a:noFill/>
          </a:ln>
        </p:spPr>
      </p:pic>
      <p:cxnSp>
        <p:nvCxnSpPr>
          <p:cNvPr id="135" name="Google Shape;150;p21"/>
          <p:cNvCxnSpPr/>
          <p:nvPr/>
        </p:nvCxnSpPr>
        <p:spPr>
          <a:xfrm>
            <a:off x="10572480" y="1888200"/>
            <a:ext cx="360" cy="4930200"/>
          </a:xfrm>
          <a:prstGeom prst="straightConnector1">
            <a:avLst/>
          </a:prstGeom>
          <a:ln w="16925">
            <a:solidFill>
              <a:srgbClr val="3f3f3f"/>
            </a:solidFill>
            <a:prstDash val="dash"/>
            <a:miter/>
          </a:ln>
        </p:spPr>
      </p:cxnSp>
      <p:sp>
        <p:nvSpPr>
          <p:cNvPr id="136" name="Google Shape;151;p21"/>
          <p:cNvSpPr/>
          <p:nvPr/>
        </p:nvSpPr>
        <p:spPr>
          <a:xfrm>
            <a:off x="10728000" y="1689120"/>
            <a:ext cx="83448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2025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Google Shape;152;p21" descr=""/>
          <p:cNvPicPr/>
          <p:nvPr/>
        </p:nvPicPr>
        <p:blipFill>
          <a:blip r:embed="rId13"/>
          <a:stretch/>
        </p:blipFill>
        <p:spPr>
          <a:xfrm>
            <a:off x="10233360" y="6311880"/>
            <a:ext cx="339120" cy="337320"/>
          </a:xfrm>
          <a:prstGeom prst="rect">
            <a:avLst/>
          </a:prstGeom>
          <a:ln w="0">
            <a:noFill/>
          </a:ln>
        </p:spPr>
      </p:pic>
      <p:cxnSp>
        <p:nvCxnSpPr>
          <p:cNvPr id="138" name="Google Shape;153;p21"/>
          <p:cNvCxnSpPr/>
          <p:nvPr/>
        </p:nvCxnSpPr>
        <p:spPr>
          <a:xfrm>
            <a:off x="10082880" y="5227560"/>
            <a:ext cx="888840" cy="360"/>
          </a:xfrm>
          <a:prstGeom prst="straightConnector1">
            <a:avLst/>
          </a:prstGeom>
          <a:ln w="50800">
            <a:solidFill>
              <a:srgbClr val="ff940d"/>
            </a:solidFill>
            <a:miter/>
          </a:ln>
        </p:spPr>
      </p:cxnSp>
      <p:pic>
        <p:nvPicPr>
          <p:cNvPr id="139" name="Google Shape;154;p21" descr=""/>
          <p:cNvPicPr/>
          <p:nvPr/>
        </p:nvPicPr>
        <p:blipFill>
          <a:blip r:embed="rId14"/>
          <a:srcRect l="0" t="3487" r="0" b="2993"/>
          <a:stretch/>
        </p:blipFill>
        <p:spPr>
          <a:xfrm>
            <a:off x="10895400" y="6311880"/>
            <a:ext cx="360720" cy="33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60;p22" descr=""/>
          <p:cNvPicPr/>
          <p:nvPr/>
        </p:nvPicPr>
        <p:blipFill>
          <a:blip r:embed="rId1"/>
          <a:stretch/>
        </p:blipFill>
        <p:spPr>
          <a:xfrm>
            <a:off x="158400" y="417240"/>
            <a:ext cx="685440" cy="685440"/>
          </a:xfrm>
          <a:prstGeom prst="rect">
            <a:avLst/>
          </a:prstGeom>
          <a:ln w="0">
            <a:noFill/>
          </a:ln>
        </p:spPr>
      </p:pic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800640" y="259560"/>
            <a:ext cx="6191280" cy="100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600" spc="-1" strike="noStrike">
                <a:solidFill>
                  <a:schemeClr val="dk1"/>
                </a:solidFill>
                <a:latin typeface="Montserrat SemiBold"/>
                <a:ea typeface="Montserrat SemiBold"/>
              </a:rPr>
              <a:t>Combinados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Google Shape;162;p22"/>
          <p:cNvSpPr/>
          <p:nvPr/>
        </p:nvSpPr>
        <p:spPr>
          <a:xfrm>
            <a:off x="844200" y="1337760"/>
            <a:ext cx="11000880" cy="54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43080">
              <a:lnSpc>
                <a:spcPct val="115000"/>
              </a:lnSpc>
              <a:buClr>
                <a:srgbClr val="374151"/>
              </a:buClr>
              <a:buFont typeface="Montserrat"/>
              <a:buChar char="●"/>
            </a:pP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Sempre das </a:t>
            </a:r>
            <a:r>
              <a:rPr b="1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9AM às ~11 horas</a:t>
            </a: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 estaremos online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374151"/>
              </a:buClr>
              <a:buFont typeface="Montserrat"/>
              <a:buChar char="●"/>
              <a:tabLst>
                <a:tab algn="l" pos="0"/>
              </a:tabLst>
            </a:pP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Pausa às </a:t>
            </a:r>
            <a:r>
              <a:rPr b="1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10:00hrs</a:t>
            </a: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 até as 10:15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374151"/>
              </a:buClr>
              <a:buFont typeface="Montserrat"/>
              <a:buChar char="●"/>
              <a:tabLst>
                <a:tab algn="l" pos="0"/>
              </a:tabLst>
            </a:pP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Notificações serão </a:t>
            </a:r>
            <a:r>
              <a:rPr b="1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desligadas</a:t>
            </a: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, mas sua contribuição é sempre bem-vinda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374151"/>
              </a:buClr>
              <a:buFont typeface="Montserrat"/>
              <a:buChar char="●"/>
              <a:tabLst>
                <a:tab algn="l" pos="0"/>
              </a:tabLst>
            </a:pP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Quando houver ADs, a explicação é </a:t>
            </a:r>
            <a:r>
              <a:rPr b="1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pausada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374151"/>
              </a:buClr>
              <a:buFont typeface="Montserrat"/>
              <a:buChar char="●"/>
              <a:tabLst>
                <a:tab algn="l" pos="0"/>
              </a:tabLst>
            </a:pP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Evite </a:t>
            </a:r>
            <a:r>
              <a:rPr b="1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spamar</a:t>
            </a: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 a mesma coisa no chat, moderadores estarão de olho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374151"/>
              </a:buClr>
              <a:buFont typeface="Montserrat"/>
              <a:buChar char="●"/>
              <a:tabLst>
                <a:tab algn="l" pos="0"/>
              </a:tabLst>
            </a:pP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Comentários discriminatórios e babacas serão </a:t>
            </a:r>
            <a:r>
              <a:rPr b="1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banidos</a:t>
            </a: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 sem aviso prévio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374151"/>
              </a:buClr>
              <a:buFont typeface="Montserrat"/>
              <a:buChar char="●"/>
              <a:tabLst>
                <a:tab algn="l" pos="0"/>
              </a:tabLst>
            </a:pPr>
            <a:r>
              <a:rPr b="1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!ppt</a:t>
            </a: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 para acessar todo material o curso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374151"/>
              </a:buClr>
              <a:buFont typeface="Montserrat"/>
              <a:buChar char="●"/>
              <a:tabLst>
                <a:tab algn="l" pos="0"/>
              </a:tabLst>
            </a:pP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Sorteio no último dia!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68;p23" descr=""/>
          <p:cNvPicPr/>
          <p:nvPr/>
        </p:nvPicPr>
        <p:blipFill>
          <a:blip r:embed="rId1"/>
          <a:stretch/>
        </p:blipFill>
        <p:spPr>
          <a:xfrm>
            <a:off x="158400" y="417240"/>
            <a:ext cx="685440" cy="685440"/>
          </a:xfrm>
          <a:prstGeom prst="rect">
            <a:avLst/>
          </a:prstGeom>
          <a:ln w="0">
            <a:noFill/>
          </a:ln>
        </p:spPr>
      </p:pic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800640" y="259560"/>
            <a:ext cx="6191280" cy="100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600" spc="-1" strike="noStrike">
                <a:solidFill>
                  <a:schemeClr val="dk1"/>
                </a:solidFill>
                <a:latin typeface="Montserrat SemiBold"/>
                <a:ea typeface="Montserrat SemiBold"/>
              </a:rPr>
              <a:t>Avisos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Google Shape;170;p23"/>
          <p:cNvSpPr/>
          <p:nvPr/>
        </p:nvSpPr>
        <p:spPr>
          <a:xfrm>
            <a:off x="844200" y="1337760"/>
            <a:ext cx="11000880" cy="47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609480" indent="-431640">
              <a:lnSpc>
                <a:spcPct val="115000"/>
              </a:lnSpc>
              <a:buClr>
                <a:srgbClr val="000000"/>
              </a:buClr>
              <a:buFont typeface="Montserrat"/>
              <a:buChar char="●"/>
            </a:pP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Participe de nossa comunidade: </a:t>
            </a:r>
            <a:r>
              <a:rPr b="0" lang="pt-BR" sz="2000" spc="-1" strike="noStrike" u="sng">
                <a:solidFill>
                  <a:schemeClr val="hlink"/>
                </a:solidFill>
                <a:uFillTx/>
                <a:latin typeface="Montserrat"/>
                <a:ea typeface="Montserrat"/>
                <a:hlinkClick r:id="rId2"/>
              </a:rPr>
              <a:t>comunidade.teomewhy.org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609480">
              <a:lnSpc>
                <a:spcPct val="115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609480" indent="-431640">
              <a:lnSpc>
                <a:spcPct val="115000"/>
              </a:lnSpc>
              <a:buClr>
                <a:srgbClr val="374151"/>
              </a:buClr>
              <a:buFont typeface="Montserrat"/>
              <a:buChar char="●"/>
              <a:tabLst>
                <a:tab algn="l" pos="0"/>
              </a:tabLst>
            </a:pP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Nosso foco é o básico bem feito.  Estamos melhorando ano após ano!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609480">
              <a:lnSpc>
                <a:spcPct val="115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609480" indent="-431640">
              <a:lnSpc>
                <a:spcPct val="115000"/>
              </a:lnSpc>
              <a:buClr>
                <a:srgbClr val="374151"/>
              </a:buClr>
              <a:buFont typeface="Montserrat"/>
              <a:buChar char="●"/>
              <a:tabLst>
                <a:tab algn="l" pos="0"/>
              </a:tabLst>
            </a:pP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O sucesso do curso também depende de você!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609480">
              <a:lnSpc>
                <a:spcPct val="115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609480" indent="-431640">
              <a:lnSpc>
                <a:spcPct val="115000"/>
              </a:lnSpc>
              <a:buClr>
                <a:srgbClr val="374151"/>
              </a:buClr>
              <a:buFont typeface="Montserrat"/>
              <a:buChar char="●"/>
              <a:tabLst>
                <a:tab algn="l" pos="0"/>
              </a:tabLst>
            </a:pP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Me ajude com as perguntas repetidas;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609480">
              <a:lnSpc>
                <a:spcPct val="115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609480" indent="-431640">
              <a:lnSpc>
                <a:spcPct val="115000"/>
              </a:lnSpc>
              <a:buClr>
                <a:srgbClr val="374151"/>
              </a:buClr>
              <a:buFont typeface="Montserrat"/>
              <a:buChar char="●"/>
              <a:tabLst>
                <a:tab algn="l" pos="0"/>
              </a:tabLst>
            </a:pP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Tem algo que não abordei?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609480">
              <a:lnSpc>
                <a:spcPct val="115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609480" indent="-431640">
              <a:lnSpc>
                <a:spcPct val="115000"/>
              </a:lnSpc>
              <a:buClr>
                <a:srgbClr val="374151"/>
              </a:buClr>
              <a:buFont typeface="Montserrat"/>
              <a:buChar char="●"/>
              <a:tabLst>
                <a:tab algn="l" pos="0"/>
              </a:tabLst>
            </a:pP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Tem algo que você explicaria diferente?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609480">
              <a:lnSpc>
                <a:spcPct val="115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609480" indent="-431640">
              <a:lnSpc>
                <a:spcPct val="115000"/>
              </a:lnSpc>
              <a:buClr>
                <a:srgbClr val="374151"/>
              </a:buClr>
              <a:buFont typeface="Montserrat"/>
              <a:buChar char="●"/>
              <a:tabLst>
                <a:tab algn="l" pos="0"/>
              </a:tabLst>
            </a:pP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Tem algo mais complexo que deixei passar?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6" name="Google Shape;171;p23"/>
          <p:cNvGrpSpPr/>
          <p:nvPr/>
        </p:nvGrpSpPr>
        <p:grpSpPr>
          <a:xfrm>
            <a:off x="7279200" y="4015800"/>
            <a:ext cx="5019480" cy="2175120"/>
            <a:chOff x="7279200" y="4015800"/>
            <a:chExt cx="5019480" cy="2175120"/>
          </a:xfrm>
        </p:grpSpPr>
        <p:grpSp>
          <p:nvGrpSpPr>
            <p:cNvPr id="147" name="Google Shape;172;p23"/>
            <p:cNvGrpSpPr/>
            <p:nvPr/>
          </p:nvGrpSpPr>
          <p:grpSpPr>
            <a:xfrm>
              <a:off x="7835760" y="4671000"/>
              <a:ext cx="4462920" cy="865440"/>
              <a:chOff x="7835760" y="4671000"/>
              <a:chExt cx="4462920" cy="865440"/>
            </a:xfrm>
          </p:grpSpPr>
          <p:sp>
            <p:nvSpPr>
              <p:cNvPr id="148" name="Google Shape;173;p23"/>
              <p:cNvSpPr/>
              <p:nvPr/>
            </p:nvSpPr>
            <p:spPr>
              <a:xfrm>
                <a:off x="7835760" y="4870080"/>
                <a:ext cx="934200" cy="466560"/>
              </a:xfrm>
              <a:prstGeom prst="notchedRightArrow">
                <a:avLst>
                  <a:gd name="adj1" fmla="val 50000"/>
                  <a:gd name="adj2" fmla="val 50000"/>
                </a:avLst>
              </a:prstGeom>
              <a:solidFill>
                <a:srgbClr val="d9d9d9"/>
              </a:solidFill>
              <a:ln w="38100">
                <a:solidFill>
                  <a:srgbClr val="434343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5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149" name="Google Shape;174;p23"/>
              <p:cNvSpPr/>
              <p:nvPr/>
            </p:nvSpPr>
            <p:spPr>
              <a:xfrm>
                <a:off x="9046440" y="4671000"/>
                <a:ext cx="3252240" cy="865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pt-BR" sz="2400" spc="-1" strike="noStrike">
                    <a:solidFill>
                      <a:srgbClr val="000000"/>
                    </a:solidFill>
                    <a:latin typeface="Montserrat"/>
                    <a:ea typeface="Montserrat"/>
                  </a:rPr>
                  <a:t>Faça um vídeo/material</a:t>
                </a:r>
                <a:endParaRPr b="0" lang="pt-BR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50" name="Google Shape;175;p23"/>
            <p:cNvSpPr/>
            <p:nvPr/>
          </p:nvSpPr>
          <p:spPr>
            <a:xfrm>
              <a:off x="7279200" y="4015800"/>
              <a:ext cx="280080" cy="2175120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38100">
              <a:solidFill>
                <a:srgbClr val="44546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5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81;p24" descr=""/>
          <p:cNvPicPr/>
          <p:nvPr/>
        </p:nvPicPr>
        <p:blipFill>
          <a:blip r:embed="rId1"/>
          <a:stretch/>
        </p:blipFill>
        <p:spPr>
          <a:xfrm>
            <a:off x="158400" y="417240"/>
            <a:ext cx="685440" cy="685440"/>
          </a:xfrm>
          <a:prstGeom prst="rect">
            <a:avLst/>
          </a:prstGeom>
          <a:ln w="0">
            <a:noFill/>
          </a:ln>
        </p:spPr>
      </p:pic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00640" y="259560"/>
            <a:ext cx="6191280" cy="100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600" spc="-1" strike="noStrike">
                <a:solidFill>
                  <a:schemeClr val="dk1"/>
                </a:solidFill>
                <a:latin typeface="Montserrat SemiBold"/>
                <a:ea typeface="Montserrat SemiBold"/>
              </a:rPr>
              <a:t>Nos Apoie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Google Shape;183;p24"/>
          <p:cNvSpPr/>
          <p:nvPr/>
        </p:nvSpPr>
        <p:spPr>
          <a:xfrm>
            <a:off x="844200" y="1337760"/>
            <a:ext cx="11000880" cy="51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pt-BR" sz="2500" spc="-1" strike="noStrike">
                <a:solidFill>
                  <a:srgbClr val="374151"/>
                </a:solidFill>
                <a:latin typeface="Montserrat"/>
                <a:ea typeface="Montserrat"/>
              </a:rPr>
              <a:t>Nossos cursos são 100% gratuitos</a:t>
            </a:r>
            <a:endParaRPr b="0" lang="pt-BR" sz="2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e você pode nos apoiar em diferentes plataformas: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374151"/>
              </a:buClr>
              <a:buFont typeface="Montserrat"/>
              <a:buChar char="●"/>
              <a:tabLst>
                <a:tab algn="l" pos="0"/>
              </a:tabLst>
            </a:pP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Apoia.se: </a:t>
            </a:r>
            <a:r>
              <a:rPr b="0" lang="pt-BR" sz="2000" spc="-1" strike="noStrike" u="sng">
                <a:solidFill>
                  <a:schemeClr val="hlink"/>
                </a:solidFill>
                <a:uFillTx/>
                <a:latin typeface="Montserrat"/>
                <a:ea typeface="Montserrat"/>
                <a:hlinkClick r:id="rId2"/>
              </a:rPr>
              <a:t>apoia.se/teomewhy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374151"/>
              </a:buClr>
              <a:buFont typeface="Montserrat"/>
              <a:buChar char="●"/>
              <a:tabLst>
                <a:tab algn="l" pos="0"/>
              </a:tabLst>
            </a:pP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LivePix: </a:t>
            </a:r>
            <a:r>
              <a:rPr b="0" lang="pt-BR" sz="2000" spc="-1" strike="noStrike" u="sng">
                <a:solidFill>
                  <a:schemeClr val="hlink"/>
                </a:solidFill>
                <a:uFillTx/>
                <a:latin typeface="Montserrat"/>
                <a:ea typeface="Montserrat"/>
                <a:hlinkClick r:id="rId3"/>
              </a:rPr>
              <a:t>livepix.gg/teomewhy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374151"/>
              </a:buClr>
              <a:buFont typeface="Montserrat"/>
              <a:buChar char="●"/>
              <a:tabLst>
                <a:tab algn="l" pos="0"/>
              </a:tabLst>
            </a:pP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Assinante na Twitch: </a:t>
            </a:r>
            <a:r>
              <a:rPr b="0" lang="pt-BR" sz="2000" spc="-1" strike="noStrike" u="sng">
                <a:solidFill>
                  <a:schemeClr val="hlink"/>
                </a:solidFill>
                <a:uFillTx/>
                <a:latin typeface="Montserrat"/>
                <a:ea typeface="Montserrat"/>
                <a:hlinkClick r:id="rId4"/>
              </a:rPr>
              <a:t>twitch.tv/teomewhy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374151"/>
              </a:buClr>
              <a:buFont typeface="Montserrat"/>
              <a:buChar char="●"/>
              <a:tabLst>
                <a:tab algn="l" pos="0"/>
              </a:tabLst>
            </a:pP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Membros no YouTube: </a:t>
            </a:r>
            <a:r>
              <a:rPr b="0" lang="pt-BR" sz="2000" spc="-1" strike="noStrike" u="sng">
                <a:solidFill>
                  <a:schemeClr val="hlink"/>
                </a:solidFill>
                <a:uFillTx/>
                <a:latin typeface="Montserrat"/>
                <a:ea typeface="Montserrat"/>
                <a:hlinkClick r:id="rId5"/>
              </a:rPr>
              <a:t>youtube.com/@teomewhy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374151"/>
              </a:buClr>
              <a:buFont typeface="Montserrat"/>
              <a:buChar char="●"/>
              <a:tabLst>
                <a:tab algn="l" pos="0"/>
              </a:tabLst>
            </a:pPr>
            <a:r>
              <a:rPr b="0" lang="pt-BR" sz="2000" spc="-1" strike="noStrike">
                <a:solidFill>
                  <a:srgbClr val="374151"/>
                </a:solidFill>
                <a:latin typeface="Montserrat"/>
                <a:ea typeface="Montserrat"/>
              </a:rPr>
              <a:t>GitHub Sponsors: </a:t>
            </a:r>
            <a:r>
              <a:rPr b="0" lang="pt-BR" sz="2000" spc="-1" strike="noStrike" u="sng">
                <a:solidFill>
                  <a:schemeClr val="hlink"/>
                </a:solidFill>
                <a:uFillTx/>
                <a:latin typeface="Montserrat"/>
                <a:ea typeface="Montserrat"/>
                <a:hlinkClick r:id="rId6"/>
              </a:rPr>
              <a:t>github.com/sponsors/TeoMeWhy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/>
          </p:nvPr>
        </p:nvSpPr>
        <p:spPr>
          <a:xfrm>
            <a:off x="1086480" y="1680120"/>
            <a:ext cx="10018800" cy="392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65"/>
          </a:bodyPr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Montserrat"/>
              <a:buChar char="•"/>
            </a:pPr>
            <a:r>
              <a:rPr b="0" lang="pt-BR" sz="2600" spc="-1" strike="noStrike">
                <a:solidFill>
                  <a:schemeClr val="dk1"/>
                </a:solidFill>
                <a:latin typeface="Montserrat"/>
                <a:ea typeface="Montserrat"/>
              </a:rPr>
              <a:t>Pouco ou nenhum conhecimento em SQL;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Montserrat"/>
              <a:buChar char="•"/>
            </a:pPr>
            <a:r>
              <a:rPr b="0" lang="pt-BR" sz="2600" spc="-1" strike="noStrike">
                <a:solidFill>
                  <a:schemeClr val="dk1"/>
                </a:solidFill>
                <a:latin typeface="Montserrat"/>
                <a:ea typeface="Montserrat"/>
              </a:rPr>
              <a:t>Migração de carreira;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Montserrat"/>
              <a:buChar char="•"/>
            </a:pPr>
            <a:r>
              <a:rPr b="0" lang="pt-BR" sz="2600" spc="-1" strike="noStrike">
                <a:solidFill>
                  <a:schemeClr val="dk1"/>
                </a:solidFill>
                <a:latin typeface="Montserrat"/>
                <a:ea typeface="Montserrat"/>
              </a:rPr>
              <a:t>Acessar dados em bancos de dados;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Montserrat"/>
              <a:buChar char="•"/>
            </a:pPr>
            <a:r>
              <a:rPr b="0" lang="pt-BR" sz="2600" spc="-1" strike="noStrike">
                <a:solidFill>
                  <a:schemeClr val="dk1"/>
                </a:solidFill>
                <a:latin typeface="Montserrat"/>
                <a:ea typeface="Montserrat"/>
              </a:rPr>
              <a:t>Analisar dados;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Montserrat"/>
              <a:buChar char="•"/>
            </a:pPr>
            <a:r>
              <a:rPr b="0" lang="pt-BR" sz="2600" spc="-1" strike="noStrike">
                <a:solidFill>
                  <a:schemeClr val="dk1"/>
                </a:solidFill>
                <a:latin typeface="Montserrat"/>
                <a:ea typeface="Montserrat"/>
              </a:rPr>
              <a:t>Gerar relatórios;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Montserrat"/>
              <a:buChar char="•"/>
            </a:pPr>
            <a:r>
              <a:rPr b="0" lang="pt-BR" sz="2600" spc="-1" strike="noStrike">
                <a:solidFill>
                  <a:schemeClr val="dk1"/>
                </a:solidFill>
                <a:latin typeface="Montserrat"/>
                <a:ea typeface="Montserrat"/>
              </a:rPr>
              <a:t>Tomar decisões suportadas em dados;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Google Shape;189;p25" descr=""/>
          <p:cNvPicPr/>
          <p:nvPr/>
        </p:nvPicPr>
        <p:blipFill>
          <a:blip r:embed="rId1"/>
          <a:stretch/>
        </p:blipFill>
        <p:spPr>
          <a:xfrm>
            <a:off x="158400" y="417240"/>
            <a:ext cx="685440" cy="685440"/>
          </a:xfrm>
          <a:prstGeom prst="rect">
            <a:avLst/>
          </a:prstGeom>
          <a:ln w="0">
            <a:noFill/>
          </a:ln>
        </p:spPr>
      </p:pic>
      <p:sp>
        <p:nvSpPr>
          <p:cNvPr id="156" name="PlaceHolder 2"/>
          <p:cNvSpPr>
            <a:spLocks noGrp="1"/>
          </p:cNvSpPr>
          <p:nvPr>
            <p:ph type="title"/>
          </p:nvPr>
        </p:nvSpPr>
        <p:spPr>
          <a:xfrm>
            <a:off x="800640" y="259560"/>
            <a:ext cx="6191280" cy="100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600" spc="-1" strike="noStrike">
                <a:solidFill>
                  <a:schemeClr val="dk1"/>
                </a:solidFill>
                <a:latin typeface="Montserrat SemiBold"/>
                <a:ea typeface="Montserrat SemiBold"/>
              </a:rPr>
              <a:t>Para </a:t>
            </a:r>
            <a:r>
              <a:rPr b="0" lang="pt-BR" sz="3600" spc="-1" strike="noStrike">
                <a:solidFill>
                  <a:schemeClr val="dk1"/>
                </a:solidFill>
                <a:latin typeface="Montserrat SemiBold"/>
                <a:ea typeface="Montserrat SemiBold"/>
              </a:rPr>
              <a:t>quem é </a:t>
            </a:r>
            <a:r>
              <a:rPr b="0" lang="pt-BR" sz="3600" spc="-1" strike="noStrike">
                <a:solidFill>
                  <a:schemeClr val="dk1"/>
                </a:solidFill>
                <a:latin typeface="Montserrat SemiBold"/>
                <a:ea typeface="Montserrat SemiBold"/>
              </a:rPr>
              <a:t>este </a:t>
            </a:r>
            <a:r>
              <a:rPr b="0" lang="pt-BR" sz="3600" spc="-1" strike="noStrike">
                <a:solidFill>
                  <a:schemeClr val="dk1"/>
                </a:solidFill>
                <a:latin typeface="Montserrat SemiBold"/>
                <a:ea typeface="Montserrat SemiBold"/>
              </a:rPr>
              <a:t>curso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/>
          </p:nvPr>
        </p:nvSpPr>
        <p:spPr>
          <a:xfrm>
            <a:off x="563760" y="2137320"/>
            <a:ext cx="11247840" cy="392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393840">
              <a:lnSpc>
                <a:spcPct val="200000"/>
              </a:lnSpc>
              <a:spcBef>
                <a:spcPts val="1001"/>
              </a:spcBef>
              <a:buClr>
                <a:srgbClr val="000000"/>
              </a:buClr>
              <a:buFont typeface="Montserrat"/>
              <a:buChar char="•"/>
            </a:pPr>
            <a:r>
              <a:rPr b="0" lang="pt-BR" sz="2600" spc="-1" strike="noStrike">
                <a:solidFill>
                  <a:schemeClr val="dk1"/>
                </a:solidFill>
                <a:latin typeface="Montserrat"/>
                <a:ea typeface="Montserrat"/>
              </a:rPr>
              <a:t>Vasta experiência e usa SQL intensivamente no seu dia a dia;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marL="457200" indent="-393840">
              <a:lnSpc>
                <a:spcPct val="200000"/>
              </a:lnSpc>
              <a:buClr>
                <a:srgbClr val="000000"/>
              </a:buClr>
              <a:buFont typeface="Montserrat"/>
              <a:buChar char="•"/>
            </a:pPr>
            <a:r>
              <a:rPr b="0" lang="pt-BR" sz="2600" spc="-1" strike="noStrike">
                <a:solidFill>
                  <a:schemeClr val="dk1"/>
                </a:solidFill>
                <a:latin typeface="Montserrat"/>
                <a:ea typeface="Montserrat"/>
              </a:rPr>
              <a:t>Deseja construir um banco de dados;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marL="457200" indent="-393840">
              <a:lnSpc>
                <a:spcPct val="200000"/>
              </a:lnSpc>
              <a:buClr>
                <a:srgbClr val="000000"/>
              </a:buClr>
              <a:buFont typeface="Montserrat"/>
              <a:buChar char="•"/>
            </a:pPr>
            <a:r>
              <a:rPr b="0" lang="pt-BR" sz="2600" spc="-1" strike="noStrike">
                <a:solidFill>
                  <a:schemeClr val="dk1"/>
                </a:solidFill>
                <a:latin typeface="Montserrat"/>
                <a:ea typeface="Montserrat"/>
              </a:rPr>
              <a:t>Conhecer melhores práticas em modelagem de dados;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8" name="Google Shape;196;p26" descr=""/>
          <p:cNvPicPr/>
          <p:nvPr/>
        </p:nvPicPr>
        <p:blipFill>
          <a:blip r:embed="rId1"/>
          <a:stretch/>
        </p:blipFill>
        <p:spPr>
          <a:xfrm>
            <a:off x="158400" y="417240"/>
            <a:ext cx="685440" cy="685440"/>
          </a:xfrm>
          <a:prstGeom prst="rect">
            <a:avLst/>
          </a:prstGeom>
          <a:ln w="0">
            <a:noFill/>
          </a:ln>
        </p:spPr>
      </p:pic>
      <p:sp>
        <p:nvSpPr>
          <p:cNvPr id="159" name="PlaceHolder 2"/>
          <p:cNvSpPr>
            <a:spLocks noGrp="1"/>
          </p:cNvSpPr>
          <p:nvPr>
            <p:ph type="title"/>
          </p:nvPr>
        </p:nvSpPr>
        <p:spPr>
          <a:xfrm>
            <a:off x="800640" y="259560"/>
            <a:ext cx="8611920" cy="100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600" spc="-1" strike="noStrike">
                <a:solidFill>
                  <a:schemeClr val="dk1"/>
                </a:solidFill>
                <a:latin typeface="Montserrat SemiBold"/>
                <a:ea typeface="Montserrat SemiBold"/>
              </a:rPr>
              <a:t>Para quem </a:t>
            </a:r>
            <a:r>
              <a:rPr b="1" lang="pt-BR" sz="3600" spc="-1" strike="noStrike">
                <a:solidFill>
                  <a:schemeClr val="dk1"/>
                </a:solidFill>
                <a:latin typeface="Montserrat"/>
                <a:ea typeface="Montserrat"/>
              </a:rPr>
              <a:t>NÃO</a:t>
            </a:r>
            <a:r>
              <a:rPr b="0" lang="pt-BR" sz="3600" spc="-1" strike="noStrike">
                <a:solidFill>
                  <a:schemeClr val="dk1"/>
                </a:solidFill>
                <a:latin typeface="Montserrat SemiBold"/>
                <a:ea typeface="Montserrat SemiBold"/>
              </a:rPr>
              <a:t> é este curso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202;p27"/>
          <p:cNvSpPr/>
          <p:nvPr/>
        </p:nvSpPr>
        <p:spPr>
          <a:xfrm>
            <a:off x="379440" y="346320"/>
            <a:ext cx="11131200" cy="13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rm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800" spc="-1" strike="noStrike">
                <a:solidFill>
                  <a:srgbClr val="f3f3f3"/>
                </a:solidFill>
                <a:latin typeface="Montserrat"/>
                <a:ea typeface="Montserrat"/>
              </a:rPr>
              <a:t>Um pouco sobre a área de dados</a:t>
            </a:r>
            <a:endParaRPr b="0" lang="pt-B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Google Shape;203;p27"/>
          <p:cNvSpPr/>
          <p:nvPr/>
        </p:nvSpPr>
        <p:spPr>
          <a:xfrm>
            <a:off x="398160" y="2403360"/>
            <a:ext cx="11094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300" spc="-1" strike="noStrike">
                <a:solidFill>
                  <a:srgbClr val="f3f3f3"/>
                </a:solidFill>
                <a:latin typeface="Montserrat"/>
                <a:ea typeface="Montserrat"/>
              </a:rPr>
              <a:t>Quando se fala em dados, qual a primeira coisa que vem na sua cabeça?</a:t>
            </a:r>
            <a:endParaRPr b="0" lang="pt-BR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Google Shape;204;p27"/>
          <p:cNvSpPr/>
          <p:nvPr/>
        </p:nvSpPr>
        <p:spPr>
          <a:xfrm>
            <a:off x="398160" y="3913560"/>
            <a:ext cx="10050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300" spc="-1" strike="noStrike">
                <a:solidFill>
                  <a:srgbClr val="f3f3f3"/>
                </a:solidFill>
                <a:latin typeface="Montserrat"/>
                <a:ea typeface="Montserrat"/>
              </a:rPr>
              <a:t>Por que dados são importantes? Por que coletar dados?</a:t>
            </a:r>
            <a:endParaRPr b="0" lang="pt-BR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Google Shape;205;p27"/>
          <p:cNvSpPr/>
          <p:nvPr/>
        </p:nvSpPr>
        <p:spPr>
          <a:xfrm>
            <a:off x="398160" y="5423760"/>
            <a:ext cx="10050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300" spc="-1" strike="noStrike">
                <a:solidFill>
                  <a:srgbClr val="f3f3f3"/>
                </a:solidFill>
                <a:latin typeface="Montserrat"/>
                <a:ea typeface="Montserrat"/>
              </a:rPr>
              <a:t>Que tipo de uso de dados você conhece?</a:t>
            </a:r>
            <a:endParaRPr b="0" lang="pt-BR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210;p28"/>
          <p:cNvSpPr/>
          <p:nvPr/>
        </p:nvSpPr>
        <p:spPr>
          <a:xfrm>
            <a:off x="301320" y="350640"/>
            <a:ext cx="7814520" cy="9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rm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5700" spc="-1" strike="noStrike">
                <a:solidFill>
                  <a:srgbClr val="f3f3f3"/>
                </a:solidFill>
                <a:latin typeface="Montserrat"/>
                <a:ea typeface="Montserrat"/>
              </a:rPr>
              <a:t>Coleta de dados</a:t>
            </a:r>
            <a:endParaRPr b="0" lang="pt-BR" sz="5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5" name="Google Shape;211;p28" descr=""/>
          <p:cNvPicPr/>
          <p:nvPr/>
        </p:nvPicPr>
        <p:blipFill>
          <a:blip r:embed="rId1"/>
          <a:stretch/>
        </p:blipFill>
        <p:spPr>
          <a:xfrm>
            <a:off x="944640" y="3579120"/>
            <a:ext cx="964080" cy="964080"/>
          </a:xfrm>
          <a:prstGeom prst="rect">
            <a:avLst/>
          </a:prstGeom>
          <a:ln w="0">
            <a:noFill/>
          </a:ln>
        </p:spPr>
      </p:pic>
      <p:pic>
        <p:nvPicPr>
          <p:cNvPr id="166" name="Google Shape;212;p28" descr=""/>
          <p:cNvPicPr/>
          <p:nvPr/>
        </p:nvPicPr>
        <p:blipFill>
          <a:blip r:embed="rId2"/>
          <a:srcRect l="15734" t="15770" r="15559" b="15916"/>
          <a:stretch/>
        </p:blipFill>
        <p:spPr>
          <a:xfrm>
            <a:off x="7714440" y="4474440"/>
            <a:ext cx="1230840" cy="1157400"/>
          </a:xfrm>
          <a:prstGeom prst="rect">
            <a:avLst/>
          </a:prstGeom>
          <a:ln w="0">
            <a:noFill/>
          </a:ln>
        </p:spPr>
      </p:pic>
      <p:pic>
        <p:nvPicPr>
          <p:cNvPr id="167" name="Google Shape;213;p28" descr=""/>
          <p:cNvPicPr/>
          <p:nvPr/>
        </p:nvPicPr>
        <p:blipFill>
          <a:blip r:embed="rId3"/>
          <a:stretch/>
        </p:blipFill>
        <p:spPr>
          <a:xfrm>
            <a:off x="3275640" y="4619520"/>
            <a:ext cx="964080" cy="964080"/>
          </a:xfrm>
          <a:prstGeom prst="rect">
            <a:avLst/>
          </a:prstGeom>
          <a:ln w="0">
            <a:noFill/>
          </a:ln>
        </p:spPr>
      </p:pic>
      <p:pic>
        <p:nvPicPr>
          <p:cNvPr id="168" name="Google Shape;214;p28" descr=""/>
          <p:cNvPicPr/>
          <p:nvPr/>
        </p:nvPicPr>
        <p:blipFill>
          <a:blip r:embed="rId4"/>
          <a:stretch/>
        </p:blipFill>
        <p:spPr>
          <a:xfrm>
            <a:off x="5475240" y="5563080"/>
            <a:ext cx="1157400" cy="1157400"/>
          </a:xfrm>
          <a:prstGeom prst="rect">
            <a:avLst/>
          </a:prstGeom>
          <a:ln w="0">
            <a:noFill/>
          </a:ln>
        </p:spPr>
      </p:pic>
      <p:pic>
        <p:nvPicPr>
          <p:cNvPr id="169" name="Google Shape;215;p28" descr=""/>
          <p:cNvPicPr/>
          <p:nvPr/>
        </p:nvPicPr>
        <p:blipFill>
          <a:blip r:embed="rId5"/>
          <a:stretch/>
        </p:blipFill>
        <p:spPr>
          <a:xfrm>
            <a:off x="5246640" y="2774520"/>
            <a:ext cx="1497600" cy="1497960"/>
          </a:xfrm>
          <a:prstGeom prst="rect">
            <a:avLst/>
          </a:prstGeom>
          <a:ln w="0">
            <a:noFill/>
          </a:ln>
        </p:spPr>
      </p:pic>
      <p:pic>
        <p:nvPicPr>
          <p:cNvPr id="170" name="Google Shape;216;p28" descr=""/>
          <p:cNvPicPr/>
          <p:nvPr/>
        </p:nvPicPr>
        <p:blipFill>
          <a:blip r:embed="rId6"/>
          <a:stretch/>
        </p:blipFill>
        <p:spPr>
          <a:xfrm>
            <a:off x="9896040" y="3530880"/>
            <a:ext cx="1414440" cy="1060920"/>
          </a:xfrm>
          <a:prstGeom prst="rect">
            <a:avLst/>
          </a:prstGeom>
          <a:ln w="0">
            <a:noFill/>
          </a:ln>
        </p:spPr>
      </p:pic>
      <p:pic>
        <p:nvPicPr>
          <p:cNvPr id="171" name="Google Shape;217;p28" descr=""/>
          <p:cNvPicPr/>
          <p:nvPr/>
        </p:nvPicPr>
        <p:blipFill>
          <a:blip r:embed="rId7"/>
          <a:stretch/>
        </p:blipFill>
        <p:spPr>
          <a:xfrm>
            <a:off x="944640" y="1681920"/>
            <a:ext cx="964080" cy="964080"/>
          </a:xfrm>
          <a:prstGeom prst="rect">
            <a:avLst/>
          </a:prstGeom>
          <a:ln w="0">
            <a:noFill/>
          </a:ln>
        </p:spPr>
      </p:pic>
      <p:pic>
        <p:nvPicPr>
          <p:cNvPr id="172" name="Google Shape;218;p28" descr=""/>
          <p:cNvPicPr/>
          <p:nvPr/>
        </p:nvPicPr>
        <p:blipFill>
          <a:blip r:embed="rId8"/>
          <a:srcRect l="8252" t="11175" r="6280" b="15118"/>
          <a:stretch/>
        </p:blipFill>
        <p:spPr>
          <a:xfrm>
            <a:off x="9896040" y="1554120"/>
            <a:ext cx="1414440" cy="1220040"/>
          </a:xfrm>
          <a:prstGeom prst="rect">
            <a:avLst/>
          </a:prstGeom>
          <a:ln w="0">
            <a:noFill/>
          </a:ln>
        </p:spPr>
      </p:pic>
      <p:cxnSp>
        <p:nvCxnSpPr>
          <p:cNvPr id="173" name="Google Shape;219;p28"/>
          <p:cNvCxnSpPr>
            <a:endCxn id="169" idx="2"/>
          </p:cNvCxnSpPr>
          <p:nvPr/>
        </p:nvCxnSpPr>
        <p:spPr>
          <a:xfrm flipV="1">
            <a:off x="5995440" y="4272480"/>
            <a:ext cx="360" cy="1143720"/>
          </a:xfrm>
          <a:prstGeom prst="straightConnector1">
            <a:avLst/>
          </a:prstGeom>
          <a:ln w="38100">
            <a:solidFill>
              <a:srgbClr val="efefef"/>
            </a:solidFill>
            <a:round/>
            <a:tailEnd len="med" type="triangle" w="med"/>
          </a:ln>
        </p:spPr>
      </p:cxnSp>
      <p:sp>
        <p:nvSpPr>
          <p:cNvPr id="174" name="Google Shape;220;p28"/>
          <p:cNvSpPr/>
          <p:nvPr/>
        </p:nvSpPr>
        <p:spPr>
          <a:xfrm>
            <a:off x="5246640" y="1509120"/>
            <a:ext cx="1498320" cy="13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2500" spc="-1" strike="noStrike">
                <a:solidFill>
                  <a:srgbClr val="f3f3f3"/>
                </a:solidFill>
                <a:latin typeface="Montserrat"/>
                <a:ea typeface="Montserrat"/>
              </a:rPr>
              <a:t>Banco de Dados</a:t>
            </a:r>
            <a:endParaRPr b="0" lang="pt-BR" sz="25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5" name="Google Shape;221;p28"/>
          <p:cNvCxnSpPr/>
          <p:nvPr/>
        </p:nvCxnSpPr>
        <p:spPr>
          <a:xfrm flipV="1">
            <a:off x="4163400" y="4175280"/>
            <a:ext cx="1149840" cy="637560"/>
          </a:xfrm>
          <a:prstGeom prst="straightConnector1">
            <a:avLst/>
          </a:prstGeom>
          <a:ln w="38100">
            <a:solidFill>
              <a:srgbClr val="efefef"/>
            </a:solidFill>
            <a:round/>
            <a:tailEnd len="med" type="triangle" w="med"/>
          </a:ln>
        </p:spPr>
      </p:cxnSp>
      <p:cxnSp>
        <p:nvCxnSpPr>
          <p:cNvPr id="176" name="Google Shape;222;p28"/>
          <p:cNvCxnSpPr>
            <a:endCxn id="169" idx="1"/>
          </p:cNvCxnSpPr>
          <p:nvPr/>
        </p:nvCxnSpPr>
        <p:spPr>
          <a:xfrm flipV="1">
            <a:off x="2151720" y="3523320"/>
            <a:ext cx="3095280" cy="533520"/>
          </a:xfrm>
          <a:prstGeom prst="straightConnector1">
            <a:avLst/>
          </a:prstGeom>
          <a:ln w="38100">
            <a:solidFill>
              <a:srgbClr val="efefef"/>
            </a:solidFill>
            <a:round/>
            <a:tailEnd len="med" type="triangle" w="med"/>
          </a:ln>
        </p:spPr>
      </p:cxnSp>
      <p:cxnSp>
        <p:nvCxnSpPr>
          <p:cNvPr id="177" name="Google Shape;223;p28"/>
          <p:cNvCxnSpPr/>
          <p:nvPr/>
        </p:nvCxnSpPr>
        <p:spPr>
          <a:xfrm>
            <a:off x="1864080" y="2442960"/>
            <a:ext cx="3400920" cy="716040"/>
          </a:xfrm>
          <a:prstGeom prst="straightConnector1">
            <a:avLst/>
          </a:prstGeom>
          <a:ln w="38100">
            <a:solidFill>
              <a:srgbClr val="efefef"/>
            </a:solidFill>
            <a:round/>
            <a:tailEnd len="med" type="triangle" w="med"/>
          </a:ln>
        </p:spPr>
      </p:cxnSp>
      <p:cxnSp>
        <p:nvCxnSpPr>
          <p:cNvPr id="178" name="Google Shape;224;p28"/>
          <p:cNvCxnSpPr/>
          <p:nvPr/>
        </p:nvCxnSpPr>
        <p:spPr>
          <a:xfrm flipH="1" flipV="1">
            <a:off x="6632640" y="4086720"/>
            <a:ext cx="1428120" cy="532800"/>
          </a:xfrm>
          <a:prstGeom prst="straightConnector1">
            <a:avLst/>
          </a:prstGeom>
          <a:ln w="38100">
            <a:solidFill>
              <a:srgbClr val="efefef"/>
            </a:solidFill>
            <a:round/>
            <a:tailEnd len="med" type="triangle" w="med"/>
          </a:ln>
        </p:spPr>
      </p:cxnSp>
      <p:cxnSp>
        <p:nvCxnSpPr>
          <p:cNvPr id="179" name="Google Shape;225;p28"/>
          <p:cNvCxnSpPr>
            <a:endCxn id="169" idx="3"/>
          </p:cNvCxnSpPr>
          <p:nvPr/>
        </p:nvCxnSpPr>
        <p:spPr>
          <a:xfrm flipH="1" flipV="1">
            <a:off x="6744240" y="3523320"/>
            <a:ext cx="3241800" cy="404640"/>
          </a:xfrm>
          <a:prstGeom prst="straightConnector1">
            <a:avLst/>
          </a:prstGeom>
          <a:ln w="38100">
            <a:solidFill>
              <a:srgbClr val="efefef"/>
            </a:solidFill>
            <a:round/>
            <a:tailEnd len="med" type="triangle" w="med"/>
          </a:ln>
        </p:spPr>
      </p:cxnSp>
      <p:cxnSp>
        <p:nvCxnSpPr>
          <p:cNvPr id="180" name="Google Shape;226;p28"/>
          <p:cNvCxnSpPr/>
          <p:nvPr/>
        </p:nvCxnSpPr>
        <p:spPr>
          <a:xfrm flipH="1">
            <a:off x="6689160" y="2610000"/>
            <a:ext cx="3375000" cy="525240"/>
          </a:xfrm>
          <a:prstGeom prst="straightConnector1">
            <a:avLst/>
          </a:prstGeom>
          <a:ln w="38100">
            <a:solidFill>
              <a:srgbClr val="efefef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231;p29"/>
          <p:cNvSpPr/>
          <p:nvPr/>
        </p:nvSpPr>
        <p:spPr>
          <a:xfrm>
            <a:off x="188280" y="227880"/>
            <a:ext cx="9823680" cy="10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rmAutofit fontScale="79267"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5700" spc="-1" strike="noStrike">
                <a:solidFill>
                  <a:srgbClr val="000000"/>
                </a:solidFill>
                <a:latin typeface="Montserrat"/>
                <a:ea typeface="Montserrat"/>
              </a:rPr>
              <a:t>Coleta de dados (pesquisa e censo)</a:t>
            </a:r>
            <a:endParaRPr b="0" lang="pt-BR" sz="5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Google Shape;232;p29" descr=""/>
          <p:cNvPicPr/>
          <p:nvPr/>
        </p:nvPicPr>
        <p:blipFill>
          <a:blip r:embed="rId1"/>
          <a:stretch/>
        </p:blipFill>
        <p:spPr>
          <a:xfrm>
            <a:off x="565920" y="1761480"/>
            <a:ext cx="5109120" cy="1354320"/>
          </a:xfrm>
          <a:prstGeom prst="rect">
            <a:avLst/>
          </a:prstGeom>
          <a:ln w="0">
            <a:noFill/>
          </a:ln>
        </p:spPr>
      </p:pic>
      <p:pic>
        <p:nvPicPr>
          <p:cNvPr id="183" name="Google Shape;233;p29" descr=""/>
          <p:cNvPicPr/>
          <p:nvPr/>
        </p:nvPicPr>
        <p:blipFill>
          <a:blip r:embed="rId2"/>
          <a:stretch/>
        </p:blipFill>
        <p:spPr>
          <a:xfrm>
            <a:off x="565920" y="5021280"/>
            <a:ext cx="4016160" cy="1044000"/>
          </a:xfrm>
          <a:prstGeom prst="rect">
            <a:avLst/>
          </a:prstGeom>
          <a:ln w="0">
            <a:noFill/>
          </a:ln>
        </p:spPr>
      </p:pic>
      <p:pic>
        <p:nvPicPr>
          <p:cNvPr id="184" name="Google Shape;234;p29" descr=""/>
          <p:cNvPicPr/>
          <p:nvPr/>
        </p:nvPicPr>
        <p:blipFill>
          <a:blip r:embed="rId3"/>
          <a:srcRect l="22369" t="8580" r="16617" b="8155"/>
          <a:stretch/>
        </p:blipFill>
        <p:spPr>
          <a:xfrm>
            <a:off x="7561800" y="3649680"/>
            <a:ext cx="2703600" cy="2459880"/>
          </a:xfrm>
          <a:prstGeom prst="rect">
            <a:avLst/>
          </a:prstGeom>
          <a:ln w="0">
            <a:noFill/>
          </a:ln>
        </p:spPr>
      </p:pic>
      <p:pic>
        <p:nvPicPr>
          <p:cNvPr id="185" name="Google Shape;235;p29" descr=""/>
          <p:cNvPicPr/>
          <p:nvPr/>
        </p:nvPicPr>
        <p:blipFill>
          <a:blip r:embed="rId4"/>
          <a:stretch/>
        </p:blipFill>
        <p:spPr>
          <a:xfrm>
            <a:off x="565920" y="3570120"/>
            <a:ext cx="4337640" cy="1044000"/>
          </a:xfrm>
          <a:prstGeom prst="rect">
            <a:avLst/>
          </a:prstGeom>
          <a:ln w="0">
            <a:noFill/>
          </a:ln>
        </p:spPr>
      </p:pic>
      <p:pic>
        <p:nvPicPr>
          <p:cNvPr id="186" name="Google Shape;236;p29" descr=""/>
          <p:cNvPicPr/>
          <p:nvPr/>
        </p:nvPicPr>
        <p:blipFill>
          <a:blip r:embed="rId5"/>
          <a:stretch/>
        </p:blipFill>
        <p:spPr>
          <a:xfrm>
            <a:off x="6292800" y="1227960"/>
            <a:ext cx="5559840" cy="2421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241;p30"/>
          <p:cNvSpPr/>
          <p:nvPr/>
        </p:nvSpPr>
        <p:spPr>
          <a:xfrm>
            <a:off x="178560" y="1382400"/>
            <a:ext cx="6321600" cy="47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t">
            <a:spAutoFit/>
          </a:bodyPr>
          <a:p>
            <a:pPr marL="609480" indent="-438120">
              <a:lnSpc>
                <a:spcPct val="200000"/>
              </a:lnSpc>
              <a:buClr>
                <a:srgbClr val="000000"/>
              </a:buClr>
              <a:buFont typeface="Montserrat"/>
              <a:buChar char="●"/>
            </a:pPr>
            <a:r>
              <a:rPr b="0" lang="pt-BR" sz="2100" spc="-1" strike="noStrike">
                <a:solidFill>
                  <a:srgbClr val="000000"/>
                </a:solidFill>
                <a:latin typeface="Montserrat"/>
                <a:ea typeface="Montserrat"/>
              </a:rPr>
              <a:t>Previsão de vendas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 marL="609480" indent="-438120">
              <a:lnSpc>
                <a:spcPct val="200000"/>
              </a:lnSpc>
              <a:buClr>
                <a:srgbClr val="000000"/>
              </a:buClr>
              <a:buFont typeface="Montserrat"/>
              <a:buChar char="●"/>
            </a:pPr>
            <a:r>
              <a:rPr b="0" lang="pt-BR" sz="2100" spc="-1" strike="noStrike">
                <a:solidFill>
                  <a:srgbClr val="000000"/>
                </a:solidFill>
                <a:latin typeface="Montserrat"/>
                <a:ea typeface="Montserrat"/>
              </a:rPr>
              <a:t>Tempo de garantia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 marL="609480" indent="-438120">
              <a:lnSpc>
                <a:spcPct val="200000"/>
              </a:lnSpc>
              <a:buClr>
                <a:srgbClr val="000000"/>
              </a:buClr>
              <a:buFont typeface="Montserrat"/>
              <a:buChar char="●"/>
            </a:pPr>
            <a:r>
              <a:rPr b="0" lang="pt-BR" sz="2100" spc="-1" strike="noStrike">
                <a:solidFill>
                  <a:srgbClr val="000000"/>
                </a:solidFill>
                <a:latin typeface="Montserrat"/>
                <a:ea typeface="Montserrat"/>
              </a:rPr>
              <a:t>Limite de crédito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 marL="609480" indent="-438120">
              <a:lnSpc>
                <a:spcPct val="200000"/>
              </a:lnSpc>
              <a:buClr>
                <a:srgbClr val="000000"/>
              </a:buClr>
              <a:buFont typeface="Montserrat"/>
              <a:buChar char="●"/>
            </a:pPr>
            <a:r>
              <a:rPr b="0" lang="pt-BR" sz="2100" spc="-1" strike="noStrike">
                <a:solidFill>
                  <a:srgbClr val="000000"/>
                </a:solidFill>
                <a:latin typeface="Montserrat"/>
                <a:ea typeface="Montserrat"/>
              </a:rPr>
              <a:t>Manutenção de equipamento industrial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 marL="609480" indent="-438120">
              <a:lnSpc>
                <a:spcPct val="200000"/>
              </a:lnSpc>
              <a:buClr>
                <a:srgbClr val="000000"/>
              </a:buClr>
              <a:buFont typeface="Montserrat"/>
              <a:buChar char="●"/>
            </a:pPr>
            <a:r>
              <a:rPr b="0" lang="pt-BR" sz="2100" spc="-1" strike="noStrike">
                <a:solidFill>
                  <a:srgbClr val="000000"/>
                </a:solidFill>
                <a:latin typeface="Montserrat"/>
                <a:ea typeface="Montserrat"/>
              </a:rPr>
              <a:t>Recomendação de produtos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 marL="609480" indent="-438120">
              <a:lnSpc>
                <a:spcPct val="200000"/>
              </a:lnSpc>
              <a:buClr>
                <a:srgbClr val="000000"/>
              </a:buClr>
              <a:buFont typeface="Montserrat"/>
              <a:buChar char="●"/>
            </a:pPr>
            <a:r>
              <a:rPr b="0" lang="pt-BR" sz="2100" spc="-1" strike="noStrike">
                <a:solidFill>
                  <a:srgbClr val="000000"/>
                </a:solidFill>
                <a:latin typeface="Montserrat"/>
                <a:ea typeface="Montserrat"/>
              </a:rPr>
              <a:t>Definição de metas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 marL="609480" indent="-438120">
              <a:lnSpc>
                <a:spcPct val="200000"/>
              </a:lnSpc>
              <a:buClr>
                <a:srgbClr val="000000"/>
              </a:buClr>
              <a:buFont typeface="Montserrat"/>
              <a:buChar char="●"/>
            </a:pPr>
            <a:r>
              <a:rPr b="0" lang="pt-BR" sz="2100" spc="-1" strike="noStrike">
                <a:solidFill>
                  <a:srgbClr val="000000"/>
                </a:solidFill>
                <a:latin typeface="Montserrat"/>
                <a:ea typeface="Montserrat"/>
              </a:rPr>
              <a:t>Processamento de Linguagem Natural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Google Shape;242;p30"/>
          <p:cNvSpPr/>
          <p:nvPr/>
        </p:nvSpPr>
        <p:spPr>
          <a:xfrm>
            <a:off x="6500520" y="1382400"/>
            <a:ext cx="5691240" cy="47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t">
            <a:spAutoFit/>
          </a:bodyPr>
          <a:p>
            <a:pPr marL="609480" indent="-438120">
              <a:lnSpc>
                <a:spcPct val="200000"/>
              </a:lnSpc>
              <a:buClr>
                <a:srgbClr val="000000"/>
              </a:buClr>
              <a:buFont typeface="Montserrat"/>
              <a:buChar char="●"/>
            </a:pPr>
            <a:r>
              <a:rPr b="0" lang="pt-BR" sz="2100" spc="-1" strike="noStrike">
                <a:solidFill>
                  <a:srgbClr val="000000"/>
                </a:solidFill>
                <a:latin typeface="Montserrat"/>
                <a:ea typeface="Montserrat"/>
              </a:rPr>
              <a:t>Conhecer diferentes grupos de clientes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 marL="609480" indent="-438120">
              <a:lnSpc>
                <a:spcPct val="200000"/>
              </a:lnSpc>
              <a:buClr>
                <a:srgbClr val="000000"/>
              </a:buClr>
              <a:buFont typeface="Montserrat"/>
              <a:buChar char="●"/>
            </a:pPr>
            <a:r>
              <a:rPr b="0" lang="pt-BR" sz="2100" spc="-1" strike="noStrike">
                <a:solidFill>
                  <a:srgbClr val="000000"/>
                </a:solidFill>
                <a:latin typeface="Montserrat"/>
                <a:ea typeface="Montserrat"/>
              </a:rPr>
              <a:t>Validar produtos com usuários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 marL="609480" indent="-438120">
              <a:lnSpc>
                <a:spcPct val="200000"/>
              </a:lnSpc>
              <a:buClr>
                <a:srgbClr val="000000"/>
              </a:buClr>
              <a:buFont typeface="Montserrat"/>
              <a:buChar char="●"/>
            </a:pPr>
            <a:r>
              <a:rPr b="0" lang="pt-BR" sz="2100" spc="-1" strike="noStrike">
                <a:solidFill>
                  <a:srgbClr val="000000"/>
                </a:solidFill>
                <a:latin typeface="Montserrat"/>
                <a:ea typeface="Montserrat"/>
              </a:rPr>
              <a:t>Entender sazonalidade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 marL="609480" indent="-438120">
              <a:lnSpc>
                <a:spcPct val="200000"/>
              </a:lnSpc>
              <a:buClr>
                <a:srgbClr val="000000"/>
              </a:buClr>
              <a:buFont typeface="Montserrat"/>
              <a:buChar char="●"/>
            </a:pPr>
            <a:r>
              <a:rPr b="0" lang="pt-BR" sz="2100" spc="-1" strike="noStrike">
                <a:solidFill>
                  <a:srgbClr val="000000"/>
                </a:solidFill>
                <a:latin typeface="Montserrat"/>
                <a:ea typeface="Montserrat"/>
              </a:rPr>
              <a:t>Visão computacional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 marL="609480" indent="-438120">
              <a:lnSpc>
                <a:spcPct val="200000"/>
              </a:lnSpc>
              <a:buClr>
                <a:srgbClr val="000000"/>
              </a:buClr>
              <a:buFont typeface="Montserrat"/>
              <a:buChar char="●"/>
            </a:pPr>
            <a:r>
              <a:rPr b="0" lang="pt-BR" sz="2100" spc="-1" strike="noStrike">
                <a:solidFill>
                  <a:srgbClr val="000000"/>
                </a:solidFill>
                <a:latin typeface="Montserrat"/>
                <a:ea typeface="Montserrat"/>
              </a:rPr>
              <a:t>Performance de atletas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 marL="609480" indent="-438120">
              <a:lnSpc>
                <a:spcPct val="200000"/>
              </a:lnSpc>
              <a:buClr>
                <a:srgbClr val="000000"/>
              </a:buClr>
              <a:buFont typeface="Montserrat"/>
              <a:buChar char="●"/>
            </a:pPr>
            <a:r>
              <a:rPr b="0" lang="pt-BR" sz="2100" spc="-1" strike="noStrike">
                <a:solidFill>
                  <a:srgbClr val="000000"/>
                </a:solidFill>
                <a:latin typeface="Montserrat"/>
                <a:ea typeface="Montserrat"/>
              </a:rPr>
              <a:t>Eficácia de vacinas e medicamentos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Google Shape;243;p30"/>
          <p:cNvSpPr/>
          <p:nvPr/>
        </p:nvSpPr>
        <p:spPr>
          <a:xfrm>
            <a:off x="1816560" y="6075360"/>
            <a:ext cx="8559000" cy="634320"/>
          </a:xfrm>
          <a:prstGeom prst="roundRect">
            <a:avLst>
              <a:gd name="adj" fmla="val 50000"/>
            </a:avLst>
          </a:prstGeom>
          <a:solidFill>
            <a:srgbClr val="e7e6e6"/>
          </a:solidFill>
          <a:ln w="38100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3300" spc="-1" strike="noStrike">
                <a:solidFill>
                  <a:srgbClr val="000000"/>
                </a:solidFill>
                <a:latin typeface="Montserrat"/>
                <a:ea typeface="Montserrat"/>
              </a:rPr>
              <a:t>Tomar melhores decisões</a:t>
            </a:r>
            <a:endParaRPr b="0" lang="pt-B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Google Shape;244;p30"/>
          <p:cNvSpPr/>
          <p:nvPr/>
        </p:nvSpPr>
        <p:spPr>
          <a:xfrm>
            <a:off x="188280" y="227880"/>
            <a:ext cx="9823680" cy="10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rm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pc="-1" strike="noStrike">
                <a:solidFill>
                  <a:srgbClr val="000000"/>
                </a:solidFill>
                <a:latin typeface="Montserrat"/>
                <a:ea typeface="Montserrat"/>
              </a:rPr>
              <a:t>Possibilidades em dados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" dur="indefinite" restart="never" nodeType="tmRoot">
          <p:childTnLst>
            <p:seq>
              <p:cTn id="8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249;p31" descr=""/>
          <p:cNvPicPr/>
          <p:nvPr/>
        </p:nvPicPr>
        <p:blipFill>
          <a:blip r:embed="rId1"/>
          <a:srcRect l="0" t="0" r="9428" b="0"/>
          <a:stretch/>
        </p:blipFill>
        <p:spPr>
          <a:xfrm>
            <a:off x="952560" y="0"/>
            <a:ext cx="931644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254;p32"/>
          <p:cNvGrpSpPr/>
          <p:nvPr/>
        </p:nvGrpSpPr>
        <p:grpSpPr>
          <a:xfrm>
            <a:off x="6111720" y="1121760"/>
            <a:ext cx="6097320" cy="2833200"/>
            <a:chOff x="6111720" y="1121760"/>
            <a:chExt cx="6097320" cy="2833200"/>
          </a:xfrm>
        </p:grpSpPr>
        <p:sp>
          <p:nvSpPr>
            <p:cNvPr id="193" name="Google Shape;255;p32"/>
            <p:cNvSpPr/>
            <p:nvPr/>
          </p:nvSpPr>
          <p:spPr>
            <a:xfrm>
              <a:off x="6111720" y="1121760"/>
              <a:ext cx="6097320" cy="2833200"/>
            </a:xfrm>
            <a:prstGeom prst="roundRect">
              <a:avLst>
                <a:gd name="adj" fmla="val 803"/>
              </a:avLst>
            </a:prstGeom>
            <a:solidFill>
              <a:srgbClr val="d9d2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94" name="Google Shape;256;p32"/>
            <p:cNvSpPr/>
            <p:nvPr/>
          </p:nvSpPr>
          <p:spPr>
            <a:xfrm>
              <a:off x="8291880" y="3182760"/>
              <a:ext cx="3775680" cy="685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pt-BR" sz="2900" spc="-1" strike="noStrike">
                  <a:solidFill>
                    <a:srgbClr val="20124d"/>
                  </a:solidFill>
                  <a:latin typeface="Arial"/>
                  <a:ea typeface="Arial"/>
                </a:rPr>
                <a:t>Análise de Dados</a:t>
              </a:r>
              <a:endParaRPr b="0" lang="pt-BR" sz="29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5" name="Google Shape;257;p32"/>
          <p:cNvSpPr/>
          <p:nvPr/>
        </p:nvSpPr>
        <p:spPr>
          <a:xfrm>
            <a:off x="6111360" y="3954600"/>
            <a:ext cx="6096960" cy="2911680"/>
          </a:xfrm>
          <a:prstGeom prst="roundRect">
            <a:avLst>
              <a:gd name="adj" fmla="val 803"/>
            </a:avLst>
          </a:prstGeom>
          <a:solidFill>
            <a:srgbClr val="fce5c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96" name="Google Shape;258;p32"/>
          <p:cNvSpPr/>
          <p:nvPr/>
        </p:nvSpPr>
        <p:spPr>
          <a:xfrm>
            <a:off x="8264880" y="6075000"/>
            <a:ext cx="370044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2900" spc="-1" strike="noStrike">
                <a:solidFill>
                  <a:srgbClr val="7f6000"/>
                </a:solidFill>
                <a:latin typeface="Arial"/>
                <a:ea typeface="Arial"/>
              </a:rPr>
              <a:t>Ciência de Dados</a:t>
            </a:r>
            <a:endParaRPr b="0" lang="pt-BR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Google Shape;259;p32"/>
          <p:cNvSpPr/>
          <p:nvPr/>
        </p:nvSpPr>
        <p:spPr>
          <a:xfrm>
            <a:off x="-61560" y="1121400"/>
            <a:ext cx="6175800" cy="5744880"/>
          </a:xfrm>
          <a:prstGeom prst="roundRect">
            <a:avLst>
              <a:gd name="adj" fmla="val 0"/>
            </a:avLst>
          </a:prstGeom>
          <a:solidFill>
            <a:srgbClr val="cfe2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98" name="Google Shape;260;p32"/>
          <p:cNvSpPr/>
          <p:nvPr/>
        </p:nvSpPr>
        <p:spPr>
          <a:xfrm>
            <a:off x="881280" y="6075000"/>
            <a:ext cx="424764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2900" spc="-1" strike="noStrike">
                <a:solidFill>
                  <a:srgbClr val="073763"/>
                </a:solidFill>
                <a:latin typeface="Arial"/>
                <a:ea typeface="Arial"/>
              </a:rPr>
              <a:t>Engenharia de dados</a:t>
            </a:r>
            <a:endParaRPr b="0" lang="pt-BR" sz="2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9" name="Google Shape;261;p32"/>
          <p:cNvGrpSpPr/>
          <p:nvPr/>
        </p:nvGrpSpPr>
        <p:grpSpPr>
          <a:xfrm>
            <a:off x="5150160" y="1524240"/>
            <a:ext cx="1766880" cy="3254400"/>
            <a:chOff x="5150160" y="1524240"/>
            <a:chExt cx="1766880" cy="3254400"/>
          </a:xfrm>
        </p:grpSpPr>
        <p:pic>
          <p:nvPicPr>
            <p:cNvPr id="200" name="Google Shape;262;p32" descr=""/>
            <p:cNvPicPr/>
            <p:nvPr/>
          </p:nvPicPr>
          <p:blipFill>
            <a:blip r:embed="rId1"/>
            <a:stretch/>
          </p:blipFill>
          <p:spPr>
            <a:xfrm>
              <a:off x="5150160" y="3011760"/>
              <a:ext cx="1766880" cy="17668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1" name="Google Shape;263;p32"/>
            <p:cNvSpPr/>
            <p:nvPr/>
          </p:nvSpPr>
          <p:spPr>
            <a:xfrm>
              <a:off x="5150160" y="1524240"/>
              <a:ext cx="1766880" cy="166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pt-BR" sz="3100" spc="-1" strike="noStrike">
                  <a:solidFill>
                    <a:srgbClr val="000000"/>
                  </a:solidFill>
                  <a:latin typeface="Arial"/>
                  <a:ea typeface="Arial"/>
                </a:rPr>
                <a:t>Banco de Dados</a:t>
              </a:r>
              <a:endParaRPr b="0" lang="pt-BR" sz="3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02" name="Google Shape;264;p32" descr=""/>
          <p:cNvPicPr/>
          <p:nvPr/>
        </p:nvPicPr>
        <p:blipFill>
          <a:blip r:embed="rId2"/>
          <a:stretch/>
        </p:blipFill>
        <p:spPr>
          <a:xfrm>
            <a:off x="0" y="1612440"/>
            <a:ext cx="1308240" cy="1308240"/>
          </a:xfrm>
          <a:prstGeom prst="rect">
            <a:avLst/>
          </a:prstGeom>
          <a:ln w="0">
            <a:noFill/>
          </a:ln>
        </p:spPr>
      </p:pic>
      <p:grpSp>
        <p:nvGrpSpPr>
          <p:cNvPr id="203" name="Google Shape;265;p32"/>
          <p:cNvGrpSpPr/>
          <p:nvPr/>
        </p:nvGrpSpPr>
        <p:grpSpPr>
          <a:xfrm>
            <a:off x="1036800" y="2130120"/>
            <a:ext cx="1545480" cy="1324440"/>
            <a:chOff x="1036800" y="2130120"/>
            <a:chExt cx="1545480" cy="1324440"/>
          </a:xfrm>
        </p:grpSpPr>
        <p:pic>
          <p:nvPicPr>
            <p:cNvPr id="204" name="Google Shape;266;p32" descr=""/>
            <p:cNvPicPr/>
            <p:nvPr/>
          </p:nvPicPr>
          <p:blipFill>
            <a:blip r:embed="rId3"/>
            <a:stretch/>
          </p:blipFill>
          <p:spPr>
            <a:xfrm>
              <a:off x="1036800" y="2238120"/>
              <a:ext cx="1545480" cy="1216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5" name="Google Shape;267;p32"/>
            <p:cNvSpPr/>
            <p:nvPr/>
          </p:nvSpPr>
          <p:spPr>
            <a:xfrm>
              <a:off x="1372320" y="2130120"/>
              <a:ext cx="874440" cy="898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pt-BR" sz="4300" spc="-1" strike="noStrike">
                  <a:solidFill>
                    <a:srgbClr val="000000"/>
                  </a:solidFill>
                  <a:latin typeface="Arial"/>
                  <a:ea typeface="Arial"/>
                </a:rPr>
                <a:t>@</a:t>
              </a:r>
              <a:endParaRPr b="0" lang="pt-BR" sz="4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06" name="Google Shape;268;p32" descr=""/>
          <p:cNvPicPr/>
          <p:nvPr/>
        </p:nvPicPr>
        <p:blipFill>
          <a:blip r:embed="rId4"/>
          <a:stretch/>
        </p:blipFill>
        <p:spPr>
          <a:xfrm>
            <a:off x="284400" y="3827880"/>
            <a:ext cx="1308240" cy="1308240"/>
          </a:xfrm>
          <a:prstGeom prst="rect">
            <a:avLst/>
          </a:prstGeom>
          <a:ln w="0">
            <a:noFill/>
          </a:ln>
        </p:spPr>
      </p:pic>
      <p:cxnSp>
        <p:nvCxnSpPr>
          <p:cNvPr id="207" name="Google Shape;269;p32"/>
          <p:cNvCxnSpPr/>
          <p:nvPr/>
        </p:nvCxnSpPr>
        <p:spPr>
          <a:xfrm>
            <a:off x="1036800" y="1936080"/>
            <a:ext cx="4113720" cy="1714320"/>
          </a:xfrm>
          <a:prstGeom prst="bentConnector3">
            <a:avLst>
              <a:gd name="adj1" fmla="val 50000"/>
            </a:avLst>
          </a:prstGeom>
          <a:ln w="25400">
            <a:solidFill>
              <a:srgbClr val="44546a"/>
            </a:solidFill>
            <a:round/>
            <a:tailEnd len="med" type="triangle" w="med"/>
          </a:ln>
        </p:spPr>
      </p:cxnSp>
      <p:cxnSp>
        <p:nvCxnSpPr>
          <p:cNvPr id="208" name="Google Shape;270;p32"/>
          <p:cNvCxnSpPr>
            <a:stCxn id="204" idx="3"/>
          </p:cNvCxnSpPr>
          <p:nvPr/>
        </p:nvCxnSpPr>
        <p:spPr>
          <a:xfrm>
            <a:off x="2582280" y="2846160"/>
            <a:ext cx="2538720" cy="1028520"/>
          </a:xfrm>
          <a:prstGeom prst="bentConnector3">
            <a:avLst>
              <a:gd name="adj1" fmla="val 50021"/>
            </a:avLst>
          </a:prstGeom>
          <a:ln w="25400">
            <a:solidFill>
              <a:srgbClr val="44546a"/>
            </a:solidFill>
            <a:round/>
            <a:tailEnd len="med" type="triangle" w="med"/>
          </a:ln>
        </p:spPr>
      </p:cxnSp>
      <p:cxnSp>
        <p:nvCxnSpPr>
          <p:cNvPr id="209" name="Google Shape;271;p32"/>
          <p:cNvCxnSpPr>
            <a:stCxn id="206" idx="3"/>
          </p:cNvCxnSpPr>
          <p:nvPr/>
        </p:nvCxnSpPr>
        <p:spPr>
          <a:xfrm flipV="1">
            <a:off x="1592640" y="4082400"/>
            <a:ext cx="3510360" cy="399960"/>
          </a:xfrm>
          <a:prstGeom prst="bentConnector3">
            <a:avLst>
              <a:gd name="adj1" fmla="val 50000"/>
            </a:avLst>
          </a:prstGeom>
          <a:ln w="25400">
            <a:solidFill>
              <a:srgbClr val="44546a"/>
            </a:solidFill>
            <a:round/>
            <a:tailEnd len="med" type="triangle" w="med"/>
          </a:ln>
        </p:spPr>
      </p:cxnSp>
      <p:cxnSp>
        <p:nvCxnSpPr>
          <p:cNvPr id="210" name="Google Shape;272;p32"/>
          <p:cNvCxnSpPr/>
          <p:nvPr/>
        </p:nvCxnSpPr>
        <p:spPr>
          <a:xfrm flipV="1">
            <a:off x="3404880" y="4270680"/>
            <a:ext cx="1688040" cy="1428120"/>
          </a:xfrm>
          <a:prstGeom prst="bentConnector3">
            <a:avLst>
              <a:gd name="adj1" fmla="val 50000"/>
            </a:avLst>
          </a:prstGeom>
          <a:ln w="25400">
            <a:solidFill>
              <a:srgbClr val="44546a"/>
            </a:solidFill>
            <a:round/>
            <a:tailEnd len="med" type="triangle" w="med"/>
          </a:ln>
        </p:spPr>
      </p:cxnSp>
      <p:pic>
        <p:nvPicPr>
          <p:cNvPr id="211" name="Google Shape;273;p32" descr=""/>
          <p:cNvPicPr/>
          <p:nvPr/>
        </p:nvPicPr>
        <p:blipFill>
          <a:blip r:embed="rId5"/>
          <a:stretch/>
        </p:blipFill>
        <p:spPr>
          <a:xfrm>
            <a:off x="9158760" y="1301760"/>
            <a:ext cx="2121480" cy="1779480"/>
          </a:xfrm>
          <a:prstGeom prst="rect">
            <a:avLst/>
          </a:prstGeom>
          <a:ln w="0">
            <a:noFill/>
          </a:ln>
        </p:spPr>
      </p:pic>
      <p:cxnSp>
        <p:nvCxnSpPr>
          <p:cNvPr id="212" name="Google Shape;274;p32"/>
          <p:cNvCxnSpPr>
            <a:stCxn id="200" idx="3"/>
            <a:endCxn id="211" idx="1"/>
          </p:cNvCxnSpPr>
          <p:nvPr/>
        </p:nvCxnSpPr>
        <p:spPr>
          <a:xfrm flipV="1">
            <a:off x="6917040" y="2191320"/>
            <a:ext cx="2242080" cy="1704240"/>
          </a:xfrm>
          <a:prstGeom prst="bentConnector3">
            <a:avLst>
              <a:gd name="adj1" fmla="val 50008"/>
            </a:avLst>
          </a:prstGeom>
          <a:ln w="25400">
            <a:solidFill>
              <a:srgbClr val="44546a"/>
            </a:solidFill>
            <a:round/>
            <a:tailEnd len="med" type="triangle" w="med"/>
          </a:ln>
        </p:spPr>
      </p:cxnSp>
      <p:pic>
        <p:nvPicPr>
          <p:cNvPr id="213" name="Google Shape;275;p32" descr=""/>
          <p:cNvPicPr/>
          <p:nvPr/>
        </p:nvPicPr>
        <p:blipFill>
          <a:blip r:embed="rId6"/>
          <a:stretch/>
        </p:blipFill>
        <p:spPr>
          <a:xfrm>
            <a:off x="9336240" y="4256640"/>
            <a:ext cx="1766880" cy="1770480"/>
          </a:xfrm>
          <a:prstGeom prst="rect">
            <a:avLst/>
          </a:prstGeom>
          <a:ln w="0">
            <a:noFill/>
          </a:ln>
        </p:spPr>
      </p:pic>
      <p:cxnSp>
        <p:nvCxnSpPr>
          <p:cNvPr id="214" name="Google Shape;276;p32"/>
          <p:cNvCxnSpPr>
            <a:stCxn id="200" idx="3"/>
            <a:endCxn id="213" idx="1"/>
          </p:cNvCxnSpPr>
          <p:nvPr/>
        </p:nvCxnSpPr>
        <p:spPr>
          <a:xfrm>
            <a:off x="6917040" y="3895200"/>
            <a:ext cx="2419560" cy="1247040"/>
          </a:xfrm>
          <a:prstGeom prst="bentConnector3">
            <a:avLst>
              <a:gd name="adj1" fmla="val 46145"/>
            </a:avLst>
          </a:prstGeom>
          <a:ln w="25400">
            <a:solidFill>
              <a:srgbClr val="44546a"/>
            </a:solidFill>
            <a:round/>
            <a:tailEnd len="med" type="triangle" w="med"/>
          </a:ln>
        </p:spPr>
      </p:cxnSp>
      <p:sp>
        <p:nvSpPr>
          <p:cNvPr id="215" name="Google Shape;277;p32"/>
          <p:cNvSpPr/>
          <p:nvPr/>
        </p:nvSpPr>
        <p:spPr>
          <a:xfrm>
            <a:off x="0" y="47160"/>
            <a:ext cx="9218880" cy="10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rm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pc="-1" strike="noStrike">
                <a:solidFill>
                  <a:srgbClr val="000000"/>
                </a:solidFill>
                <a:latin typeface="Montserrat Medium"/>
                <a:ea typeface="Montserrat Medium"/>
              </a:rPr>
              <a:t>Profissionais de Dados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6" name="Google Shape;278;p32" descr=""/>
          <p:cNvPicPr/>
          <p:nvPr/>
        </p:nvPicPr>
        <p:blipFill>
          <a:blip r:embed="rId7"/>
          <a:stretch/>
        </p:blipFill>
        <p:spPr>
          <a:xfrm>
            <a:off x="1163880" y="5350680"/>
            <a:ext cx="2418480" cy="64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83;p33"/>
          <p:cNvSpPr/>
          <p:nvPr/>
        </p:nvSpPr>
        <p:spPr>
          <a:xfrm>
            <a:off x="318240" y="-4320"/>
            <a:ext cx="8429760" cy="98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rm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pc="-1" strike="noStrike">
                <a:solidFill>
                  <a:srgbClr val="000000"/>
                </a:solidFill>
                <a:latin typeface="Montserrat Medium"/>
                <a:ea typeface="Montserrat Medium"/>
              </a:rPr>
              <a:t>Cargos e salários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Google Shape;284;p33"/>
          <p:cNvSpPr/>
          <p:nvPr/>
        </p:nvSpPr>
        <p:spPr>
          <a:xfrm>
            <a:off x="7588440" y="0"/>
            <a:ext cx="460332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Montserrat"/>
                <a:ea typeface="Montserrat"/>
              </a:rPr>
              <a:t>fonte: https://www.stateofdata.com.br/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9" name="Google Shape;285;p33" descr=""/>
          <p:cNvPicPr/>
          <p:nvPr/>
        </p:nvPicPr>
        <p:blipFill>
          <a:blip r:embed="rId1"/>
          <a:stretch/>
        </p:blipFill>
        <p:spPr>
          <a:xfrm>
            <a:off x="1469880" y="848520"/>
            <a:ext cx="9169200" cy="6009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91;p34"/>
          <p:cNvSpPr/>
          <p:nvPr/>
        </p:nvSpPr>
        <p:spPr>
          <a:xfrm>
            <a:off x="73440" y="228600"/>
            <a:ext cx="6356520" cy="51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4200" spc="-1" strike="noStrike">
                <a:solidFill>
                  <a:srgbClr val="434343"/>
                </a:solidFill>
                <a:latin typeface="Arial"/>
                <a:ea typeface="Arial"/>
              </a:rPr>
              <a:t>Todos</a:t>
            </a:r>
            <a:r>
              <a:rPr b="0" lang="pt-BR" sz="4200" spc="-1" strike="noStrike">
                <a:solidFill>
                  <a:srgbClr val="434343"/>
                </a:solidFill>
                <a:latin typeface="Arial"/>
                <a:ea typeface="Arial"/>
              </a:rPr>
              <a:t> usam SQL para </a:t>
            </a:r>
            <a:endParaRPr b="0" lang="pt-BR" sz="4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4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5300" spc="-1" strike="noStrike">
                <a:solidFill>
                  <a:srgbClr val="434343"/>
                </a:solidFill>
                <a:latin typeface="Arial"/>
                <a:ea typeface="Arial"/>
              </a:rPr>
              <a:t>armazenar</a:t>
            </a:r>
            <a:endParaRPr b="0" lang="pt-BR" sz="5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5300" spc="-1" strike="noStrike">
                <a:solidFill>
                  <a:srgbClr val="434343"/>
                </a:solidFill>
                <a:latin typeface="Arial"/>
                <a:ea typeface="Arial"/>
              </a:rPr>
              <a:t>organizar</a:t>
            </a:r>
            <a:endParaRPr b="0" lang="pt-BR" sz="5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5300" spc="-1" strike="noStrike">
                <a:solidFill>
                  <a:srgbClr val="434343"/>
                </a:solidFill>
                <a:latin typeface="Arial"/>
                <a:ea typeface="Arial"/>
              </a:rPr>
              <a:t>consultar</a:t>
            </a:r>
            <a:endParaRPr b="0" lang="pt-BR" sz="5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4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4200" spc="-1" strike="noStrike">
                <a:solidFill>
                  <a:srgbClr val="434343"/>
                </a:solidFill>
                <a:latin typeface="Arial"/>
                <a:ea typeface="Arial"/>
              </a:rPr>
              <a:t>dados</a:t>
            </a:r>
            <a:r>
              <a:rPr b="0" lang="pt-BR" sz="4200" spc="-1" strike="noStrike">
                <a:solidFill>
                  <a:srgbClr val="434343"/>
                </a:solidFill>
                <a:latin typeface="Arial"/>
                <a:ea typeface="Arial"/>
              </a:rPr>
              <a:t>!</a:t>
            </a:r>
            <a:endParaRPr b="0" lang="pt-BR" sz="4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1" name="Google Shape;297;p35"/>
          <p:cNvGraphicFramePr/>
          <p:nvPr/>
        </p:nvGraphicFramePr>
        <p:xfrm>
          <a:off x="110520" y="1663200"/>
          <a:ext cx="11990520" cy="4994280"/>
        </p:xfrm>
        <a:graphic>
          <a:graphicData uri="http://schemas.openxmlformats.org/drawingml/2006/table">
            <a:tbl>
              <a:tblPr/>
              <a:tblGrid>
                <a:gridCol w="3996720"/>
                <a:gridCol w="3996720"/>
                <a:gridCol w="3996720"/>
              </a:tblGrid>
              <a:tr h="146268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1. Introduçao + Setup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14400" indent="-32400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ontserrat"/>
                          <a:ea typeface="Montserrat"/>
                        </a:rPr>
                        <a:t>Acesso aos dados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14400" indent="-32400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ontserrat"/>
                          <a:ea typeface="Montserrat"/>
                        </a:rPr>
                        <a:t>Visual Studio Code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14400" indent="-32400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ontserrat"/>
                          <a:ea typeface="Montserrat"/>
                        </a:rPr>
                        <a:t>Extensões para SQLite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18720">
                      <a:solidFill>
                        <a:srgbClr val="b7b7b7"/>
                      </a:solidFill>
                      <a:prstDash val="solid"/>
                    </a:lnR>
                    <a:lnT w="18720">
                      <a:solidFill>
                        <a:srgbClr val="434343"/>
                      </a:solidFill>
                      <a:prstDash val="solid"/>
                    </a:lnT>
                    <a:lnB w="18720">
                      <a:solidFill>
                        <a:srgbClr val="43434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4. JOIN</a:t>
                      </a: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s: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14400" indent="-32400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LEFT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14400" indent="-32400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RIGHT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14400" indent="-32400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INNER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8720">
                      <a:solidFill>
                        <a:srgbClr val="b7b7b7"/>
                      </a:solidFill>
                      <a:prstDash val="solid"/>
                    </a:lnL>
                    <a:lnR w="18720">
                      <a:solidFill>
                        <a:srgbClr val="b7b7b7"/>
                      </a:solidFill>
                      <a:prstDash val="solid"/>
                    </a:lnR>
                    <a:lnT w="18720">
                      <a:solidFill>
                        <a:srgbClr val="434343"/>
                      </a:solidFill>
                      <a:prstDash val="solid"/>
                    </a:lnT>
                    <a:lnB w="18720">
                      <a:solidFill>
                        <a:srgbClr val="43434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7. Window Functions: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 indent="-324000">
                        <a:lnSpc>
                          <a:spcPct val="90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OVER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 indent="-324000">
                        <a:lnSpc>
                          <a:spcPct val="90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PARTITION BY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 indent="-324000">
                        <a:lnSpc>
                          <a:spcPct val="90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LAG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 indent="-324000">
                        <a:lnSpc>
                          <a:spcPct val="90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LEAD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 indent="-324000">
                        <a:lnSpc>
                          <a:spcPct val="90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ROW_NUMBER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8720">
                      <a:solidFill>
                        <a:srgbClr val="b7b7b7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18720">
                      <a:solidFill>
                        <a:srgbClr val="434343"/>
                      </a:solidFill>
                      <a:prstDash val="solid"/>
                    </a:lnT>
                    <a:lnB w="18720">
                      <a:solidFill>
                        <a:srgbClr val="434343"/>
                      </a:solidFill>
                      <a:prstDash val="solid"/>
                    </a:lnB>
                    <a:noFill/>
                  </a:tcPr>
                </a:tc>
              </a:tr>
              <a:tr h="146268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ontserrat"/>
                        </a:rPr>
                        <a:t>2. Primeiras consultas (DQL)</a:t>
                      </a:r>
                      <a:endParaRPr b="0" lang="pt-BR" sz="1500" spc="-1" strike="noStrike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  <a:latin typeface="Montserrat"/>
                        <a:ea typeface="Montserrat"/>
                      </a:endParaRPr>
                    </a:p>
                    <a:p>
                      <a:pPr marL="914400" indent="-32400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ontserrat"/>
                        </a:rPr>
                        <a:t>SELECT</a:t>
                      </a:r>
                      <a:endParaRPr b="0" lang="pt-BR" sz="1500" spc="-1" strike="noStrike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  <a:latin typeface="Montserrat"/>
                        <a:ea typeface="Montserrat"/>
                      </a:endParaRPr>
                    </a:p>
                    <a:p>
                      <a:pPr marL="914400" indent="-32400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ontserrat"/>
                        </a:rPr>
                        <a:t>FROM</a:t>
                      </a:r>
                      <a:endParaRPr b="0" lang="pt-BR" sz="1500" spc="-1" strike="noStrike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  <a:latin typeface="Montserrat"/>
                        <a:ea typeface="Montserrat"/>
                      </a:endParaRPr>
                    </a:p>
                    <a:p>
                      <a:pPr marL="914400" indent="-32400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ontserrat"/>
                        </a:rPr>
                        <a:t>WHERE</a:t>
                      </a:r>
                      <a:endParaRPr b="0" lang="pt-BR" sz="1500" spc="-1" strike="noStrike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  <a:latin typeface="Montserrat"/>
                        <a:ea typeface="Montserrat"/>
                      </a:endParaRPr>
                    </a:p>
                    <a:p>
                      <a:pPr marL="914400" indent="-32400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ontserrat"/>
                        </a:rPr>
                        <a:t>CASE WHEN</a:t>
                      </a:r>
                      <a:endParaRPr b="0" lang="pt-BR" sz="1500" spc="-1" strike="noStrike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  <a:latin typeface="Montserrat"/>
                        <a:ea typeface="Montserrat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18720">
                      <a:solidFill>
                        <a:srgbClr val="b7b7b7"/>
                      </a:solidFill>
                      <a:prstDash val="solid"/>
                    </a:lnR>
                    <a:lnT w="18720">
                      <a:solidFill>
                        <a:srgbClr val="434343"/>
                      </a:solidFill>
                      <a:prstDash val="solid"/>
                    </a:lnT>
                    <a:lnB w="18720">
                      <a:solidFill>
                        <a:srgbClr val="43434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5. Juntando dados com UNIONs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8720">
                      <a:solidFill>
                        <a:srgbClr val="b7b7b7"/>
                      </a:solidFill>
                      <a:prstDash val="solid"/>
                    </a:lnL>
                    <a:lnR w="18720">
                      <a:solidFill>
                        <a:srgbClr val="b7b7b7"/>
                      </a:solidFill>
                      <a:prstDash val="solid"/>
                    </a:lnR>
                    <a:lnT w="18720">
                      <a:solidFill>
                        <a:srgbClr val="434343"/>
                      </a:solidFill>
                      <a:prstDash val="solid"/>
                    </a:lnT>
                    <a:lnB w="18720">
                      <a:solidFill>
                        <a:srgbClr val="43434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8. DDL (Data Definition Language)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14400" indent="-324000">
                        <a:lnSpc>
                          <a:spcPct val="90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CREATE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14400" indent="-324000">
                        <a:lnSpc>
                          <a:spcPct val="90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DROP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14400" indent="-324000">
                        <a:lnSpc>
                          <a:spcPct val="90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TRUNCATE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8720">
                      <a:solidFill>
                        <a:srgbClr val="b7b7b7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18720">
                      <a:solidFill>
                        <a:srgbClr val="434343"/>
                      </a:solidFill>
                      <a:prstDash val="solid"/>
                    </a:lnT>
                    <a:lnB w="18720">
                      <a:solidFill>
                        <a:srgbClr val="434343"/>
                      </a:solidFill>
                      <a:prstDash val="solid"/>
                    </a:lnB>
                    <a:noFill/>
                  </a:tcPr>
                </a:tc>
              </a:tr>
              <a:tr h="146268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3. Agregações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14400" indent="-324000">
                        <a:lnSpc>
                          <a:spcPct val="90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Funções de agregações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14400" indent="-324000">
                        <a:lnSpc>
                          <a:spcPct val="90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GROUP BY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14400" indent="-324000">
                        <a:lnSpc>
                          <a:spcPct val="90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ORDER BY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14400" indent="-324000">
                        <a:lnSpc>
                          <a:spcPct val="90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HAVING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18720">
                      <a:solidFill>
                        <a:srgbClr val="b7b7b7"/>
                      </a:solidFill>
                      <a:prstDash val="solid"/>
                    </a:lnR>
                    <a:lnT w="18720">
                      <a:solidFill>
                        <a:srgbClr val="434343"/>
                      </a:solidFill>
                      <a:prstDash val="solid"/>
                    </a:lnT>
                    <a:lnB w="18720">
                      <a:solidFill>
                        <a:srgbClr val="43434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9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6. Subqueries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14400" indent="-324000">
                        <a:lnSpc>
                          <a:spcPct val="90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CTE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8720">
                      <a:solidFill>
                        <a:srgbClr val="b7b7b7"/>
                      </a:solidFill>
                      <a:prstDash val="solid"/>
                    </a:lnL>
                    <a:lnR w="18720">
                      <a:solidFill>
                        <a:srgbClr val="b7b7b7"/>
                      </a:solidFill>
                      <a:prstDash val="solid"/>
                    </a:lnR>
                    <a:lnT w="18720">
                      <a:solidFill>
                        <a:srgbClr val="434343"/>
                      </a:solidFill>
                      <a:prstDash val="solid"/>
                    </a:lnT>
                    <a:lnB w="18720">
                      <a:solidFill>
                        <a:srgbClr val="43434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9. DML (Data Manipulation Language)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14400" indent="-3240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INSERT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14400" indent="-3240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DELETE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14400" indent="-3240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Montserrat"/>
                        <a:buChar char="●"/>
                        <a:tabLst>
                          <a:tab algn="l" pos="0"/>
                        </a:tabLst>
                      </a:pPr>
                      <a:r>
                        <a:rPr b="0" lang="pt-BR" sz="1500" spc="-1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</a:rPr>
                        <a:t>UPDATE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8720">
                      <a:solidFill>
                        <a:srgbClr val="b7b7b7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18720">
                      <a:solidFill>
                        <a:srgbClr val="434343"/>
                      </a:solidFill>
                      <a:prstDash val="solid"/>
                    </a:lnT>
                    <a:lnB w="18720">
                      <a:solidFill>
                        <a:srgbClr val="43434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1045800" y="303120"/>
            <a:ext cx="7028640" cy="72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500" spc="-1" strike="noStrike">
                <a:solidFill>
                  <a:schemeClr val="dk1"/>
                </a:solidFill>
                <a:latin typeface="Montserrat"/>
                <a:ea typeface="Montserrat"/>
              </a:rPr>
              <a:t>O que vamos abordar</a:t>
            </a:r>
            <a:endParaRPr b="0" lang="pt-BR" sz="3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3" name="Google Shape;299;p35" descr=""/>
          <p:cNvPicPr/>
          <p:nvPr/>
        </p:nvPicPr>
        <p:blipFill>
          <a:blip r:embed="rId1"/>
          <a:stretch/>
        </p:blipFill>
        <p:spPr>
          <a:xfrm>
            <a:off x="386640" y="321120"/>
            <a:ext cx="685440" cy="68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304;p36"/>
          <p:cNvSpPr/>
          <p:nvPr/>
        </p:nvSpPr>
        <p:spPr>
          <a:xfrm>
            <a:off x="207720" y="852120"/>
            <a:ext cx="10018800" cy="10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200" spc="-1" strike="noStrike">
                <a:solidFill>
                  <a:schemeClr val="dk1"/>
                </a:solidFill>
                <a:latin typeface="Arial"/>
                <a:ea typeface="Arial"/>
              </a:rPr>
              <a:t>Banco de dados</a:t>
            </a:r>
            <a:endParaRPr b="0" lang="pt-BR" sz="4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" name="Google Shape;309;p37"/>
          <p:cNvGraphicFramePr/>
          <p:nvPr/>
        </p:nvGraphicFramePr>
        <p:xfrm>
          <a:off x="809640" y="1181160"/>
          <a:ext cx="8527680" cy="1746360"/>
        </p:xfrm>
        <a:graphic>
          <a:graphicData uri="http://schemas.openxmlformats.org/drawingml/2006/table">
            <a:tbl>
              <a:tblPr/>
              <a:tblGrid>
                <a:gridCol w="1325160"/>
                <a:gridCol w="2157120"/>
                <a:gridCol w="3228120"/>
                <a:gridCol w="1816920"/>
              </a:tblGrid>
              <a:tr h="266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ID Cliente</a:t>
                      </a:r>
                      <a:endParaRPr b="0" lang="pt-BR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Nome</a:t>
                      </a:r>
                      <a:endParaRPr b="0" lang="pt-BR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email</a:t>
                      </a:r>
                      <a:endParaRPr b="0" lang="pt-BR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Data Cadastro</a:t>
                      </a:r>
                      <a:endParaRPr b="0" lang="pt-BR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66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Téo Calvo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teozinhoBoladao@gmail.com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2024-06-13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</a:tr>
              <a:tr h="466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Nah Ataide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nahnah@gmail.com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2021-05-04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466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Téo Cabeludo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t-BR" sz="1800" spc="-1" strike="noStrike">
                        <a:solidFill>
                          <a:schemeClr val="dk1"/>
                        </a:solidFill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2025-03-10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310;p37"/>
          <p:cNvSpPr/>
          <p:nvPr/>
        </p:nvSpPr>
        <p:spPr>
          <a:xfrm>
            <a:off x="809640" y="752400"/>
            <a:ext cx="2265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chemeClr val="dk1"/>
                </a:solidFill>
                <a:latin typeface="Arial"/>
                <a:ea typeface="Arial"/>
              </a:rPr>
              <a:t>Tabela de Cliente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27" name="Google Shape;311;p37"/>
          <p:cNvGraphicFramePr/>
          <p:nvPr/>
        </p:nvGraphicFramePr>
        <p:xfrm>
          <a:off x="809640" y="4622760"/>
          <a:ext cx="9677160" cy="1552680"/>
        </p:xfrm>
        <a:graphic>
          <a:graphicData uri="http://schemas.openxmlformats.org/drawingml/2006/table">
            <a:tbl>
              <a:tblPr/>
              <a:tblGrid>
                <a:gridCol w="1935360"/>
                <a:gridCol w="1935360"/>
                <a:gridCol w="1935360"/>
                <a:gridCol w="1935360"/>
                <a:gridCol w="1935360"/>
              </a:tblGrid>
              <a:tr h="2271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ID Venda</a:t>
                      </a:r>
                      <a:endParaRPr b="0" lang="pt-BR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ID Cliente</a:t>
                      </a:r>
                      <a:endParaRPr b="0" lang="pt-BR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ID Vendedor</a:t>
                      </a:r>
                      <a:endParaRPr b="0" lang="pt-BR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Data Venda</a:t>
                      </a:r>
                      <a:endParaRPr b="0" lang="pt-BR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Valor Venda</a:t>
                      </a:r>
                      <a:endParaRPr b="0" lang="pt-BR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978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2024-07-15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R$ 120,00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</a:tr>
              <a:tr h="3978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2022-01-11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R$ 63,90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3909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4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2024-06-09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R$ 25,89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sp>
        <p:nvSpPr>
          <p:cNvPr id="228" name="Google Shape;312;p37"/>
          <p:cNvSpPr/>
          <p:nvPr/>
        </p:nvSpPr>
        <p:spPr>
          <a:xfrm>
            <a:off x="809640" y="4194000"/>
            <a:ext cx="234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chemeClr val="dk1"/>
                </a:solidFill>
                <a:latin typeface="Arial"/>
                <a:ea typeface="Arial"/>
              </a:rPr>
              <a:t>Tabela de Vendas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Google Shape;313;p37"/>
          <p:cNvSpPr/>
          <p:nvPr/>
        </p:nvSpPr>
        <p:spPr>
          <a:xfrm>
            <a:off x="825840" y="1993320"/>
            <a:ext cx="8494920" cy="48636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a64d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30" name="Google Shape;314;p37"/>
          <p:cNvSpPr/>
          <p:nvPr/>
        </p:nvSpPr>
        <p:spPr>
          <a:xfrm rot="16200000">
            <a:off x="7296480" y="4029120"/>
            <a:ext cx="573840" cy="48636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ead1dc"/>
          </a:solidFill>
          <a:ln w="28575">
            <a:solidFill>
              <a:srgbClr val="741b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31" name="Google Shape;315;p37"/>
          <p:cNvSpPr/>
          <p:nvPr/>
        </p:nvSpPr>
        <p:spPr>
          <a:xfrm>
            <a:off x="9999720" y="1567080"/>
            <a:ext cx="1500840" cy="13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2500" spc="-1" strike="noStrike">
                <a:solidFill>
                  <a:srgbClr val="741b47"/>
                </a:solidFill>
                <a:latin typeface="Arial"/>
                <a:ea typeface="Arial"/>
              </a:rPr>
              <a:t>Linha</a:t>
            </a:r>
            <a:endParaRPr b="0" lang="pt-BR" sz="25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2500" spc="-1" strike="noStrike">
                <a:solidFill>
                  <a:srgbClr val="741b47"/>
                </a:solidFill>
                <a:latin typeface="Arial"/>
                <a:ea typeface="Arial"/>
              </a:rPr>
              <a:t>ou</a:t>
            </a:r>
            <a:endParaRPr b="0" lang="pt-BR" sz="25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2500" spc="-1" strike="noStrike">
                <a:solidFill>
                  <a:srgbClr val="741b47"/>
                </a:solidFill>
                <a:latin typeface="Arial"/>
                <a:ea typeface="Arial"/>
              </a:rPr>
              <a:t>Registro</a:t>
            </a:r>
            <a:endParaRPr b="0" lang="pt-B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Google Shape;316;p37"/>
          <p:cNvSpPr/>
          <p:nvPr/>
        </p:nvSpPr>
        <p:spPr>
          <a:xfrm>
            <a:off x="6616080" y="4622760"/>
            <a:ext cx="1935360" cy="155232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a64d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33" name="Google Shape;317;p37"/>
          <p:cNvSpPr/>
          <p:nvPr/>
        </p:nvSpPr>
        <p:spPr>
          <a:xfrm>
            <a:off x="6173640" y="3429000"/>
            <a:ext cx="281988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2500" spc="-1" strike="noStrike">
                <a:solidFill>
                  <a:srgbClr val="741b47"/>
                </a:solidFill>
                <a:latin typeface="Arial"/>
                <a:ea typeface="Arial"/>
              </a:rPr>
              <a:t>Coluna ou Campo</a:t>
            </a:r>
            <a:endParaRPr b="0" lang="pt-B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Google Shape;318;p37"/>
          <p:cNvSpPr/>
          <p:nvPr/>
        </p:nvSpPr>
        <p:spPr>
          <a:xfrm>
            <a:off x="9425520" y="1993320"/>
            <a:ext cx="573840" cy="48636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ead1dc"/>
          </a:solidFill>
          <a:ln w="28575">
            <a:solidFill>
              <a:srgbClr val="741b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" dur="indefinite" restart="never" nodeType="tmRoot">
          <p:childTnLst>
            <p:seq>
              <p:cTn id="14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"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"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"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"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"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323;p38"/>
          <p:cNvGrpSpPr/>
          <p:nvPr/>
        </p:nvGrpSpPr>
        <p:grpSpPr>
          <a:xfrm>
            <a:off x="812880" y="1082160"/>
            <a:ext cx="3838320" cy="4803480"/>
            <a:chOff x="812880" y="1082160"/>
            <a:chExt cx="3838320" cy="4803480"/>
          </a:xfrm>
        </p:grpSpPr>
        <p:grpSp>
          <p:nvGrpSpPr>
            <p:cNvPr id="236" name="Google Shape;324;p38"/>
            <p:cNvGrpSpPr/>
            <p:nvPr/>
          </p:nvGrpSpPr>
          <p:grpSpPr>
            <a:xfrm>
              <a:off x="1200240" y="1082160"/>
              <a:ext cx="1885680" cy="1933920"/>
              <a:chOff x="1200240" y="1082160"/>
              <a:chExt cx="1885680" cy="1933920"/>
            </a:xfrm>
          </p:grpSpPr>
          <p:pic>
            <p:nvPicPr>
              <p:cNvPr id="237" name="Google Shape;325;p38" descr=""/>
              <p:cNvPicPr/>
              <p:nvPr/>
            </p:nvPicPr>
            <p:blipFill>
              <a:blip r:embed="rId1"/>
              <a:stretch/>
            </p:blipFill>
            <p:spPr>
              <a:xfrm>
                <a:off x="1200240" y="1082160"/>
                <a:ext cx="1885680" cy="193392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238" name="Google Shape;326;p38"/>
              <p:cNvSpPr/>
              <p:nvPr/>
            </p:nvSpPr>
            <p:spPr>
              <a:xfrm>
                <a:off x="1318680" y="1380600"/>
                <a:ext cx="1256760" cy="36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pt-BR" sz="1800" spc="-1" strike="noStrike">
                    <a:solidFill>
                      <a:schemeClr val="lt1"/>
                    </a:solidFill>
                    <a:latin typeface="Arial"/>
                    <a:ea typeface="Arial"/>
                  </a:rPr>
                  <a:t>vendedor</a:t>
                </a:r>
                <a:endParaRPr b="0" lang="pt-BR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39" name="Google Shape;327;p38"/>
            <p:cNvGrpSpPr/>
            <p:nvPr/>
          </p:nvGrpSpPr>
          <p:grpSpPr>
            <a:xfrm>
              <a:off x="2765520" y="2314080"/>
              <a:ext cx="1885680" cy="1933920"/>
              <a:chOff x="2765520" y="2314080"/>
              <a:chExt cx="1885680" cy="1933920"/>
            </a:xfrm>
          </p:grpSpPr>
          <p:pic>
            <p:nvPicPr>
              <p:cNvPr id="240" name="Google Shape;328;p38" descr=""/>
              <p:cNvPicPr/>
              <p:nvPr/>
            </p:nvPicPr>
            <p:blipFill>
              <a:blip r:embed="rId2"/>
              <a:stretch/>
            </p:blipFill>
            <p:spPr>
              <a:xfrm>
                <a:off x="2765520" y="2314080"/>
                <a:ext cx="1885680" cy="193392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241" name="Google Shape;329;p38"/>
              <p:cNvSpPr/>
              <p:nvPr/>
            </p:nvSpPr>
            <p:spPr>
              <a:xfrm>
                <a:off x="2883960" y="2612520"/>
                <a:ext cx="1536480" cy="36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pt-BR" sz="1800" spc="-1" strike="noStrike">
                    <a:solidFill>
                      <a:schemeClr val="lt1"/>
                    </a:solidFill>
                    <a:latin typeface="Arial"/>
                    <a:ea typeface="Arial"/>
                  </a:rPr>
                  <a:t>produto</a:t>
                </a:r>
                <a:endParaRPr b="0" lang="pt-BR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42" name="Google Shape;330;p38"/>
            <p:cNvGrpSpPr/>
            <p:nvPr/>
          </p:nvGrpSpPr>
          <p:grpSpPr>
            <a:xfrm>
              <a:off x="812880" y="2513880"/>
              <a:ext cx="1885680" cy="1933920"/>
              <a:chOff x="812880" y="2513880"/>
              <a:chExt cx="1885680" cy="1933920"/>
            </a:xfrm>
          </p:grpSpPr>
          <p:pic>
            <p:nvPicPr>
              <p:cNvPr id="243" name="Google Shape;331;p38" descr=""/>
              <p:cNvPicPr/>
              <p:nvPr/>
            </p:nvPicPr>
            <p:blipFill>
              <a:blip r:embed="rId3"/>
              <a:stretch/>
            </p:blipFill>
            <p:spPr>
              <a:xfrm>
                <a:off x="812880" y="2513880"/>
                <a:ext cx="1885680" cy="193392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244" name="Google Shape;332;p38"/>
              <p:cNvSpPr/>
              <p:nvPr/>
            </p:nvSpPr>
            <p:spPr>
              <a:xfrm>
                <a:off x="931680" y="2812320"/>
                <a:ext cx="1256760" cy="36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pt-BR" sz="1800" spc="-1" strike="noStrike">
                    <a:solidFill>
                      <a:schemeClr val="lt1"/>
                    </a:solidFill>
                    <a:latin typeface="Arial"/>
                    <a:ea typeface="Arial"/>
                  </a:rPr>
                  <a:t>cliente</a:t>
                </a:r>
                <a:endParaRPr b="0" lang="pt-BR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45" name="Google Shape;333;p38"/>
            <p:cNvGrpSpPr/>
            <p:nvPr/>
          </p:nvGrpSpPr>
          <p:grpSpPr>
            <a:xfrm>
              <a:off x="1689120" y="3790440"/>
              <a:ext cx="2246400" cy="2095200"/>
              <a:chOff x="1689120" y="3790440"/>
              <a:chExt cx="2246400" cy="2095200"/>
            </a:xfrm>
          </p:grpSpPr>
          <p:pic>
            <p:nvPicPr>
              <p:cNvPr id="246" name="Google Shape;334;p38" descr=""/>
              <p:cNvPicPr/>
              <p:nvPr/>
            </p:nvPicPr>
            <p:blipFill>
              <a:blip r:embed="rId4"/>
              <a:stretch/>
            </p:blipFill>
            <p:spPr>
              <a:xfrm>
                <a:off x="1689120" y="3790440"/>
                <a:ext cx="2189520" cy="20952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247" name="Google Shape;335;p38"/>
              <p:cNvSpPr/>
              <p:nvPr/>
            </p:nvSpPr>
            <p:spPr>
              <a:xfrm>
                <a:off x="1827000" y="4113720"/>
                <a:ext cx="2108520" cy="36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pt-BR" sz="1800" spc="-1" strike="noStrike">
                    <a:solidFill>
                      <a:schemeClr val="lt1"/>
                    </a:solidFill>
                    <a:latin typeface="Arial"/>
                    <a:ea typeface="Arial"/>
                  </a:rPr>
                  <a:t>pedido</a:t>
                </a:r>
                <a:endParaRPr b="0" lang="pt-BR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248" name="Google Shape;336;p38"/>
          <p:cNvSpPr/>
          <p:nvPr/>
        </p:nvSpPr>
        <p:spPr>
          <a:xfrm>
            <a:off x="5149800" y="3258360"/>
            <a:ext cx="1314000" cy="790200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42719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249" name="Google Shape;337;p38" descr=""/>
          <p:cNvPicPr/>
          <p:nvPr/>
        </p:nvPicPr>
        <p:blipFill>
          <a:blip r:embed="rId5"/>
          <a:stretch/>
        </p:blipFill>
        <p:spPr>
          <a:xfrm>
            <a:off x="7655760" y="1912680"/>
            <a:ext cx="2321640" cy="2321640"/>
          </a:xfrm>
          <a:prstGeom prst="rect">
            <a:avLst/>
          </a:prstGeom>
          <a:ln w="0">
            <a:noFill/>
          </a:ln>
        </p:spPr>
      </p:pic>
      <p:sp>
        <p:nvSpPr>
          <p:cNvPr id="250" name="Google Shape;338;p38"/>
          <p:cNvSpPr/>
          <p:nvPr/>
        </p:nvSpPr>
        <p:spPr>
          <a:xfrm>
            <a:off x="7197840" y="1213560"/>
            <a:ext cx="323820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800" spc="-1" strike="noStrike">
                <a:solidFill>
                  <a:schemeClr val="dk1"/>
                </a:solidFill>
                <a:latin typeface="Montserrat"/>
                <a:ea typeface="Montserrat"/>
              </a:rPr>
              <a:t>Banco de dados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Google Shape;339;p38"/>
          <p:cNvSpPr/>
          <p:nvPr/>
        </p:nvSpPr>
        <p:spPr>
          <a:xfrm>
            <a:off x="6579000" y="4729680"/>
            <a:ext cx="44758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100" spc="-1" strike="noStrike">
                <a:solidFill>
                  <a:srgbClr val="0070c0"/>
                </a:solidFill>
                <a:latin typeface="Montserrat"/>
                <a:ea typeface="Montserrat"/>
              </a:rPr>
              <a:t>Sistema de Gerenciamento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100" spc="-1" strike="noStrike">
                <a:solidFill>
                  <a:srgbClr val="0070c0"/>
                </a:solidFill>
                <a:latin typeface="Montserrat"/>
                <a:ea typeface="Montserrat"/>
              </a:rPr>
              <a:t>de Banco de Dados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2100" spc="-1" strike="noStrike">
                <a:solidFill>
                  <a:srgbClr val="0070c0"/>
                </a:solidFill>
                <a:latin typeface="Montserrat"/>
                <a:ea typeface="Montserrat"/>
              </a:rPr>
              <a:t>(SGBD)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7" dur="indefinite" restart="never" nodeType="tmRoot">
          <p:childTnLst>
            <p:seq>
              <p:cTn id="38" dur="indefinite" nodeType="mainSeq">
                <p:childTnLst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344;p39"/>
          <p:cNvSpPr/>
          <p:nvPr/>
        </p:nvSpPr>
        <p:spPr>
          <a:xfrm>
            <a:off x="762480" y="710640"/>
            <a:ext cx="1081692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Alguns SGBD Relacionais (sabores de engine)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3" name="Google Shape;345;p39" descr=""/>
          <p:cNvPicPr/>
          <p:nvPr/>
        </p:nvPicPr>
        <p:blipFill>
          <a:blip r:embed="rId1"/>
          <a:stretch/>
        </p:blipFill>
        <p:spPr>
          <a:xfrm>
            <a:off x="864360" y="1720080"/>
            <a:ext cx="3115080" cy="1475280"/>
          </a:xfrm>
          <a:prstGeom prst="rect">
            <a:avLst/>
          </a:prstGeom>
          <a:ln w="0">
            <a:noFill/>
          </a:ln>
        </p:spPr>
      </p:pic>
      <p:pic>
        <p:nvPicPr>
          <p:cNvPr id="254" name="Google Shape;346;p39" descr=""/>
          <p:cNvPicPr/>
          <p:nvPr/>
        </p:nvPicPr>
        <p:blipFill>
          <a:blip r:embed="rId2"/>
          <a:stretch/>
        </p:blipFill>
        <p:spPr>
          <a:xfrm>
            <a:off x="762480" y="4368240"/>
            <a:ext cx="2156040" cy="1750320"/>
          </a:xfrm>
          <a:prstGeom prst="rect">
            <a:avLst/>
          </a:prstGeom>
          <a:ln w="0">
            <a:noFill/>
          </a:ln>
        </p:spPr>
      </p:pic>
      <p:pic>
        <p:nvPicPr>
          <p:cNvPr id="255" name="Google Shape;347;p39" descr=""/>
          <p:cNvPicPr/>
          <p:nvPr/>
        </p:nvPicPr>
        <p:blipFill>
          <a:blip r:embed="rId3"/>
          <a:stretch/>
        </p:blipFill>
        <p:spPr>
          <a:xfrm>
            <a:off x="4674600" y="1312560"/>
            <a:ext cx="3435480" cy="2290680"/>
          </a:xfrm>
          <a:prstGeom prst="rect">
            <a:avLst/>
          </a:prstGeom>
          <a:ln w="0">
            <a:noFill/>
          </a:ln>
        </p:spPr>
      </p:pic>
      <p:pic>
        <p:nvPicPr>
          <p:cNvPr id="256" name="Google Shape;348;p39" descr=""/>
          <p:cNvPicPr/>
          <p:nvPr/>
        </p:nvPicPr>
        <p:blipFill>
          <a:blip r:embed="rId4"/>
          <a:stretch/>
        </p:blipFill>
        <p:spPr>
          <a:xfrm>
            <a:off x="3281400" y="3556440"/>
            <a:ext cx="3435480" cy="973440"/>
          </a:xfrm>
          <a:prstGeom prst="rect">
            <a:avLst/>
          </a:prstGeom>
          <a:ln w="0">
            <a:noFill/>
          </a:ln>
        </p:spPr>
      </p:pic>
      <p:pic>
        <p:nvPicPr>
          <p:cNvPr id="257" name="Google Shape;349;p39" descr=""/>
          <p:cNvPicPr/>
          <p:nvPr/>
        </p:nvPicPr>
        <p:blipFill>
          <a:blip r:embed="rId5"/>
          <a:stretch/>
        </p:blipFill>
        <p:spPr>
          <a:xfrm>
            <a:off x="8258040" y="4530240"/>
            <a:ext cx="3022200" cy="1070280"/>
          </a:xfrm>
          <a:prstGeom prst="rect">
            <a:avLst/>
          </a:prstGeom>
          <a:ln w="0">
            <a:noFill/>
          </a:ln>
        </p:spPr>
      </p:pic>
      <p:pic>
        <p:nvPicPr>
          <p:cNvPr id="258" name="Google Shape;350;p39" descr=""/>
          <p:cNvPicPr/>
          <p:nvPr/>
        </p:nvPicPr>
        <p:blipFill>
          <a:blip r:embed="rId6"/>
          <a:stretch/>
        </p:blipFill>
        <p:spPr>
          <a:xfrm>
            <a:off x="8699760" y="1571760"/>
            <a:ext cx="2332080" cy="2131200"/>
          </a:xfrm>
          <a:prstGeom prst="rect">
            <a:avLst/>
          </a:prstGeom>
          <a:ln w="0">
            <a:noFill/>
          </a:ln>
        </p:spPr>
      </p:pic>
      <p:pic>
        <p:nvPicPr>
          <p:cNvPr id="259" name="Google Shape;351;p39" descr=""/>
          <p:cNvPicPr/>
          <p:nvPr/>
        </p:nvPicPr>
        <p:blipFill>
          <a:blip r:embed="rId7"/>
          <a:stretch/>
        </p:blipFill>
        <p:spPr>
          <a:xfrm>
            <a:off x="4730400" y="5005080"/>
            <a:ext cx="2408760" cy="125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356;p40"/>
          <p:cNvSpPr/>
          <p:nvPr/>
        </p:nvSpPr>
        <p:spPr>
          <a:xfrm>
            <a:off x="762480" y="710640"/>
            <a:ext cx="1082628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Algumas IDEs </a:t>
            </a:r>
            <a:r>
              <a:rPr b="0" lang="pt-BR" sz="2400" spc="-1" strike="noStrike">
                <a:solidFill>
                  <a:schemeClr val="dk1"/>
                </a:solidFill>
                <a:latin typeface="Montserrat"/>
                <a:ea typeface="Montserrat"/>
              </a:rPr>
              <a:t>(Ambiente de Desenvolvimento Integrado)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1" name="Google Shape;357;p40" descr=""/>
          <p:cNvPicPr/>
          <p:nvPr/>
        </p:nvPicPr>
        <p:blipFill>
          <a:blip r:embed="rId1"/>
          <a:stretch/>
        </p:blipFill>
        <p:spPr>
          <a:xfrm>
            <a:off x="1550520" y="1945080"/>
            <a:ext cx="1127520" cy="1119600"/>
          </a:xfrm>
          <a:prstGeom prst="rect">
            <a:avLst/>
          </a:prstGeom>
          <a:ln w="0">
            <a:noFill/>
          </a:ln>
        </p:spPr>
      </p:pic>
      <p:pic>
        <p:nvPicPr>
          <p:cNvPr id="262" name="Google Shape;358;p40" descr=""/>
          <p:cNvPicPr/>
          <p:nvPr/>
        </p:nvPicPr>
        <p:blipFill>
          <a:blip r:embed="rId2"/>
          <a:stretch/>
        </p:blipFill>
        <p:spPr>
          <a:xfrm>
            <a:off x="1718280" y="4307760"/>
            <a:ext cx="981360" cy="981360"/>
          </a:xfrm>
          <a:prstGeom prst="rect">
            <a:avLst/>
          </a:prstGeom>
          <a:ln w="0">
            <a:noFill/>
          </a:ln>
        </p:spPr>
      </p:pic>
      <p:pic>
        <p:nvPicPr>
          <p:cNvPr id="263" name="Google Shape;359;p40" descr=""/>
          <p:cNvPicPr/>
          <p:nvPr/>
        </p:nvPicPr>
        <p:blipFill>
          <a:blip r:embed="rId3"/>
          <a:stretch/>
        </p:blipFill>
        <p:spPr>
          <a:xfrm>
            <a:off x="7609320" y="4855680"/>
            <a:ext cx="2719080" cy="1359360"/>
          </a:xfrm>
          <a:prstGeom prst="rect">
            <a:avLst/>
          </a:prstGeom>
          <a:ln w="0">
            <a:noFill/>
          </a:ln>
        </p:spPr>
      </p:pic>
      <p:sp>
        <p:nvSpPr>
          <p:cNvPr id="264" name="Google Shape;360;p40"/>
          <p:cNvSpPr/>
          <p:nvPr/>
        </p:nvSpPr>
        <p:spPr>
          <a:xfrm>
            <a:off x="986400" y="3064680"/>
            <a:ext cx="225540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1700" spc="-1" strike="noStrike">
                <a:solidFill>
                  <a:srgbClr val="000000"/>
                </a:solidFill>
                <a:latin typeface="Arial"/>
                <a:ea typeface="Arial"/>
              </a:rPr>
              <a:t>Visual Studio Code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Google Shape;361;p40"/>
          <p:cNvSpPr/>
          <p:nvPr/>
        </p:nvSpPr>
        <p:spPr>
          <a:xfrm>
            <a:off x="986400" y="5312160"/>
            <a:ext cx="244512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1700" spc="-1" strike="noStrike">
                <a:solidFill>
                  <a:srgbClr val="000000"/>
                </a:solidFill>
                <a:latin typeface="Arial"/>
                <a:ea typeface="Arial"/>
              </a:rPr>
              <a:t>Sublime Text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6" name="Google Shape;362;p40"/>
          <p:cNvGrpSpPr/>
          <p:nvPr/>
        </p:nvGrpSpPr>
        <p:grpSpPr>
          <a:xfrm>
            <a:off x="3983040" y="1635480"/>
            <a:ext cx="1706760" cy="1551240"/>
            <a:chOff x="3983040" y="1635480"/>
            <a:chExt cx="1706760" cy="1551240"/>
          </a:xfrm>
        </p:grpSpPr>
        <p:pic>
          <p:nvPicPr>
            <p:cNvPr id="267" name="Google Shape;363;p40" descr=""/>
            <p:cNvPicPr/>
            <p:nvPr/>
          </p:nvPicPr>
          <p:blipFill>
            <a:blip r:embed="rId4"/>
            <a:stretch/>
          </p:blipFill>
          <p:spPr>
            <a:xfrm>
              <a:off x="4281840" y="1635480"/>
              <a:ext cx="1109520" cy="11095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68" name="Google Shape;364;p40"/>
            <p:cNvSpPr/>
            <p:nvPr/>
          </p:nvSpPr>
          <p:spPr>
            <a:xfrm>
              <a:off x="3983040" y="2745000"/>
              <a:ext cx="1706760" cy="44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pt-BR" sz="1700" spc="-1" strike="noStrike">
                  <a:solidFill>
                    <a:srgbClr val="000000"/>
                  </a:solidFill>
                  <a:latin typeface="Arial"/>
                  <a:ea typeface="Arial"/>
                </a:rPr>
                <a:t>Eclipse</a:t>
              </a:r>
              <a:endParaRPr b="0" lang="pt-BR" sz="1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9" name="Google Shape;365;p40"/>
          <p:cNvGrpSpPr/>
          <p:nvPr/>
        </p:nvGrpSpPr>
        <p:grpSpPr>
          <a:xfrm>
            <a:off x="5981760" y="2780280"/>
            <a:ext cx="1706760" cy="1573560"/>
            <a:chOff x="5981760" y="2780280"/>
            <a:chExt cx="1706760" cy="1573560"/>
          </a:xfrm>
        </p:grpSpPr>
        <p:pic>
          <p:nvPicPr>
            <p:cNvPr id="270" name="Google Shape;366;p40" descr=""/>
            <p:cNvPicPr/>
            <p:nvPr/>
          </p:nvPicPr>
          <p:blipFill>
            <a:blip r:embed="rId5"/>
            <a:stretch/>
          </p:blipFill>
          <p:spPr>
            <a:xfrm>
              <a:off x="6271200" y="2780280"/>
              <a:ext cx="1127520" cy="11275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71" name="Google Shape;367;p40"/>
            <p:cNvSpPr/>
            <p:nvPr/>
          </p:nvSpPr>
          <p:spPr>
            <a:xfrm>
              <a:off x="5981760" y="3912120"/>
              <a:ext cx="1706760" cy="44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pt-BR" sz="1700" spc="-1" strike="noStrike">
                  <a:solidFill>
                    <a:srgbClr val="000000"/>
                  </a:solidFill>
                  <a:latin typeface="Arial"/>
                  <a:ea typeface="Arial"/>
                </a:rPr>
                <a:t>PyCharm</a:t>
              </a:r>
              <a:endParaRPr b="0" lang="pt-BR" sz="1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2" name="Google Shape;368;p40"/>
          <p:cNvGrpSpPr/>
          <p:nvPr/>
        </p:nvGrpSpPr>
        <p:grpSpPr>
          <a:xfrm>
            <a:off x="3931920" y="4507200"/>
            <a:ext cx="2445120" cy="1767600"/>
            <a:chOff x="3931920" y="4507200"/>
            <a:chExt cx="2445120" cy="1767600"/>
          </a:xfrm>
        </p:grpSpPr>
        <p:pic>
          <p:nvPicPr>
            <p:cNvPr id="273" name="Google Shape;369;p40" descr=""/>
            <p:cNvPicPr/>
            <p:nvPr/>
          </p:nvPicPr>
          <p:blipFill>
            <a:blip r:embed="rId6"/>
            <a:stretch/>
          </p:blipFill>
          <p:spPr>
            <a:xfrm>
              <a:off x="4522680" y="4507200"/>
              <a:ext cx="1263600" cy="12636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74" name="Google Shape;370;p40"/>
            <p:cNvSpPr/>
            <p:nvPr/>
          </p:nvSpPr>
          <p:spPr>
            <a:xfrm>
              <a:off x="3931920" y="5833080"/>
              <a:ext cx="2445120" cy="44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pt-BR" sz="1700" spc="-1" strike="noStrike">
                  <a:solidFill>
                    <a:srgbClr val="000000"/>
                  </a:solidFill>
                  <a:latin typeface="Arial"/>
                  <a:ea typeface="Arial"/>
                </a:rPr>
                <a:t>MySQL Workbench</a:t>
              </a:r>
              <a:endParaRPr b="0" lang="pt-BR" sz="1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75" name="Google Shape;371;p40" descr=""/>
          <p:cNvPicPr/>
          <p:nvPr/>
        </p:nvPicPr>
        <p:blipFill>
          <a:blip r:embed="rId7"/>
          <a:stretch/>
        </p:blipFill>
        <p:spPr>
          <a:xfrm>
            <a:off x="7983000" y="1382040"/>
            <a:ext cx="2589840" cy="1359360"/>
          </a:xfrm>
          <a:prstGeom prst="rect">
            <a:avLst/>
          </a:prstGeom>
          <a:ln w="0">
            <a:noFill/>
          </a:ln>
        </p:spPr>
      </p:pic>
      <p:pic>
        <p:nvPicPr>
          <p:cNvPr id="276" name="Google Shape;372;p40" descr=""/>
          <p:cNvPicPr/>
          <p:nvPr/>
        </p:nvPicPr>
        <p:blipFill>
          <a:blip r:embed="rId8"/>
          <a:stretch/>
        </p:blipFill>
        <p:spPr>
          <a:xfrm>
            <a:off x="8336160" y="2994840"/>
            <a:ext cx="3005280" cy="1577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377;p41"/>
          <p:cNvSpPr/>
          <p:nvPr/>
        </p:nvSpPr>
        <p:spPr>
          <a:xfrm>
            <a:off x="762480" y="482040"/>
            <a:ext cx="878400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O Fluxo Geral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8" name="Google Shape;378;p41" descr=""/>
          <p:cNvPicPr/>
          <p:nvPr/>
        </p:nvPicPr>
        <p:blipFill>
          <a:blip r:embed="rId1"/>
          <a:stretch/>
        </p:blipFill>
        <p:spPr>
          <a:xfrm>
            <a:off x="8876520" y="2055960"/>
            <a:ext cx="2123640" cy="1005840"/>
          </a:xfrm>
          <a:prstGeom prst="rect">
            <a:avLst/>
          </a:prstGeom>
          <a:ln w="0">
            <a:noFill/>
          </a:ln>
        </p:spPr>
      </p:pic>
      <p:pic>
        <p:nvPicPr>
          <p:cNvPr id="279" name="Google Shape;379;p41" descr=""/>
          <p:cNvPicPr/>
          <p:nvPr/>
        </p:nvPicPr>
        <p:blipFill>
          <a:blip r:embed="rId2"/>
          <a:stretch/>
        </p:blipFill>
        <p:spPr>
          <a:xfrm>
            <a:off x="8876520" y="3224520"/>
            <a:ext cx="2123640" cy="1415880"/>
          </a:xfrm>
          <a:prstGeom prst="rect">
            <a:avLst/>
          </a:prstGeom>
          <a:ln w="0">
            <a:noFill/>
          </a:ln>
        </p:spPr>
      </p:pic>
      <p:pic>
        <p:nvPicPr>
          <p:cNvPr id="280" name="Google Shape;380;p41" descr=""/>
          <p:cNvPicPr/>
          <p:nvPr/>
        </p:nvPicPr>
        <p:blipFill>
          <a:blip r:embed="rId3"/>
          <a:stretch/>
        </p:blipFill>
        <p:spPr>
          <a:xfrm>
            <a:off x="9184680" y="4890960"/>
            <a:ext cx="1506960" cy="1377360"/>
          </a:xfrm>
          <a:prstGeom prst="rect">
            <a:avLst/>
          </a:prstGeom>
          <a:ln w="0">
            <a:noFill/>
          </a:ln>
        </p:spPr>
      </p:pic>
      <p:grpSp>
        <p:nvGrpSpPr>
          <p:cNvPr id="281" name="Google Shape;381;p41"/>
          <p:cNvGrpSpPr/>
          <p:nvPr/>
        </p:nvGrpSpPr>
        <p:grpSpPr>
          <a:xfrm>
            <a:off x="4973040" y="1850040"/>
            <a:ext cx="2016720" cy="4418280"/>
            <a:chOff x="4973040" y="1850040"/>
            <a:chExt cx="2016720" cy="4418280"/>
          </a:xfrm>
        </p:grpSpPr>
        <p:grpSp>
          <p:nvGrpSpPr>
            <p:cNvPr id="282" name="Google Shape;382;p41"/>
            <p:cNvGrpSpPr/>
            <p:nvPr/>
          </p:nvGrpSpPr>
          <p:grpSpPr>
            <a:xfrm>
              <a:off x="5050080" y="1850040"/>
              <a:ext cx="1863000" cy="3063240"/>
              <a:chOff x="5050080" y="1850040"/>
              <a:chExt cx="1863000" cy="3063240"/>
            </a:xfrm>
          </p:grpSpPr>
          <p:grpSp>
            <p:nvGrpSpPr>
              <p:cNvPr id="283" name="Google Shape;383;p41"/>
              <p:cNvGrpSpPr/>
              <p:nvPr/>
            </p:nvGrpSpPr>
            <p:grpSpPr>
              <a:xfrm>
                <a:off x="5050080" y="1850040"/>
                <a:ext cx="1863000" cy="1906200"/>
                <a:chOff x="5050080" y="1850040"/>
                <a:chExt cx="1863000" cy="1906200"/>
              </a:xfrm>
            </p:grpSpPr>
            <p:pic>
              <p:nvPicPr>
                <p:cNvPr id="284" name="Google Shape;384;p41" descr=""/>
                <p:cNvPicPr/>
                <p:nvPr/>
              </p:nvPicPr>
              <p:blipFill>
                <a:blip r:embed="rId4"/>
                <a:stretch/>
              </p:blipFill>
              <p:spPr>
                <a:xfrm>
                  <a:off x="5595480" y="1850040"/>
                  <a:ext cx="772200" cy="766800"/>
                </a:xfrm>
                <a:prstGeom prst="rect">
                  <a:avLst/>
                </a:prstGeom>
                <a:ln w="0">
                  <a:noFill/>
                </a:ln>
              </p:spPr>
            </p:pic>
            <p:pic>
              <p:nvPicPr>
                <p:cNvPr id="285" name="Google Shape;385;p41" descr=""/>
                <p:cNvPicPr/>
                <p:nvPr/>
              </p:nvPicPr>
              <p:blipFill>
                <a:blip r:embed="rId5"/>
                <a:stretch/>
              </p:blipFill>
              <p:spPr>
                <a:xfrm>
                  <a:off x="5050080" y="2824920"/>
                  <a:ext cx="1863000" cy="931320"/>
                </a:xfrm>
                <a:prstGeom prst="rect">
                  <a:avLst/>
                </a:prstGeom>
                <a:ln w="0">
                  <a:noFill/>
                </a:ln>
              </p:spPr>
            </p:pic>
          </p:grpSp>
          <p:pic>
            <p:nvPicPr>
              <p:cNvPr id="286" name="Google Shape;386;p41" descr=""/>
              <p:cNvPicPr/>
              <p:nvPr/>
            </p:nvPicPr>
            <p:blipFill>
              <a:blip r:embed="rId6"/>
              <a:stretch/>
            </p:blipFill>
            <p:spPr>
              <a:xfrm>
                <a:off x="5520960" y="3992400"/>
                <a:ext cx="920880" cy="920880"/>
              </a:xfrm>
              <a:prstGeom prst="rect">
                <a:avLst/>
              </a:prstGeom>
              <a:ln w="0">
                <a:noFill/>
              </a:ln>
            </p:spPr>
          </p:pic>
        </p:grpSp>
        <p:pic>
          <p:nvPicPr>
            <p:cNvPr id="287" name="Google Shape;387;p41" descr=""/>
            <p:cNvPicPr/>
            <p:nvPr/>
          </p:nvPicPr>
          <p:blipFill>
            <a:blip r:embed="rId7"/>
            <a:stretch/>
          </p:blipFill>
          <p:spPr>
            <a:xfrm>
              <a:off x="4973040" y="5209560"/>
              <a:ext cx="2016720" cy="105876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288" name="Google Shape;388;p41" descr=""/>
          <p:cNvPicPr/>
          <p:nvPr/>
        </p:nvPicPr>
        <p:blipFill>
          <a:blip r:embed="rId8"/>
          <a:stretch/>
        </p:blipFill>
        <p:spPr>
          <a:xfrm>
            <a:off x="1289160" y="3223800"/>
            <a:ext cx="1671120" cy="1671120"/>
          </a:xfrm>
          <a:prstGeom prst="rect">
            <a:avLst/>
          </a:prstGeom>
          <a:ln w="0">
            <a:noFill/>
          </a:ln>
        </p:spPr>
      </p:pic>
      <p:sp>
        <p:nvSpPr>
          <p:cNvPr id="289" name="Google Shape;389;p41"/>
          <p:cNvSpPr/>
          <p:nvPr/>
        </p:nvSpPr>
        <p:spPr>
          <a:xfrm>
            <a:off x="987480" y="4640760"/>
            <a:ext cx="227448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Usuário / Desenvolvedor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90" name="Google Shape;390;p41"/>
          <p:cNvCxnSpPr/>
          <p:nvPr/>
        </p:nvCxnSpPr>
        <p:spPr>
          <a:xfrm>
            <a:off x="3886560" y="1756440"/>
            <a:ext cx="360" cy="4494240"/>
          </a:xfrm>
          <a:prstGeom prst="straightConnector1">
            <a:avLst/>
          </a:prstGeom>
          <a:ln w="38100">
            <a:solidFill>
              <a:srgbClr val="0070c0"/>
            </a:solidFill>
            <a:prstDash val="dash"/>
            <a:round/>
          </a:ln>
        </p:spPr>
      </p:cxnSp>
      <p:cxnSp>
        <p:nvCxnSpPr>
          <p:cNvPr id="291" name="Google Shape;391;p41"/>
          <p:cNvCxnSpPr/>
          <p:nvPr/>
        </p:nvCxnSpPr>
        <p:spPr>
          <a:xfrm>
            <a:off x="8075520" y="1812240"/>
            <a:ext cx="360" cy="4494240"/>
          </a:xfrm>
          <a:prstGeom prst="straightConnector1">
            <a:avLst/>
          </a:prstGeom>
          <a:ln w="38100">
            <a:solidFill>
              <a:srgbClr val="0070c0"/>
            </a:solidFill>
            <a:prstDash val="dash"/>
            <a:round/>
          </a:ln>
        </p:spPr>
      </p:cxnSp>
      <p:sp>
        <p:nvSpPr>
          <p:cNvPr id="292" name="Google Shape;392;p41"/>
          <p:cNvSpPr/>
          <p:nvPr/>
        </p:nvSpPr>
        <p:spPr>
          <a:xfrm>
            <a:off x="7465320" y="3597120"/>
            <a:ext cx="1307520" cy="924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 w="28575">
            <a:solidFill>
              <a:srgbClr val="1c45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1c4587"/>
                </a:solidFill>
                <a:latin typeface="Montserrat"/>
                <a:ea typeface="Montserrat"/>
              </a:rPr>
              <a:t>Conexão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Google Shape;393;p41"/>
          <p:cNvSpPr/>
          <p:nvPr/>
        </p:nvSpPr>
        <p:spPr>
          <a:xfrm>
            <a:off x="3312720" y="3597120"/>
            <a:ext cx="1307520" cy="924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 w="28575">
            <a:solidFill>
              <a:srgbClr val="1c45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1c4587"/>
                </a:solidFill>
                <a:latin typeface="Montserrat"/>
                <a:ea typeface="Montserrat"/>
              </a:rPr>
              <a:t>Código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Google Shape;394;p41"/>
          <p:cNvSpPr/>
          <p:nvPr/>
        </p:nvSpPr>
        <p:spPr>
          <a:xfrm>
            <a:off x="7421400" y="4821120"/>
            <a:ext cx="1307520" cy="81252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274e13"/>
                </a:solidFill>
                <a:latin typeface="Montserrat"/>
                <a:ea typeface="Montserrat"/>
              </a:rPr>
              <a:t>Dados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Google Shape;395;p41"/>
          <p:cNvSpPr/>
          <p:nvPr/>
        </p:nvSpPr>
        <p:spPr>
          <a:xfrm>
            <a:off x="3283200" y="4821120"/>
            <a:ext cx="1307520" cy="81252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274e13"/>
                </a:solidFill>
                <a:latin typeface="Montserrat"/>
                <a:ea typeface="Montserrat"/>
              </a:rPr>
              <a:t>Dados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Google Shape;396;p41"/>
          <p:cNvSpPr/>
          <p:nvPr/>
        </p:nvSpPr>
        <p:spPr>
          <a:xfrm>
            <a:off x="1071720" y="1146960"/>
            <a:ext cx="227448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Usuário / Desenvolvedor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Google Shape;397;p41"/>
          <p:cNvSpPr/>
          <p:nvPr/>
        </p:nvSpPr>
        <p:spPr>
          <a:xfrm>
            <a:off x="4092480" y="1202760"/>
            <a:ext cx="3813120" cy="6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IDE</a:t>
            </a:r>
            <a:br>
              <a:rPr sz="1700"/>
            </a:br>
            <a:r>
              <a:rPr b="0" lang="pt-BR" sz="1200" spc="-1" strike="noStrike">
                <a:solidFill>
                  <a:srgbClr val="000000"/>
                </a:solidFill>
                <a:latin typeface="Montserrat"/>
                <a:ea typeface="Montserrat"/>
              </a:rPr>
              <a:t>Ambiente de Desenvolvimento Integrado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Google Shape;398;p41"/>
          <p:cNvSpPr/>
          <p:nvPr/>
        </p:nvSpPr>
        <p:spPr>
          <a:xfrm>
            <a:off x="8245080" y="1202760"/>
            <a:ext cx="3175920" cy="8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1700" spc="-1" strike="noStrike">
                <a:solidFill>
                  <a:srgbClr val="000000"/>
                </a:solidFill>
                <a:latin typeface="Montserrat"/>
                <a:ea typeface="Montserrat"/>
              </a:rPr>
              <a:t>SGDB</a:t>
            </a:r>
            <a:br>
              <a:rPr sz="1700"/>
            </a:br>
            <a:r>
              <a:rPr b="0" lang="pt-BR" sz="1200" spc="-1" strike="noStrike">
                <a:solidFill>
                  <a:srgbClr val="000000"/>
                </a:solidFill>
                <a:latin typeface="Montserrat"/>
                <a:ea typeface="Montserrat"/>
              </a:rPr>
              <a:t>Sistema de Gerenciamento de Banco de Dados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Google Shape;399;p41"/>
          <p:cNvSpPr/>
          <p:nvPr/>
        </p:nvSpPr>
        <p:spPr>
          <a:xfrm>
            <a:off x="1865520" y="1973520"/>
            <a:ext cx="2123640" cy="1415880"/>
          </a:xfrm>
          <a:prstGeom prst="cloud">
            <a:avLst/>
          </a:prstGeom>
          <a:solidFill>
            <a:srgbClr val="ead1dc"/>
          </a:solidFill>
          <a:ln w="19050">
            <a:solidFill>
              <a:srgbClr val="4c11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1600" spc="-1" strike="noStrike">
                <a:solidFill>
                  <a:srgbClr val="4c1130"/>
                </a:solidFill>
                <a:latin typeface="Montserrat"/>
                <a:ea typeface="Montserrat"/>
              </a:rPr>
              <a:t>É aqui que você escreve o código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Google Shape;400;p41"/>
          <p:cNvSpPr/>
          <p:nvPr/>
        </p:nvSpPr>
        <p:spPr>
          <a:xfrm rot="1309800">
            <a:off x="3717360" y="802800"/>
            <a:ext cx="1505160" cy="136044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rgbClr val="ead1dc"/>
          </a:solidFill>
          <a:ln w="19050">
            <a:solidFill>
              <a:srgbClr val="4c11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9" dur="indefinite" restart="never" nodeType="tmRoot">
          <p:childTnLst>
            <p:seq>
              <p:cTn id="50" dur="indefinite" nodeType="mainSeq">
                <p:childTnLst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"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"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"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"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"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8"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405;p42"/>
          <p:cNvSpPr/>
          <p:nvPr/>
        </p:nvSpPr>
        <p:spPr>
          <a:xfrm>
            <a:off x="762480" y="710640"/>
            <a:ext cx="878400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O Fluxo em nosso curso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2" name="Google Shape;406;p42" descr=""/>
          <p:cNvPicPr/>
          <p:nvPr/>
        </p:nvPicPr>
        <p:blipFill>
          <a:blip r:embed="rId1"/>
          <a:stretch/>
        </p:blipFill>
        <p:spPr>
          <a:xfrm>
            <a:off x="1289160" y="3223800"/>
            <a:ext cx="1671120" cy="1671120"/>
          </a:xfrm>
          <a:prstGeom prst="rect">
            <a:avLst/>
          </a:prstGeom>
          <a:ln w="0">
            <a:noFill/>
          </a:ln>
        </p:spPr>
      </p:pic>
      <p:sp>
        <p:nvSpPr>
          <p:cNvPr id="303" name="Google Shape;407;p42"/>
          <p:cNvSpPr/>
          <p:nvPr/>
        </p:nvSpPr>
        <p:spPr>
          <a:xfrm>
            <a:off x="1071720" y="1756440"/>
            <a:ext cx="2274480" cy="79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Usuário / Desenvolvedor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04" name="Google Shape;408;p42"/>
          <p:cNvCxnSpPr/>
          <p:nvPr/>
        </p:nvCxnSpPr>
        <p:spPr>
          <a:xfrm>
            <a:off x="3886560" y="1756440"/>
            <a:ext cx="360" cy="4494240"/>
          </a:xfrm>
          <a:prstGeom prst="straightConnector1">
            <a:avLst/>
          </a:prstGeom>
          <a:ln w="38100">
            <a:solidFill>
              <a:srgbClr val="0070c0"/>
            </a:solidFill>
            <a:prstDash val="dash"/>
            <a:round/>
          </a:ln>
        </p:spPr>
      </p:cxnSp>
      <p:cxnSp>
        <p:nvCxnSpPr>
          <p:cNvPr id="305" name="Google Shape;409;p42"/>
          <p:cNvCxnSpPr/>
          <p:nvPr/>
        </p:nvCxnSpPr>
        <p:spPr>
          <a:xfrm>
            <a:off x="8075520" y="1812240"/>
            <a:ext cx="360" cy="4494240"/>
          </a:xfrm>
          <a:prstGeom prst="straightConnector1">
            <a:avLst/>
          </a:prstGeom>
          <a:ln w="38100">
            <a:solidFill>
              <a:srgbClr val="0070c0"/>
            </a:solidFill>
            <a:prstDash val="dash"/>
            <a:round/>
          </a:ln>
        </p:spPr>
      </p:cxnSp>
      <p:sp>
        <p:nvSpPr>
          <p:cNvPr id="306" name="Google Shape;410;p42"/>
          <p:cNvSpPr/>
          <p:nvPr/>
        </p:nvSpPr>
        <p:spPr>
          <a:xfrm>
            <a:off x="4092480" y="1812600"/>
            <a:ext cx="3813120" cy="9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IDE</a:t>
            </a:r>
            <a:br>
              <a:rPr sz="2000"/>
            </a:br>
            <a:r>
              <a:rPr b="0" lang="pt-BR" sz="1500" spc="-1" strike="noStrike">
                <a:solidFill>
                  <a:srgbClr val="000000"/>
                </a:solidFill>
                <a:latin typeface="Montserrat"/>
                <a:ea typeface="Montserrat"/>
              </a:rPr>
              <a:t>Ambiente de Desenvolvimento Integrado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Google Shape;411;p42"/>
          <p:cNvSpPr/>
          <p:nvPr/>
        </p:nvSpPr>
        <p:spPr>
          <a:xfrm>
            <a:off x="8245080" y="1812600"/>
            <a:ext cx="3175920" cy="9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000000"/>
                </a:solidFill>
                <a:latin typeface="Montserrat"/>
                <a:ea typeface="Montserrat"/>
              </a:rPr>
              <a:t>SGDB</a:t>
            </a:r>
            <a:br>
              <a:rPr sz="2000"/>
            </a:br>
            <a:r>
              <a:rPr b="0" lang="pt-BR" sz="1500" spc="-1" strike="noStrike">
                <a:solidFill>
                  <a:srgbClr val="000000"/>
                </a:solidFill>
                <a:latin typeface="Montserrat"/>
                <a:ea typeface="Montserrat"/>
              </a:rPr>
              <a:t>Sistema de Gerenciamento de Banco de Dados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Google Shape;412;p42"/>
          <p:cNvSpPr/>
          <p:nvPr/>
        </p:nvSpPr>
        <p:spPr>
          <a:xfrm>
            <a:off x="7465320" y="3597120"/>
            <a:ext cx="1307520" cy="924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 w="28575">
            <a:solidFill>
              <a:srgbClr val="1c45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1c4587"/>
                </a:solidFill>
                <a:latin typeface="Montserrat"/>
                <a:ea typeface="Montserrat"/>
              </a:rPr>
              <a:t>Conexão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Google Shape;413;p42"/>
          <p:cNvSpPr/>
          <p:nvPr/>
        </p:nvSpPr>
        <p:spPr>
          <a:xfrm>
            <a:off x="3312720" y="3597120"/>
            <a:ext cx="1307520" cy="924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 w="28575">
            <a:solidFill>
              <a:srgbClr val="1c45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1c4587"/>
                </a:solidFill>
                <a:latin typeface="Montserrat"/>
                <a:ea typeface="Montserrat"/>
              </a:rPr>
              <a:t>Código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Google Shape;414;p42"/>
          <p:cNvSpPr/>
          <p:nvPr/>
        </p:nvSpPr>
        <p:spPr>
          <a:xfrm>
            <a:off x="7421400" y="4821120"/>
            <a:ext cx="1307520" cy="81252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274e13"/>
                </a:solidFill>
                <a:latin typeface="Montserrat"/>
                <a:ea typeface="Montserrat"/>
              </a:rPr>
              <a:t>Dados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Google Shape;415;p42"/>
          <p:cNvSpPr/>
          <p:nvPr/>
        </p:nvSpPr>
        <p:spPr>
          <a:xfrm>
            <a:off x="3283200" y="4821120"/>
            <a:ext cx="1307520" cy="81252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d9ead3"/>
          </a:solidFill>
          <a:ln w="28575">
            <a:solidFill>
              <a:srgbClr val="274e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274e13"/>
                </a:solidFill>
                <a:latin typeface="Montserrat"/>
                <a:ea typeface="Montserrat"/>
              </a:rPr>
              <a:t>Dados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2" name="Google Shape;416;p42" descr=""/>
          <p:cNvPicPr/>
          <p:nvPr/>
        </p:nvPicPr>
        <p:blipFill>
          <a:blip r:embed="rId2"/>
          <a:stretch/>
        </p:blipFill>
        <p:spPr>
          <a:xfrm>
            <a:off x="5131800" y="3619800"/>
            <a:ext cx="1785960" cy="1773720"/>
          </a:xfrm>
          <a:prstGeom prst="rect">
            <a:avLst/>
          </a:prstGeom>
          <a:ln w="0">
            <a:noFill/>
          </a:ln>
        </p:spPr>
      </p:pic>
      <p:pic>
        <p:nvPicPr>
          <p:cNvPr id="313" name="Google Shape;417;p42" descr=""/>
          <p:cNvPicPr/>
          <p:nvPr/>
        </p:nvPicPr>
        <p:blipFill>
          <a:blip r:embed="rId3"/>
          <a:stretch/>
        </p:blipFill>
        <p:spPr>
          <a:xfrm>
            <a:off x="8868240" y="3827880"/>
            <a:ext cx="2713320" cy="1285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422;p43"/>
          <p:cNvSpPr/>
          <p:nvPr/>
        </p:nvSpPr>
        <p:spPr>
          <a:xfrm>
            <a:off x="207720" y="-416160"/>
            <a:ext cx="10018800" cy="48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3700" spc="-1" strike="noStrike">
                <a:solidFill>
                  <a:schemeClr val="dk1"/>
                </a:solidFill>
                <a:latin typeface="Arial"/>
                <a:ea typeface="Arial"/>
              </a:rPr>
              <a:t>-&gt; Instância do Banco</a:t>
            </a:r>
            <a:endParaRPr b="0" lang="pt-BR" sz="3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endParaRPr b="0" lang="pt-BR" sz="3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3700" spc="-1" strike="noStrike">
                <a:solidFill>
                  <a:schemeClr val="dk1"/>
                </a:solidFill>
                <a:latin typeface="Arial"/>
                <a:ea typeface="Arial"/>
              </a:rPr>
              <a:t>-&gt; Database</a:t>
            </a:r>
            <a:endParaRPr b="0" lang="pt-BR" sz="3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endParaRPr b="0" lang="pt-BR" sz="3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3700" spc="-1" strike="noStrike">
                <a:solidFill>
                  <a:schemeClr val="dk1"/>
                </a:solidFill>
                <a:latin typeface="Arial"/>
                <a:ea typeface="Arial"/>
              </a:rPr>
              <a:t>-&gt; Tabela</a:t>
            </a:r>
            <a:endParaRPr b="0" lang="pt-BR" sz="3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endParaRPr b="0" lang="pt-BR" sz="3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3700" spc="-1" strike="noStrike">
                <a:solidFill>
                  <a:schemeClr val="dk1"/>
                </a:solidFill>
                <a:latin typeface="Arial"/>
                <a:ea typeface="Arial"/>
              </a:rPr>
              <a:t>-&gt; Registros</a:t>
            </a:r>
            <a:endParaRPr b="0" lang="pt-BR" sz="3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oogle Shape;427;p44"/>
          <p:cNvGrpSpPr/>
          <p:nvPr/>
        </p:nvGrpSpPr>
        <p:grpSpPr>
          <a:xfrm>
            <a:off x="624960" y="420840"/>
            <a:ext cx="10945440" cy="1825560"/>
            <a:chOff x="624960" y="420840"/>
            <a:chExt cx="10945440" cy="1825560"/>
          </a:xfrm>
        </p:grpSpPr>
        <p:grpSp>
          <p:nvGrpSpPr>
            <p:cNvPr id="316" name="Google Shape;428;p44"/>
            <p:cNvGrpSpPr/>
            <p:nvPr/>
          </p:nvGrpSpPr>
          <p:grpSpPr>
            <a:xfrm>
              <a:off x="624960" y="420840"/>
              <a:ext cx="10945440" cy="1825560"/>
              <a:chOff x="624960" y="420840"/>
              <a:chExt cx="10945440" cy="1825560"/>
            </a:xfrm>
          </p:grpSpPr>
          <p:sp>
            <p:nvSpPr>
              <p:cNvPr id="317" name="Google Shape;429;p44"/>
              <p:cNvSpPr/>
              <p:nvPr/>
            </p:nvSpPr>
            <p:spPr>
              <a:xfrm>
                <a:off x="624960" y="506880"/>
                <a:ext cx="10945440" cy="1739520"/>
              </a:xfrm>
              <a:prstGeom prst="rect">
                <a:avLst/>
              </a:prstGeom>
              <a:solidFill>
                <a:srgbClr val="c9daf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318" name="Google Shape;430;p44"/>
              <p:cNvSpPr/>
              <p:nvPr/>
            </p:nvSpPr>
            <p:spPr>
              <a:xfrm>
                <a:off x="693000" y="1154520"/>
                <a:ext cx="4592520" cy="532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2300" spc="-1" strike="noStrike">
                    <a:solidFill>
                      <a:srgbClr val="1c4587"/>
                    </a:solidFill>
                    <a:latin typeface="Arial"/>
                    <a:ea typeface="Arial"/>
                  </a:rPr>
                  <a:t>Instância de Banco de Dados</a:t>
                </a:r>
                <a:endParaRPr b="0" lang="pt-BR" sz="23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pic>
            <p:nvPicPr>
              <p:cNvPr id="319" name="Google Shape;431;p44" descr=""/>
              <p:cNvPicPr/>
              <p:nvPr/>
            </p:nvPicPr>
            <p:blipFill>
              <a:blip r:embed="rId1"/>
              <a:stretch/>
            </p:blipFill>
            <p:spPr>
              <a:xfrm>
                <a:off x="6820200" y="650160"/>
                <a:ext cx="1201320" cy="5688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20" name="Google Shape;432;p44" descr=""/>
              <p:cNvPicPr/>
              <p:nvPr/>
            </p:nvPicPr>
            <p:blipFill>
              <a:blip r:embed="rId2"/>
              <a:stretch/>
            </p:blipFill>
            <p:spPr>
              <a:xfrm>
                <a:off x="6663960" y="1484280"/>
                <a:ext cx="934920" cy="7588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21" name="Google Shape;433;p44" descr=""/>
              <p:cNvPicPr/>
              <p:nvPr/>
            </p:nvPicPr>
            <p:blipFill>
              <a:blip r:embed="rId3"/>
              <a:stretch/>
            </p:blipFill>
            <p:spPr>
              <a:xfrm>
                <a:off x="8751600" y="420840"/>
                <a:ext cx="1541160" cy="10278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22" name="Google Shape;434;p44" descr=""/>
              <p:cNvPicPr/>
              <p:nvPr/>
            </p:nvPicPr>
            <p:blipFill>
              <a:blip r:embed="rId4"/>
              <a:stretch/>
            </p:blipFill>
            <p:spPr>
              <a:xfrm>
                <a:off x="7543440" y="1308600"/>
                <a:ext cx="1581840" cy="447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23" name="Google Shape;435;p44" descr=""/>
              <p:cNvPicPr/>
              <p:nvPr/>
            </p:nvPicPr>
            <p:blipFill>
              <a:blip r:embed="rId5"/>
              <a:stretch/>
            </p:blipFill>
            <p:spPr>
              <a:xfrm>
                <a:off x="10293480" y="1756800"/>
                <a:ext cx="1063440" cy="3765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24" name="Google Shape;436;p44" descr=""/>
              <p:cNvPicPr/>
              <p:nvPr/>
            </p:nvPicPr>
            <p:blipFill>
              <a:blip r:embed="rId6"/>
              <a:stretch/>
            </p:blipFill>
            <p:spPr>
              <a:xfrm>
                <a:off x="10385640" y="575280"/>
                <a:ext cx="990360" cy="9050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25" name="Google Shape;437;p44" descr=""/>
              <p:cNvPicPr/>
              <p:nvPr/>
            </p:nvPicPr>
            <p:blipFill>
              <a:blip r:embed="rId7"/>
              <a:stretch/>
            </p:blipFill>
            <p:spPr>
              <a:xfrm>
                <a:off x="8974440" y="1660680"/>
                <a:ext cx="1095840" cy="5688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326" name="Google Shape;438;p44"/>
            <p:cNvGrpSpPr/>
            <p:nvPr/>
          </p:nvGrpSpPr>
          <p:grpSpPr>
            <a:xfrm>
              <a:off x="5285880" y="575280"/>
              <a:ext cx="1377720" cy="1557720"/>
              <a:chOff x="5285880" y="575280"/>
              <a:chExt cx="1377720" cy="1557720"/>
            </a:xfrm>
          </p:grpSpPr>
          <p:pic>
            <p:nvPicPr>
              <p:cNvPr id="327" name="Google Shape;439;p44" descr=""/>
              <p:cNvPicPr/>
              <p:nvPr/>
            </p:nvPicPr>
            <p:blipFill>
              <a:blip r:embed="rId8"/>
              <a:stretch/>
            </p:blipFill>
            <p:spPr>
              <a:xfrm>
                <a:off x="5285880" y="1357560"/>
                <a:ext cx="688680" cy="6886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28" name="Google Shape;440;p44" descr=""/>
              <p:cNvPicPr/>
              <p:nvPr/>
            </p:nvPicPr>
            <p:blipFill>
              <a:blip r:embed="rId9"/>
              <a:stretch/>
            </p:blipFill>
            <p:spPr>
              <a:xfrm>
                <a:off x="5974920" y="1357560"/>
                <a:ext cx="688680" cy="6886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29" name="Google Shape;441;p44" descr=""/>
              <p:cNvPicPr/>
              <p:nvPr/>
            </p:nvPicPr>
            <p:blipFill>
              <a:blip r:embed="rId10"/>
              <a:stretch/>
            </p:blipFill>
            <p:spPr>
              <a:xfrm>
                <a:off x="5594760" y="1444320"/>
                <a:ext cx="688680" cy="6886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30" name="Google Shape;442;p44" descr=""/>
              <p:cNvPicPr/>
              <p:nvPr/>
            </p:nvPicPr>
            <p:blipFill>
              <a:blip r:embed="rId11"/>
              <a:stretch/>
            </p:blipFill>
            <p:spPr>
              <a:xfrm>
                <a:off x="5974920" y="912960"/>
                <a:ext cx="688680" cy="6886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31" name="Google Shape;443;p44" descr=""/>
              <p:cNvPicPr/>
              <p:nvPr/>
            </p:nvPicPr>
            <p:blipFill>
              <a:blip r:embed="rId12"/>
              <a:stretch/>
            </p:blipFill>
            <p:spPr>
              <a:xfrm>
                <a:off x="5594760" y="1005840"/>
                <a:ext cx="688680" cy="6886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32" name="Google Shape;444;p44" descr=""/>
              <p:cNvPicPr/>
              <p:nvPr/>
            </p:nvPicPr>
            <p:blipFill>
              <a:blip r:embed="rId13"/>
              <a:stretch/>
            </p:blipFill>
            <p:spPr>
              <a:xfrm>
                <a:off x="5594760" y="575280"/>
                <a:ext cx="688680" cy="68868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333" name="Google Shape;445;p44"/>
          <p:cNvGrpSpPr/>
          <p:nvPr/>
        </p:nvGrpSpPr>
        <p:grpSpPr>
          <a:xfrm>
            <a:off x="623160" y="2133000"/>
            <a:ext cx="10945440" cy="2199600"/>
            <a:chOff x="623160" y="2133000"/>
            <a:chExt cx="10945440" cy="2199600"/>
          </a:xfrm>
        </p:grpSpPr>
        <p:sp>
          <p:nvSpPr>
            <p:cNvPr id="334" name="Google Shape;446;p44"/>
            <p:cNvSpPr/>
            <p:nvPr/>
          </p:nvSpPr>
          <p:spPr>
            <a:xfrm>
              <a:off x="623160" y="2593080"/>
              <a:ext cx="10945440" cy="1739520"/>
            </a:xfrm>
            <a:prstGeom prst="rect">
              <a:avLst/>
            </a:prstGeom>
            <a:solidFill>
              <a:srgbClr val="a4c2f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35" name="Google Shape;447;p44"/>
            <p:cNvSpPr/>
            <p:nvPr/>
          </p:nvSpPr>
          <p:spPr>
            <a:xfrm>
              <a:off x="624960" y="3045600"/>
              <a:ext cx="4592520" cy="83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pt-BR" sz="2300" spc="-1" strike="noStrike">
                  <a:solidFill>
                    <a:srgbClr val="1c4587"/>
                  </a:solidFill>
                  <a:latin typeface="Arial"/>
                  <a:ea typeface="Arial"/>
                </a:rPr>
                <a:t>Database ou </a:t>
              </a:r>
              <a:endParaRPr b="0" lang="pt-BR" sz="23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pt-BR" sz="2300" spc="-1" strike="noStrike">
                  <a:solidFill>
                    <a:srgbClr val="1c4587"/>
                  </a:solidFill>
                  <a:latin typeface="Arial"/>
                  <a:ea typeface="Arial"/>
                </a:rPr>
                <a:t>Schema</a:t>
              </a:r>
              <a:endParaRPr b="0" lang="pt-BR" sz="23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6" name="Google Shape;448;p44"/>
            <p:cNvSpPr/>
            <p:nvPr/>
          </p:nvSpPr>
          <p:spPr>
            <a:xfrm>
              <a:off x="3196440" y="3078720"/>
              <a:ext cx="1252080" cy="70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pt-BR" sz="1700" spc="-1" strike="noStrike">
                  <a:solidFill>
                    <a:srgbClr val="1c4587"/>
                  </a:solidFill>
                  <a:latin typeface="Arial"/>
                  <a:ea typeface="Arial"/>
                </a:rPr>
                <a:t>Banco Central</a:t>
              </a:r>
              <a:endParaRPr b="0" lang="pt-BR" sz="1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7" name="Google Shape;449;p44"/>
            <p:cNvSpPr/>
            <p:nvPr/>
          </p:nvSpPr>
          <p:spPr>
            <a:xfrm>
              <a:off x="6192720" y="2971080"/>
              <a:ext cx="1091520" cy="960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spAutoFit/>
            </a:bodyPr>
            <a:p>
              <a:pPr algn="just">
                <a:lnSpc>
                  <a:spcPct val="100000"/>
                </a:lnSpc>
                <a:tabLst>
                  <a:tab algn="l" pos="0"/>
                </a:tabLst>
              </a:pPr>
              <a:r>
                <a:rPr b="1" lang="pt-BR" sz="1700" spc="-1" strike="noStrike">
                  <a:solidFill>
                    <a:srgbClr val="1c4587"/>
                  </a:solidFill>
                  <a:latin typeface="Arial"/>
                  <a:ea typeface="Arial"/>
                </a:rPr>
                <a:t>Tribunal Superior Eleitoral</a:t>
              </a:r>
              <a:endParaRPr b="0" lang="pt-BR" sz="1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8" name="Google Shape;450;p44"/>
            <p:cNvSpPr/>
            <p:nvPr/>
          </p:nvSpPr>
          <p:spPr>
            <a:xfrm>
              <a:off x="9094680" y="3186360"/>
              <a:ext cx="1185840" cy="44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spAutoFit/>
            </a:bodyPr>
            <a:p>
              <a:pPr algn="just">
                <a:lnSpc>
                  <a:spcPct val="100000"/>
                </a:lnSpc>
                <a:tabLst>
                  <a:tab algn="l" pos="0"/>
                </a:tabLst>
              </a:pPr>
              <a:r>
                <a:rPr b="1" lang="pt-BR" sz="1700" spc="-1" strike="noStrike">
                  <a:solidFill>
                    <a:srgbClr val="1c4587"/>
                  </a:solidFill>
                  <a:latin typeface="Arial"/>
                  <a:ea typeface="Arial"/>
                </a:rPr>
                <a:t>DataSUS</a:t>
              </a:r>
              <a:endParaRPr b="0" lang="pt-BR" sz="1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39" name="Google Shape;451;p44" descr=""/>
            <p:cNvPicPr/>
            <p:nvPr/>
          </p:nvPicPr>
          <p:blipFill>
            <a:blip r:embed="rId14"/>
            <a:stretch/>
          </p:blipFill>
          <p:spPr>
            <a:xfrm>
              <a:off x="4088880" y="3011760"/>
              <a:ext cx="834120" cy="834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40" name="Google Shape;452;p44" descr=""/>
            <p:cNvPicPr/>
            <p:nvPr/>
          </p:nvPicPr>
          <p:blipFill>
            <a:blip r:embed="rId15"/>
            <a:stretch/>
          </p:blipFill>
          <p:spPr>
            <a:xfrm>
              <a:off x="10150560" y="3045600"/>
              <a:ext cx="834120" cy="834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41" name="Google Shape;453;p44" descr=""/>
            <p:cNvPicPr/>
            <p:nvPr/>
          </p:nvPicPr>
          <p:blipFill>
            <a:blip r:embed="rId16"/>
            <a:stretch/>
          </p:blipFill>
          <p:spPr>
            <a:xfrm>
              <a:off x="7234200" y="3011760"/>
              <a:ext cx="834120" cy="834120"/>
            </a:xfrm>
            <a:prstGeom prst="rect">
              <a:avLst/>
            </a:prstGeom>
            <a:ln w="0">
              <a:noFill/>
            </a:ln>
          </p:spPr>
        </p:pic>
        <p:cxnSp>
          <p:nvCxnSpPr>
            <p:cNvPr id="342" name="Google Shape;454;p44"/>
            <p:cNvCxnSpPr>
              <a:stCxn id="329" idx="2"/>
              <a:endCxn id="339" idx="0"/>
            </p:cNvCxnSpPr>
            <p:nvPr/>
          </p:nvCxnSpPr>
          <p:spPr>
            <a:xfrm flipH="1">
              <a:off x="4505760" y="2133000"/>
              <a:ext cx="1433520" cy="879120"/>
            </a:xfrm>
            <a:prstGeom prst="straightConnector1">
              <a:avLst/>
            </a:prstGeom>
            <a:ln w="28575">
              <a:solidFill>
                <a:srgbClr val="888888"/>
              </a:solidFill>
              <a:round/>
              <a:tailEnd len="med" type="triangle" w="med"/>
            </a:ln>
          </p:spPr>
        </p:cxnSp>
        <p:cxnSp>
          <p:nvCxnSpPr>
            <p:cNvPr id="343" name="Google Shape;455;p44"/>
            <p:cNvCxnSpPr>
              <a:stCxn id="329" idx="2"/>
              <a:endCxn id="341" idx="0"/>
            </p:cNvCxnSpPr>
            <p:nvPr/>
          </p:nvCxnSpPr>
          <p:spPr>
            <a:xfrm>
              <a:off x="5938920" y="2133000"/>
              <a:ext cx="1712520" cy="879120"/>
            </a:xfrm>
            <a:prstGeom prst="straightConnector1">
              <a:avLst/>
            </a:prstGeom>
            <a:ln w="28575">
              <a:solidFill>
                <a:srgbClr val="888888"/>
              </a:solidFill>
              <a:round/>
              <a:tailEnd len="med" type="triangle" w="med"/>
            </a:ln>
          </p:spPr>
        </p:cxnSp>
        <p:cxnSp>
          <p:nvCxnSpPr>
            <p:cNvPr id="344" name="Google Shape;456;p44"/>
            <p:cNvCxnSpPr>
              <a:stCxn id="329" idx="2"/>
              <a:endCxn id="340" idx="0"/>
            </p:cNvCxnSpPr>
            <p:nvPr/>
          </p:nvCxnSpPr>
          <p:spPr>
            <a:xfrm>
              <a:off x="5938920" y="2133000"/>
              <a:ext cx="4628880" cy="912960"/>
            </a:xfrm>
            <a:prstGeom prst="straightConnector1">
              <a:avLst/>
            </a:prstGeom>
            <a:ln w="28575">
              <a:solidFill>
                <a:srgbClr val="888888"/>
              </a:solidFill>
              <a:round/>
              <a:tailEnd len="med" type="triangle" w="med"/>
            </a:ln>
          </p:spPr>
        </p:cxnSp>
      </p:grpSp>
      <p:grpSp>
        <p:nvGrpSpPr>
          <p:cNvPr id="345" name="Google Shape;457;p44"/>
          <p:cNvGrpSpPr/>
          <p:nvPr/>
        </p:nvGrpSpPr>
        <p:grpSpPr>
          <a:xfrm>
            <a:off x="623160" y="3845880"/>
            <a:ext cx="10979640" cy="2458080"/>
            <a:chOff x="623160" y="3845880"/>
            <a:chExt cx="10979640" cy="2458080"/>
          </a:xfrm>
        </p:grpSpPr>
        <p:grpSp>
          <p:nvGrpSpPr>
            <p:cNvPr id="346" name="Google Shape;458;p44"/>
            <p:cNvGrpSpPr/>
            <p:nvPr/>
          </p:nvGrpSpPr>
          <p:grpSpPr>
            <a:xfrm>
              <a:off x="623160" y="4564440"/>
              <a:ext cx="10947240" cy="1739520"/>
              <a:chOff x="623160" y="4564440"/>
              <a:chExt cx="10947240" cy="1739520"/>
            </a:xfrm>
          </p:grpSpPr>
          <p:sp>
            <p:nvSpPr>
              <p:cNvPr id="347" name="Google Shape;459;p44"/>
              <p:cNvSpPr/>
              <p:nvPr/>
            </p:nvSpPr>
            <p:spPr>
              <a:xfrm>
                <a:off x="624960" y="4564440"/>
                <a:ext cx="10945440" cy="1739520"/>
              </a:xfrm>
              <a:prstGeom prst="rect">
                <a:avLst/>
              </a:prstGeom>
              <a:solidFill>
                <a:srgbClr val="6d9ee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348" name="Google Shape;460;p44"/>
              <p:cNvSpPr/>
              <p:nvPr/>
            </p:nvSpPr>
            <p:spPr>
              <a:xfrm>
                <a:off x="623160" y="5227920"/>
                <a:ext cx="2070000" cy="538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2300" spc="-1" strike="noStrike">
                    <a:solidFill>
                      <a:schemeClr val="lt1"/>
                    </a:solidFill>
                    <a:latin typeface="Arial"/>
                    <a:ea typeface="Arial"/>
                  </a:rPr>
                  <a:t>Tabelas</a:t>
                </a:r>
                <a:endParaRPr b="0" lang="pt-BR" sz="23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349" name="Google Shape;461;p44"/>
            <p:cNvGrpSpPr/>
            <p:nvPr/>
          </p:nvGrpSpPr>
          <p:grpSpPr>
            <a:xfrm>
              <a:off x="3490200" y="4663800"/>
              <a:ext cx="1746720" cy="1531440"/>
              <a:chOff x="3490200" y="4663800"/>
              <a:chExt cx="1746720" cy="1531440"/>
            </a:xfrm>
          </p:grpSpPr>
          <p:pic>
            <p:nvPicPr>
              <p:cNvPr id="350" name="Google Shape;462;p44" descr=""/>
              <p:cNvPicPr/>
              <p:nvPr/>
            </p:nvPicPr>
            <p:blipFill>
              <a:blip r:embed="rId17"/>
              <a:stretch/>
            </p:blipFill>
            <p:spPr>
              <a:xfrm>
                <a:off x="3666600" y="4663800"/>
                <a:ext cx="857880" cy="879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51" name="Google Shape;463;p44" descr=""/>
              <p:cNvPicPr/>
              <p:nvPr/>
            </p:nvPicPr>
            <p:blipFill>
              <a:blip r:embed="rId18"/>
              <a:stretch/>
            </p:blipFill>
            <p:spPr>
              <a:xfrm>
                <a:off x="4379040" y="5224320"/>
                <a:ext cx="857880" cy="8798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52" name="Google Shape;464;p44" descr=""/>
              <p:cNvPicPr/>
              <p:nvPr/>
            </p:nvPicPr>
            <p:blipFill>
              <a:blip r:embed="rId19"/>
              <a:stretch/>
            </p:blipFill>
            <p:spPr>
              <a:xfrm>
                <a:off x="3490200" y="5315400"/>
                <a:ext cx="857880" cy="879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353" name="Google Shape;465;p44"/>
            <p:cNvGrpSpPr/>
            <p:nvPr/>
          </p:nvGrpSpPr>
          <p:grpSpPr>
            <a:xfrm>
              <a:off x="6962040" y="4793400"/>
              <a:ext cx="1746720" cy="1342800"/>
              <a:chOff x="6962040" y="4793400"/>
              <a:chExt cx="1746720" cy="1342800"/>
            </a:xfrm>
          </p:grpSpPr>
          <p:pic>
            <p:nvPicPr>
              <p:cNvPr id="354" name="Google Shape;466;p44" descr=""/>
              <p:cNvPicPr/>
              <p:nvPr/>
            </p:nvPicPr>
            <p:blipFill>
              <a:blip r:embed="rId20"/>
              <a:stretch/>
            </p:blipFill>
            <p:spPr>
              <a:xfrm>
                <a:off x="6962040" y="5202720"/>
                <a:ext cx="975600" cy="9334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55" name="Google Shape;467;p44" descr=""/>
              <p:cNvPicPr/>
              <p:nvPr/>
            </p:nvPicPr>
            <p:blipFill>
              <a:blip r:embed="rId21"/>
              <a:stretch/>
            </p:blipFill>
            <p:spPr>
              <a:xfrm>
                <a:off x="7868880" y="4793400"/>
                <a:ext cx="839880" cy="86148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356" name="Google Shape;468;p44"/>
            <p:cNvGrpSpPr/>
            <p:nvPr/>
          </p:nvGrpSpPr>
          <p:grpSpPr>
            <a:xfrm>
              <a:off x="9532800" y="4793040"/>
              <a:ext cx="2070000" cy="1468080"/>
              <a:chOff x="9532800" y="4793040"/>
              <a:chExt cx="2070000" cy="1468080"/>
            </a:xfrm>
          </p:grpSpPr>
          <p:pic>
            <p:nvPicPr>
              <p:cNvPr id="357" name="Google Shape;469;p44" descr=""/>
              <p:cNvPicPr/>
              <p:nvPr/>
            </p:nvPicPr>
            <p:blipFill>
              <a:blip r:embed="rId22"/>
              <a:stretch/>
            </p:blipFill>
            <p:spPr>
              <a:xfrm>
                <a:off x="9835200" y="4793040"/>
                <a:ext cx="875160" cy="8834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58" name="Google Shape;470;p44" descr=""/>
              <p:cNvPicPr/>
              <p:nvPr/>
            </p:nvPicPr>
            <p:blipFill>
              <a:blip r:embed="rId23"/>
              <a:stretch/>
            </p:blipFill>
            <p:spPr>
              <a:xfrm>
                <a:off x="9532800" y="5377680"/>
                <a:ext cx="875160" cy="8834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59" name="Google Shape;471;p44" descr=""/>
              <p:cNvPicPr/>
              <p:nvPr/>
            </p:nvPicPr>
            <p:blipFill>
              <a:blip r:embed="rId24"/>
              <a:stretch/>
            </p:blipFill>
            <p:spPr>
              <a:xfrm>
                <a:off x="10302480" y="5258520"/>
                <a:ext cx="875160" cy="8834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60" name="Google Shape;472;p44" descr=""/>
              <p:cNvPicPr/>
              <p:nvPr/>
            </p:nvPicPr>
            <p:blipFill>
              <a:blip r:embed="rId25"/>
              <a:stretch/>
            </p:blipFill>
            <p:spPr>
              <a:xfrm>
                <a:off x="10727640" y="4836600"/>
                <a:ext cx="875160" cy="883440"/>
              </a:xfrm>
              <a:prstGeom prst="rect">
                <a:avLst/>
              </a:prstGeom>
              <a:ln w="0">
                <a:noFill/>
              </a:ln>
            </p:spPr>
          </p:pic>
        </p:grpSp>
        <p:cxnSp>
          <p:nvCxnSpPr>
            <p:cNvPr id="361" name="Google Shape;473;p44"/>
            <p:cNvCxnSpPr>
              <a:stCxn id="339" idx="2"/>
            </p:cNvCxnSpPr>
            <p:nvPr/>
          </p:nvCxnSpPr>
          <p:spPr>
            <a:xfrm>
              <a:off x="4505760" y="3845880"/>
              <a:ext cx="359280" cy="1576440"/>
            </a:xfrm>
            <a:prstGeom prst="straightConnector1">
              <a:avLst/>
            </a:prstGeom>
            <a:ln w="19050">
              <a:solidFill>
                <a:srgbClr val="595959"/>
              </a:solidFill>
              <a:prstDash val="lgDash"/>
              <a:round/>
              <a:tailEnd len="med" type="triangle" w="med"/>
            </a:ln>
          </p:spPr>
        </p:cxnSp>
        <p:cxnSp>
          <p:nvCxnSpPr>
            <p:cNvPr id="362" name="Google Shape;474;p44"/>
            <p:cNvCxnSpPr>
              <a:stCxn id="339" idx="2"/>
            </p:cNvCxnSpPr>
            <p:nvPr/>
          </p:nvCxnSpPr>
          <p:spPr>
            <a:xfrm flipH="1">
              <a:off x="3994560" y="3845880"/>
              <a:ext cx="511560" cy="968400"/>
            </a:xfrm>
            <a:prstGeom prst="straightConnector1">
              <a:avLst/>
            </a:prstGeom>
            <a:ln w="19050">
              <a:solidFill>
                <a:srgbClr val="595959"/>
              </a:solidFill>
              <a:prstDash val="lgDash"/>
              <a:round/>
              <a:tailEnd len="med" type="triangle" w="med"/>
            </a:ln>
          </p:spPr>
        </p:cxnSp>
        <p:cxnSp>
          <p:nvCxnSpPr>
            <p:cNvPr id="363" name="Google Shape;475;p44"/>
            <p:cNvCxnSpPr>
              <a:stCxn id="339" idx="2"/>
            </p:cNvCxnSpPr>
            <p:nvPr/>
          </p:nvCxnSpPr>
          <p:spPr>
            <a:xfrm flipH="1">
              <a:off x="4028400" y="3845880"/>
              <a:ext cx="477720" cy="1644120"/>
            </a:xfrm>
            <a:prstGeom prst="straightConnector1">
              <a:avLst/>
            </a:prstGeom>
            <a:ln w="19050">
              <a:solidFill>
                <a:srgbClr val="595959"/>
              </a:solidFill>
              <a:prstDash val="lgDash"/>
              <a:round/>
              <a:tailEnd len="med" type="triangle" w="med"/>
            </a:ln>
          </p:spPr>
        </p:cxnSp>
        <p:cxnSp>
          <p:nvCxnSpPr>
            <p:cNvPr id="364" name="Google Shape;476;p44"/>
            <p:cNvCxnSpPr>
              <a:stCxn id="340" idx="2"/>
            </p:cNvCxnSpPr>
            <p:nvPr/>
          </p:nvCxnSpPr>
          <p:spPr>
            <a:xfrm>
              <a:off x="10567440" y="3879720"/>
              <a:ext cx="649080" cy="1162800"/>
            </a:xfrm>
            <a:prstGeom prst="straightConnector1">
              <a:avLst/>
            </a:prstGeom>
            <a:ln w="19050">
              <a:solidFill>
                <a:srgbClr val="595959"/>
              </a:solidFill>
              <a:prstDash val="lgDash"/>
              <a:round/>
              <a:tailEnd len="med" type="triangle" w="med"/>
            </a:ln>
          </p:spPr>
        </p:cxnSp>
        <p:cxnSp>
          <p:nvCxnSpPr>
            <p:cNvPr id="365" name="Google Shape;477;p44"/>
            <p:cNvCxnSpPr>
              <a:stCxn id="340" idx="2"/>
            </p:cNvCxnSpPr>
            <p:nvPr/>
          </p:nvCxnSpPr>
          <p:spPr>
            <a:xfrm flipH="1">
              <a:off x="10269720" y="3879720"/>
              <a:ext cx="298080" cy="1086480"/>
            </a:xfrm>
            <a:prstGeom prst="straightConnector1">
              <a:avLst/>
            </a:prstGeom>
            <a:ln w="19050">
              <a:solidFill>
                <a:srgbClr val="595959"/>
              </a:solidFill>
              <a:prstDash val="lgDash"/>
              <a:round/>
              <a:tailEnd len="med" type="triangle" w="med"/>
            </a:ln>
          </p:spPr>
        </p:cxnSp>
        <p:cxnSp>
          <p:nvCxnSpPr>
            <p:cNvPr id="366" name="Google Shape;478;p44"/>
            <p:cNvCxnSpPr>
              <a:stCxn id="340" idx="2"/>
            </p:cNvCxnSpPr>
            <p:nvPr/>
          </p:nvCxnSpPr>
          <p:spPr>
            <a:xfrm>
              <a:off x="10567440" y="3879720"/>
              <a:ext cx="218160" cy="1567800"/>
            </a:xfrm>
            <a:prstGeom prst="straightConnector1">
              <a:avLst/>
            </a:prstGeom>
            <a:ln w="19050">
              <a:solidFill>
                <a:srgbClr val="595959"/>
              </a:solidFill>
              <a:prstDash val="lgDash"/>
              <a:round/>
              <a:tailEnd len="med" type="triangle" w="med"/>
            </a:ln>
          </p:spPr>
        </p:cxnSp>
        <p:cxnSp>
          <p:nvCxnSpPr>
            <p:cNvPr id="367" name="Google Shape;479;p44"/>
            <p:cNvCxnSpPr>
              <a:stCxn id="340" idx="2"/>
            </p:cNvCxnSpPr>
            <p:nvPr/>
          </p:nvCxnSpPr>
          <p:spPr>
            <a:xfrm flipH="1">
              <a:off x="9754560" y="3879720"/>
              <a:ext cx="813240" cy="1635480"/>
            </a:xfrm>
            <a:prstGeom prst="straightConnector1">
              <a:avLst/>
            </a:prstGeom>
            <a:ln w="19050">
              <a:solidFill>
                <a:srgbClr val="595959"/>
              </a:solidFill>
              <a:prstDash val="lgDash"/>
              <a:round/>
              <a:tailEnd len="med" type="triangle" w="med"/>
            </a:ln>
          </p:spPr>
        </p:cxnSp>
        <p:cxnSp>
          <p:nvCxnSpPr>
            <p:cNvPr id="368" name="Google Shape;480;p44"/>
            <p:cNvCxnSpPr>
              <a:stCxn id="341" idx="2"/>
            </p:cNvCxnSpPr>
            <p:nvPr/>
          </p:nvCxnSpPr>
          <p:spPr>
            <a:xfrm>
              <a:off x="7651080" y="3845880"/>
              <a:ext cx="710280" cy="1112040"/>
            </a:xfrm>
            <a:prstGeom prst="straightConnector1">
              <a:avLst/>
            </a:prstGeom>
            <a:ln w="19050">
              <a:solidFill>
                <a:srgbClr val="595959"/>
              </a:solidFill>
              <a:prstDash val="lgDash"/>
              <a:round/>
              <a:tailEnd len="med" type="triangle" w="med"/>
            </a:ln>
          </p:spPr>
        </p:cxnSp>
        <p:cxnSp>
          <p:nvCxnSpPr>
            <p:cNvPr id="369" name="Google Shape;481;p44"/>
            <p:cNvCxnSpPr>
              <a:stCxn id="341" idx="2"/>
            </p:cNvCxnSpPr>
            <p:nvPr/>
          </p:nvCxnSpPr>
          <p:spPr>
            <a:xfrm flipH="1">
              <a:off x="7432200" y="3845880"/>
              <a:ext cx="219240" cy="1534320"/>
            </a:xfrm>
            <a:prstGeom prst="straightConnector1">
              <a:avLst/>
            </a:prstGeom>
            <a:ln w="19050">
              <a:solidFill>
                <a:srgbClr val="595959"/>
              </a:solidFill>
              <a:prstDash val="lgDash"/>
              <a:round/>
              <a:tailEnd len="med" type="triangle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9" dur="indefinite" restart="never" nodeType="tmRoot">
          <p:childTnLst>
            <p:seq>
              <p:cTn id="80" dur="indefinite" nodeType="mainSeq">
                <p:childTnLst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"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"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5"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486;p45"/>
          <p:cNvSpPr/>
          <p:nvPr/>
        </p:nvSpPr>
        <p:spPr>
          <a:xfrm>
            <a:off x="207720" y="852120"/>
            <a:ext cx="10018800" cy="10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200" spc="-1" strike="noStrike">
                <a:solidFill>
                  <a:schemeClr val="dk1"/>
                </a:solidFill>
                <a:latin typeface="Montserrat"/>
                <a:ea typeface="Montserrat"/>
              </a:rPr>
              <a:t>SQL</a:t>
            </a:r>
            <a:endParaRPr b="0" lang="pt-BR" sz="4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491;p46"/>
          <p:cNvSpPr/>
          <p:nvPr/>
        </p:nvSpPr>
        <p:spPr>
          <a:xfrm>
            <a:off x="762480" y="710640"/>
            <a:ext cx="39315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Mas o que é SQL?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Google Shape;492;p46"/>
          <p:cNvSpPr/>
          <p:nvPr/>
        </p:nvSpPr>
        <p:spPr>
          <a:xfrm>
            <a:off x="949320" y="1721520"/>
            <a:ext cx="97588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i="1" lang="pt-BR" sz="2400" spc="-1" strike="noStrike">
                <a:solidFill>
                  <a:schemeClr val="dk1"/>
                </a:solidFill>
                <a:latin typeface="Montserrat"/>
                <a:ea typeface="Montserrat"/>
              </a:rPr>
              <a:t>“</a:t>
            </a:r>
            <a:r>
              <a:rPr b="0" i="1" lang="pt-BR" sz="2400" spc="-1" strike="noStrike">
                <a:solidFill>
                  <a:schemeClr val="dk1"/>
                </a:solidFill>
                <a:latin typeface="Montserrat"/>
                <a:ea typeface="Montserrat"/>
              </a:rPr>
              <a:t>Structured Query Language, ou Linguagem de Consulta Estruturada ou SQL, é a linguagem de pesquisa declarativa padrão para banco de dados relacional (base de dados relacional).” - Wikipedia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497;p47"/>
          <p:cNvSpPr/>
          <p:nvPr/>
        </p:nvSpPr>
        <p:spPr>
          <a:xfrm>
            <a:off x="762480" y="329400"/>
            <a:ext cx="479988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Mas o que é SQL?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Google Shape;498;p47"/>
          <p:cNvSpPr/>
          <p:nvPr/>
        </p:nvSpPr>
        <p:spPr>
          <a:xfrm>
            <a:off x="799920" y="1063440"/>
            <a:ext cx="10591920" cy="53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Alguns de seus principais elementos: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1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Comandos</a:t>
            </a: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 – executados resultam em efeito persistente sobre dados e estruturas, ou controlam transações, conexões, sessões, etc.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EX: SELECT, INSERT, UPDATE, DELETE, CREATE TABLE, GRANT, etc.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1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Cláusulas</a:t>
            </a: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 - componentes dos comandos. Em muitos casos, alguns são opcionais.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Ex: FROM, WHERE, GROUP BY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1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Expressões</a:t>
            </a: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 - os quais produzem tanto valores escalares, como tabelas consistindo de colunas e linhas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Ex: A+B, A*ABS(B-20)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1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Predicados</a:t>
            </a: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 - especificam condições que podem ser avaliadas pela lógica, retornando verdadeiro, falso ou desconhecido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Ex: A&gt;B, C BETWEEN 20 AND 200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1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Queries</a:t>
            </a: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 - que retornam dados baseados em critérios específicos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Ex: SELECT COLUNA FROM TABELA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503;p48"/>
          <p:cNvSpPr/>
          <p:nvPr/>
        </p:nvSpPr>
        <p:spPr>
          <a:xfrm>
            <a:off x="762480" y="710640"/>
            <a:ext cx="612072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Tipos de dados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76" name="Google Shape;504;p48"/>
          <p:cNvGraphicFramePr/>
          <p:nvPr/>
        </p:nvGraphicFramePr>
        <p:xfrm>
          <a:off x="2510640" y="2075760"/>
          <a:ext cx="7170120" cy="3693960"/>
        </p:xfrm>
        <a:graphic>
          <a:graphicData uri="http://schemas.openxmlformats.org/drawingml/2006/table">
            <a:tbl>
              <a:tblPr/>
              <a:tblGrid>
                <a:gridCol w="3585240"/>
                <a:gridCol w="3585240"/>
              </a:tblGrid>
              <a:tr h="31032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</a:rPr>
                        <a:t>Linguagem Natural</a:t>
                      </a:r>
                      <a:endParaRPr b="0" lang="pt-BR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</a:rPr>
                        <a:t>Spark / SQL</a:t>
                      </a:r>
                      <a:endParaRPr b="0" lang="pt-BR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1c4587"/>
                    </a:solidFill>
                  </a:tcPr>
                </a:tc>
              </a:tr>
              <a:tr h="29088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Número (inteiro)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Int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</a:tr>
              <a:tr h="46548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Número (com casa decimal)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Float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</a:tr>
              <a:tr h="29088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Texto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String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</a:tr>
              <a:tr h="29088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Sim/Não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Boolean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</a:tr>
              <a:tr h="29088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Data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Date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</a:tr>
              <a:tr h="29088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Data - Hora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Timestamp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</a:tr>
              <a:tr h="29088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Vazio / Nulo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</a:rPr>
                        <a:t>null</a:t>
                      </a: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509;p49"/>
          <p:cNvSpPr/>
          <p:nvPr/>
        </p:nvSpPr>
        <p:spPr>
          <a:xfrm>
            <a:off x="762480" y="710640"/>
            <a:ext cx="846612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Outras Estruturas Importantes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Google Shape;510;p49"/>
          <p:cNvSpPr/>
          <p:nvPr/>
        </p:nvSpPr>
        <p:spPr>
          <a:xfrm>
            <a:off x="762480" y="1670760"/>
            <a:ext cx="11428920" cy="42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1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Chaves primárias (Primary Key)</a:t>
            </a: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 e </a:t>
            </a:r>
            <a:r>
              <a:rPr b="1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referenciais (Foreign Key)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PK, FK - garantem integridade e relacionamento consistente entre tabelas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Servem como uma documentação também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Exemplos: CPF, CNPJ, ID de cliente – PKs. Colocar um ID de cliente válido num pedido - FK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1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Constraints</a:t>
            </a: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Assim como PKs e FKs, servem para garantir integridade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Não são mais muito utilizadas pois acabam onerando o SGBD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A mais comum é a NOT NULL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1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Sequências</a:t>
            </a: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Servem para garantir que informações únicas sejam criadas, com continuidade e unicidade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Normalmente são identificadores internos das aplicações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516;p50" descr=""/>
          <p:cNvPicPr/>
          <p:nvPr/>
        </p:nvPicPr>
        <p:blipFill>
          <a:blip r:embed="rId1"/>
          <a:stretch/>
        </p:blipFill>
        <p:spPr>
          <a:xfrm>
            <a:off x="158400" y="417240"/>
            <a:ext cx="685440" cy="685440"/>
          </a:xfrm>
          <a:prstGeom prst="rect">
            <a:avLst/>
          </a:prstGeom>
          <a:ln w="0">
            <a:noFill/>
          </a:ln>
        </p:spPr>
      </p:pic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800640" y="259560"/>
            <a:ext cx="8611920" cy="100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600" spc="-1" strike="noStrike">
                <a:solidFill>
                  <a:schemeClr val="dk1"/>
                </a:solidFill>
                <a:latin typeface="Montserrat SemiBold"/>
                <a:ea typeface="Montserrat SemiBold"/>
              </a:rPr>
              <a:t>Setup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Google Shape;518;p50"/>
          <p:cNvSpPr/>
          <p:nvPr/>
        </p:nvSpPr>
        <p:spPr>
          <a:xfrm>
            <a:off x="762480" y="1670760"/>
            <a:ext cx="11428920" cy="31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Download dos dados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914400" indent="-343080">
              <a:lnSpc>
                <a:spcPct val="115000"/>
              </a:lnSpc>
              <a:buClr>
                <a:srgbClr val="000000"/>
              </a:buClr>
              <a:buFont typeface="Montserrat"/>
              <a:buChar char="-"/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Kaggle: </a:t>
            </a:r>
            <a:r>
              <a:rPr b="0" lang="pt-BR" sz="1800" spc="-1" strike="noStrike" u="sng">
                <a:solidFill>
                  <a:schemeClr val="hlink"/>
                </a:solidFill>
                <a:uFillTx/>
                <a:latin typeface="Montserrat"/>
                <a:ea typeface="Montserrat"/>
                <a:hlinkClick r:id="rId2"/>
              </a:rPr>
              <a:t>kaggle.com/datasets/teocalvo/teomewhy-loyalty-system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• </a:t>
            </a:r>
            <a:r>
              <a:rPr b="1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Visual Studio Code</a:t>
            </a: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914400" indent="-343080">
              <a:lnSpc>
                <a:spcPct val="115000"/>
              </a:lnSpc>
              <a:buClr>
                <a:srgbClr val="000000"/>
              </a:buClr>
              <a:buFont typeface="Montserrat"/>
              <a:buChar char="-"/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Download: </a:t>
            </a:r>
            <a:r>
              <a:rPr b="0" lang="pt-BR" sz="1800" spc="-1" strike="noStrike" u="sng">
                <a:solidFill>
                  <a:schemeClr val="hlink"/>
                </a:solidFill>
                <a:uFillTx/>
                <a:latin typeface="Montserrat"/>
                <a:ea typeface="Montserrat"/>
                <a:hlinkClick r:id="rId3"/>
              </a:rPr>
              <a:t>code.visualstudio.com/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914400" indent="-343080">
              <a:lnSpc>
                <a:spcPct val="115000"/>
              </a:lnSpc>
              <a:buClr>
                <a:srgbClr val="000000"/>
              </a:buClr>
              <a:buFont typeface="Montserrat"/>
              <a:buChar char="-"/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Extensão: </a:t>
            </a:r>
            <a:r>
              <a:rPr b="0" lang="pt-BR" sz="1800" spc="-1" strike="noStrike" u="sng">
                <a:solidFill>
                  <a:schemeClr val="hlink"/>
                </a:solidFill>
                <a:uFillTx/>
                <a:latin typeface="Montserrat"/>
                <a:ea typeface="Montserrat"/>
                <a:hlinkClick r:id="rId4"/>
              </a:rPr>
              <a:t>marketplace.visualstudio.com/items?itemName=alexcvzz.vscode-sqlite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Repositório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914400" indent="-343080">
              <a:lnSpc>
                <a:spcPct val="115000"/>
              </a:lnSpc>
              <a:buClr>
                <a:srgbClr val="000000"/>
              </a:buClr>
              <a:buFont typeface="Montserrat"/>
              <a:buChar char="-"/>
              <a:tabLst>
                <a:tab algn="l" pos="0"/>
              </a:tabLst>
            </a:pPr>
            <a:r>
              <a:rPr b="0" lang="pt-BR" sz="1800" spc="-1" strike="noStrike" u="sng">
                <a:solidFill>
                  <a:schemeClr val="hlink"/>
                </a:solidFill>
                <a:uFillTx/>
                <a:latin typeface="Montserrat"/>
                <a:ea typeface="Montserrat"/>
                <a:hlinkClick r:id="rId5"/>
              </a:rPr>
              <a:t>https://github.com/TeoMeWhy/sql-2025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523;p51"/>
          <p:cNvSpPr/>
          <p:nvPr/>
        </p:nvSpPr>
        <p:spPr>
          <a:xfrm>
            <a:off x="228600" y="280440"/>
            <a:ext cx="10145160" cy="75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rm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700" spc="-1" strike="noStrike">
                <a:solidFill>
                  <a:srgbClr val="000000"/>
                </a:solidFill>
                <a:latin typeface="Montserrat"/>
                <a:ea typeface="Montserrat"/>
              </a:rPr>
              <a:t>Database: </a:t>
            </a:r>
            <a:r>
              <a:rPr b="0" lang="pt-BR" sz="2700" spc="-1" strike="noStrike">
                <a:solidFill>
                  <a:srgbClr val="000000"/>
                </a:solidFill>
                <a:latin typeface="Montserrat"/>
                <a:ea typeface="Montserrat"/>
              </a:rPr>
              <a:t>sistema de pontos Téo Me Why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3" name="Google Shape;524;p51"/>
          <p:cNvGrpSpPr/>
          <p:nvPr/>
        </p:nvGrpSpPr>
        <p:grpSpPr>
          <a:xfrm>
            <a:off x="944640" y="3852000"/>
            <a:ext cx="1639080" cy="1859400"/>
            <a:chOff x="944640" y="3852000"/>
            <a:chExt cx="1639080" cy="1859400"/>
          </a:xfrm>
        </p:grpSpPr>
        <p:grpSp>
          <p:nvGrpSpPr>
            <p:cNvPr id="384" name="Google Shape;525;p51"/>
            <p:cNvGrpSpPr/>
            <p:nvPr/>
          </p:nvGrpSpPr>
          <p:grpSpPr>
            <a:xfrm>
              <a:off x="1325160" y="3852000"/>
              <a:ext cx="878040" cy="1170720"/>
              <a:chOff x="1325160" y="3852000"/>
              <a:chExt cx="878040" cy="1170720"/>
            </a:xfrm>
          </p:grpSpPr>
          <p:sp>
            <p:nvSpPr>
              <p:cNvPr id="385" name="Google Shape;526;p51"/>
              <p:cNvSpPr/>
              <p:nvPr/>
            </p:nvSpPr>
            <p:spPr>
              <a:xfrm>
                <a:off x="1325160" y="4437360"/>
                <a:ext cx="878040" cy="585360"/>
              </a:xfrm>
              <a:prstGeom prst="flowChartMagneticDisk">
                <a:avLst/>
              </a:prstGeom>
              <a:solidFill>
                <a:srgbClr val="6d9eeb"/>
              </a:solidFill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386" name="Google Shape;527;p51"/>
              <p:cNvSpPr/>
              <p:nvPr/>
            </p:nvSpPr>
            <p:spPr>
              <a:xfrm>
                <a:off x="1325160" y="4156560"/>
                <a:ext cx="878040" cy="585360"/>
              </a:xfrm>
              <a:prstGeom prst="flowChartMagneticDisk">
                <a:avLst/>
              </a:prstGeom>
              <a:solidFill>
                <a:srgbClr val="6d9eeb"/>
              </a:solidFill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387" name="Google Shape;528;p51"/>
              <p:cNvSpPr/>
              <p:nvPr/>
            </p:nvSpPr>
            <p:spPr>
              <a:xfrm>
                <a:off x="1325160" y="3852000"/>
                <a:ext cx="878040" cy="585360"/>
              </a:xfrm>
              <a:prstGeom prst="flowChartMagneticDisk">
                <a:avLst/>
              </a:prstGeom>
              <a:solidFill>
                <a:srgbClr val="6d9eeb"/>
              </a:solidFill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</p:grpSp>
        <p:sp>
          <p:nvSpPr>
            <p:cNvPr id="388" name="Google Shape;529;p51"/>
            <p:cNvSpPr/>
            <p:nvPr/>
          </p:nvSpPr>
          <p:spPr>
            <a:xfrm>
              <a:off x="944640" y="5089680"/>
              <a:ext cx="1639080" cy="62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pt-BR" sz="2100" spc="-1" strike="noStrike">
                  <a:solidFill>
                    <a:srgbClr val="595959"/>
                  </a:solidFill>
                  <a:latin typeface="Montserrat"/>
                  <a:ea typeface="Montserrat"/>
                </a:rPr>
                <a:t>cliente</a:t>
              </a:r>
              <a:endParaRPr b="0" lang="pt-BR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9" name="Google Shape;530;p51"/>
          <p:cNvGrpSpPr/>
          <p:nvPr/>
        </p:nvGrpSpPr>
        <p:grpSpPr>
          <a:xfrm>
            <a:off x="4421160" y="3852000"/>
            <a:ext cx="2719800" cy="1859400"/>
            <a:chOff x="4421160" y="3852000"/>
            <a:chExt cx="2719800" cy="1859400"/>
          </a:xfrm>
        </p:grpSpPr>
        <p:grpSp>
          <p:nvGrpSpPr>
            <p:cNvPr id="390" name="Google Shape;531;p51"/>
            <p:cNvGrpSpPr/>
            <p:nvPr/>
          </p:nvGrpSpPr>
          <p:grpSpPr>
            <a:xfrm>
              <a:off x="5341680" y="3852000"/>
              <a:ext cx="878040" cy="1170720"/>
              <a:chOff x="5341680" y="3852000"/>
              <a:chExt cx="878040" cy="1170720"/>
            </a:xfrm>
          </p:grpSpPr>
          <p:sp>
            <p:nvSpPr>
              <p:cNvPr id="391" name="Google Shape;532;p51"/>
              <p:cNvSpPr/>
              <p:nvPr/>
            </p:nvSpPr>
            <p:spPr>
              <a:xfrm>
                <a:off x="5341680" y="4437360"/>
                <a:ext cx="878040" cy="585360"/>
              </a:xfrm>
              <a:prstGeom prst="flowChartMagneticDisk">
                <a:avLst/>
              </a:prstGeom>
              <a:solidFill>
                <a:srgbClr val="f6b26b"/>
              </a:solidFill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392" name="Google Shape;533;p51"/>
              <p:cNvSpPr/>
              <p:nvPr/>
            </p:nvSpPr>
            <p:spPr>
              <a:xfrm>
                <a:off x="5341680" y="4156560"/>
                <a:ext cx="878040" cy="585360"/>
              </a:xfrm>
              <a:prstGeom prst="flowChartMagneticDisk">
                <a:avLst/>
              </a:prstGeom>
              <a:solidFill>
                <a:srgbClr val="f6b26b"/>
              </a:solidFill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393" name="Google Shape;534;p51"/>
              <p:cNvSpPr/>
              <p:nvPr/>
            </p:nvSpPr>
            <p:spPr>
              <a:xfrm>
                <a:off x="5341680" y="3852000"/>
                <a:ext cx="878040" cy="585360"/>
              </a:xfrm>
              <a:prstGeom prst="flowChartMagneticDisk">
                <a:avLst/>
              </a:prstGeom>
              <a:solidFill>
                <a:srgbClr val="f6b26b"/>
              </a:solidFill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</p:grpSp>
        <p:sp>
          <p:nvSpPr>
            <p:cNvPr id="394" name="Google Shape;535;p51"/>
            <p:cNvSpPr/>
            <p:nvPr/>
          </p:nvSpPr>
          <p:spPr>
            <a:xfrm>
              <a:off x="4421160" y="5089680"/>
              <a:ext cx="2719800" cy="62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pt-BR" sz="2100" spc="-1" strike="noStrike">
                  <a:solidFill>
                    <a:srgbClr val="595959"/>
                  </a:solidFill>
                  <a:latin typeface="Montserrat"/>
                  <a:ea typeface="Montserrat"/>
                </a:rPr>
                <a:t>transacoes</a:t>
              </a:r>
              <a:endParaRPr b="0" lang="pt-BR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5" name="Google Shape;536;p51"/>
          <p:cNvGrpSpPr/>
          <p:nvPr/>
        </p:nvGrpSpPr>
        <p:grpSpPr>
          <a:xfrm>
            <a:off x="7878960" y="3918240"/>
            <a:ext cx="3788640" cy="1793160"/>
            <a:chOff x="7878960" y="3918240"/>
            <a:chExt cx="3788640" cy="1793160"/>
          </a:xfrm>
        </p:grpSpPr>
        <p:grpSp>
          <p:nvGrpSpPr>
            <p:cNvPr id="396" name="Google Shape;537;p51"/>
            <p:cNvGrpSpPr/>
            <p:nvPr/>
          </p:nvGrpSpPr>
          <p:grpSpPr>
            <a:xfrm>
              <a:off x="9334440" y="3918240"/>
              <a:ext cx="878040" cy="1171080"/>
              <a:chOff x="9334440" y="3918240"/>
              <a:chExt cx="878040" cy="1171080"/>
            </a:xfrm>
          </p:grpSpPr>
          <p:sp>
            <p:nvSpPr>
              <p:cNvPr id="397" name="Google Shape;538;p51"/>
              <p:cNvSpPr/>
              <p:nvPr/>
            </p:nvSpPr>
            <p:spPr>
              <a:xfrm>
                <a:off x="9334440" y="4503960"/>
                <a:ext cx="878040" cy="585360"/>
              </a:xfrm>
              <a:prstGeom prst="flowChartMagneticDisk">
                <a:avLst/>
              </a:prstGeom>
              <a:solidFill>
                <a:srgbClr val="ffd966"/>
              </a:solidFill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398" name="Google Shape;539;p51"/>
              <p:cNvSpPr/>
              <p:nvPr/>
            </p:nvSpPr>
            <p:spPr>
              <a:xfrm>
                <a:off x="9334440" y="4223160"/>
                <a:ext cx="878040" cy="585360"/>
              </a:xfrm>
              <a:prstGeom prst="flowChartMagneticDisk">
                <a:avLst/>
              </a:prstGeom>
              <a:solidFill>
                <a:srgbClr val="ffd966"/>
              </a:solidFill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399" name="Google Shape;540;p51"/>
              <p:cNvSpPr/>
              <p:nvPr/>
            </p:nvSpPr>
            <p:spPr>
              <a:xfrm>
                <a:off x="9334440" y="3918240"/>
                <a:ext cx="878040" cy="585360"/>
              </a:xfrm>
              <a:prstGeom prst="flowChartMagneticDisk">
                <a:avLst/>
              </a:prstGeom>
              <a:solidFill>
                <a:srgbClr val="ffd966"/>
              </a:solidFill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</p:grpSp>
        <p:sp>
          <p:nvSpPr>
            <p:cNvPr id="400" name="Google Shape;541;p51"/>
            <p:cNvSpPr/>
            <p:nvPr/>
          </p:nvSpPr>
          <p:spPr>
            <a:xfrm>
              <a:off x="7878960" y="5089680"/>
              <a:ext cx="3788640" cy="62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pt-BR" sz="2100" spc="-1" strike="noStrike">
                  <a:solidFill>
                    <a:srgbClr val="595959"/>
                  </a:solidFill>
                  <a:latin typeface="Montserrat"/>
                  <a:ea typeface="Montserrat"/>
                </a:rPr>
                <a:t>transacao_produto</a:t>
              </a:r>
              <a:endParaRPr b="0" lang="pt-BR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401" name="Google Shape;542;p51"/>
          <p:cNvCxnSpPr/>
          <p:nvPr/>
        </p:nvCxnSpPr>
        <p:spPr>
          <a:xfrm>
            <a:off x="2203560" y="4452480"/>
            <a:ext cx="3138120" cy="360"/>
          </a:xfrm>
          <a:prstGeom prst="straightConnector1">
            <a:avLst/>
          </a:prstGeom>
          <a:ln w="38100">
            <a:solidFill>
              <a:srgbClr val="595959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402" name="Google Shape;543;p51"/>
          <p:cNvSpPr/>
          <p:nvPr/>
        </p:nvSpPr>
        <p:spPr>
          <a:xfrm>
            <a:off x="2881080" y="3957480"/>
            <a:ext cx="163872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1700" spc="-1" strike="noStrike">
                <a:solidFill>
                  <a:srgbClr val="595959"/>
                </a:solidFill>
                <a:latin typeface="Montserrat Medium"/>
                <a:ea typeface="Montserrat Medium"/>
              </a:rPr>
              <a:t>idCliente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03" name="Google Shape;544;p51"/>
          <p:cNvCxnSpPr/>
          <p:nvPr/>
        </p:nvCxnSpPr>
        <p:spPr>
          <a:xfrm>
            <a:off x="6230520" y="4452480"/>
            <a:ext cx="3138480" cy="360"/>
          </a:xfrm>
          <a:prstGeom prst="straightConnector1">
            <a:avLst/>
          </a:prstGeom>
          <a:ln w="38100">
            <a:solidFill>
              <a:srgbClr val="595959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404" name="Google Shape;545;p51"/>
          <p:cNvSpPr/>
          <p:nvPr/>
        </p:nvSpPr>
        <p:spPr>
          <a:xfrm>
            <a:off x="6908040" y="3957480"/>
            <a:ext cx="178272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1700" spc="-1" strike="noStrike">
                <a:solidFill>
                  <a:srgbClr val="595959"/>
                </a:solidFill>
                <a:latin typeface="Montserrat Medium"/>
                <a:ea typeface="Montserrat Medium"/>
              </a:rPr>
              <a:t>idTransacao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05" name="Google Shape;546;p51"/>
          <p:cNvGrpSpPr/>
          <p:nvPr/>
        </p:nvGrpSpPr>
        <p:grpSpPr>
          <a:xfrm>
            <a:off x="7878960" y="975960"/>
            <a:ext cx="3788640" cy="1792800"/>
            <a:chOff x="7878960" y="975960"/>
            <a:chExt cx="3788640" cy="1792800"/>
          </a:xfrm>
        </p:grpSpPr>
        <p:grpSp>
          <p:nvGrpSpPr>
            <p:cNvPr id="406" name="Google Shape;547;p51"/>
            <p:cNvGrpSpPr/>
            <p:nvPr/>
          </p:nvGrpSpPr>
          <p:grpSpPr>
            <a:xfrm>
              <a:off x="9334440" y="1597680"/>
              <a:ext cx="878040" cy="1171080"/>
              <a:chOff x="9334440" y="1597680"/>
              <a:chExt cx="878040" cy="1171080"/>
            </a:xfrm>
          </p:grpSpPr>
          <p:sp>
            <p:nvSpPr>
              <p:cNvPr id="407" name="Google Shape;548;p51"/>
              <p:cNvSpPr/>
              <p:nvPr/>
            </p:nvSpPr>
            <p:spPr>
              <a:xfrm>
                <a:off x="9334440" y="2183400"/>
                <a:ext cx="878040" cy="585360"/>
              </a:xfrm>
              <a:prstGeom prst="flowChartMagneticDisk">
                <a:avLst/>
              </a:prstGeom>
              <a:solidFill>
                <a:srgbClr val="d5a6bd"/>
              </a:solidFill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408" name="Google Shape;549;p51"/>
              <p:cNvSpPr/>
              <p:nvPr/>
            </p:nvSpPr>
            <p:spPr>
              <a:xfrm>
                <a:off x="9334440" y="1902600"/>
                <a:ext cx="878040" cy="585360"/>
              </a:xfrm>
              <a:prstGeom prst="flowChartMagneticDisk">
                <a:avLst/>
              </a:prstGeom>
              <a:solidFill>
                <a:srgbClr val="d5a6bd"/>
              </a:solidFill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409" name="Google Shape;550;p51"/>
              <p:cNvSpPr/>
              <p:nvPr/>
            </p:nvSpPr>
            <p:spPr>
              <a:xfrm>
                <a:off x="9334440" y="1597680"/>
                <a:ext cx="878040" cy="585360"/>
              </a:xfrm>
              <a:prstGeom prst="flowChartMagneticDisk">
                <a:avLst/>
              </a:prstGeom>
              <a:solidFill>
                <a:srgbClr val="d5a6bd"/>
              </a:solidFill>
              <a:ln w="1905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</p:grpSp>
        <p:sp>
          <p:nvSpPr>
            <p:cNvPr id="410" name="Google Shape;551;p51"/>
            <p:cNvSpPr/>
            <p:nvPr/>
          </p:nvSpPr>
          <p:spPr>
            <a:xfrm>
              <a:off x="7878960" y="975960"/>
              <a:ext cx="3788640" cy="62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pt-BR" sz="2100" spc="-1" strike="noStrike">
                  <a:solidFill>
                    <a:srgbClr val="595959"/>
                  </a:solidFill>
                  <a:latin typeface="Montserrat"/>
                  <a:ea typeface="Montserrat"/>
                </a:rPr>
                <a:t>produto</a:t>
              </a:r>
              <a:endParaRPr b="0" lang="pt-BR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411" name="Google Shape;552;p51"/>
          <p:cNvCxnSpPr>
            <a:stCxn id="407" idx="3"/>
          </p:cNvCxnSpPr>
          <p:nvPr/>
        </p:nvCxnSpPr>
        <p:spPr>
          <a:xfrm flipH="1">
            <a:off x="9773280" y="2476080"/>
            <a:ext cx="439560" cy="1442520"/>
          </a:xfrm>
          <a:prstGeom prst="straightConnector1">
            <a:avLst/>
          </a:prstGeom>
          <a:ln w="38100">
            <a:solidFill>
              <a:srgbClr val="595959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412" name="Google Shape;553;p51"/>
          <p:cNvSpPr/>
          <p:nvPr/>
        </p:nvSpPr>
        <p:spPr>
          <a:xfrm>
            <a:off x="9826560" y="3096000"/>
            <a:ext cx="178272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1700" spc="-1" strike="noStrike">
                <a:solidFill>
                  <a:srgbClr val="595959"/>
                </a:solidFill>
                <a:latin typeface="Montserrat Medium"/>
                <a:ea typeface="Montserrat Medium"/>
              </a:rPr>
              <a:t>idProduto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558;p52"/>
          <p:cNvSpPr/>
          <p:nvPr/>
        </p:nvSpPr>
        <p:spPr>
          <a:xfrm>
            <a:off x="762480" y="710640"/>
            <a:ext cx="241308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i="1" lang="pt-BR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SELECT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Google Shape;559;p52"/>
          <p:cNvSpPr/>
          <p:nvPr/>
        </p:nvSpPr>
        <p:spPr>
          <a:xfrm>
            <a:off x="949320" y="1721520"/>
            <a:ext cx="9758880" cy="15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Toda consulta de tabelas precisa ao menos de duas instruções em sua sintaxe. A primeira é a </a:t>
            </a:r>
            <a:r>
              <a:rPr b="0" i="1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SELECT, </a:t>
            </a: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onde é passado uma lista de </a:t>
            </a:r>
            <a:r>
              <a:rPr b="1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colunas</a:t>
            </a: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 que se deseja obter, bem como realizar a criação de novas colunas e cálculos.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Google Shape;560;p52"/>
          <p:cNvSpPr/>
          <p:nvPr/>
        </p:nvSpPr>
        <p:spPr>
          <a:xfrm>
            <a:off x="1051200" y="4030920"/>
            <a:ext cx="9758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2e75b5"/>
                </a:solidFill>
                <a:latin typeface="Arial"/>
                <a:ea typeface="Arial"/>
              </a:rPr>
              <a:t>SELECT</a:t>
            </a:r>
            <a:r>
              <a:rPr b="0" lang="pt-BR" sz="2600" spc="-1" strike="noStrike">
                <a:solidFill>
                  <a:srgbClr val="2e75b5"/>
                </a:solidFill>
                <a:latin typeface="Arial"/>
                <a:ea typeface="Arial"/>
              </a:rPr>
              <a:t> </a:t>
            </a:r>
            <a:r>
              <a:rPr b="0" lang="pt-BR" sz="2600" spc="-1" strike="noStrike">
                <a:solidFill>
                  <a:srgbClr val="548135"/>
                </a:solidFill>
                <a:latin typeface="Arial"/>
                <a:ea typeface="Arial"/>
              </a:rPr>
              <a:t>‘Olá mundo!’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Google Shape;561;p52"/>
          <p:cNvSpPr/>
          <p:nvPr/>
        </p:nvSpPr>
        <p:spPr>
          <a:xfrm>
            <a:off x="1051200" y="5180040"/>
            <a:ext cx="9758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2e75b5"/>
                </a:solidFill>
                <a:latin typeface="Arial"/>
                <a:ea typeface="Arial"/>
              </a:rPr>
              <a:t>SELECT</a:t>
            </a:r>
            <a:r>
              <a:rPr b="0" lang="pt-BR" sz="2600" spc="-1" strike="noStrike">
                <a:solidFill>
                  <a:srgbClr val="2e75b5"/>
                </a:solidFill>
                <a:latin typeface="Arial"/>
                <a:ea typeface="Arial"/>
              </a:rPr>
              <a:t> </a:t>
            </a:r>
            <a:r>
              <a:rPr b="0" lang="pt-BR" sz="2600" spc="-1" strike="noStrike">
                <a:solidFill>
                  <a:srgbClr val="8e7cc3"/>
                </a:solidFill>
                <a:latin typeface="Arial"/>
                <a:ea typeface="Arial"/>
              </a:rPr>
              <a:t>2 * 136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566;p53"/>
          <p:cNvSpPr/>
          <p:nvPr/>
        </p:nvSpPr>
        <p:spPr>
          <a:xfrm>
            <a:off x="762480" y="710640"/>
            <a:ext cx="215064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i="1" lang="pt-BR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FROM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Google Shape;567;p53"/>
          <p:cNvSpPr/>
          <p:nvPr/>
        </p:nvSpPr>
        <p:spPr>
          <a:xfrm>
            <a:off x="848880" y="1729800"/>
            <a:ext cx="1050588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Esta é a segunda instrução necessária para realizar uma consulta simples. Devemos informar a partir de qual tabela desejamos obter os dados.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Assim, para selecionar </a:t>
            </a:r>
            <a:r>
              <a:rPr b="1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todas </a:t>
            </a: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colunas de uma tabela, temos: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Google Shape;568;p53"/>
          <p:cNvSpPr/>
          <p:nvPr/>
        </p:nvSpPr>
        <p:spPr>
          <a:xfrm>
            <a:off x="1034280" y="3920040"/>
            <a:ext cx="975888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2e75b5"/>
                </a:solidFill>
                <a:latin typeface="Montserrat"/>
                <a:ea typeface="Montserrat"/>
              </a:rPr>
              <a:t>SELECT</a:t>
            </a:r>
            <a:r>
              <a:rPr b="0" lang="pt-BR" sz="2600" spc="-1" strike="noStrike">
                <a:solidFill>
                  <a:srgbClr val="2e75b5"/>
                </a:solidFill>
                <a:latin typeface="Montserrat"/>
                <a:ea typeface="Montserrat"/>
              </a:rPr>
              <a:t> </a:t>
            </a:r>
            <a:r>
              <a:rPr b="1" lang="pt-BR" sz="2600" spc="-1" strike="noStrike">
                <a:solidFill>
                  <a:srgbClr val="548135"/>
                </a:solidFill>
                <a:latin typeface="Montserrat"/>
                <a:ea typeface="Montserrat"/>
              </a:rPr>
              <a:t>*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2e75b5"/>
                </a:solidFill>
                <a:latin typeface="Montserrat"/>
                <a:ea typeface="Montserrat"/>
              </a:rPr>
              <a:t>FROM</a:t>
            </a:r>
            <a:r>
              <a:rPr b="0" lang="pt-BR" sz="2600" spc="-1" strike="noStrike">
                <a:solidFill>
                  <a:srgbClr val="2e75b5"/>
                </a:solidFill>
                <a:latin typeface="Montserrat"/>
                <a:ea typeface="Montserrat"/>
              </a:rPr>
              <a:t> </a:t>
            </a:r>
            <a:r>
              <a:rPr b="1" lang="pt-BR" sz="2600" spc="-1" strike="noStrike">
                <a:solidFill>
                  <a:srgbClr val="ff0000"/>
                </a:solidFill>
                <a:latin typeface="Montserrat"/>
                <a:ea typeface="Montserrat"/>
              </a:rPr>
              <a:t>tabela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Google Shape;569;p53"/>
          <p:cNvSpPr/>
          <p:nvPr/>
        </p:nvSpPr>
        <p:spPr>
          <a:xfrm>
            <a:off x="949320" y="5455440"/>
            <a:ext cx="9758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Note que o </a:t>
            </a:r>
            <a:r>
              <a:rPr b="0" lang="pt-BR" sz="2600" spc="-1" strike="noStrike">
                <a:solidFill>
                  <a:srgbClr val="38761d"/>
                </a:solidFill>
                <a:latin typeface="Montserrat"/>
                <a:ea typeface="Montserrat"/>
              </a:rPr>
              <a:t>*</a:t>
            </a: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 (asterisco) representa todas as colunas.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574;p54"/>
          <p:cNvSpPr/>
          <p:nvPr/>
        </p:nvSpPr>
        <p:spPr>
          <a:xfrm>
            <a:off x="762480" y="710640"/>
            <a:ext cx="849240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Nossa primeira </a:t>
            </a:r>
            <a:r>
              <a:rPr b="0" i="1" lang="pt-BR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Query</a:t>
            </a:r>
            <a:r>
              <a:rPr b="0" lang="pt-BR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 (consulta)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Google Shape;575;p54"/>
          <p:cNvSpPr/>
          <p:nvPr/>
        </p:nvSpPr>
        <p:spPr>
          <a:xfrm>
            <a:off x="958320" y="2644920"/>
            <a:ext cx="975888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2e75b5"/>
                </a:solidFill>
                <a:latin typeface="Montserrat"/>
                <a:ea typeface="Montserrat"/>
              </a:rPr>
              <a:t>SELECT</a:t>
            </a:r>
            <a:r>
              <a:rPr b="0" lang="pt-BR" sz="2600" spc="-1" strike="noStrike">
                <a:solidFill>
                  <a:srgbClr val="2e75b5"/>
                </a:solidFill>
                <a:latin typeface="Montserrat"/>
                <a:ea typeface="Montserrat"/>
              </a:rPr>
              <a:t> </a:t>
            </a:r>
            <a:r>
              <a:rPr b="1" lang="pt-BR" sz="2600" spc="-1" strike="noStrike">
                <a:solidFill>
                  <a:srgbClr val="548135"/>
                </a:solidFill>
                <a:latin typeface="Montserrat"/>
                <a:ea typeface="Montserrat"/>
              </a:rPr>
              <a:t>*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2e75b5"/>
                </a:solidFill>
                <a:latin typeface="Montserrat"/>
                <a:ea typeface="Montserrat"/>
              </a:rPr>
              <a:t>FROM</a:t>
            </a:r>
            <a:r>
              <a:rPr b="0" lang="pt-BR" sz="2600" spc="-1" strike="noStrike">
                <a:solidFill>
                  <a:srgbClr val="2e75b5"/>
                </a:solidFill>
                <a:latin typeface="Montserrat"/>
                <a:ea typeface="Montserrat"/>
              </a:rPr>
              <a:t> </a:t>
            </a:r>
            <a:r>
              <a:rPr b="0" lang="pt-BR" sz="2600" spc="-1" strike="noStrike">
                <a:solidFill>
                  <a:srgbClr val="ff0000"/>
                </a:solidFill>
                <a:latin typeface="Montserrat"/>
                <a:ea typeface="Montserrat"/>
              </a:rPr>
              <a:t>cliente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Google Shape;576;p54"/>
          <p:cNvSpPr/>
          <p:nvPr/>
        </p:nvSpPr>
        <p:spPr>
          <a:xfrm>
            <a:off x="958320" y="4797360"/>
            <a:ext cx="9758880" cy="8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Podemos ler esse código em linguagem natural da seguinte forma: “</a:t>
            </a:r>
            <a:r>
              <a:rPr b="0" lang="pt-BR" sz="2200" spc="-1" strike="noStrike">
                <a:solidFill>
                  <a:srgbClr val="3c78d8"/>
                </a:solidFill>
                <a:latin typeface="Montserrat"/>
                <a:ea typeface="Montserrat"/>
              </a:rPr>
              <a:t>selecione</a:t>
            </a: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 </a:t>
            </a:r>
            <a:r>
              <a:rPr b="1" lang="pt-BR" sz="2200" spc="-1" strike="noStrike">
                <a:solidFill>
                  <a:srgbClr val="38761d"/>
                </a:solidFill>
                <a:latin typeface="Montserrat"/>
                <a:ea typeface="Montserrat"/>
              </a:rPr>
              <a:t>todas</a:t>
            </a:r>
            <a:r>
              <a:rPr b="0" lang="pt-BR" sz="2200" spc="-1" strike="noStrike">
                <a:solidFill>
                  <a:srgbClr val="38761d"/>
                </a:solidFill>
                <a:latin typeface="Montserrat"/>
                <a:ea typeface="Montserrat"/>
              </a:rPr>
              <a:t> colunas</a:t>
            </a: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 </a:t>
            </a:r>
            <a:r>
              <a:rPr b="0" lang="pt-BR" sz="2200" spc="-1" strike="noStrike">
                <a:solidFill>
                  <a:srgbClr val="3c78d8"/>
                </a:solidFill>
                <a:latin typeface="Montserrat"/>
                <a:ea typeface="Montserrat"/>
              </a:rPr>
              <a:t>da </a:t>
            </a:r>
            <a:r>
              <a:rPr b="1" lang="pt-BR" sz="2200" spc="-1" strike="noStrike">
                <a:solidFill>
                  <a:srgbClr val="3c78d8"/>
                </a:solidFill>
                <a:latin typeface="Montserrat"/>
                <a:ea typeface="Montserrat"/>
              </a:rPr>
              <a:t>tabela</a:t>
            </a:r>
            <a:r>
              <a:rPr b="1" lang="pt-BR" sz="2200" spc="-1" strike="noStrike">
                <a:solidFill>
                  <a:srgbClr val="ff0000"/>
                </a:solidFill>
                <a:latin typeface="Montserrat"/>
                <a:ea typeface="Montserrat"/>
              </a:rPr>
              <a:t> cliente</a:t>
            </a: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”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581;p55"/>
          <p:cNvSpPr/>
          <p:nvPr/>
        </p:nvSpPr>
        <p:spPr>
          <a:xfrm>
            <a:off x="642240" y="710640"/>
            <a:ext cx="265320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i="1" lang="pt-BR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WHERE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Google Shape;582;p55"/>
          <p:cNvSpPr/>
          <p:nvPr/>
        </p:nvSpPr>
        <p:spPr>
          <a:xfrm>
            <a:off x="848160" y="1577520"/>
            <a:ext cx="10753560" cy="15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Agora que temos uma query simples, podemos adicionar algumas instruções adicionais. Talvez seja necessário realizar algum tipo de filtro, para isso utilizamos o WHERE com uma condição lógica.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Google Shape;583;p55"/>
          <p:cNvSpPr/>
          <p:nvPr/>
        </p:nvSpPr>
        <p:spPr>
          <a:xfrm>
            <a:off x="848160" y="3174480"/>
            <a:ext cx="8987760" cy="187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2e75b5"/>
                </a:solidFill>
                <a:latin typeface="Montserrat"/>
                <a:ea typeface="Montserrat"/>
              </a:rPr>
              <a:t>SELECT</a:t>
            </a:r>
            <a:r>
              <a:rPr b="0" lang="pt-BR" sz="2600" spc="-1" strike="noStrike">
                <a:solidFill>
                  <a:srgbClr val="2e75b5"/>
                </a:solidFill>
                <a:latin typeface="Montserrat"/>
                <a:ea typeface="Montserrat"/>
              </a:rPr>
              <a:t> </a:t>
            </a:r>
            <a:r>
              <a:rPr b="0" lang="pt-BR" sz="2600" spc="-1" strike="noStrike">
                <a:solidFill>
                  <a:srgbClr val="548135"/>
                </a:solidFill>
                <a:latin typeface="Montserrat"/>
                <a:ea typeface="Montserrat"/>
              </a:rPr>
              <a:t>*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2e75b5"/>
                </a:solidFill>
                <a:latin typeface="Montserrat"/>
                <a:ea typeface="Montserrat"/>
              </a:rPr>
              <a:t>FROM</a:t>
            </a:r>
            <a:r>
              <a:rPr b="0" lang="pt-BR" sz="2600" spc="-1" strike="noStrike">
                <a:solidFill>
                  <a:srgbClr val="2e75b5"/>
                </a:solidFill>
                <a:latin typeface="Montserrat"/>
                <a:ea typeface="Montserrat"/>
              </a:rPr>
              <a:t> </a:t>
            </a:r>
            <a:r>
              <a:rPr b="0" lang="pt-BR" sz="2600" spc="-1" strike="noStrike">
                <a:solidFill>
                  <a:srgbClr val="ff0000"/>
                </a:solidFill>
                <a:latin typeface="Montserrat"/>
                <a:ea typeface="Montserrat"/>
              </a:rPr>
              <a:t>cliente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2e75b5"/>
                </a:solidFill>
                <a:latin typeface="Montserrat"/>
                <a:ea typeface="Montserrat"/>
              </a:rPr>
              <a:t>WHERE</a:t>
            </a:r>
            <a:r>
              <a:rPr b="0" lang="pt-BR" sz="2600" spc="-1" strike="noStrike">
                <a:solidFill>
                  <a:srgbClr val="2e75b5"/>
                </a:solidFill>
                <a:latin typeface="Montserrat"/>
                <a:ea typeface="Montserrat"/>
              </a:rPr>
              <a:t> </a:t>
            </a:r>
            <a:r>
              <a:rPr b="0" lang="pt-BR" sz="2600" spc="-1" strike="noStrike">
                <a:solidFill>
                  <a:srgbClr val="548135"/>
                </a:solidFill>
                <a:latin typeface="Montserrat"/>
                <a:ea typeface="Montserrat"/>
              </a:rPr>
              <a:t>flEmail</a:t>
            </a:r>
            <a:r>
              <a:rPr b="0" lang="pt-BR" sz="2600" spc="-1" strike="noStrike">
                <a:solidFill>
                  <a:srgbClr val="ff0000"/>
                </a:solidFill>
                <a:latin typeface="Montserrat"/>
                <a:ea typeface="Montserrat"/>
              </a:rPr>
              <a:t> </a:t>
            </a:r>
            <a:r>
              <a:rPr b="0" lang="pt-BR" sz="2600" spc="-1" strike="noStrike">
                <a:solidFill>
                  <a:schemeClr val="dk1"/>
                </a:solidFill>
                <a:latin typeface="Montserrat"/>
                <a:ea typeface="Montserrat"/>
              </a:rPr>
              <a:t>=</a:t>
            </a:r>
            <a:r>
              <a:rPr b="0" lang="pt-BR" sz="2600" spc="-1" strike="noStrike">
                <a:solidFill>
                  <a:srgbClr val="ff0000"/>
                </a:solidFill>
                <a:latin typeface="Montserrat"/>
                <a:ea typeface="Montserrat"/>
              </a:rPr>
              <a:t> </a:t>
            </a:r>
            <a:r>
              <a:rPr b="0" lang="pt-BR" sz="2600" spc="-1" strike="noStrike">
                <a:solidFill>
                  <a:srgbClr val="e69138"/>
                </a:solidFill>
                <a:latin typeface="Montserrat"/>
                <a:ea typeface="Montserrat"/>
              </a:rPr>
              <a:t>1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Google Shape;584;p55"/>
          <p:cNvSpPr/>
          <p:nvPr/>
        </p:nvSpPr>
        <p:spPr>
          <a:xfrm>
            <a:off x="848160" y="5193360"/>
            <a:ext cx="1075356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Podemos ler esse código em linguagem natural da seguinte forma: “</a:t>
            </a:r>
            <a:r>
              <a:rPr b="0" lang="pt-BR" sz="2200" spc="-1" strike="noStrike">
                <a:solidFill>
                  <a:srgbClr val="3c78d8"/>
                </a:solidFill>
                <a:latin typeface="Montserrat"/>
                <a:ea typeface="Montserrat"/>
              </a:rPr>
              <a:t>selecione</a:t>
            </a: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 </a:t>
            </a:r>
            <a:r>
              <a:rPr b="1" lang="pt-BR" sz="2200" spc="-1" strike="noStrike">
                <a:solidFill>
                  <a:srgbClr val="38761d"/>
                </a:solidFill>
                <a:latin typeface="Montserrat"/>
                <a:ea typeface="Montserrat"/>
              </a:rPr>
              <a:t>todas</a:t>
            </a:r>
            <a:r>
              <a:rPr b="0" lang="pt-BR" sz="2200" spc="-1" strike="noStrike">
                <a:solidFill>
                  <a:srgbClr val="38761d"/>
                </a:solidFill>
                <a:latin typeface="Montserrat"/>
                <a:ea typeface="Montserrat"/>
              </a:rPr>
              <a:t> colunas</a:t>
            </a: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 </a:t>
            </a:r>
            <a:r>
              <a:rPr b="0" lang="pt-BR" sz="2200" spc="-1" strike="noStrike">
                <a:solidFill>
                  <a:srgbClr val="3c78d8"/>
                </a:solidFill>
                <a:latin typeface="Montserrat"/>
                <a:ea typeface="Montserrat"/>
              </a:rPr>
              <a:t>da </a:t>
            </a:r>
            <a:r>
              <a:rPr b="1" lang="pt-BR" sz="2200" spc="-1" strike="noStrike">
                <a:solidFill>
                  <a:srgbClr val="3c78d8"/>
                </a:solidFill>
                <a:latin typeface="Montserrat"/>
                <a:ea typeface="Montserrat"/>
              </a:rPr>
              <a:t>tabela</a:t>
            </a: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 </a:t>
            </a:r>
            <a:r>
              <a:rPr b="1" lang="pt-BR" sz="2200" spc="-1" strike="noStrike">
                <a:solidFill>
                  <a:srgbClr val="ff0000"/>
                </a:solidFill>
                <a:latin typeface="Montserrat"/>
                <a:ea typeface="Montserrat"/>
              </a:rPr>
              <a:t>cliente</a:t>
            </a:r>
            <a:r>
              <a:rPr b="0" lang="pt-BR" sz="2200" spc="-1" strike="noStrike">
                <a:solidFill>
                  <a:srgbClr val="ff0000"/>
                </a:solidFill>
                <a:latin typeface="Montserrat"/>
                <a:ea typeface="Montserrat"/>
              </a:rPr>
              <a:t> </a:t>
            </a:r>
            <a:r>
              <a:rPr b="1" lang="pt-BR" sz="2200" spc="-1" strike="noStrike">
                <a:solidFill>
                  <a:srgbClr val="3c78d8"/>
                </a:solidFill>
                <a:latin typeface="Montserrat"/>
                <a:ea typeface="Montserrat"/>
              </a:rPr>
              <a:t>onde</a:t>
            </a:r>
            <a:r>
              <a:rPr b="0" lang="pt-BR" sz="2200" spc="-1" strike="noStrike">
                <a:solidFill>
                  <a:srgbClr val="ff0000"/>
                </a:solidFill>
                <a:latin typeface="Montserrat"/>
                <a:ea typeface="Montserrat"/>
              </a:rPr>
              <a:t> </a:t>
            </a:r>
            <a:r>
              <a:rPr b="0" lang="pt-BR" sz="2200" spc="-1" strike="noStrike">
                <a:solidFill>
                  <a:srgbClr val="3c78d8"/>
                </a:solidFill>
                <a:latin typeface="Montserrat"/>
                <a:ea typeface="Montserrat"/>
              </a:rPr>
              <a:t>os valores da coluna</a:t>
            </a:r>
            <a:r>
              <a:rPr b="0" lang="pt-BR" sz="2200" spc="-1" strike="noStrike">
                <a:solidFill>
                  <a:srgbClr val="ff0000"/>
                </a:solidFill>
                <a:latin typeface="Montserrat"/>
                <a:ea typeface="Montserrat"/>
              </a:rPr>
              <a:t> </a:t>
            </a:r>
            <a:r>
              <a:rPr b="1" lang="pt-BR" sz="2200" spc="-1" strike="noStrike">
                <a:solidFill>
                  <a:srgbClr val="38761d"/>
                </a:solidFill>
                <a:latin typeface="Montserrat"/>
                <a:ea typeface="Montserrat"/>
              </a:rPr>
              <a:t>flEmail</a:t>
            </a:r>
            <a:r>
              <a:rPr b="0" lang="pt-BR" sz="2200" spc="-1" strike="noStrike">
                <a:solidFill>
                  <a:srgbClr val="ff0000"/>
                </a:solidFill>
                <a:latin typeface="Montserrat"/>
                <a:ea typeface="Montserrat"/>
              </a:rPr>
              <a:t> </a:t>
            </a: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sejam iguais a</a:t>
            </a:r>
            <a:r>
              <a:rPr b="0" lang="pt-BR" sz="2200" spc="-1" strike="noStrike">
                <a:solidFill>
                  <a:srgbClr val="ff0000"/>
                </a:solidFill>
                <a:latin typeface="Montserrat"/>
                <a:ea typeface="Montserrat"/>
              </a:rPr>
              <a:t> </a:t>
            </a:r>
            <a:r>
              <a:rPr b="1" lang="pt-BR" sz="2200" spc="-1" strike="noStrike">
                <a:solidFill>
                  <a:srgbClr val="e69138"/>
                </a:solidFill>
                <a:latin typeface="Montserrat"/>
                <a:ea typeface="Montserrat"/>
              </a:rPr>
              <a:t>1</a:t>
            </a:r>
            <a:r>
              <a:rPr b="0" lang="pt-BR" sz="2200" spc="-1" strike="noStrike">
                <a:solidFill>
                  <a:srgbClr val="ff0000"/>
                </a:solidFill>
                <a:latin typeface="Montserrat"/>
                <a:ea typeface="Montserrat"/>
              </a:rPr>
              <a:t> </a:t>
            </a: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”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589;p56"/>
          <p:cNvSpPr/>
          <p:nvPr/>
        </p:nvSpPr>
        <p:spPr>
          <a:xfrm>
            <a:off x="762480" y="710640"/>
            <a:ext cx="225864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pt-BR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CASE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Google Shape;590;p56"/>
          <p:cNvSpPr/>
          <p:nvPr/>
        </p:nvSpPr>
        <p:spPr>
          <a:xfrm>
            <a:off x="949320" y="1729800"/>
            <a:ext cx="975888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Como podemos identificar se um pedido atrasou ou não? Podemos realizar comparações lógicas ao criar novas variáveis?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Google Shape;591;p56"/>
          <p:cNvSpPr/>
          <p:nvPr/>
        </p:nvSpPr>
        <p:spPr>
          <a:xfrm>
            <a:off x="714600" y="3387600"/>
            <a:ext cx="10880640" cy="180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lang="pt-BR" sz="2500" spc="-1" strike="noStrike">
                <a:solidFill>
                  <a:srgbClr val="2e75b5"/>
                </a:solidFill>
                <a:latin typeface="Montserrat"/>
                <a:ea typeface="Montserrat"/>
              </a:rPr>
              <a:t>SELECT</a:t>
            </a:r>
            <a:r>
              <a:rPr b="0" lang="pt-BR" sz="2500" spc="-1" strike="noStrike">
                <a:solidFill>
                  <a:srgbClr val="2e75b5"/>
                </a:solidFill>
                <a:latin typeface="Montserrat"/>
                <a:ea typeface="Montserrat"/>
              </a:rPr>
              <a:t> </a:t>
            </a:r>
            <a:r>
              <a:rPr b="0" lang="pt-BR" sz="2500" spc="-1" strike="noStrike">
                <a:solidFill>
                  <a:srgbClr val="548135"/>
                </a:solidFill>
                <a:latin typeface="Montserrat"/>
                <a:ea typeface="Montserrat"/>
              </a:rPr>
              <a:t>*,</a:t>
            </a:r>
            <a:endParaRPr b="0" lang="pt-BR" sz="2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500" spc="-1" strike="noStrike">
                <a:solidFill>
                  <a:srgbClr val="548135"/>
                </a:solidFill>
                <a:latin typeface="Montserrat"/>
                <a:ea typeface="Montserrat"/>
              </a:rPr>
              <a:t>     </a:t>
            </a:r>
            <a:r>
              <a:rPr b="1" lang="pt-BR" sz="2500" spc="-1" strike="noStrike">
                <a:solidFill>
                  <a:srgbClr val="2e75b5"/>
                </a:solidFill>
                <a:latin typeface="Montserrat"/>
                <a:ea typeface="Montserrat"/>
              </a:rPr>
              <a:t>CASE WHEN</a:t>
            </a:r>
            <a:r>
              <a:rPr b="0" lang="pt-BR" sz="2500" spc="-1" strike="noStrike">
                <a:solidFill>
                  <a:srgbClr val="548135"/>
                </a:solidFill>
                <a:latin typeface="Montserrat"/>
                <a:ea typeface="Montserrat"/>
              </a:rPr>
              <a:t> QtdePontos</a:t>
            </a:r>
            <a:r>
              <a:rPr b="0" lang="pt-BR" sz="2500" spc="-1" strike="noStrike">
                <a:solidFill>
                  <a:srgbClr val="ff0000"/>
                </a:solidFill>
                <a:latin typeface="Montserrat"/>
                <a:ea typeface="Montserrat"/>
              </a:rPr>
              <a:t> </a:t>
            </a:r>
            <a:r>
              <a:rPr b="0" lang="pt-BR" sz="2500" spc="-1" strike="noStrike">
                <a:solidFill>
                  <a:schemeClr val="dk1"/>
                </a:solidFill>
                <a:latin typeface="Montserrat"/>
                <a:ea typeface="Montserrat"/>
              </a:rPr>
              <a:t>&gt;</a:t>
            </a:r>
            <a:r>
              <a:rPr b="0" lang="pt-BR" sz="2500" spc="-1" strike="noStrike">
                <a:solidFill>
                  <a:srgbClr val="ff0000"/>
                </a:solidFill>
                <a:latin typeface="Montserrat"/>
                <a:ea typeface="Montserrat"/>
              </a:rPr>
              <a:t> </a:t>
            </a:r>
            <a:r>
              <a:rPr b="0" lang="pt-BR" sz="2500" spc="-1" strike="noStrike">
                <a:solidFill>
                  <a:schemeClr val="accent4"/>
                </a:solidFill>
                <a:latin typeface="Montserrat"/>
                <a:ea typeface="Montserrat"/>
              </a:rPr>
              <a:t>500</a:t>
            </a:r>
            <a:r>
              <a:rPr b="0" lang="pt-BR" sz="2500" spc="-1" strike="noStrike">
                <a:solidFill>
                  <a:srgbClr val="548135"/>
                </a:solidFill>
                <a:latin typeface="Montserrat"/>
                <a:ea typeface="Montserrat"/>
              </a:rPr>
              <a:t> </a:t>
            </a:r>
            <a:r>
              <a:rPr b="1" lang="pt-BR" sz="2500" spc="-1" strike="noStrike">
                <a:solidFill>
                  <a:srgbClr val="2e75b5"/>
                </a:solidFill>
                <a:latin typeface="Montserrat"/>
                <a:ea typeface="Montserrat"/>
              </a:rPr>
              <a:t>THEN </a:t>
            </a:r>
            <a:r>
              <a:rPr b="0" lang="pt-BR" sz="2500" spc="-1" strike="noStrike">
                <a:solidFill>
                  <a:srgbClr val="e69138"/>
                </a:solidFill>
                <a:latin typeface="Montserrat"/>
                <a:ea typeface="Montserrat"/>
              </a:rPr>
              <a:t>‘alto’</a:t>
            </a:r>
            <a:r>
              <a:rPr b="0" lang="pt-BR" sz="2500" spc="-1" strike="noStrike">
                <a:solidFill>
                  <a:srgbClr val="548135"/>
                </a:solidFill>
                <a:latin typeface="Montserrat"/>
                <a:ea typeface="Montserrat"/>
              </a:rPr>
              <a:t> </a:t>
            </a:r>
            <a:r>
              <a:rPr b="1" lang="pt-BR" sz="2500" spc="-1" strike="noStrike">
                <a:solidFill>
                  <a:srgbClr val="2e75b5"/>
                </a:solidFill>
                <a:latin typeface="Montserrat"/>
                <a:ea typeface="Montserrat"/>
              </a:rPr>
              <a:t>END </a:t>
            </a:r>
            <a:r>
              <a:rPr b="0" lang="pt-BR" sz="2500" spc="-1" strike="noStrike">
                <a:solidFill>
                  <a:srgbClr val="333333"/>
                </a:solidFill>
                <a:latin typeface="Montserrat"/>
                <a:ea typeface="Montserrat"/>
              </a:rPr>
              <a:t>AS </a:t>
            </a:r>
            <a:r>
              <a:rPr b="0" lang="pt-BR" sz="2500" spc="-1" strike="noStrike">
                <a:solidFill>
                  <a:srgbClr val="548135"/>
                </a:solidFill>
                <a:latin typeface="Montserrat"/>
                <a:ea typeface="Montserrat"/>
              </a:rPr>
              <a:t>NivelPontos</a:t>
            </a:r>
            <a:endParaRPr b="0" lang="pt-BR" sz="2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lang="pt-BR" sz="2500" spc="-1" strike="noStrike">
                <a:solidFill>
                  <a:srgbClr val="2e75b5"/>
                </a:solidFill>
                <a:latin typeface="Montserrat"/>
                <a:ea typeface="Montserrat"/>
              </a:rPr>
              <a:t>FROM</a:t>
            </a:r>
            <a:r>
              <a:rPr b="0" lang="pt-BR" sz="2500" spc="-1" strike="noStrike">
                <a:solidFill>
                  <a:srgbClr val="2e75b5"/>
                </a:solidFill>
                <a:latin typeface="Montserrat"/>
                <a:ea typeface="Montserrat"/>
              </a:rPr>
              <a:t> </a:t>
            </a:r>
            <a:r>
              <a:rPr b="1" lang="pt-BR" sz="2500" spc="-1" strike="noStrike">
                <a:solidFill>
                  <a:srgbClr val="ff0000"/>
                </a:solidFill>
                <a:latin typeface="Montserrat"/>
                <a:ea typeface="Montserrat"/>
              </a:rPr>
              <a:t>cliente</a:t>
            </a:r>
            <a:endParaRPr b="0" lang="pt-BR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596;p57"/>
          <p:cNvSpPr/>
          <p:nvPr/>
        </p:nvSpPr>
        <p:spPr>
          <a:xfrm>
            <a:off x="349560" y="2307600"/>
            <a:ext cx="11492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457200" indent="-368280" algn="just">
              <a:lnSpc>
                <a:spcPct val="150000"/>
              </a:lnSpc>
              <a:buClr>
                <a:srgbClr val="000000"/>
              </a:buClr>
              <a:buFont typeface="Montserrat"/>
              <a:buChar char="●"/>
            </a:pPr>
            <a:r>
              <a:rPr b="0" lang="pt-BR" sz="2200" spc="-1" strike="noStrike">
                <a:solidFill>
                  <a:schemeClr val="dk1"/>
                </a:solidFill>
                <a:highlight>
                  <a:srgbClr val="ffff00"/>
                </a:highlight>
                <a:latin typeface="Montserrat"/>
                <a:ea typeface="Montserrat"/>
              </a:rPr>
              <a:t>Selecione todos os clientes com email cadastrado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Google Shape;597;p57"/>
          <p:cNvSpPr/>
          <p:nvPr/>
        </p:nvSpPr>
        <p:spPr>
          <a:xfrm>
            <a:off x="349560" y="3328560"/>
            <a:ext cx="10919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457200" indent="-368280" algn="just">
              <a:lnSpc>
                <a:spcPct val="150000"/>
              </a:lnSpc>
              <a:buClr>
                <a:srgbClr val="000000"/>
              </a:buClr>
              <a:buFont typeface="Montserrat"/>
              <a:buChar char="●"/>
            </a:pPr>
            <a:r>
              <a:rPr b="0" lang="pt-BR" sz="2200" spc="-1" strike="noStrike">
                <a:solidFill>
                  <a:schemeClr val="dk1"/>
                </a:solidFill>
                <a:highlight>
                  <a:srgbClr val="ffff00"/>
                </a:highlight>
                <a:latin typeface="Montserrat"/>
                <a:ea typeface="Montserrat"/>
              </a:rPr>
              <a:t>Selecione todas transações de 50 pontos (exatos)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Google Shape;598;p57"/>
          <p:cNvSpPr/>
          <p:nvPr/>
        </p:nvSpPr>
        <p:spPr>
          <a:xfrm>
            <a:off x="349560" y="4349880"/>
            <a:ext cx="10919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457200" indent="-368280" algn="just">
              <a:lnSpc>
                <a:spcPct val="150000"/>
              </a:lnSpc>
              <a:buClr>
                <a:srgbClr val="000000"/>
              </a:buClr>
              <a:buFont typeface="Montserrat"/>
              <a:buChar char="●"/>
            </a:pPr>
            <a:r>
              <a:rPr b="0" lang="pt-BR" sz="2200" spc="-1" strike="noStrike">
                <a:solidFill>
                  <a:schemeClr val="dk1"/>
                </a:solidFill>
                <a:highlight>
                  <a:srgbClr val="ffff00"/>
                </a:highlight>
                <a:latin typeface="Montserrat"/>
                <a:ea typeface="Montserrat"/>
              </a:rPr>
              <a:t>Selecione todos clientes com mais de 500 pontos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Google Shape;599;p57"/>
          <p:cNvSpPr/>
          <p:nvPr/>
        </p:nvSpPr>
        <p:spPr>
          <a:xfrm>
            <a:off x="349560" y="5370840"/>
            <a:ext cx="10919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457200" indent="-368280" algn="just">
              <a:lnSpc>
                <a:spcPct val="150000"/>
              </a:lnSpc>
              <a:buClr>
                <a:srgbClr val="000000"/>
              </a:buClr>
              <a:buFont typeface="Montserrat"/>
              <a:buChar char="●"/>
            </a:pPr>
            <a:r>
              <a:rPr b="0" lang="pt-BR" sz="2200" spc="-1" strike="noStrike">
                <a:solidFill>
                  <a:schemeClr val="dk1"/>
                </a:solidFill>
                <a:highlight>
                  <a:srgbClr val="ffff00"/>
                </a:highlight>
                <a:latin typeface="Montserrat"/>
                <a:ea typeface="Montserrat"/>
              </a:rPr>
              <a:t>Selecione produtos que contêm ‘churn’ no nome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Google Shape;600;p57"/>
          <p:cNvSpPr/>
          <p:nvPr/>
        </p:nvSpPr>
        <p:spPr>
          <a:xfrm>
            <a:off x="699120" y="417960"/>
            <a:ext cx="10018800" cy="10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200" spc="-1" strike="noStrike">
                <a:solidFill>
                  <a:schemeClr val="dk1"/>
                </a:solidFill>
                <a:latin typeface="Montserrat"/>
                <a:ea typeface="Montserrat"/>
              </a:rPr>
              <a:t>Bora praticar?</a:t>
            </a:r>
            <a:endParaRPr b="0" lang="pt-BR" sz="4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  <p:timing>
    <p:tnLst>
      <p:par>
        <p:cTn id="96" dur="indefinite" restart="never" nodeType="tmRoot">
          <p:childTnLst>
            <p:seq>
              <p:cTn id="97" dur="indefinite" nodeType="mainSeq">
                <p:childTnLst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2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8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1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606;p58"/>
          <p:cNvSpPr/>
          <p:nvPr/>
        </p:nvSpPr>
        <p:spPr>
          <a:xfrm>
            <a:off x="620640" y="501480"/>
            <a:ext cx="10018800" cy="10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200" spc="-1" strike="noStrike">
                <a:solidFill>
                  <a:schemeClr val="dk1"/>
                </a:solidFill>
                <a:latin typeface="Montserrat"/>
                <a:ea typeface="Montserrat"/>
              </a:rPr>
              <a:t>Tempo de foco</a:t>
            </a:r>
            <a:endParaRPr b="0" lang="pt-BR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Google Shape;607;p58"/>
          <p:cNvSpPr/>
          <p:nvPr/>
        </p:nvSpPr>
        <p:spPr>
          <a:xfrm>
            <a:off x="629280" y="1681560"/>
            <a:ext cx="10932840" cy="52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2200" spc="-1" strike="noStrike">
                <a:solidFill>
                  <a:schemeClr val="dk1"/>
                </a:solidFill>
                <a:highlight>
                  <a:srgbClr val="ffff00"/>
                </a:highlight>
                <a:latin typeface="Montserrat"/>
                <a:ea typeface="Montserrat"/>
              </a:rPr>
              <a:t>Lista de transações com apenas 1 ponto;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2200" spc="-1" strike="noStrike">
                <a:solidFill>
                  <a:schemeClr val="dk1"/>
                </a:solidFill>
                <a:highlight>
                  <a:srgbClr val="ffff00"/>
                </a:highlight>
                <a:latin typeface="Montserrat"/>
                <a:ea typeface="Montserrat"/>
              </a:rPr>
              <a:t>Lista de pedidos realizados no fim de semana;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2200" spc="-1" strike="noStrike">
                <a:solidFill>
                  <a:schemeClr val="dk1"/>
                </a:solidFill>
                <a:highlight>
                  <a:srgbClr val="ffff00"/>
                </a:highlight>
                <a:latin typeface="Montserrat"/>
                <a:ea typeface="Montserrat"/>
              </a:rPr>
              <a:t>Lista de clientes com 0 (zero) pontos;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2200" spc="-1" strike="noStrike">
                <a:solidFill>
                  <a:schemeClr val="dk1"/>
                </a:solidFill>
                <a:highlight>
                  <a:srgbClr val="ffff00"/>
                </a:highlight>
                <a:latin typeface="Montserrat"/>
                <a:ea typeface="Montserrat"/>
              </a:rPr>
              <a:t>Lista de clientes com 100 a 200 pontos (inclusive ambos);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2200" spc="-1" strike="noStrike">
                <a:solidFill>
                  <a:schemeClr val="dk1"/>
                </a:solidFill>
                <a:highlight>
                  <a:srgbClr val="ffff00"/>
                </a:highlight>
                <a:latin typeface="Montserrat"/>
                <a:ea typeface="Montserrat"/>
              </a:rPr>
              <a:t>Lista de produtos com nome que começa com “Venda de”;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2200" spc="-1" strike="noStrike">
                <a:solidFill>
                  <a:schemeClr val="dk1"/>
                </a:solidFill>
                <a:highlight>
                  <a:srgbClr val="ffff00"/>
                </a:highlight>
                <a:latin typeface="Montserrat"/>
                <a:ea typeface="Montserrat"/>
              </a:rPr>
              <a:t>Lista de produtos com nome que termina com “Lover”;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2200" spc="-1" strike="noStrike">
                <a:solidFill>
                  <a:schemeClr val="dk1"/>
                </a:solidFill>
                <a:highlight>
                  <a:srgbClr val="ffff00"/>
                </a:highlight>
                <a:latin typeface="Montserrat"/>
                <a:ea typeface="Montserrat"/>
              </a:rPr>
              <a:t>Lista de produtos que são “chapéu”;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2200" spc="-1" strike="noStrike">
                <a:solidFill>
                  <a:schemeClr val="dk1"/>
                </a:solidFill>
                <a:highlight>
                  <a:srgbClr val="ffff00"/>
                </a:highlight>
                <a:latin typeface="Montserrat"/>
                <a:ea typeface="Montserrat"/>
              </a:rPr>
              <a:t>Lista de transações com o produto “Resgatar Ponei”;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Listar todas as transações adicionando uma coluna nova sinalizando “alto”, “médio” e “baixo” para o valor dos pontos [&lt;10 ; &lt;500; &gt;=500]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612;p59"/>
          <p:cNvSpPr/>
          <p:nvPr/>
        </p:nvSpPr>
        <p:spPr>
          <a:xfrm>
            <a:off x="762480" y="710640"/>
            <a:ext cx="366912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Agregações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Google Shape;613;p59"/>
          <p:cNvSpPr/>
          <p:nvPr/>
        </p:nvSpPr>
        <p:spPr>
          <a:xfrm>
            <a:off x="949320" y="1729800"/>
            <a:ext cx="975888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Em muitos momentos desejamos alguns dados sumarizados, como por exemplo: contagem, média, variância, mínimo, máximo, etc.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Google Shape;614;p59"/>
          <p:cNvSpPr/>
          <p:nvPr/>
        </p:nvSpPr>
        <p:spPr>
          <a:xfrm>
            <a:off x="949320" y="3235320"/>
            <a:ext cx="10645920" cy="30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600" spc="-1" strike="noStrike">
                <a:solidFill>
                  <a:srgbClr val="e69138"/>
                </a:solidFill>
                <a:latin typeface="Montserrat"/>
                <a:ea typeface="Montserrat"/>
              </a:rPr>
              <a:t>Contagem de linhas:</a:t>
            </a:r>
            <a:r>
              <a:rPr b="0" lang="pt-BR" sz="2600" spc="-1" strike="noStrike">
                <a:solidFill>
                  <a:schemeClr val="dk1"/>
                </a:solidFill>
                <a:latin typeface="Montserrat"/>
                <a:ea typeface="Montserrat"/>
              </a:rPr>
              <a:t> </a:t>
            </a:r>
            <a:r>
              <a:rPr b="0" lang="pt-BR" sz="2600" spc="-1" strike="noStrike">
                <a:solidFill>
                  <a:srgbClr val="38761d"/>
                </a:solidFill>
                <a:latin typeface="Montserrat"/>
                <a:ea typeface="Montserrat"/>
              </a:rPr>
              <a:t>count(*)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600" spc="-1" strike="noStrike">
                <a:solidFill>
                  <a:srgbClr val="e69138"/>
                </a:solidFill>
                <a:latin typeface="Montserrat"/>
                <a:ea typeface="Montserrat"/>
              </a:rPr>
              <a:t>Contagem de linhas distintas:</a:t>
            </a:r>
            <a:r>
              <a:rPr b="0" lang="pt-BR" sz="2600" spc="-1" strike="noStrike">
                <a:solidFill>
                  <a:schemeClr val="dk1"/>
                </a:solidFill>
                <a:latin typeface="Montserrat"/>
                <a:ea typeface="Montserrat"/>
              </a:rPr>
              <a:t> </a:t>
            </a:r>
            <a:r>
              <a:rPr b="0" lang="pt-BR" sz="2600" spc="-1" strike="noStrike">
                <a:solidFill>
                  <a:srgbClr val="38761d"/>
                </a:solidFill>
                <a:latin typeface="Montserrat"/>
                <a:ea typeface="Montserrat"/>
              </a:rPr>
              <a:t>count(distinct column)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600" spc="-1" strike="noStrike">
                <a:solidFill>
                  <a:srgbClr val="e69138"/>
                </a:solidFill>
                <a:latin typeface="Montserrat"/>
                <a:ea typeface="Montserrat"/>
              </a:rPr>
              <a:t>Soma:</a:t>
            </a:r>
            <a:r>
              <a:rPr b="0" lang="pt-BR" sz="2600" spc="-1" strike="noStrike">
                <a:solidFill>
                  <a:schemeClr val="dk1"/>
                </a:solidFill>
                <a:latin typeface="Montserrat"/>
                <a:ea typeface="Montserrat"/>
              </a:rPr>
              <a:t> </a:t>
            </a:r>
            <a:r>
              <a:rPr b="0" lang="pt-BR" sz="2600" spc="-1" strike="noStrike">
                <a:solidFill>
                  <a:srgbClr val="38761d"/>
                </a:solidFill>
                <a:latin typeface="Montserrat"/>
                <a:ea typeface="Montserrat"/>
              </a:rPr>
              <a:t>sum(column)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600" spc="-1" strike="noStrike">
                <a:solidFill>
                  <a:srgbClr val="e69138"/>
                </a:solidFill>
                <a:latin typeface="Montserrat"/>
                <a:ea typeface="Montserrat"/>
              </a:rPr>
              <a:t>Média:</a:t>
            </a:r>
            <a:r>
              <a:rPr b="0" lang="pt-BR" sz="2600" spc="-1" strike="noStrike">
                <a:solidFill>
                  <a:schemeClr val="dk1"/>
                </a:solidFill>
                <a:latin typeface="Montserrat"/>
                <a:ea typeface="Montserrat"/>
              </a:rPr>
              <a:t> </a:t>
            </a:r>
            <a:r>
              <a:rPr b="0" lang="pt-BR" sz="2600" spc="-1" strike="noStrike">
                <a:solidFill>
                  <a:srgbClr val="38761d"/>
                </a:solidFill>
                <a:latin typeface="Montserrat"/>
                <a:ea typeface="Montserrat"/>
              </a:rPr>
              <a:t>avg(column)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600" spc="-1" strike="noStrike">
                <a:solidFill>
                  <a:srgbClr val="e69138"/>
                </a:solidFill>
                <a:latin typeface="Montserrat"/>
                <a:ea typeface="Montserrat"/>
              </a:rPr>
              <a:t>Máximo:</a:t>
            </a:r>
            <a:r>
              <a:rPr b="0" lang="pt-BR" sz="2600" spc="-1" strike="noStrike">
                <a:solidFill>
                  <a:schemeClr val="dk1"/>
                </a:solidFill>
                <a:latin typeface="Montserrat"/>
                <a:ea typeface="Montserrat"/>
              </a:rPr>
              <a:t> </a:t>
            </a:r>
            <a:r>
              <a:rPr b="0" lang="pt-BR" sz="2600" spc="-1" strike="noStrike">
                <a:solidFill>
                  <a:srgbClr val="38761d"/>
                </a:solidFill>
                <a:latin typeface="Montserrat"/>
                <a:ea typeface="Montserrat"/>
              </a:rPr>
              <a:t>max(column)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619;p60"/>
          <p:cNvSpPr/>
          <p:nvPr/>
        </p:nvSpPr>
        <p:spPr>
          <a:xfrm>
            <a:off x="762480" y="710640"/>
            <a:ext cx="332712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pt-BR" sz="3200" spc="-1" strike="noStrike">
                <a:solidFill>
                  <a:schemeClr val="dk1"/>
                </a:solidFill>
                <a:latin typeface="Montserrat"/>
                <a:ea typeface="Montserrat"/>
              </a:rPr>
              <a:t>GROUP BY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Google Shape;620;p60"/>
          <p:cNvSpPr/>
          <p:nvPr/>
        </p:nvSpPr>
        <p:spPr>
          <a:xfrm>
            <a:off x="949320" y="1341720"/>
            <a:ext cx="9758880" cy="15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Será que temos uma forma melhor para sumarizar dados em diferentes níveis? 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Para isso, podemos AGREGAR os dados utilizando a instrução GROUP BY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Google Shape;621;p60"/>
          <p:cNvSpPr/>
          <p:nvPr/>
        </p:nvSpPr>
        <p:spPr>
          <a:xfrm>
            <a:off x="949320" y="3783960"/>
            <a:ext cx="8156520" cy="24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2e75b5"/>
                </a:solidFill>
                <a:latin typeface="Montserrat"/>
                <a:ea typeface="Montserrat"/>
              </a:rPr>
              <a:t>SELECT</a:t>
            </a:r>
            <a:r>
              <a:rPr b="0" lang="pt-BR" sz="2600" spc="-1" strike="noStrike">
                <a:solidFill>
                  <a:srgbClr val="2e75b5"/>
                </a:solidFill>
                <a:latin typeface="Montserrat"/>
                <a:ea typeface="Montserrat"/>
              </a:rPr>
              <a:t> </a:t>
            </a:r>
            <a:r>
              <a:rPr b="0" lang="pt-BR" sz="2600" spc="-1" strike="noStrike">
                <a:solidFill>
                  <a:srgbClr val="548135"/>
                </a:solidFill>
                <a:latin typeface="Montserrat"/>
                <a:ea typeface="Montserrat"/>
              </a:rPr>
              <a:t>idCliente,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600" spc="-1" strike="noStrike">
                <a:solidFill>
                  <a:srgbClr val="548135"/>
                </a:solidFill>
                <a:latin typeface="Montserrat"/>
                <a:ea typeface="Montserrat"/>
              </a:rPr>
              <a:t>               </a:t>
            </a:r>
            <a:r>
              <a:rPr b="1" lang="pt-BR" sz="2600" spc="-1" strike="noStrike">
                <a:solidFill>
                  <a:srgbClr val="1155cc"/>
                </a:solidFill>
                <a:latin typeface="Montserrat"/>
                <a:ea typeface="Montserrat"/>
              </a:rPr>
              <a:t>count</a:t>
            </a:r>
            <a:r>
              <a:rPr b="0" lang="pt-BR" sz="2600" spc="-1" strike="noStrike">
                <a:solidFill>
                  <a:srgbClr val="1155cc"/>
                </a:solidFill>
                <a:latin typeface="Montserrat"/>
                <a:ea typeface="Montserrat"/>
              </a:rPr>
              <a:t>(</a:t>
            </a:r>
            <a:r>
              <a:rPr b="0" lang="pt-BR" sz="2600" spc="-1" strike="noStrike">
                <a:solidFill>
                  <a:srgbClr val="548135"/>
                </a:solidFill>
                <a:latin typeface="Montserrat"/>
                <a:ea typeface="Montserrat"/>
              </a:rPr>
              <a:t> idTransacao </a:t>
            </a:r>
            <a:r>
              <a:rPr b="0" lang="pt-BR" sz="2600" spc="-1" strike="noStrike">
                <a:solidFill>
                  <a:srgbClr val="1155cc"/>
                </a:solidFill>
                <a:latin typeface="Montserrat"/>
                <a:ea typeface="Montserrat"/>
              </a:rPr>
              <a:t>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2e75b5"/>
                </a:solidFill>
                <a:latin typeface="Montserrat"/>
                <a:ea typeface="Montserrat"/>
              </a:rPr>
              <a:t>FROM</a:t>
            </a:r>
            <a:r>
              <a:rPr b="0" lang="pt-BR" sz="2600" spc="-1" strike="noStrike">
                <a:solidFill>
                  <a:srgbClr val="2e75b5"/>
                </a:solidFill>
                <a:latin typeface="Montserrat"/>
                <a:ea typeface="Montserrat"/>
              </a:rPr>
              <a:t> </a:t>
            </a:r>
            <a:r>
              <a:rPr b="1" lang="pt-BR" sz="2600" spc="-1" strike="noStrike">
                <a:solidFill>
                  <a:srgbClr val="ff0000"/>
                </a:solidFill>
                <a:latin typeface="Montserrat"/>
                <a:ea typeface="Montserrat"/>
              </a:rPr>
              <a:t>transacoes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2e75b5"/>
                </a:solidFill>
                <a:latin typeface="Montserrat"/>
                <a:ea typeface="Montserrat"/>
              </a:rPr>
              <a:t>GROUP BY</a:t>
            </a:r>
            <a:r>
              <a:rPr b="0" lang="pt-BR" sz="2600" spc="-1" strike="noStrike">
                <a:solidFill>
                  <a:schemeClr val="dk1"/>
                </a:solidFill>
                <a:latin typeface="Montserrat"/>
                <a:ea typeface="Montserrat"/>
              </a:rPr>
              <a:t> </a:t>
            </a:r>
            <a:r>
              <a:rPr b="0" lang="pt-BR" sz="2600" spc="-1" strike="noStrike">
                <a:solidFill>
                  <a:srgbClr val="548135"/>
                </a:solidFill>
                <a:latin typeface="Montserrat"/>
                <a:ea typeface="Montserrat"/>
              </a:rPr>
              <a:t>idCliente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626;p61"/>
          <p:cNvSpPr/>
          <p:nvPr/>
        </p:nvSpPr>
        <p:spPr>
          <a:xfrm>
            <a:off x="762480" y="710640"/>
            <a:ext cx="332712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pt-BR" sz="3200" spc="-1" strike="noStrike">
                <a:solidFill>
                  <a:schemeClr val="dk1"/>
                </a:solidFill>
                <a:latin typeface="Arial"/>
                <a:ea typeface="Arial"/>
              </a:rPr>
              <a:t>GROUP BY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Google Shape;627;p61"/>
          <p:cNvSpPr/>
          <p:nvPr/>
        </p:nvSpPr>
        <p:spPr>
          <a:xfrm>
            <a:off x="949320" y="1341720"/>
            <a:ext cx="975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chemeClr val="dk1"/>
                </a:solidFill>
                <a:latin typeface="Arial"/>
                <a:ea typeface="Arial"/>
              </a:rPr>
              <a:t>Qual a diferença da consulta anterior para essa?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Google Shape;628;p61"/>
          <p:cNvSpPr/>
          <p:nvPr/>
        </p:nvSpPr>
        <p:spPr>
          <a:xfrm>
            <a:off x="949320" y="2711520"/>
            <a:ext cx="8156520" cy="24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2e75b5"/>
                </a:solidFill>
                <a:latin typeface="Montserrat"/>
                <a:ea typeface="Montserrat"/>
              </a:rPr>
              <a:t>SELECT</a:t>
            </a:r>
            <a:r>
              <a:rPr b="0" lang="pt-BR" sz="2600" spc="-1" strike="noStrike">
                <a:solidFill>
                  <a:srgbClr val="2e75b5"/>
                </a:solidFill>
                <a:latin typeface="Montserrat"/>
                <a:ea typeface="Montserrat"/>
              </a:rPr>
              <a:t> </a:t>
            </a:r>
            <a:r>
              <a:rPr b="0" lang="pt-BR" sz="2600" spc="-1" strike="noStrike">
                <a:solidFill>
                  <a:srgbClr val="548135"/>
                </a:solidFill>
                <a:latin typeface="Montserrat"/>
                <a:ea typeface="Montserrat"/>
              </a:rPr>
              <a:t>idCliente,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600" spc="-1" strike="noStrike">
                <a:solidFill>
                  <a:srgbClr val="548135"/>
                </a:solidFill>
                <a:latin typeface="Montserrat"/>
                <a:ea typeface="Montserrat"/>
              </a:rPr>
              <a:t>               </a:t>
            </a:r>
            <a:r>
              <a:rPr b="1" lang="pt-BR" sz="2600" spc="-1" strike="noStrike">
                <a:solidFill>
                  <a:srgbClr val="1155cc"/>
                </a:solidFill>
                <a:latin typeface="Montserrat"/>
                <a:ea typeface="Montserrat"/>
              </a:rPr>
              <a:t>count</a:t>
            </a:r>
            <a:r>
              <a:rPr b="0" lang="pt-BR" sz="2600" spc="-1" strike="noStrike">
                <a:solidFill>
                  <a:srgbClr val="1155cc"/>
                </a:solidFill>
                <a:latin typeface="Montserrat"/>
                <a:ea typeface="Montserrat"/>
              </a:rPr>
              <a:t>(</a:t>
            </a:r>
            <a:r>
              <a:rPr b="1" lang="pt-BR" sz="2600" spc="-1" strike="noStrike">
                <a:solidFill>
                  <a:srgbClr val="1155cc"/>
                </a:solidFill>
                <a:latin typeface="Montserrat"/>
                <a:ea typeface="Montserrat"/>
              </a:rPr>
              <a:t>distinct</a:t>
            </a:r>
            <a:r>
              <a:rPr b="0" lang="pt-BR" sz="2600" spc="-1" strike="noStrike">
                <a:solidFill>
                  <a:srgbClr val="548135"/>
                </a:solidFill>
                <a:latin typeface="Montserrat"/>
                <a:ea typeface="Montserrat"/>
              </a:rPr>
              <a:t> idTransacao</a:t>
            </a:r>
            <a:r>
              <a:rPr b="0" lang="pt-BR" sz="2600" spc="-1" strike="noStrike">
                <a:solidFill>
                  <a:srgbClr val="1155cc"/>
                </a:solidFill>
                <a:latin typeface="Montserrat"/>
                <a:ea typeface="Montserrat"/>
              </a:rPr>
              <a:t>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2e75b5"/>
                </a:solidFill>
                <a:latin typeface="Montserrat"/>
                <a:ea typeface="Montserrat"/>
              </a:rPr>
              <a:t>FROM</a:t>
            </a:r>
            <a:r>
              <a:rPr b="0" lang="pt-BR" sz="2600" spc="-1" strike="noStrike">
                <a:solidFill>
                  <a:srgbClr val="2e75b5"/>
                </a:solidFill>
                <a:latin typeface="Montserrat"/>
                <a:ea typeface="Montserrat"/>
              </a:rPr>
              <a:t> </a:t>
            </a:r>
            <a:r>
              <a:rPr b="1" lang="pt-BR" sz="2600" spc="-1" strike="noStrike">
                <a:solidFill>
                  <a:srgbClr val="ff0000"/>
                </a:solidFill>
                <a:latin typeface="Montserrat"/>
                <a:ea typeface="Montserrat"/>
              </a:rPr>
              <a:t>transacoes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2e75b5"/>
                </a:solidFill>
                <a:latin typeface="Montserrat"/>
                <a:ea typeface="Montserrat"/>
              </a:rPr>
              <a:t>GROUP BY</a:t>
            </a:r>
            <a:r>
              <a:rPr b="0" lang="pt-BR" sz="2600" spc="-1" strike="noStrike">
                <a:solidFill>
                  <a:schemeClr val="dk1"/>
                </a:solidFill>
                <a:latin typeface="Montserrat"/>
                <a:ea typeface="Montserrat"/>
              </a:rPr>
              <a:t> </a:t>
            </a:r>
            <a:r>
              <a:rPr b="0" lang="pt-BR" sz="2600" spc="-1" strike="noStrike">
                <a:solidFill>
                  <a:srgbClr val="548135"/>
                </a:solidFill>
                <a:latin typeface="Montserrat"/>
                <a:ea typeface="Montserrat"/>
              </a:rPr>
              <a:t>idCliente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633;p62"/>
          <p:cNvSpPr/>
          <p:nvPr/>
        </p:nvSpPr>
        <p:spPr>
          <a:xfrm>
            <a:off x="1558440" y="3240"/>
            <a:ext cx="10018800" cy="10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200" spc="-1" strike="noStrike">
                <a:solidFill>
                  <a:schemeClr val="dk1"/>
                </a:solidFill>
                <a:latin typeface="Arial"/>
                <a:ea typeface="Arial"/>
              </a:rPr>
              <a:t>Bora praticar?</a:t>
            </a:r>
            <a:endParaRPr b="0" lang="pt-BR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Google Shape;634;p62"/>
          <p:cNvSpPr/>
          <p:nvPr/>
        </p:nvSpPr>
        <p:spPr>
          <a:xfrm>
            <a:off x="4770720" y="1406880"/>
            <a:ext cx="6592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285840" indent="-28584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Arial"/>
                <a:ea typeface="Arial"/>
              </a:rPr>
              <a:t>Qual o saldo de pontos total do sistema?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Google Shape;635;p62"/>
          <p:cNvSpPr/>
          <p:nvPr/>
        </p:nvSpPr>
        <p:spPr>
          <a:xfrm>
            <a:off x="6348240" y="2653200"/>
            <a:ext cx="4924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285840" indent="-285840" algn="just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Arial"/>
                <a:ea typeface="Arial"/>
              </a:rPr>
              <a:t>Quantos pontos já foram subtraídos dos clientes?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Google Shape;636;p62"/>
          <p:cNvSpPr/>
          <p:nvPr/>
        </p:nvSpPr>
        <p:spPr>
          <a:xfrm>
            <a:off x="7262280" y="4133520"/>
            <a:ext cx="40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285840" indent="-285840" algn="r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Arial"/>
                <a:ea typeface="Arial"/>
              </a:rPr>
              <a:t>Quantos clientes tem Twitch?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Google Shape;637;p62"/>
          <p:cNvSpPr/>
          <p:nvPr/>
        </p:nvSpPr>
        <p:spPr>
          <a:xfrm>
            <a:off x="8047440" y="5202720"/>
            <a:ext cx="4003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285840" indent="-285840" algn="r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Arial"/>
                <a:ea typeface="Arial"/>
              </a:rPr>
              <a:t>Qual a média de saldo em carteira?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  <p:timing>
    <p:tnLst>
      <p:par>
        <p:cTn id="112" dur="indefinite" restart="never" nodeType="tmRoot">
          <p:childTnLst>
            <p:seq>
              <p:cTn id="113" dur="indefinite" nodeType="mainSeq">
                <p:childTnLst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8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1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643;p63"/>
          <p:cNvSpPr/>
          <p:nvPr/>
        </p:nvSpPr>
        <p:spPr>
          <a:xfrm>
            <a:off x="629280" y="2112840"/>
            <a:ext cx="10932840" cy="42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2200" spc="-1" strike="noStrike">
                <a:solidFill>
                  <a:srgbClr val="000000"/>
                </a:solidFill>
                <a:latin typeface="Montserrat"/>
                <a:ea typeface="Montserrat"/>
              </a:rPr>
              <a:t>Quantos clientes tem email cadastrado?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2200" spc="-1" strike="noStrike">
                <a:solidFill>
                  <a:srgbClr val="000000"/>
                </a:solidFill>
                <a:latin typeface="Montserrat"/>
                <a:ea typeface="Montserrat"/>
              </a:rPr>
              <a:t>Qual cliente juntou mais pontos positivos em 2025-05?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2200" spc="-1" strike="noStrike">
                <a:solidFill>
                  <a:srgbClr val="000000"/>
                </a:solidFill>
                <a:latin typeface="Montserrat"/>
                <a:ea typeface="Montserrat"/>
              </a:rPr>
              <a:t>Qual cliente fez mais transações no ano de 2024?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2200" spc="-1" strike="noStrike">
                <a:solidFill>
                  <a:srgbClr val="000000"/>
                </a:solidFill>
                <a:latin typeface="Montserrat"/>
                <a:ea typeface="Montserrat"/>
              </a:rPr>
              <a:t>Quantos produtos são de rpg?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Qual o valor médio de pontos positivos por dia?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Qual dia da semana quem mais pedidos em 2025?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Qual o produto mais transacionado?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2200" spc="-1" strike="noStrike">
                <a:solidFill>
                  <a:schemeClr val="dk1"/>
                </a:solidFill>
                <a:latin typeface="Montserrat"/>
                <a:ea typeface="Montserrat"/>
              </a:rPr>
              <a:t>Qual o produto com mais pontos transacionados?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Google Shape;644;p63"/>
          <p:cNvSpPr/>
          <p:nvPr/>
        </p:nvSpPr>
        <p:spPr>
          <a:xfrm>
            <a:off x="620640" y="501480"/>
            <a:ext cx="10018800" cy="10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200" spc="-1" strike="noStrike">
                <a:solidFill>
                  <a:schemeClr val="dk1"/>
                </a:solidFill>
                <a:latin typeface="Montserrat"/>
                <a:ea typeface="Montserrat"/>
              </a:rPr>
              <a:t>Tempo de foco </a:t>
            </a:r>
            <a:r>
              <a:rPr b="1" lang="pt-BR" sz="3500" spc="-1" strike="noStrike">
                <a:solidFill>
                  <a:schemeClr val="dk1"/>
                </a:solidFill>
                <a:latin typeface="Montserrat"/>
                <a:ea typeface="Montserrat"/>
              </a:rPr>
              <a:t>(Group By)</a:t>
            </a:r>
            <a:endParaRPr b="0" lang="pt-BR" sz="3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649;p64"/>
          <p:cNvSpPr/>
          <p:nvPr/>
        </p:nvSpPr>
        <p:spPr>
          <a:xfrm>
            <a:off x="762480" y="710640"/>
            <a:ext cx="202212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pt-BR" sz="3200" spc="-1" strike="noStrike">
                <a:solidFill>
                  <a:schemeClr val="dk1"/>
                </a:solidFill>
                <a:latin typeface="Arial"/>
                <a:ea typeface="Arial"/>
              </a:rPr>
              <a:t>JOIN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Google Shape;650;p64"/>
          <p:cNvSpPr/>
          <p:nvPr/>
        </p:nvSpPr>
        <p:spPr>
          <a:xfrm>
            <a:off x="949320" y="1341720"/>
            <a:ext cx="9758880" cy="31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chemeClr val="dk1"/>
                </a:solidFill>
                <a:latin typeface="Arial"/>
                <a:ea typeface="Arial"/>
              </a:rPr>
              <a:t>Como podemos cruzar dados de diferentes tabelas para obter informações mais interessantes a respeito de nossas vendas?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chemeClr val="dk1"/>
                </a:solidFill>
                <a:latin typeface="Arial"/>
                <a:ea typeface="Arial"/>
              </a:rPr>
              <a:t>Por exemplo, quantidade de vendas realizadas por vendedores do Ceará?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chemeClr val="dk1"/>
                </a:solidFill>
                <a:latin typeface="Arial"/>
                <a:ea typeface="Arial"/>
              </a:rPr>
              <a:t>Para isso, teremos que aprender os diferentes tipos de JOINs: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chemeClr val="dk1"/>
                </a:solidFill>
                <a:latin typeface="Arial"/>
                <a:ea typeface="Arial"/>
              </a:rPr>
              <a:t>LEFT, RIGHT, INNER...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655;p65" descr=""/>
          <p:cNvPicPr/>
          <p:nvPr/>
        </p:nvPicPr>
        <p:blipFill>
          <a:blip r:embed="rId1"/>
          <a:stretch/>
        </p:blipFill>
        <p:spPr>
          <a:xfrm>
            <a:off x="1821960" y="66600"/>
            <a:ext cx="8547840" cy="6724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660;p66"/>
          <p:cNvSpPr/>
          <p:nvPr/>
        </p:nvSpPr>
        <p:spPr>
          <a:xfrm>
            <a:off x="1710720" y="155520"/>
            <a:ext cx="10018800" cy="10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200" spc="-1" strike="noStrike">
                <a:solidFill>
                  <a:schemeClr val="dk1"/>
                </a:solidFill>
                <a:latin typeface="Arial"/>
                <a:ea typeface="Arial"/>
              </a:rPr>
              <a:t>Bora praticar?</a:t>
            </a:r>
            <a:endParaRPr b="0" lang="pt-BR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Google Shape;661;p66"/>
          <p:cNvSpPr/>
          <p:nvPr/>
        </p:nvSpPr>
        <p:spPr>
          <a:xfrm>
            <a:off x="5137200" y="1285200"/>
            <a:ext cx="6592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285840" indent="-285840" algn="just">
              <a:lnSpc>
                <a:spcPct val="150000"/>
              </a:lnSpc>
              <a:buClr>
                <a:srgbClr val="000000"/>
              </a:buClr>
              <a:buFont typeface="Montserrat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Qual categoria tem mais produtos vendidos?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Google Shape;662;p66"/>
          <p:cNvSpPr/>
          <p:nvPr/>
        </p:nvSpPr>
        <p:spPr>
          <a:xfrm>
            <a:off x="6125760" y="2136240"/>
            <a:ext cx="4924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285840" indent="-285840" algn="just">
              <a:lnSpc>
                <a:spcPct val="150000"/>
              </a:lnSpc>
              <a:buClr>
                <a:srgbClr val="000000"/>
              </a:buClr>
              <a:buFont typeface="Montserrat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Em 2024, quantas transações de Lovers tivemos?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Google Shape;663;p66"/>
          <p:cNvSpPr/>
          <p:nvPr/>
        </p:nvSpPr>
        <p:spPr>
          <a:xfrm>
            <a:off x="7371000" y="3448800"/>
            <a:ext cx="4173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285840" indent="-285840" algn="just">
              <a:lnSpc>
                <a:spcPct val="150000"/>
              </a:lnSpc>
              <a:buClr>
                <a:srgbClr val="000000"/>
              </a:buClr>
              <a:buFont typeface="Montserrat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Qual mês tivemos mais lista de presença assinada?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Google Shape;664;p66"/>
          <p:cNvSpPr/>
          <p:nvPr/>
        </p:nvSpPr>
        <p:spPr>
          <a:xfrm>
            <a:off x="8619120" y="4761720"/>
            <a:ext cx="337356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285840" indent="-285840" algn="r">
              <a:lnSpc>
                <a:spcPct val="150000"/>
              </a:lnSpc>
              <a:buClr>
                <a:srgbClr val="000000"/>
              </a:buClr>
              <a:buFont typeface="Montserrat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Montserrat"/>
                <a:ea typeface="Montserrat"/>
              </a:rPr>
              <a:t>Qual o total de pontos trocados no Stream Elements em Junho de 2025?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670;p67"/>
          <p:cNvSpPr/>
          <p:nvPr/>
        </p:nvSpPr>
        <p:spPr>
          <a:xfrm>
            <a:off x="620640" y="120600"/>
            <a:ext cx="10018800" cy="10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200" spc="-1" strike="noStrike">
                <a:solidFill>
                  <a:schemeClr val="dk1"/>
                </a:solidFill>
                <a:latin typeface="Montserrat"/>
                <a:ea typeface="Montserrat"/>
              </a:rPr>
              <a:t>Tempo de foco</a:t>
            </a:r>
            <a:endParaRPr b="0" lang="pt-BR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Google Shape;671;p67"/>
          <p:cNvSpPr/>
          <p:nvPr/>
        </p:nvSpPr>
        <p:spPr>
          <a:xfrm>
            <a:off x="629280" y="1198440"/>
            <a:ext cx="10932840" cy="52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2200" spc="-1" strike="noStrike">
                <a:solidFill>
                  <a:srgbClr val="000000"/>
                </a:solidFill>
                <a:highlight>
                  <a:srgbClr val="d9ead3"/>
                </a:highlight>
                <a:latin typeface="Montserrat"/>
                <a:ea typeface="Montserrat"/>
              </a:rPr>
              <a:t>Quais clientes mais perderam pontos por Lover?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2200" spc="-1" strike="noStrike">
                <a:solidFill>
                  <a:srgbClr val="000000"/>
                </a:solidFill>
                <a:highlight>
                  <a:srgbClr val="d9ead3"/>
                </a:highlight>
                <a:latin typeface="Montserrat"/>
                <a:ea typeface="Montserrat"/>
              </a:rPr>
              <a:t>Quais clientes assinaram a lista de presença no dia 2025/08/25?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2200" spc="-1" strike="noStrike">
                <a:solidFill>
                  <a:srgbClr val="000000"/>
                </a:solidFill>
                <a:highlight>
                  <a:srgbClr val="d9ead3"/>
                </a:highlight>
                <a:latin typeface="Montserrat"/>
                <a:ea typeface="Montserrat"/>
              </a:rPr>
              <a:t>Do início ao fim do nosso curso (2025/08/25 a 2025/08/29), quantos clientes assinaram a lista de presença?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2200" spc="-1" strike="noStrike">
                <a:solidFill>
                  <a:srgbClr val="000000"/>
                </a:solidFill>
                <a:highlight>
                  <a:srgbClr val="d9ead3"/>
                </a:highlight>
                <a:latin typeface="Montserrat"/>
                <a:ea typeface="Montserrat"/>
              </a:rPr>
              <a:t>Clientes mais antigos, tem mais frequência de transação?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2200" spc="-1" strike="noStrike">
                <a:solidFill>
                  <a:srgbClr val="000000"/>
                </a:solidFill>
                <a:highlight>
                  <a:srgbClr val="d9ead3"/>
                </a:highlight>
                <a:latin typeface="Montserrat"/>
                <a:ea typeface="Montserrat"/>
              </a:rPr>
              <a:t>Quantidade de transações Acumuladas ao longo do tempo?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2200" spc="-1" strike="noStrike">
                <a:solidFill>
                  <a:srgbClr val="000000"/>
                </a:solidFill>
                <a:highlight>
                  <a:srgbClr val="d9ead3"/>
                </a:highlight>
                <a:latin typeface="Montserrat"/>
                <a:ea typeface="Montserrat"/>
              </a:rPr>
              <a:t>Quantidade de usuários cadastrados (absoluto e acumulado) ao longo do tempo?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2200" spc="-1" strike="noStrike">
                <a:solidFill>
                  <a:srgbClr val="000000"/>
                </a:solidFill>
                <a:highlight>
                  <a:srgbClr val="d9ead3"/>
                </a:highlight>
                <a:latin typeface="Montserrat"/>
                <a:ea typeface="Montserrat"/>
              </a:rPr>
              <a:t>Qual o dia da semana mais ativo de cada usuário?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pt-BR" sz="2200" spc="-1" strike="noStrike">
                <a:solidFill>
                  <a:srgbClr val="000000"/>
                </a:solidFill>
                <a:highlight>
                  <a:srgbClr val="d9ead3"/>
                </a:highlight>
                <a:latin typeface="Montserrat"/>
                <a:ea typeface="Montserrat"/>
              </a:rPr>
              <a:t>Saldo de pontos acumulado de cada usuário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677;p68"/>
          <p:cNvSpPr/>
          <p:nvPr/>
        </p:nvSpPr>
        <p:spPr>
          <a:xfrm>
            <a:off x="620640" y="120600"/>
            <a:ext cx="10018800" cy="10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200" spc="-1" strike="noStrike">
                <a:solidFill>
                  <a:schemeClr val="dk1"/>
                </a:solidFill>
                <a:latin typeface="Montserrat"/>
                <a:ea typeface="Montserrat"/>
              </a:rPr>
              <a:t>Tempo de foco</a:t>
            </a:r>
            <a:endParaRPr b="0" lang="pt-BR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Google Shape;678;p68"/>
          <p:cNvSpPr/>
          <p:nvPr/>
        </p:nvSpPr>
        <p:spPr>
          <a:xfrm>
            <a:off x="629280" y="1198440"/>
            <a:ext cx="10932840" cy="31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rgbClr val="000000"/>
                </a:solidFill>
                <a:highlight>
                  <a:srgbClr val="d9ead3"/>
                </a:highlight>
                <a:latin typeface="Montserrat"/>
                <a:ea typeface="Montserrat"/>
              </a:rPr>
              <a:t>9. Dos clientes que começaram SQL no primeiro dia, quantos chegaram ao 5o dia?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rgbClr val="000000"/>
                </a:solidFill>
                <a:highlight>
                  <a:srgbClr val="d9ead3"/>
                </a:highlight>
                <a:latin typeface="Montserrat"/>
                <a:ea typeface="Montserrat"/>
              </a:rPr>
              <a:t>10. Como foi a curva de Churn do Curso de SQL?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rgbClr val="000000"/>
                </a:solidFill>
                <a:highlight>
                  <a:srgbClr val="d9ead3"/>
                </a:highlight>
                <a:latin typeface="Montserrat"/>
                <a:ea typeface="Montserrat"/>
              </a:rPr>
              <a:t>11. Quem iniciou o curso no primeiro dia, em média assistiu quantas aulas?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rgbClr val="000000"/>
                </a:solidFill>
                <a:highlight>
                  <a:srgbClr val="d9ead3"/>
                </a:highlight>
                <a:latin typeface="Montserrat"/>
                <a:ea typeface="Montserrat"/>
              </a:rPr>
              <a:t>12. Dentre os clientes de janeiro/2025, quantos assistiram o curso de SQL?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rgbClr val="000000"/>
                </a:solidFill>
                <a:highlight>
                  <a:srgbClr val="d9ead3"/>
                </a:highlight>
                <a:latin typeface="Montserrat"/>
                <a:ea typeface="Montserrat"/>
              </a:rPr>
              <a:t>13. Qual o dia com maior engajamento de cada aluno que iniciou o curso no dia 01?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684;p69"/>
          <p:cNvSpPr/>
          <p:nvPr/>
        </p:nvSpPr>
        <p:spPr>
          <a:xfrm>
            <a:off x="620640" y="120600"/>
            <a:ext cx="10018800" cy="10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200" spc="-1" strike="noStrike">
                <a:solidFill>
                  <a:schemeClr val="dk1"/>
                </a:solidFill>
                <a:latin typeface="Montserrat"/>
                <a:ea typeface="Montserrat"/>
              </a:rPr>
              <a:t>Projeto Final</a:t>
            </a:r>
            <a:endParaRPr b="0" lang="pt-BR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Google Shape;685;p69"/>
          <p:cNvSpPr/>
          <p:nvPr/>
        </p:nvSpPr>
        <p:spPr>
          <a:xfrm>
            <a:off x="629280" y="1198440"/>
            <a:ext cx="10932840" cy="47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rgbClr val="000000"/>
                </a:solidFill>
                <a:latin typeface="Montserrat"/>
                <a:ea typeface="Montserrat"/>
              </a:rPr>
              <a:t>Vamos construir uma tabela com o perfil comportamental dos nossos usuários.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highlight>
                  <a:srgbClr val="d9ead3"/>
                </a:highlight>
                <a:latin typeface="Montserrat"/>
                <a:ea typeface="Montserrat"/>
              </a:rPr>
              <a:t>Quantidade de transações históricas (vida, D7, D14, D28, D56);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highlight>
                  <a:srgbClr val="d9ead3"/>
                </a:highlight>
                <a:latin typeface="Montserrat"/>
                <a:ea typeface="Montserrat"/>
              </a:rPr>
              <a:t>Dias desde a última transação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highlight>
                  <a:srgbClr val="d9ead3"/>
                </a:highlight>
                <a:latin typeface="Montserrat"/>
                <a:ea typeface="Montserrat"/>
              </a:rPr>
              <a:t>Idade na base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highlight>
                  <a:srgbClr val="d9ead3"/>
                </a:highlight>
                <a:latin typeface="Montserrat"/>
                <a:ea typeface="Montserrat"/>
              </a:rPr>
              <a:t>Produto mais usado </a:t>
            </a:r>
            <a:r>
              <a:rPr b="0" lang="pt-BR" sz="1800" spc="-1" strike="noStrike">
                <a:solidFill>
                  <a:schemeClr val="dk1"/>
                </a:solidFill>
                <a:highlight>
                  <a:srgbClr val="d9ead3"/>
                </a:highlight>
                <a:latin typeface="Montserrat"/>
                <a:ea typeface="Montserrat"/>
              </a:rPr>
              <a:t>(vida, D7, D14, D28, D56);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  <a:tabLst>
                <a:tab algn="l" pos="0"/>
              </a:tabLst>
            </a:pPr>
            <a:r>
              <a:rPr b="0" lang="pt-BR" sz="1800" spc="-1" strike="noStrike">
                <a:solidFill>
                  <a:schemeClr val="dk1"/>
                </a:solidFill>
                <a:highlight>
                  <a:srgbClr val="d9ead3"/>
                </a:highlight>
                <a:latin typeface="Montserrat"/>
                <a:ea typeface="Montserrat"/>
              </a:rPr>
              <a:t>Saldo de pontos atual;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  <a:tabLst>
                <a:tab algn="l" pos="0"/>
              </a:tabLst>
            </a:pPr>
            <a:r>
              <a:rPr b="0" lang="pt-BR" sz="1800" spc="-1" strike="noStrike">
                <a:solidFill>
                  <a:schemeClr val="dk1"/>
                </a:solidFill>
                <a:highlight>
                  <a:srgbClr val="d9ead3"/>
                </a:highlight>
                <a:latin typeface="Montserrat"/>
                <a:ea typeface="Montserrat"/>
              </a:rPr>
              <a:t>Pontos acumulados positivos (vida, D7, D14, D28, D56);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  <a:tabLst>
                <a:tab algn="l" pos="0"/>
              </a:tabLst>
            </a:pPr>
            <a:r>
              <a:rPr b="0" lang="pt-BR" sz="1800" spc="-1" strike="noStrike">
                <a:solidFill>
                  <a:schemeClr val="dk1"/>
                </a:solidFill>
                <a:highlight>
                  <a:srgbClr val="d9ead3"/>
                </a:highlight>
                <a:latin typeface="Montserrat"/>
                <a:ea typeface="Montserrat"/>
              </a:rPr>
              <a:t>Pontos acumulados negativos (vida, D7, D14, D28, D56);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  <a:tabLst>
                <a:tab algn="l" pos="0"/>
              </a:tabLst>
            </a:pPr>
            <a:r>
              <a:rPr b="0" lang="pt-BR" sz="1800" spc="-1" strike="noStrike">
                <a:solidFill>
                  <a:schemeClr val="dk1"/>
                </a:solidFill>
                <a:highlight>
                  <a:srgbClr val="d9ead3"/>
                </a:highlight>
                <a:latin typeface="Montserrat"/>
                <a:ea typeface="Montserrat"/>
              </a:rPr>
              <a:t>Dias da semana mais ativos (D28)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  <a:tabLst>
                <a:tab algn="l" pos="0"/>
              </a:tabLst>
            </a:pPr>
            <a:r>
              <a:rPr b="0" lang="pt-BR" sz="1800" spc="-1" strike="noStrike">
                <a:solidFill>
                  <a:schemeClr val="dk1"/>
                </a:solidFill>
                <a:highlight>
                  <a:srgbClr val="d9ead3"/>
                </a:highlight>
                <a:latin typeface="Montserrat"/>
                <a:ea typeface="Montserrat"/>
              </a:rPr>
              <a:t>Período do dia mais ativo (D28)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000000"/>
              </a:buClr>
              <a:buFont typeface="Montserrat"/>
              <a:buAutoNum type="arabicPeriod"/>
              <a:tabLst>
                <a:tab algn="l" pos="0"/>
              </a:tabLst>
            </a:pPr>
            <a:r>
              <a:rPr b="0" lang="pt-BR" sz="1800" spc="-1" strike="noStrike">
                <a:solidFill>
                  <a:schemeClr val="dk1"/>
                </a:solidFill>
                <a:latin typeface="Montserrat"/>
                <a:ea typeface="Montserrat"/>
              </a:rPr>
              <a:t>Engajamento em D28 versus Vida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691;p70"/>
          <p:cNvSpPr/>
          <p:nvPr/>
        </p:nvSpPr>
        <p:spPr>
          <a:xfrm>
            <a:off x="844200" y="1445760"/>
            <a:ext cx="950292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400" spc="-1" strike="noStrike">
                <a:solidFill>
                  <a:schemeClr val="dk1"/>
                </a:solidFill>
                <a:latin typeface="Arial"/>
                <a:ea typeface="Arial"/>
              </a:rPr>
              <a:t>Curso de Modelagem de Dados: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000000"/>
              </a:buClr>
              <a:buFont typeface="Arial"/>
              <a:buChar char="-"/>
              <a:tabLst>
                <a:tab algn="l" pos="0"/>
              </a:tabLst>
            </a:pPr>
            <a:r>
              <a:rPr b="0" lang="pt-BR" sz="2400" spc="-1" strike="noStrike" u="sng">
                <a:solidFill>
                  <a:schemeClr val="hlink"/>
                </a:solidFill>
                <a:uFillTx/>
                <a:latin typeface="Arial"/>
                <a:ea typeface="Arial"/>
                <a:hlinkClick r:id="rId1"/>
              </a:rPr>
              <a:t>https://www.youtube.com/watch?v=qjFWYi2csXA&amp;list=PLshkB4NQEfC6KQH18stSMJ6-AJ2oYyrwq&amp;ab_channel=ApoenaStack-IuryRosal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400" spc="-1" strike="noStrike">
                <a:solidFill>
                  <a:schemeClr val="dk1"/>
                </a:solidFill>
                <a:latin typeface="Arial"/>
                <a:ea typeface="Arial"/>
              </a:rPr>
              <a:t>Exercícios: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000000"/>
              </a:buClr>
              <a:buFont typeface="Arial"/>
              <a:buChar char="-"/>
              <a:tabLst>
                <a:tab algn="l" pos="0"/>
              </a:tabLst>
            </a:pPr>
            <a:r>
              <a:rPr b="0" lang="pt-BR" sz="2400" spc="-1" strike="noStrike" u="sng">
                <a:solidFill>
                  <a:schemeClr val="hlink"/>
                </a:solidFill>
                <a:uFillTx/>
                <a:latin typeface="Arial"/>
                <a:ea typeface="Arial"/>
                <a:hlinkClick r:id="rId2"/>
              </a:rPr>
              <a:t>https://judge.beecrowd.com/pt/problems/index/9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000000"/>
              </a:buClr>
              <a:buFont typeface="Arial"/>
              <a:buChar char="-"/>
              <a:tabLst>
                <a:tab algn="l" pos="0"/>
              </a:tabLst>
            </a:pPr>
            <a:r>
              <a:rPr b="0" lang="pt-BR" sz="2400" spc="-1" strike="noStrike" u="sng">
                <a:solidFill>
                  <a:schemeClr val="hlink"/>
                </a:solidFill>
                <a:uFillTx/>
                <a:latin typeface="Arial"/>
                <a:ea typeface="Arial"/>
                <a:hlinkClick r:id="rId3"/>
              </a:rPr>
              <a:t>https://www.hackerrank.com/domains/sql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800640" y="259560"/>
            <a:ext cx="6191280" cy="100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600" spc="-1" strike="noStrike">
                <a:solidFill>
                  <a:schemeClr val="dk1"/>
                </a:solidFill>
                <a:latin typeface="Montserrat"/>
                <a:ea typeface="Montserrat"/>
              </a:rPr>
              <a:t>Próximos passos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0" name="Google Shape;693;p70" descr=""/>
          <p:cNvPicPr/>
          <p:nvPr/>
        </p:nvPicPr>
        <p:blipFill>
          <a:blip r:embed="rId4"/>
          <a:stretch/>
        </p:blipFill>
        <p:spPr>
          <a:xfrm>
            <a:off x="158400" y="417240"/>
            <a:ext cx="685440" cy="68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title"/>
          </p:nvPr>
        </p:nvSpPr>
        <p:spPr>
          <a:xfrm>
            <a:off x="1202040" y="507240"/>
            <a:ext cx="6829560" cy="115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6500" spc="-1" strike="noStrike">
                <a:solidFill>
                  <a:schemeClr val="dk1"/>
                </a:solidFill>
                <a:latin typeface="Arial"/>
                <a:ea typeface="Arial"/>
              </a:rPr>
              <a:t>Um ótimo curso!</a:t>
            </a:r>
            <a:endParaRPr b="0" lang="pt-BR" sz="6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Google Shape;699;p71"/>
          <p:cNvSpPr/>
          <p:nvPr/>
        </p:nvSpPr>
        <p:spPr>
          <a:xfrm>
            <a:off x="3422160" y="2211120"/>
            <a:ext cx="2351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3400" spc="-1" strike="noStrike">
                <a:solidFill>
                  <a:schemeClr val="dk1"/>
                </a:solidFill>
                <a:latin typeface="Arial"/>
                <a:ea typeface="Arial"/>
              </a:rPr>
              <a:t>Téo</a:t>
            </a:r>
            <a:r>
              <a:rPr b="0" lang="pt-BR" sz="34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b="0" lang="pt-BR" sz="3400" spc="-1" strike="noStrike">
                <a:solidFill>
                  <a:srgbClr val="595959"/>
                </a:solidFill>
                <a:latin typeface="Arial"/>
                <a:ea typeface="Arial"/>
              </a:rPr>
              <a:t>Calvo</a:t>
            </a:r>
            <a:endParaRPr b="0" lang="pt-BR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Google Shape;700;p71"/>
          <p:cNvSpPr/>
          <p:nvPr/>
        </p:nvSpPr>
        <p:spPr>
          <a:xfrm>
            <a:off x="5302080" y="3796560"/>
            <a:ext cx="151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chemeClr val="dk1"/>
                </a:solidFill>
                <a:latin typeface="Arial"/>
                <a:ea typeface="Arial"/>
              </a:rPr>
              <a:t>/in/teocalvo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4" name="Google Shape;701;p71" descr="LI-In-Bug"/>
          <p:cNvPicPr/>
          <p:nvPr/>
        </p:nvPicPr>
        <p:blipFill>
          <a:blip r:embed="rId1"/>
          <a:stretch/>
        </p:blipFill>
        <p:spPr>
          <a:xfrm>
            <a:off x="4931280" y="3792240"/>
            <a:ext cx="437760" cy="372240"/>
          </a:xfrm>
          <a:prstGeom prst="rect">
            <a:avLst/>
          </a:prstGeom>
          <a:ln w="0">
            <a:noFill/>
          </a:ln>
        </p:spPr>
      </p:pic>
      <p:grpSp>
        <p:nvGrpSpPr>
          <p:cNvPr id="475" name="Google Shape;702;p71"/>
          <p:cNvGrpSpPr/>
          <p:nvPr/>
        </p:nvGrpSpPr>
        <p:grpSpPr>
          <a:xfrm>
            <a:off x="5749200" y="4578840"/>
            <a:ext cx="2083680" cy="431280"/>
            <a:chOff x="5749200" y="4578840"/>
            <a:chExt cx="2083680" cy="431280"/>
          </a:xfrm>
        </p:grpSpPr>
        <p:pic>
          <p:nvPicPr>
            <p:cNvPr id="476" name="Google Shape;703;p71" descr="TwitchGlitchPurple"/>
            <p:cNvPicPr/>
            <p:nvPr/>
          </p:nvPicPr>
          <p:blipFill>
            <a:blip r:embed="rId2"/>
            <a:stretch/>
          </p:blipFill>
          <p:spPr>
            <a:xfrm>
              <a:off x="5749200" y="4578840"/>
              <a:ext cx="369360" cy="431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77" name="Google Shape;704;p71"/>
            <p:cNvSpPr/>
            <p:nvPr/>
          </p:nvSpPr>
          <p:spPr>
            <a:xfrm>
              <a:off x="6118920" y="4578840"/>
              <a:ext cx="1713960" cy="36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pt-BR" sz="1800" spc="-1" strike="noStrike">
                  <a:solidFill>
                    <a:schemeClr val="dk1"/>
                  </a:solidFill>
                  <a:latin typeface="Arial"/>
                  <a:ea typeface="Arial"/>
                </a:rPr>
                <a:t>/teomewhy</a:t>
              </a: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78" name="Google Shape;705;p71"/>
          <p:cNvSpPr/>
          <p:nvPr/>
        </p:nvSpPr>
        <p:spPr>
          <a:xfrm>
            <a:off x="4143240" y="3013560"/>
            <a:ext cx="2795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chemeClr val="dk1"/>
                </a:solidFill>
                <a:latin typeface="Arial"/>
                <a:ea typeface="Arial"/>
              </a:rPr>
              <a:t>teo.bcalvo@gmail.com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774</TotalTime>
  <Application>LibreOffice/24.2.7.2$Linux_X86_64 LibreOffice_project/420$Build-2</Application>
  <AppVersion>15.0000</AppVersion>
  <Words>2294</Words>
  <Paragraphs>446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pt-BR</dc:language>
  <cp:lastModifiedBy/>
  <dcterms:modified xsi:type="dcterms:W3CDTF">2026-08-11T06:29:02Z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53</vt:i4>
  </property>
  <property fmtid="{D5CDD505-2E9C-101B-9397-08002B2CF9AE}" pid="3" name="PresentationFormat">
    <vt:lpwstr>Widescreen</vt:lpwstr>
  </property>
  <property fmtid="{D5CDD505-2E9C-101B-9397-08002B2CF9AE}" pid="4" name="Slides">
    <vt:i4>53</vt:i4>
  </property>
</Properties>
</file>