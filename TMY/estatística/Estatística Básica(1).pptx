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18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125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31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124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17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</p:sldIdLst>
  <p:sldSz cy="6858000" cx="12192000"/>
  <p:notesSz cx="7103725" cy="10234275"/>
  <p:embeddedFontLst>
    <p:embeddedFont>
      <p:font typeface="Montserrat SemiBold"/>
      <p:regular r:id="rId132"/>
      <p:bold r:id="rId133"/>
      <p:italic r:id="rId134"/>
      <p:boldItalic r:id="rId135"/>
    </p:embeddedFont>
    <p:embeddedFont>
      <p:font typeface="Montserrat"/>
      <p:regular r:id="rId136"/>
      <p:bold r:id="rId137"/>
      <p:italic r:id="rId138"/>
      <p:boldItalic r:id="rId139"/>
    </p:embeddedFont>
    <p:embeddedFont>
      <p:font typeface="Montserrat Medium"/>
      <p:regular r:id="rId140"/>
      <p:bold r:id="rId141"/>
      <p:italic r:id="rId142"/>
      <p:boldItalic r:id="rId143"/>
    </p:embeddedFont>
    <p:embeddedFont>
      <p:font typeface="Helvetica Neue"/>
      <p:regular r:id="rId144"/>
      <p:bold r:id="rId145"/>
      <p:italic r:id="rId146"/>
      <p:boldItalic r:id="rId147"/>
    </p:embeddedFont>
    <p:embeddedFont>
      <p:font typeface="Arial Black"/>
      <p:regular r:id="rId1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758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53BE7DB-6D05-4E4C-B960-DC2D34714B52}">
  <a:tblStyle styleId="{E53BE7DB-6D05-4E4C-B960-DC2D34714B5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284DB96D-A809-46EC-B382-F664F4A8D051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75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7" Type="http://schemas.openxmlformats.org/officeDocument/2006/relationships/slide" Target="slides/slide101.xml"/><Relationship Id="rId106" Type="http://schemas.openxmlformats.org/officeDocument/2006/relationships/slide" Target="slides/slide100.xml"/><Relationship Id="rId105" Type="http://schemas.openxmlformats.org/officeDocument/2006/relationships/slide" Target="slides/slide99.xml"/><Relationship Id="rId104" Type="http://schemas.openxmlformats.org/officeDocument/2006/relationships/slide" Target="slides/slide98.xml"/><Relationship Id="rId109" Type="http://schemas.openxmlformats.org/officeDocument/2006/relationships/slide" Target="slides/slide103.xml"/><Relationship Id="rId108" Type="http://schemas.openxmlformats.org/officeDocument/2006/relationships/slide" Target="slides/slide102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slide" Target="slides/slide97.xml"/><Relationship Id="rId102" Type="http://schemas.openxmlformats.org/officeDocument/2006/relationships/slide" Target="slides/slide96.xml"/><Relationship Id="rId101" Type="http://schemas.openxmlformats.org/officeDocument/2006/relationships/slide" Target="slides/slide95.xml"/><Relationship Id="rId100" Type="http://schemas.openxmlformats.org/officeDocument/2006/relationships/slide" Target="slides/slide94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29" Type="http://schemas.openxmlformats.org/officeDocument/2006/relationships/slide" Target="slides/slide123.xml"/><Relationship Id="rId128" Type="http://schemas.openxmlformats.org/officeDocument/2006/relationships/slide" Target="slides/slide122.xml"/><Relationship Id="rId127" Type="http://schemas.openxmlformats.org/officeDocument/2006/relationships/slide" Target="slides/slide121.xml"/><Relationship Id="rId126" Type="http://schemas.openxmlformats.org/officeDocument/2006/relationships/slide" Target="slides/slide120.xml"/><Relationship Id="rId26" Type="http://schemas.openxmlformats.org/officeDocument/2006/relationships/slide" Target="slides/slide20.xml"/><Relationship Id="rId121" Type="http://schemas.openxmlformats.org/officeDocument/2006/relationships/slide" Target="slides/slide115.xml"/><Relationship Id="rId25" Type="http://schemas.openxmlformats.org/officeDocument/2006/relationships/slide" Target="slides/slide19.xml"/><Relationship Id="rId120" Type="http://schemas.openxmlformats.org/officeDocument/2006/relationships/slide" Target="slides/slide114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125" Type="http://schemas.openxmlformats.org/officeDocument/2006/relationships/slide" Target="slides/slide119.xml"/><Relationship Id="rId29" Type="http://schemas.openxmlformats.org/officeDocument/2006/relationships/slide" Target="slides/slide23.xml"/><Relationship Id="rId124" Type="http://schemas.openxmlformats.org/officeDocument/2006/relationships/slide" Target="slides/slide118.xml"/><Relationship Id="rId123" Type="http://schemas.openxmlformats.org/officeDocument/2006/relationships/slide" Target="slides/slide117.xml"/><Relationship Id="rId122" Type="http://schemas.openxmlformats.org/officeDocument/2006/relationships/slide" Target="slides/slide116.xml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slide" Target="slides/slide93.xml"/><Relationship Id="rId10" Type="http://schemas.openxmlformats.org/officeDocument/2006/relationships/slide" Target="slides/slide4.xml"/><Relationship Id="rId98" Type="http://schemas.openxmlformats.org/officeDocument/2006/relationships/slide" Target="slides/slide92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18" Type="http://schemas.openxmlformats.org/officeDocument/2006/relationships/slide" Target="slides/slide112.xml"/><Relationship Id="rId117" Type="http://schemas.openxmlformats.org/officeDocument/2006/relationships/slide" Target="slides/slide111.xml"/><Relationship Id="rId116" Type="http://schemas.openxmlformats.org/officeDocument/2006/relationships/slide" Target="slides/slide110.xml"/><Relationship Id="rId115" Type="http://schemas.openxmlformats.org/officeDocument/2006/relationships/slide" Target="slides/slide109.xml"/><Relationship Id="rId119" Type="http://schemas.openxmlformats.org/officeDocument/2006/relationships/slide" Target="slides/slide113.xml"/><Relationship Id="rId15" Type="http://schemas.openxmlformats.org/officeDocument/2006/relationships/slide" Target="slides/slide9.xml"/><Relationship Id="rId110" Type="http://schemas.openxmlformats.org/officeDocument/2006/relationships/slide" Target="slides/slide104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14" Type="http://schemas.openxmlformats.org/officeDocument/2006/relationships/slide" Target="slides/slide108.xml"/><Relationship Id="rId18" Type="http://schemas.openxmlformats.org/officeDocument/2006/relationships/slide" Target="slides/slide12.xml"/><Relationship Id="rId113" Type="http://schemas.openxmlformats.org/officeDocument/2006/relationships/slide" Target="slides/slide107.xml"/><Relationship Id="rId112" Type="http://schemas.openxmlformats.org/officeDocument/2006/relationships/slide" Target="slides/slide106.xml"/><Relationship Id="rId111" Type="http://schemas.openxmlformats.org/officeDocument/2006/relationships/slide" Target="slides/slide105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48" Type="http://schemas.openxmlformats.org/officeDocument/2006/relationships/font" Target="fonts/ArialBlack-regular.fntdata"/><Relationship Id="rId9" Type="http://schemas.openxmlformats.org/officeDocument/2006/relationships/slide" Target="slides/slide3.xml"/><Relationship Id="rId143" Type="http://schemas.openxmlformats.org/officeDocument/2006/relationships/font" Target="fonts/MontserratMedium-boldItalic.fntdata"/><Relationship Id="rId142" Type="http://schemas.openxmlformats.org/officeDocument/2006/relationships/font" Target="fonts/MontserratMedium-italic.fntdata"/><Relationship Id="rId141" Type="http://schemas.openxmlformats.org/officeDocument/2006/relationships/font" Target="fonts/MontserratMedium-bold.fntdata"/><Relationship Id="rId140" Type="http://schemas.openxmlformats.org/officeDocument/2006/relationships/font" Target="fonts/MontserratMedium-regular.fntdata"/><Relationship Id="rId5" Type="http://schemas.openxmlformats.org/officeDocument/2006/relationships/slideMaster" Target="slideMasters/slideMaster1.xml"/><Relationship Id="rId147" Type="http://schemas.openxmlformats.org/officeDocument/2006/relationships/font" Target="fonts/HelveticaNeue-boldItalic.fntdata"/><Relationship Id="rId6" Type="http://schemas.openxmlformats.org/officeDocument/2006/relationships/notesMaster" Target="notesMasters/notesMaster1.xml"/><Relationship Id="rId146" Type="http://schemas.openxmlformats.org/officeDocument/2006/relationships/font" Target="fonts/HelveticaNeue-italic.fntdata"/><Relationship Id="rId7" Type="http://schemas.openxmlformats.org/officeDocument/2006/relationships/slide" Target="slides/slide1.xml"/><Relationship Id="rId145" Type="http://schemas.openxmlformats.org/officeDocument/2006/relationships/font" Target="fonts/HelveticaNeue-bold.fntdata"/><Relationship Id="rId8" Type="http://schemas.openxmlformats.org/officeDocument/2006/relationships/slide" Target="slides/slide2.xml"/><Relationship Id="rId144" Type="http://schemas.openxmlformats.org/officeDocument/2006/relationships/font" Target="fonts/HelveticaNeue-regular.fntdata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139" Type="http://schemas.openxmlformats.org/officeDocument/2006/relationships/font" Target="fonts/Montserrat-boldItalic.fntdata"/><Relationship Id="rId138" Type="http://schemas.openxmlformats.org/officeDocument/2006/relationships/font" Target="fonts/Montserrat-italic.fntdata"/><Relationship Id="rId137" Type="http://schemas.openxmlformats.org/officeDocument/2006/relationships/font" Target="fonts/Montserrat-bold.fntdata"/><Relationship Id="rId132" Type="http://schemas.openxmlformats.org/officeDocument/2006/relationships/font" Target="fonts/MontserratSemiBold-regular.fntdata"/><Relationship Id="rId131" Type="http://schemas.openxmlformats.org/officeDocument/2006/relationships/slide" Target="slides/slide125.xml"/><Relationship Id="rId130" Type="http://schemas.openxmlformats.org/officeDocument/2006/relationships/slide" Target="slides/slide124.xml"/><Relationship Id="rId136" Type="http://schemas.openxmlformats.org/officeDocument/2006/relationships/font" Target="fonts/Montserrat-regular.fntdata"/><Relationship Id="rId135" Type="http://schemas.openxmlformats.org/officeDocument/2006/relationships/font" Target="fonts/MontserratSemiBold-boldItalic.fntdata"/><Relationship Id="rId134" Type="http://schemas.openxmlformats.org/officeDocument/2006/relationships/font" Target="fonts/MontserratSemiBold-italic.fntdata"/><Relationship Id="rId133" Type="http://schemas.openxmlformats.org/officeDocument/2006/relationships/font" Target="fonts/MontserratSemiBold-bold.fntdata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4313" y="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f54b1f7361_0_0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" name="Google Shape;63;g1f54b1f7361_0_0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f594e2931f_0_0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1f594e2931f_0_0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" name="Google Shape;108;g1f594e2931f_0_0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f594e2931f_0_7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1f594e2931f_0_7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g1f594e2931f_0_7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f594e2931f_0_18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1f594e2931f_0_18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g1f594e2931f_0_18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f594e2931f_0_29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1f594e2931f_0_29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g1f594e2931f_0_29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e4460966a3_0_13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1e4460966a3_0_13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" name="Google Shape;144;g1e4460966a3_0_13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e4460966a3_0_44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1e4460966a3_0_44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g1e4460966a3_0_44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p9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e61820831e_0_28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g1e61820831e_0_28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e61820831e_0_55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g1e61820831e_0_55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e61820831e_0_96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2" name="Google Shape;232;g1e61820831e_0_96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1e6ab53953b_0_208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7" name="Google Shape;257;g1e6ab53953b_0_208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1e61820831e_0_136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4" name="Google Shape;264;g1e61820831e_0_136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1e61820831e_0_161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2" name="Google Shape;272;g1e61820831e_0_161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1e4460966a3_0_208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g1e4460966a3_0_208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2" name="Google Shape;292;g1e4460966a3_0_208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e61820831e_0_214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g1e61820831e_0_214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2" name="Google Shape;312;g1e61820831e_0_214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2cc5363ff24_0_0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2cc5363ff24_0_0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2cc5363ff24_0_0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e6ab53953b_0_0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g1e6ab53953b_0_0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8" name="Google Shape;328;g1e6ab53953b_0_0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1e6ab53953b_0_25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g1e6ab53953b_0_25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6" name="Google Shape;336;g1e6ab53953b_0_25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1e6ab53953b_0_21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g1e6ab53953b_0_21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6" name="Google Shape;346;g1e6ab53953b_0_21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1e6ab53953b_0_48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g1e6ab53953b_0_48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6" name="Google Shape;356;g1e6ab53953b_0_48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1e6ab53953b_0_39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g1e6ab53953b_0_39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5" name="Google Shape;365;g1e6ab53953b_0_39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1e6ab53953b_0_62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g1e6ab53953b_0_62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6" name="Google Shape;376;g1e6ab53953b_0_62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1e6ab53953b_0_71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" name="Google Shape;384;g1e6ab53953b_0_71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5" name="Google Shape;385;g1e6ab53953b_0_71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1e6ab53953b_0_93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" name="Google Shape;396;g1e6ab53953b_0_93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7" name="Google Shape;397;g1e6ab53953b_0_93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1e6ab53953b_0_102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g1e6ab53953b_0_102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6" name="Google Shape;406;g1e6ab53953b_0_102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1e6ab53953b_0_114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" name="Google Shape;418;g1e6ab53953b_0_114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9" name="Google Shape;419;g1e6ab53953b_0_114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1e6ab53953b_0_127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1" name="Google Shape;431;g1e6ab53953b_0_127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2" name="Google Shape;432;g1e6ab53953b_0_127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1e6ab53953b_0_142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g1e6ab53953b_0_142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1" name="Google Shape;441;g1e6ab53953b_0_142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1e6ab53953b_0_151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" name="Google Shape;449;g1e6ab53953b_0_151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0" name="Google Shape;450;g1e6ab53953b_0_151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1e6ab53953b_0_162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9" name="Google Shape;459;g1e6ab53953b_0_162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0" name="Google Shape;460;g1e6ab53953b_0_162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1e6ab53953b_0_172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9" name="Google Shape;469;g1e6ab53953b_0_172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0" name="Google Shape;470;g1e6ab53953b_0_172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1e6ab53953b_0_182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9" name="Google Shape;479;g1e6ab53953b_0_182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0" name="Google Shape;480;g1e6ab53953b_0_182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1e6ab53953b_0_198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0" name="Google Shape;490;g1e6ab53953b_0_198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1" name="Google Shape;491;g1e6ab53953b_0_198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1e6ab53953b_0_235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0" name="Google Shape;500;g1e6ab53953b_0_235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1" name="Google Shape;501;g1e6ab53953b_0_235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1f54b1f7361_1_0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1f54b1f7361_1_0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g1f54b1f7361_1_0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1f54b1f7361_1_59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1f54b1f7361_1_59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g1f54b1f7361_1_59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1f54b1f7361_1_154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1f54b1f7361_1_154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g1f54b1f7361_1_154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1e6ab53953b_0_528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1" name="Google Shape;721;g1e6ab53953b_0_528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2" name="Google Shape;722;g1e6ab53953b_0_528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1e6b53436af_0_33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8" name="Google Shape;738;g1e6b53436af_0_33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9" name="Google Shape;739;g1e6b53436af_0_33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1e6b53436af_0_0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8" name="Google Shape;748;g1e6b53436af_0_0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9" name="Google Shape;749;g1e6b53436af_0_0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1e6b53436af_0_20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7" name="Google Shape;757;g1e6b53436af_0_20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8" name="Google Shape;758;g1e6b53436af_0_20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1e6b53436af_0_50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0" name="Google Shape;770;g1e6b53436af_0_50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1" name="Google Shape;771;g1e6b53436af_0_50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1e6b53436af_0_70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3" name="Google Shape;783;g1e6b53436af_0_70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4" name="Google Shape;784;g1e6b53436af_0_70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1e6b53436af_0_85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3" name="Google Shape;793;g1e6b53436af_0_85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4" name="Google Shape;794;g1e6b53436af_0_85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1e6b53436af_0_106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3" name="Google Shape;803;g1e6b53436af_0_106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4" name="Google Shape;804;g1e6b53436af_0_106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g1e6b53436af_0_116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9" name="Google Shape;809;g1e6b53436af_0_116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0" name="Google Shape;810;g1e6b53436af_0_116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1e6b53436af_0_166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7" name="Google Shape;817;g1e6b53436af_0_166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8" name="Google Shape;818;g1e6b53436af_0_166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1e6e955fa83_0_14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1" name="Google Shape;831;g1e6e955fa83_0_14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2" name="Google Shape;832;g1e6e955fa83_0_14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1e6b53436af_0_125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8" name="Google Shape;848;g1e6b53436af_0_125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9" name="Google Shape;849;g1e6b53436af_0_125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g1e6b53436af_0_145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7" name="Google Shape;867;g1e6b53436af_0_145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8" name="Google Shape;868;g1e6b53436af_0_145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1e6e955fa83_0_34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5" name="Google Shape;875;g1e6e955fa83_0_34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6" name="Google Shape;876;g1e6e955fa83_0_34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1e6e955fa83_0_47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8" name="Google Shape;888;g1e6e955fa83_0_47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9" name="Google Shape;889;g1e6e955fa83_0_47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1e6e955fa83_0_60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6" name="Google Shape;896;g1e6e955fa83_0_60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7" name="Google Shape;897;g1e6e955fa83_0_60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g1e6f83c462a_0_0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5" name="Google Shape;915;g1e6f83c462a_0_0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6" name="Google Shape;916;g1e6f83c462a_0_0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2cc5363ff24_0_7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9" name="Google Shape;929;g2cc5363ff24_0_7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0" name="Google Shape;930;g2cc5363ff24_0_7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1e6f83c462a_0_23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8" name="Google Shape;938;g1e6f83c462a_0_23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9" name="Google Shape;939;g1e6f83c462a_0_23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g1e6f83c462a_0_31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6" name="Google Shape;946;g1e6f83c462a_0_31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7" name="Google Shape;947;g1e6f83c462a_0_31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1e6f83c462a_0_40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5" name="Google Shape;955;g1e6f83c462a_0_40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6" name="Google Shape;956;g1e6f83c462a_0_40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1e6f83c462a_0_49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4" name="Google Shape;964;g1e6f83c462a_0_49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5" name="Google Shape;965;g1e6f83c462a_0_49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g1e6f83c462a_0_58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3" name="Google Shape;973;g1e6f83c462a_0_58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4" name="Google Shape;974;g1e6f83c462a_0_58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g1e6f83c462a_0_68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3" name="Google Shape;983;g1e6f83c462a_0_68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4" name="Google Shape;984;g1e6f83c462a_0_68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g1e6f83c462a_0_88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1" name="Google Shape;1001;g1e6f83c462a_0_88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2" name="Google Shape;1002;g1e6f83c462a_0_88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1e6f83c462a_0_107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9" name="Google Shape;1009;g1e6f83c462a_0_107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0" name="Google Shape;1010;g1e6f83c462a_0_107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g1e6f83c462a_0_115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8" name="Google Shape;1018;g1e6f83c462a_0_115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9" name="Google Shape;1019;g1e6f83c462a_0_115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g1e6f83c462a_0_124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6" name="Google Shape;1026;g1e6f83c462a_0_124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7" name="Google Shape;1027;g1e6f83c462a_0_124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g1e6f83c462a_0_136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8" name="Google Shape;1038;g1e6f83c462a_0_136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9" name="Google Shape;1039;g1e6f83c462a_0_136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g1e6f83c462a_0_164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0" name="Google Shape;1050;g1e6f83c462a_0_164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1" name="Google Shape;1051;g1e6f83c462a_0_164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g1e6f83c462a_0_172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8" name="Google Shape;1058;g1e6f83c462a_0_172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9" name="Google Shape;1059;g1e6f83c462a_0_172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g1e6f83c462a_0_180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7" name="Google Shape;1067;g1e6f83c462a_0_180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8" name="Google Shape;1068;g1e6f83c462a_0_180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g2cc5363ff24_0_15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5" name="Google Shape;1075;g2cc5363ff24_0_15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6" name="Google Shape;1076;g2cc5363ff24_0_15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g1e6f83c462a_0_189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4" name="Google Shape;1084;g1e6f83c462a_0_189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5" name="Google Shape;1085;g1e6f83c462a_0_189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1e6f83c462a_0_195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1" name="Google Shape;1091;g1e6f83c462a_0_195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2" name="Google Shape;1092;g1e6f83c462a_0_195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g27eb944c4c9_0_0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0" name="Google Shape;1100;g27eb944c4c9_0_0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1" name="Google Shape;1101;g27eb944c4c9_0_0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g27eb944c4c9_0_8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9" name="Google Shape;1109;g27eb944c4c9_0_8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0" name="Google Shape;1110;g27eb944c4c9_0_8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g27eb944c4c9_0_18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9" name="Google Shape;1119;g27eb944c4c9_0_18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0" name="Google Shape;1120;g27eb944c4c9_0_18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g1e7b04da0fe_4_17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6" name="Google Shape;1136;g1e7b04da0fe_4_17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7" name="Google Shape;1137;g1e7b04da0fe_4_17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g1e7b04da0fe_4_50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1" name="Google Shape;1161;g1e7b04da0fe_4_50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2" name="Google Shape;1162;g1e7b04da0fe_4_50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g1e7b04da0fe_4_58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0" name="Google Shape;1170;g1e7b04da0fe_4_58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1" name="Google Shape;1171;g1e7b04da0fe_4_58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g1e7b04da0fe_4_70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1" name="Google Shape;1181;g1e7b04da0fe_4_70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2" name="Google Shape;1182;g1e7b04da0fe_4_70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g1e7b04da0fe_4_81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9" name="Google Shape;1189;g1e7b04da0fe_4_81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0" name="Google Shape;1190;g1e7b04da0fe_4_81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g1e7b04da0fe_4_94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1" name="Google Shape;1201;g1e7b04da0fe_4_94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2" name="Google Shape;1202;g1e7b04da0fe_4_94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g1e7b04da0fe_4_104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9" name="Google Shape;1209;g1e7b04da0fe_4_104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0" name="Google Shape;1210;g1e7b04da0fe_4_104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g1e7b04da0fe_4_118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9" name="Google Shape;1219;g1e7b04da0fe_4_118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0" name="Google Shape;1220;g1e7b04da0fe_4_118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g1e7b2ed87f4_1_0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7" name="Google Shape;1227;g1e7b2ed87f4_1_0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8" name="Google Shape;1228;g1e7b2ed87f4_1_0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g1e7b2ed87f4_2_0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5" name="Google Shape;1235;g1e7b2ed87f4_2_0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6" name="Google Shape;1236;g1e7b2ed87f4_2_0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g1e7b2ed87f4_2_7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3" name="Google Shape;1243;g1e7b2ed87f4_2_7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4" name="Google Shape;1244;g1e7b2ed87f4_2_7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g1e7b2ed87f4_2_14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1" name="Google Shape;1251;g1e7b2ed87f4_2_14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2" name="Google Shape;1252;g1e7b2ed87f4_2_14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g1e7b2ed87f4_2_32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4" name="Google Shape;1264;g1e7b2ed87f4_2_32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5" name="Google Shape;1265;g1e7b2ed87f4_2_32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g1e7b2ed87f4_2_46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4" name="Google Shape;1274;g1e7b2ed87f4_2_46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5" name="Google Shape;1275;g1e7b2ed87f4_2_46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g27f5496aa14_0_0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3" name="Google Shape;1283;g27f5496aa14_0_0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4" name="Google Shape;1284;g27f5496aa14_0_0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g27f5496aa14_0_8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2" name="Google Shape;1292;g27f5496aa14_0_8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3" name="Google Shape;1293;g27f5496aa14_0_8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g27f5496aa14_0_17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1" name="Google Shape;1301;g27f5496aa14_0_17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2" name="Google Shape;1302;g27f5496aa14_0_17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g27f7d314d46_0_1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0" name="Google Shape;1310;g27f7d314d46_0_1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1" name="Google Shape;1311;g27f7d314d46_0_1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g27f7d314d46_0_18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8" name="Google Shape;1318;g27f7d314d46_0_18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9" name="Google Shape;1319;g27f7d314d46_0_18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4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g27f7d314d46_0_25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6" name="Google Shape;1326;g27f7d314d46_0_25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7" name="Google Shape;1327;g27f7d314d46_0_25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2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g27f7d314d46_0_33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4" name="Google Shape;1334;g27f7d314d46_0_33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5" name="Google Shape;1335;g27f7d314d46_0_33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g27f7d314d46_0_44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2" name="Google Shape;1342;g27f7d314d46_0_44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3" name="Google Shape;1343;g27f7d314d46_0_44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8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g27f7d314d46_0_51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0" name="Google Shape;1350;g27f7d314d46_0_51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1" name="Google Shape;1351;g27f7d314d46_0_51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6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g27f7d314d46_0_58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8" name="Google Shape;1358;g27f7d314d46_0_58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9" name="Google Shape;1359;g27f7d314d46_0_58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4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g27f7d314d46_0_65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6" name="Google Shape;1366;g27f7d314d46_0_65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7" name="Google Shape;1367;g27f7d314d46_0_65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2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g27f7d314d46_0_72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4" name="Google Shape;1374;g27f7d314d46_0_72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5" name="Google Shape;1375;g27f7d314d46_0_72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6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Google Shape;1387;g1e7bd84b71a_0_4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8" name="Google Shape;1388;g1e7bd84b71a_0_4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9" name="Google Shape;1389;g1e7bd84b71a_0_4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g1e7bd84b71a_0_93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6" name="Google Shape;1396;g1e7bd84b71a_0_93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7" name="Google Shape;1397;g1e7bd84b71a_0_93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9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Google Shape;1440;g1e7bd84b71a_0_139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1" name="Google Shape;1441;g1e7bd84b71a_0_139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2" name="Google Shape;1442;g1e7bd84b71a_0_139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6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Google Shape;1477;g1e7bd84b71a_0_216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8" name="Google Shape;1478;g1e7bd84b71a_0_216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9" name="Google Shape;1479;g1e7bd84b71a_0_216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3" name="Shape 1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Google Shape;1514;g1e7bd84b71a_0_252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5" name="Google Shape;1515;g1e7bd84b71a_0_252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6" name="Google Shape;1516;g1e7bd84b71a_0_252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526;g1e7bd84b71a_0_293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7" name="Google Shape;1527;g1e7bd84b71a_0_293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8" name="Google Shape;1528;g1e7bd84b71a_0_293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3" name="Shape 1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" name="Google Shape;1534;g1e7bd84b71a_0_312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5" name="Google Shape;1535;g1e7bd84b71a_0_312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6" name="Google Shape;1536;g1e7bd84b71a_0_312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4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" name="Google Shape;1545;g1e7bd84b71a_0_325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6" name="Google Shape;1546;g1e7bd84b71a_0_325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7" name="Google Shape;1547;g1e7bd84b71a_0_325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2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g1e7bd84b71a_0_332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4" name="Google Shape;1554;g1e7bd84b71a_0_332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5" name="Google Shape;1555;g1e7bd84b71a_0_332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0" name="Shape 1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Google Shape;1561;g1e7bd84b71a_0_340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2" name="Google Shape;1562;g1e7bd84b71a_0_340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3" name="Google Shape;1563;g1e7bd84b71a_0_340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8" name="Shape 1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Google Shape;1569;g1e7bd84b71a_0_354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0" name="Google Shape;1570;g1e7bd84b71a_0_354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1" name="Google Shape;1571;g1e7bd84b71a_0_354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6" name="Shape 1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Google Shape;1577;g1e7bd84b71a_0_361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8" name="Google Shape;1578;g1e7bd84b71a_0_361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9" name="Google Shape;1579;g1e7bd84b71a_0_361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4" name="Shape 1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5" name="Google Shape;1585;g1e7bd84b71a_0_368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6" name="Google Shape;1586;g1e7bd84b71a_0_368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7" name="Google Shape;1587;g1e7bd84b71a_0_368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8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Google Shape;1599;g1e7bd84b71a_0_382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0" name="Google Shape;1600;g1e7bd84b71a_0_382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1" name="Google Shape;1601;g1e7bd84b71a_0_382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0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g1e7bd84b71a_0_400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2" name="Google Shape;1612;g1e7bd84b71a_0_400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3" name="Google Shape;1613;g1e7bd84b71a_0_400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7" name="Shape 1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" name="Google Shape;1618;g1e7bd84b71a_0_411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9" name="Google Shape;1619;g1e7bd84b71a_0_411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0" name="Google Shape;1620;g1e7bd84b71a_0_411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6" name="Shape 1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7" name="Google Shape;1627;g1e7bd84b71a_0_419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8" name="Google Shape;1628;g1e7bd84b71a_0_419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9" name="Google Shape;1629;g1e7bd84b71a_0_419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5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" name="Google Shape;1636;g1e7bd84b71a_0_435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7" name="Google Shape;1637;g1e7bd84b71a_0_435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8" name="Google Shape;1638;g1e7bd84b71a_0_435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4" name="Shape 1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5" name="Google Shape;1645;g1e7bd84b71a_0_443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6" name="Google Shape;1646;g1e7bd84b71a_0_443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7" name="Google Shape;1647;g1e7bd84b71a_0_443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0" name="Shape 1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" name="Google Shape;1651;g1e7bd84b71a_0_456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2" name="Google Shape;1652;g1e7bd84b71a_0_456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3" name="Google Shape;1653;g1e7bd84b71a_0_456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3" name="Shape 1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4" name="Google Shape;1674;p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imSun"/>
              <a:buNone/>
            </a:pPr>
            <a:r>
              <a:t/>
            </a:r>
            <a:endParaRPr b="0" i="0" sz="2200" u="none" cap="none" strike="noStrike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75" name="Google Shape;1675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3" name="Shape 1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4" name="Google Shape;1694;g1e4460966a3_0_24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5" name="Google Shape;1695;g1e4460966a3_0_24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6" name="Google Shape;1696;g1e4460966a3_0_24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6.png"/><Relationship Id="rId3" Type="http://schemas.openxmlformats.org/officeDocument/2006/relationships/image" Target="../media/image120.png"/><Relationship Id="rId4" Type="http://schemas.openxmlformats.org/officeDocument/2006/relationships/image" Target="../media/image10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20.png"/><Relationship Id="rId4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120.png"/><Relationship Id="rId4" Type="http://schemas.openxmlformats.org/officeDocument/2006/relationships/image" Target="../media/image10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mw-slides-bg-Artboard 1" id="13" name="Google Shape;1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9525" y="-5715"/>
            <a:ext cx="12211050" cy="68687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 Layout_1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YT-capa-canal-fundo-v02" id="15" name="Google Shape;1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7780" y="-9390"/>
            <a:ext cx="12227563" cy="687678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80000"/>
              </a:srgbClr>
            </a:outerShdw>
          </a:effec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YT-capa-canal-fundo-v02" id="17" name="Google Shape;17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7780" y="-9390"/>
            <a:ext cx="12227563" cy="687678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80000"/>
              </a:srgbClr>
            </a:outerShdw>
          </a:effectLst>
        </p:spPr>
      </p:pic>
      <p:pic>
        <p:nvPicPr>
          <p:cNvPr descr="teomewhy-logo-interrogacao-v01_Prancheta 1" id="18" name="Google Shape;1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4130" y="6285865"/>
            <a:ext cx="686435" cy="58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05576" y="6171609"/>
            <a:ext cx="686425" cy="686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mw-slides-bg-v2-Artboard 2 copy" id="21" name="Google Shape;21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4130" y="-12065"/>
            <a:ext cx="12240895" cy="68821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eomewhy-logo-interrogacao-v01_Prancheta 1" id="22" name="Google Shape;2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4130" y="6285865"/>
            <a:ext cx="686435" cy="58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05576" y="6171609"/>
            <a:ext cx="686425" cy="686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mw-slides-bg-v2-Artboard 2" id="25" name="Google Shape;2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33655" y="-17145"/>
            <a:ext cx="12259310" cy="68922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eomewhy-logo-interrogacao-v01_Prancheta 1" id="26" name="Google Shape;2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4130" y="6285865"/>
            <a:ext cx="686435" cy="58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05576" y="6171609"/>
            <a:ext cx="686425" cy="686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YT-capa-canal-fundo-v02" id="29" name="Google Shape;29;p7"/>
          <p:cNvPicPr preferRelativeResize="0"/>
          <p:nvPr/>
        </p:nvPicPr>
        <p:blipFill rotWithShape="1">
          <a:blip r:embed="rId2">
            <a:alphaModFix/>
          </a:blip>
          <a:srcRect b="0" l="49418" r="0" t="42986"/>
          <a:stretch/>
        </p:blipFill>
        <p:spPr>
          <a:xfrm>
            <a:off x="-26670" y="-10160"/>
            <a:ext cx="12244705" cy="68789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ection Header">
  <p:cSld name="2_Section 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YT-capa-canal-fundo-v02" id="31" name="Google Shape;31;p8"/>
          <p:cNvPicPr preferRelativeResize="0"/>
          <p:nvPr/>
        </p:nvPicPr>
        <p:blipFill rotWithShape="1">
          <a:blip r:embed="rId2">
            <a:alphaModFix/>
          </a:blip>
          <a:srcRect b="17299" l="0" r="37672" t="19023"/>
          <a:stretch/>
        </p:blipFill>
        <p:spPr>
          <a:xfrm>
            <a:off x="-10160" y="-78740"/>
            <a:ext cx="12202160" cy="7012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ítulo e conteúdo">
  <p:cSld name="2_Título e conteúdo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YT-capa-canal-fundo-v02" id="35" name="Google Shape;35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7780" y="-10160"/>
            <a:ext cx="12227560" cy="6878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 1">
  <p:cSld name="TITLE_1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/>
          <p:nvPr>
            <p:ph type="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Calibri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" type="body"/>
          </p:nvPr>
        </p:nvSpPr>
        <p:spPr>
          <a:xfrm>
            <a:off x="1524000" y="3602037"/>
            <a:ext cx="9144000" cy="16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5136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2400"/>
            </a:lvl1pPr>
            <a:lvl2pPr indent="-228600" lvl="1" marL="914400" algn="ctr">
              <a:lnSpc>
                <a:spcPct val="90000"/>
              </a:lnSpc>
              <a:spcBef>
                <a:spcPts val="5136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2400"/>
            </a:lvl2pPr>
            <a:lvl3pPr indent="-228600" lvl="2" marL="1371600" algn="ctr">
              <a:lnSpc>
                <a:spcPct val="90000"/>
              </a:lnSpc>
              <a:spcBef>
                <a:spcPts val="5136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2400"/>
            </a:lvl3pPr>
            <a:lvl4pPr indent="-228600" lvl="3" marL="1828800" algn="ctr">
              <a:lnSpc>
                <a:spcPct val="90000"/>
              </a:lnSpc>
              <a:spcBef>
                <a:spcPts val="5136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2400"/>
            </a:lvl4pPr>
            <a:lvl5pPr indent="-228600" lvl="4" marL="2286000" algn="ctr">
              <a:lnSpc>
                <a:spcPct val="90000"/>
              </a:lnSpc>
              <a:spcBef>
                <a:spcPts val="5136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2400"/>
            </a:lvl5pPr>
            <a:lvl6pPr indent="-317500" lvl="5" marL="2743200" algn="l">
              <a:lnSpc>
                <a:spcPct val="90000"/>
              </a:lnSpc>
              <a:spcBef>
                <a:spcPts val="3852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3852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3852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3852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11089817" y="6404292"/>
            <a:ext cx="264000" cy="2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>
  <p:cSld name="OBJECT_1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1484311" y="685800"/>
            <a:ext cx="10018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1484310" y="2666999"/>
            <a:ext cx="10018800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0" type="dt"/>
          </p:nvPr>
        </p:nvSpPr>
        <p:spPr>
          <a:xfrm>
            <a:off x="8677925" y="5883274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p13"/>
          <p:cNvSpPr txBox="1"/>
          <p:nvPr>
            <p:ph idx="11" type="ftr"/>
          </p:nvPr>
        </p:nvSpPr>
        <p:spPr>
          <a:xfrm>
            <a:off x="1484310" y="5883274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Google Shape;45;p13"/>
          <p:cNvSpPr txBox="1"/>
          <p:nvPr>
            <p:ph idx="12" type="sldNum"/>
          </p:nvPr>
        </p:nvSpPr>
        <p:spPr>
          <a:xfrm>
            <a:off x="9930363" y="5883274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 1">
  <p:cSld name="OBJECT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4"/>
          <p:cNvSpPr txBox="1"/>
          <p:nvPr>
            <p:ph type="title"/>
          </p:nvPr>
        </p:nvSpPr>
        <p:spPr>
          <a:xfrm>
            <a:off x="1484311" y="685800"/>
            <a:ext cx="10018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" type="body"/>
          </p:nvPr>
        </p:nvSpPr>
        <p:spPr>
          <a:xfrm>
            <a:off x="1484310" y="2666999"/>
            <a:ext cx="10018800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idx="10" type="dt"/>
          </p:nvPr>
        </p:nvSpPr>
        <p:spPr>
          <a:xfrm>
            <a:off x="8677925" y="5883274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p14"/>
          <p:cNvSpPr txBox="1"/>
          <p:nvPr>
            <p:ph idx="11" type="ftr"/>
          </p:nvPr>
        </p:nvSpPr>
        <p:spPr>
          <a:xfrm>
            <a:off x="1484310" y="5883274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14"/>
          <p:cNvSpPr txBox="1"/>
          <p:nvPr>
            <p:ph idx="12" type="sldNum"/>
          </p:nvPr>
        </p:nvSpPr>
        <p:spPr>
          <a:xfrm>
            <a:off x="9930363" y="5883274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 Black"/>
              <a:buNone/>
              <a:defRPr b="0" i="0" sz="4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ransition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6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8.png"/><Relationship Id="rId10" Type="http://schemas.openxmlformats.org/officeDocument/2006/relationships/image" Target="../media/image25.png"/><Relationship Id="rId13" Type="http://schemas.openxmlformats.org/officeDocument/2006/relationships/image" Target="../media/image14.png"/><Relationship Id="rId1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5" Type="http://schemas.openxmlformats.org/officeDocument/2006/relationships/image" Target="../media/image3.png"/><Relationship Id="rId6" Type="http://schemas.openxmlformats.org/officeDocument/2006/relationships/image" Target="../media/image9.png"/><Relationship Id="rId7" Type="http://schemas.openxmlformats.org/officeDocument/2006/relationships/image" Target="../media/image6.png"/><Relationship Id="rId8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Relationship Id="rId4" Type="http://schemas.openxmlformats.org/officeDocument/2006/relationships/hyperlink" Target="https://streamelements.com/teomewhy/store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hyperlink" Target="https://apoia.se/teomewhy" TargetMode="External"/><Relationship Id="rId5" Type="http://schemas.openxmlformats.org/officeDocument/2006/relationships/hyperlink" Target="https://livepix.gg/teomewhy" TargetMode="External"/><Relationship Id="rId6" Type="http://schemas.openxmlformats.org/officeDocument/2006/relationships/hyperlink" Target="https://twitch.tv/teomewhy" TargetMode="External"/><Relationship Id="rId7" Type="http://schemas.openxmlformats.org/officeDocument/2006/relationships/hyperlink" Target="https://www.youtube.com/@teomewhy" TargetMode="External"/><Relationship Id="rId8" Type="http://schemas.openxmlformats.org/officeDocument/2006/relationships/hyperlink" Target="https://github.com/sponsors/TeoMeWhy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5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22.png"/><Relationship Id="rId7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5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22.png"/><Relationship Id="rId7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5.png"/><Relationship Id="rId4" Type="http://schemas.openxmlformats.org/officeDocument/2006/relationships/image" Target="../media/image33.png"/><Relationship Id="rId5" Type="http://schemas.openxmlformats.org/officeDocument/2006/relationships/image" Target="../media/image24.png"/><Relationship Id="rId6" Type="http://schemas.openxmlformats.org/officeDocument/2006/relationships/image" Target="../media/image32.png"/><Relationship Id="rId7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9.png"/><Relationship Id="rId4" Type="http://schemas.openxmlformats.org/officeDocument/2006/relationships/hyperlink" Target="https://docs.google.com/spreadsheets/d/1X0A2BZnjLF3AXVI5iikiPuvKjSUiDSgd8S-geB9MjCA/edit?usp=sharing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1.png"/><Relationship Id="rId4" Type="http://schemas.openxmlformats.org/officeDocument/2006/relationships/image" Target="../media/image7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0.png"/><Relationship Id="rId4" Type="http://schemas.openxmlformats.org/officeDocument/2006/relationships/image" Target="../media/image8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1.png"/><Relationship Id="rId4" Type="http://schemas.openxmlformats.org/officeDocument/2006/relationships/image" Target="../media/image8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1.png"/><Relationship Id="rId4" Type="http://schemas.openxmlformats.org/officeDocument/2006/relationships/image" Target="../media/image80.png"/><Relationship Id="rId5" Type="http://schemas.openxmlformats.org/officeDocument/2006/relationships/image" Target="../media/image9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1.png"/><Relationship Id="rId4" Type="http://schemas.openxmlformats.org/officeDocument/2006/relationships/image" Target="../media/image10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1.png"/><Relationship Id="rId4" Type="http://schemas.openxmlformats.org/officeDocument/2006/relationships/image" Target="../media/image80.png"/><Relationship Id="rId5" Type="http://schemas.openxmlformats.org/officeDocument/2006/relationships/image" Target="../media/image97.png"/><Relationship Id="rId6" Type="http://schemas.openxmlformats.org/officeDocument/2006/relationships/image" Target="../media/image11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1.png"/><Relationship Id="rId4" Type="http://schemas.openxmlformats.org/officeDocument/2006/relationships/image" Target="../media/image10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1.png"/><Relationship Id="rId4" Type="http://schemas.openxmlformats.org/officeDocument/2006/relationships/image" Target="../media/image80.png"/><Relationship Id="rId5" Type="http://schemas.openxmlformats.org/officeDocument/2006/relationships/image" Target="../media/image97.png"/><Relationship Id="rId6" Type="http://schemas.openxmlformats.org/officeDocument/2006/relationships/image" Target="../media/image110.png"/><Relationship Id="rId7" Type="http://schemas.openxmlformats.org/officeDocument/2006/relationships/image" Target="../media/image11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1.png"/><Relationship Id="rId4" Type="http://schemas.openxmlformats.org/officeDocument/2006/relationships/image" Target="../media/image80.png"/><Relationship Id="rId5" Type="http://schemas.openxmlformats.org/officeDocument/2006/relationships/image" Target="../media/image97.png"/><Relationship Id="rId6" Type="http://schemas.openxmlformats.org/officeDocument/2006/relationships/image" Target="../media/image110.png"/><Relationship Id="rId7" Type="http://schemas.openxmlformats.org/officeDocument/2006/relationships/image" Target="../media/image11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1.png"/><Relationship Id="rId4" Type="http://schemas.openxmlformats.org/officeDocument/2006/relationships/hyperlink" Target="https://docs.google.com/spreadsheets/d/1X0A2BZnjLF3AXVI5iikiPuvKjSUiDSgd8S-geB9MjCA/edit?usp=sharing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1.png"/><Relationship Id="rId4" Type="http://schemas.openxmlformats.org/officeDocument/2006/relationships/image" Target="../media/image117.png"/><Relationship Id="rId5" Type="http://schemas.openxmlformats.org/officeDocument/2006/relationships/image" Target="../media/image122.png"/><Relationship Id="rId6" Type="http://schemas.openxmlformats.org/officeDocument/2006/relationships/image" Target="../media/image11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1.png"/><Relationship Id="rId4" Type="http://schemas.openxmlformats.org/officeDocument/2006/relationships/image" Target="../media/image131.png"/><Relationship Id="rId5" Type="http://schemas.openxmlformats.org/officeDocument/2006/relationships/image" Target="../media/image127.png"/><Relationship Id="rId6" Type="http://schemas.openxmlformats.org/officeDocument/2006/relationships/image" Target="../media/image12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81.png"/><Relationship Id="rId4" Type="http://schemas.openxmlformats.org/officeDocument/2006/relationships/image" Target="../media/image119.png"/><Relationship Id="rId5" Type="http://schemas.openxmlformats.org/officeDocument/2006/relationships/image" Target="../media/image132.png"/><Relationship Id="rId6" Type="http://schemas.openxmlformats.org/officeDocument/2006/relationships/image" Target="../media/image12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81.png"/><Relationship Id="rId4" Type="http://schemas.openxmlformats.org/officeDocument/2006/relationships/image" Target="../media/image128.png"/><Relationship Id="rId5" Type="http://schemas.openxmlformats.org/officeDocument/2006/relationships/image" Target="../media/image135.png"/><Relationship Id="rId6" Type="http://schemas.openxmlformats.org/officeDocument/2006/relationships/image" Target="../media/image130.png"/><Relationship Id="rId7" Type="http://schemas.openxmlformats.org/officeDocument/2006/relationships/image" Target="../media/image12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81.png"/><Relationship Id="rId4" Type="http://schemas.openxmlformats.org/officeDocument/2006/relationships/image" Target="../media/image128.png"/><Relationship Id="rId5" Type="http://schemas.openxmlformats.org/officeDocument/2006/relationships/image" Target="../media/image126.png"/><Relationship Id="rId6" Type="http://schemas.openxmlformats.org/officeDocument/2006/relationships/image" Target="../media/image12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81.png"/><Relationship Id="rId4" Type="http://schemas.openxmlformats.org/officeDocument/2006/relationships/image" Target="../media/image13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81.png"/><Relationship Id="rId4" Type="http://schemas.openxmlformats.org/officeDocument/2006/relationships/image" Target="../media/image13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81.png"/><Relationship Id="rId4" Type="http://schemas.openxmlformats.org/officeDocument/2006/relationships/image" Target="../media/image13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81.png"/><Relationship Id="rId4" Type="http://schemas.openxmlformats.org/officeDocument/2006/relationships/image" Target="../media/image13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81.png"/><Relationship Id="rId4" Type="http://schemas.openxmlformats.org/officeDocument/2006/relationships/image" Target="../media/image136.png"/><Relationship Id="rId5" Type="http://schemas.openxmlformats.org/officeDocument/2006/relationships/image" Target="../media/image140.png"/><Relationship Id="rId6" Type="http://schemas.openxmlformats.org/officeDocument/2006/relationships/image" Target="../media/image152.png"/><Relationship Id="rId7" Type="http://schemas.openxmlformats.org/officeDocument/2006/relationships/image" Target="../media/image13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81.png"/><Relationship Id="rId4" Type="http://schemas.openxmlformats.org/officeDocument/2006/relationships/image" Target="../media/image140.png"/><Relationship Id="rId5" Type="http://schemas.openxmlformats.org/officeDocument/2006/relationships/image" Target="../media/image15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81.png"/><Relationship Id="rId4" Type="http://schemas.openxmlformats.org/officeDocument/2006/relationships/image" Target="../media/image133.png"/><Relationship Id="rId5" Type="http://schemas.openxmlformats.org/officeDocument/2006/relationships/image" Target="../media/image147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81.png"/><Relationship Id="rId4" Type="http://schemas.openxmlformats.org/officeDocument/2006/relationships/image" Target="../media/image133.png"/><Relationship Id="rId5" Type="http://schemas.openxmlformats.org/officeDocument/2006/relationships/image" Target="../media/image14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81.png"/><Relationship Id="rId4" Type="http://schemas.openxmlformats.org/officeDocument/2006/relationships/image" Target="../media/image133.png"/><Relationship Id="rId5" Type="http://schemas.openxmlformats.org/officeDocument/2006/relationships/image" Target="../media/image154.png"/><Relationship Id="rId6" Type="http://schemas.openxmlformats.org/officeDocument/2006/relationships/image" Target="../media/image142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81.png"/><Relationship Id="rId4" Type="http://schemas.openxmlformats.org/officeDocument/2006/relationships/image" Target="../media/image149.png"/><Relationship Id="rId5" Type="http://schemas.openxmlformats.org/officeDocument/2006/relationships/image" Target="../media/image148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81.png"/><Relationship Id="rId4" Type="http://schemas.openxmlformats.org/officeDocument/2006/relationships/image" Target="../media/image146.png"/><Relationship Id="rId5" Type="http://schemas.openxmlformats.org/officeDocument/2006/relationships/image" Target="../media/image162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hyperlink" Target="http://drive.google.com/file/d/13d2zvj82V7dXfbOlPdmzyAuPLE9wZlxa/view" TargetMode="External"/><Relationship Id="rId4" Type="http://schemas.openxmlformats.org/officeDocument/2006/relationships/image" Target="../media/image174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81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81.png"/><Relationship Id="rId4" Type="http://schemas.openxmlformats.org/officeDocument/2006/relationships/image" Target="../media/image143.png"/><Relationship Id="rId5" Type="http://schemas.openxmlformats.org/officeDocument/2006/relationships/image" Target="../media/image150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48.png"/><Relationship Id="rId4" Type="http://schemas.openxmlformats.org/officeDocument/2006/relationships/image" Target="../media/image81.png"/><Relationship Id="rId5" Type="http://schemas.openxmlformats.org/officeDocument/2006/relationships/image" Target="../media/image157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81.png"/><Relationship Id="rId4" Type="http://schemas.openxmlformats.org/officeDocument/2006/relationships/image" Target="../media/image181.png"/><Relationship Id="rId5" Type="http://schemas.openxmlformats.org/officeDocument/2006/relationships/image" Target="../media/image169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81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81.png"/><Relationship Id="rId4" Type="http://schemas.openxmlformats.org/officeDocument/2006/relationships/image" Target="../media/image170.png"/><Relationship Id="rId5" Type="http://schemas.openxmlformats.org/officeDocument/2006/relationships/image" Target="../media/image166.png"/><Relationship Id="rId6" Type="http://schemas.openxmlformats.org/officeDocument/2006/relationships/image" Target="../media/image153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81.png"/><Relationship Id="rId4" Type="http://schemas.openxmlformats.org/officeDocument/2006/relationships/image" Target="../media/image160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81.png"/><Relationship Id="rId4" Type="http://schemas.openxmlformats.org/officeDocument/2006/relationships/image" Target="../media/image155.png"/><Relationship Id="rId5" Type="http://schemas.openxmlformats.org/officeDocument/2006/relationships/image" Target="../media/image165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81.png"/><Relationship Id="rId4" Type="http://schemas.openxmlformats.org/officeDocument/2006/relationships/image" Target="../media/image163.png"/><Relationship Id="rId5" Type="http://schemas.openxmlformats.org/officeDocument/2006/relationships/image" Target="../media/image148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81.png"/><Relationship Id="rId4" Type="http://schemas.openxmlformats.org/officeDocument/2006/relationships/hyperlink" Target="https://docs.google.com/spreadsheets/d/1X0A2BZnjLF3AXVI5iikiPuvKjSUiDSgd8S-geB9MjCA/edit#gid=544782226" TargetMode="Externa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79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79.png"/><Relationship Id="rId4" Type="http://schemas.openxmlformats.org/officeDocument/2006/relationships/image" Target="../media/image175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79.png"/><Relationship Id="rId4" Type="http://schemas.openxmlformats.org/officeDocument/2006/relationships/image" Target="../media/image158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79.png"/><Relationship Id="rId4" Type="http://schemas.openxmlformats.org/officeDocument/2006/relationships/image" Target="../media/image171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79.png"/><Relationship Id="rId4" Type="http://schemas.openxmlformats.org/officeDocument/2006/relationships/image" Target="../media/image161.png"/><Relationship Id="rId5" Type="http://schemas.openxmlformats.org/officeDocument/2006/relationships/image" Target="../media/image192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79.png"/><Relationship Id="rId4" Type="http://schemas.openxmlformats.org/officeDocument/2006/relationships/image" Target="../media/image159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79.png"/><Relationship Id="rId4" Type="http://schemas.openxmlformats.org/officeDocument/2006/relationships/image" Target="../media/image185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79.png"/><Relationship Id="rId4" Type="http://schemas.openxmlformats.org/officeDocument/2006/relationships/image" Target="../media/image171.png"/><Relationship Id="rId5" Type="http://schemas.openxmlformats.org/officeDocument/2006/relationships/image" Target="../media/image159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79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79.png"/><Relationship Id="rId4" Type="http://schemas.openxmlformats.org/officeDocument/2006/relationships/image" Target="../media/image167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79.png"/><Relationship Id="rId4" Type="http://schemas.openxmlformats.org/officeDocument/2006/relationships/image" Target="../media/image168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79.png"/><Relationship Id="rId4" Type="http://schemas.openxmlformats.org/officeDocument/2006/relationships/image" Target="../media/image178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79.png"/><Relationship Id="rId4" Type="http://schemas.openxmlformats.org/officeDocument/2006/relationships/image" Target="../media/image178.png"/><Relationship Id="rId5" Type="http://schemas.openxmlformats.org/officeDocument/2006/relationships/image" Target="../media/image180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79.png"/><Relationship Id="rId4" Type="http://schemas.openxmlformats.org/officeDocument/2006/relationships/image" Target="../media/image182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2.xml"/><Relationship Id="rId3" Type="http://schemas.openxmlformats.org/officeDocument/2006/relationships/hyperlink" Target="https://docs.google.com/spreadsheets/d/1X0A2BZnjLF3AXVI5iikiPuvKjSUiDSgd8S-geB9MjCA/edit#gid=544782226" TargetMode="External"/><Relationship Id="rId4" Type="http://schemas.openxmlformats.org/officeDocument/2006/relationships/image" Target="../media/image79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94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94.png"/><Relationship Id="rId4" Type="http://schemas.openxmlformats.org/officeDocument/2006/relationships/image" Target="../media/image173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94.png"/><Relationship Id="rId4" Type="http://schemas.openxmlformats.org/officeDocument/2006/relationships/image" Target="../media/image183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94.png"/><Relationship Id="rId4" Type="http://schemas.openxmlformats.org/officeDocument/2006/relationships/image" Target="../media/image187.png"/><Relationship Id="rId5" Type="http://schemas.openxmlformats.org/officeDocument/2006/relationships/image" Target="../media/image176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88.png"/><Relationship Id="rId4" Type="http://schemas.openxmlformats.org/officeDocument/2006/relationships/image" Target="../media/image177.png"/><Relationship Id="rId5" Type="http://schemas.openxmlformats.org/officeDocument/2006/relationships/image" Target="../media/image183.png"/><Relationship Id="rId6" Type="http://schemas.openxmlformats.org/officeDocument/2006/relationships/image" Target="../media/image194.png"/><Relationship Id="rId7" Type="http://schemas.openxmlformats.org/officeDocument/2006/relationships/image" Target="../media/image184.png"/><Relationship Id="rId8" Type="http://schemas.openxmlformats.org/officeDocument/2006/relationships/image" Target="../media/image195.png"/></Relationships>
</file>

<file path=ppt/slides/_rels/slide78.xml.rels><?xml version="1.0" encoding="UTF-8" standalone="yes"?><Relationships xmlns="http://schemas.openxmlformats.org/package/2006/relationships"><Relationship Id="rId11" Type="http://schemas.openxmlformats.org/officeDocument/2006/relationships/image" Target="../media/image199.png"/><Relationship Id="rId10" Type="http://schemas.openxmlformats.org/officeDocument/2006/relationships/image" Target="../media/image183.png"/><Relationship Id="rId12" Type="http://schemas.openxmlformats.org/officeDocument/2006/relationships/image" Target="../media/image229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94.png"/><Relationship Id="rId4" Type="http://schemas.openxmlformats.org/officeDocument/2006/relationships/image" Target="../media/image196.png"/><Relationship Id="rId9" Type="http://schemas.openxmlformats.org/officeDocument/2006/relationships/image" Target="../media/image212.png"/><Relationship Id="rId5" Type="http://schemas.openxmlformats.org/officeDocument/2006/relationships/image" Target="../media/image191.png"/><Relationship Id="rId6" Type="http://schemas.openxmlformats.org/officeDocument/2006/relationships/image" Target="../media/image202.png"/><Relationship Id="rId7" Type="http://schemas.openxmlformats.org/officeDocument/2006/relationships/image" Target="../media/image189.png"/><Relationship Id="rId8" Type="http://schemas.openxmlformats.org/officeDocument/2006/relationships/image" Target="../media/image201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94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94.png"/><Relationship Id="rId4" Type="http://schemas.openxmlformats.org/officeDocument/2006/relationships/image" Target="../media/image197.png"/><Relationship Id="rId5" Type="http://schemas.openxmlformats.org/officeDocument/2006/relationships/image" Target="../media/image209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94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194.png"/><Relationship Id="rId4" Type="http://schemas.openxmlformats.org/officeDocument/2006/relationships/image" Target="../media/image200.png"/><Relationship Id="rId5" Type="http://schemas.openxmlformats.org/officeDocument/2006/relationships/image" Target="../media/image198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194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194.png"/><Relationship Id="rId4" Type="http://schemas.openxmlformats.org/officeDocument/2006/relationships/image" Target="../media/image223.png"/><Relationship Id="rId5" Type="http://schemas.openxmlformats.org/officeDocument/2006/relationships/image" Target="../media/image230.png"/><Relationship Id="rId6" Type="http://schemas.openxmlformats.org/officeDocument/2006/relationships/image" Target="../media/image203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194.png"/><Relationship Id="rId4" Type="http://schemas.openxmlformats.org/officeDocument/2006/relationships/image" Target="../media/image227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94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194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194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194.png"/><Relationship Id="rId4" Type="http://schemas.openxmlformats.org/officeDocument/2006/relationships/image" Target="../media/image243.png"/><Relationship Id="rId5" Type="http://schemas.openxmlformats.org/officeDocument/2006/relationships/image" Target="../media/image208.png"/><Relationship Id="rId6" Type="http://schemas.openxmlformats.org/officeDocument/2006/relationships/image" Target="../media/image205.png"/><Relationship Id="rId7" Type="http://schemas.openxmlformats.org/officeDocument/2006/relationships/image" Target="../media/image211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194.png"/><Relationship Id="rId4" Type="http://schemas.openxmlformats.org/officeDocument/2006/relationships/image" Target="../media/image208.png"/><Relationship Id="rId5" Type="http://schemas.openxmlformats.org/officeDocument/2006/relationships/image" Target="../media/image206.pn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194.png"/><Relationship Id="rId4" Type="http://schemas.openxmlformats.org/officeDocument/2006/relationships/image" Target="../media/image215.pn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194.png"/><Relationship Id="rId4" Type="http://schemas.openxmlformats.org/officeDocument/2006/relationships/image" Target="../media/image215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194.pn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194.png"/><Relationship Id="rId4" Type="http://schemas.openxmlformats.org/officeDocument/2006/relationships/image" Target="../media/image217.png"/><Relationship Id="rId5" Type="http://schemas.openxmlformats.org/officeDocument/2006/relationships/image" Target="../media/image219.pn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194.png"/><Relationship Id="rId4" Type="http://schemas.openxmlformats.org/officeDocument/2006/relationships/image" Target="../media/image204.pn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194.png"/><Relationship Id="rId4" Type="http://schemas.openxmlformats.org/officeDocument/2006/relationships/image" Target="../media/image210.pn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194.png"/><Relationship Id="rId4" Type="http://schemas.openxmlformats.org/officeDocument/2006/relationships/image" Target="../media/image225.pn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194.png"/><Relationship Id="rId4" Type="http://schemas.openxmlformats.org/officeDocument/2006/relationships/image" Target="../media/image226.png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194.png"/><Relationship Id="rId4" Type="http://schemas.openxmlformats.org/officeDocument/2006/relationships/image" Target="../media/image226.png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194.png"/><Relationship Id="rId4" Type="http://schemas.openxmlformats.org/officeDocument/2006/relationships/image" Target="../media/image228.png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194.png"/><Relationship Id="rId4" Type="http://schemas.openxmlformats.org/officeDocument/2006/relationships/image" Target="../media/image241.png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194.png"/><Relationship Id="rId4" Type="http://schemas.openxmlformats.org/officeDocument/2006/relationships/image" Target="../media/image216.png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194.png"/><Relationship Id="rId4" Type="http://schemas.openxmlformats.org/officeDocument/2006/relationships/image" Target="../media/image214.png"/><Relationship Id="rId5" Type="http://schemas.openxmlformats.org/officeDocument/2006/relationships/image" Target="../media/image233.png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21.png"/></Relationships>
</file>

<file path=ppt/slides/_rels/slide105.xml.rels><?xml version="1.0" encoding="UTF-8" standalone="yes"?><Relationships xmlns="http://schemas.openxmlformats.org/package/2006/relationships"><Relationship Id="rId11" Type="http://schemas.openxmlformats.org/officeDocument/2006/relationships/image" Target="../media/image237.png"/><Relationship Id="rId10" Type="http://schemas.openxmlformats.org/officeDocument/2006/relationships/image" Target="../media/image242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21.png"/><Relationship Id="rId4" Type="http://schemas.openxmlformats.org/officeDocument/2006/relationships/image" Target="../media/image32.png"/><Relationship Id="rId9" Type="http://schemas.openxmlformats.org/officeDocument/2006/relationships/image" Target="../media/image246.png"/><Relationship Id="rId5" Type="http://schemas.openxmlformats.org/officeDocument/2006/relationships/image" Target="../media/image33.png"/><Relationship Id="rId6" Type="http://schemas.openxmlformats.org/officeDocument/2006/relationships/image" Target="../media/image22.png"/><Relationship Id="rId7" Type="http://schemas.openxmlformats.org/officeDocument/2006/relationships/image" Target="../media/image24.png"/><Relationship Id="rId8" Type="http://schemas.openxmlformats.org/officeDocument/2006/relationships/image" Target="../media/image251.png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21.png"/><Relationship Id="rId4" Type="http://schemas.openxmlformats.org/officeDocument/2006/relationships/image" Target="../media/image251.png"/><Relationship Id="rId9" Type="http://schemas.openxmlformats.org/officeDocument/2006/relationships/image" Target="../media/image24.png"/><Relationship Id="rId5" Type="http://schemas.openxmlformats.org/officeDocument/2006/relationships/image" Target="../media/image236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22.png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7.xml"/><Relationship Id="rId3" Type="http://schemas.openxmlformats.org/officeDocument/2006/relationships/image" Target="../media/image21.png"/><Relationship Id="rId4" Type="http://schemas.openxmlformats.org/officeDocument/2006/relationships/image" Target="../media/image251.png"/><Relationship Id="rId9" Type="http://schemas.openxmlformats.org/officeDocument/2006/relationships/image" Target="../media/image24.png"/><Relationship Id="rId5" Type="http://schemas.openxmlformats.org/officeDocument/2006/relationships/image" Target="../media/image236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22.png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8.xml"/><Relationship Id="rId3" Type="http://schemas.openxmlformats.org/officeDocument/2006/relationships/image" Target="../media/image21.png"/><Relationship Id="rId4" Type="http://schemas.openxmlformats.org/officeDocument/2006/relationships/image" Target="../media/image245.png"/><Relationship Id="rId5" Type="http://schemas.openxmlformats.org/officeDocument/2006/relationships/image" Target="../media/image253.png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9.xml"/><Relationship Id="rId3" Type="http://schemas.openxmlformats.org/officeDocument/2006/relationships/image" Target="../media/image21.png"/><Relationship Id="rId4" Type="http://schemas.openxmlformats.org/officeDocument/2006/relationships/image" Target="../media/image231.png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21.png"/><Relationship Id="rId4" Type="http://schemas.openxmlformats.org/officeDocument/2006/relationships/image" Target="../media/image232.png"/><Relationship Id="rId5" Type="http://schemas.openxmlformats.org/officeDocument/2006/relationships/image" Target="../media/image234.png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21.png"/><Relationship Id="rId4" Type="http://schemas.openxmlformats.org/officeDocument/2006/relationships/image" Target="../media/image258.png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21.png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21.png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4.xml"/><Relationship Id="rId3" Type="http://schemas.openxmlformats.org/officeDocument/2006/relationships/image" Target="../media/image21.png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21.png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21.png"/><Relationship Id="rId4" Type="http://schemas.openxmlformats.org/officeDocument/2006/relationships/image" Target="../media/image248.png"/><Relationship Id="rId5" Type="http://schemas.openxmlformats.org/officeDocument/2006/relationships/image" Target="../media/image249.png"/><Relationship Id="rId6" Type="http://schemas.openxmlformats.org/officeDocument/2006/relationships/image" Target="../media/image239.png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21.png"/><Relationship Id="rId4" Type="http://schemas.openxmlformats.org/officeDocument/2006/relationships/image" Target="../media/image214.png"/><Relationship Id="rId5" Type="http://schemas.openxmlformats.org/officeDocument/2006/relationships/image" Target="../media/image257.png"/><Relationship Id="rId6" Type="http://schemas.openxmlformats.org/officeDocument/2006/relationships/image" Target="../media/image259.png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21.png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9.xml"/><Relationship Id="rId3" Type="http://schemas.openxmlformats.org/officeDocument/2006/relationships/image" Target="../media/image21.png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0.xml"/><Relationship Id="rId3" Type="http://schemas.openxmlformats.org/officeDocument/2006/relationships/image" Target="../media/image21.png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21.png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25.png"/><Relationship Id="rId4" Type="http://schemas.openxmlformats.org/officeDocument/2006/relationships/image" Target="../media/image45.png"/><Relationship Id="rId5" Type="http://schemas.openxmlformats.org/officeDocument/2006/relationships/image" Target="../media/image81.png"/><Relationship Id="rId6" Type="http://schemas.openxmlformats.org/officeDocument/2006/relationships/image" Target="../media/image79.png"/><Relationship Id="rId7" Type="http://schemas.openxmlformats.org/officeDocument/2006/relationships/image" Target="../media/image194.png"/><Relationship Id="rId8" Type="http://schemas.openxmlformats.org/officeDocument/2006/relationships/image" Target="../media/image21.png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4.xml"/><Relationship Id="rId3" Type="http://schemas.openxmlformats.org/officeDocument/2006/relationships/image" Target="../media/image254.png"/><Relationship Id="rId4" Type="http://schemas.openxmlformats.org/officeDocument/2006/relationships/image" Target="../media/image255.png"/><Relationship Id="rId5" Type="http://schemas.openxmlformats.org/officeDocument/2006/relationships/hyperlink" Target="http://www.linkedin.com/in/teocalvo" TargetMode="External"/><Relationship Id="rId6" Type="http://schemas.openxmlformats.org/officeDocument/2006/relationships/image" Target="../media/image250.png"/><Relationship Id="rId7" Type="http://schemas.openxmlformats.org/officeDocument/2006/relationships/image" Target="../media/image256.png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81.png"/><Relationship Id="rId4" Type="http://schemas.openxmlformats.org/officeDocument/2006/relationships/image" Target="../media/image21.png"/><Relationship Id="rId5" Type="http://schemas.openxmlformats.org/officeDocument/2006/relationships/image" Target="../media/image194.png"/><Relationship Id="rId6" Type="http://schemas.openxmlformats.org/officeDocument/2006/relationships/image" Target="../media/image79.png"/><Relationship Id="rId7" Type="http://schemas.openxmlformats.org/officeDocument/2006/relationships/image" Target="../media/image45.png"/><Relationship Id="rId8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>
            <p:ph idx="4294967295" type="ctrTitle"/>
          </p:nvPr>
        </p:nvSpPr>
        <p:spPr>
          <a:xfrm>
            <a:off x="1379125" y="813975"/>
            <a:ext cx="9595500" cy="14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5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Estatística </a:t>
            </a:r>
            <a:r>
              <a:rPr lang="en-US" sz="3500">
                <a:highlight>
                  <a:srgbClr val="FFFFFF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Básica</a:t>
            </a:r>
            <a:endParaRPr b="0" i="0" sz="3500" u="none" cap="none" strike="noStrike">
              <a:solidFill>
                <a:schemeClr val="dk1"/>
              </a:solidFill>
              <a:highlight>
                <a:srgbClr val="FFFFFF"/>
              </a:highlight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05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Uma abordagem para pessoas iniciantes em dados</a:t>
            </a:r>
            <a:endParaRPr b="0" i="0" sz="2050" u="none" cap="none" strike="noStrike">
              <a:solidFill>
                <a:schemeClr val="dk1"/>
              </a:solidFill>
              <a:highlight>
                <a:srgbClr val="FFFFFF"/>
              </a:highlight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7" name="Google Shape;57;p15"/>
          <p:cNvSpPr txBox="1"/>
          <p:nvPr/>
        </p:nvSpPr>
        <p:spPr>
          <a:xfrm>
            <a:off x="1665605" y="5718175"/>
            <a:ext cx="369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15</a:t>
            </a:r>
            <a:r>
              <a:rPr b="0" i="0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/0</a:t>
            </a:r>
            <a:r>
              <a:rPr lang="en-US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r>
              <a:rPr b="0" i="0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/202</a:t>
            </a:r>
            <a:r>
              <a:rPr lang="en-US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teomewhy-logo-v01" id="58" name="Google Shape;5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6525" y="2687338"/>
            <a:ext cx="3415850" cy="217517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4875" y="2711601"/>
            <a:ext cx="5216026" cy="2126649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5"/>
          <p:cNvSpPr txBox="1"/>
          <p:nvPr/>
        </p:nvSpPr>
        <p:spPr>
          <a:xfrm>
            <a:off x="4190000" y="5564275"/>
            <a:ext cx="6034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highlight>
                  <a:srgbClr val="FFFFFF"/>
                </a:highlight>
              </a:rPr>
              <a:t>Estatística Básica</a:t>
            </a:r>
            <a:r>
              <a:rPr lang="en-US" sz="1200">
                <a:solidFill>
                  <a:srgbClr val="333333"/>
                </a:solidFill>
                <a:highlight>
                  <a:srgbClr val="FFFFFF"/>
                </a:highlight>
              </a:rPr>
              <a:t> © 2024 by Téo Calvo is licensed under CC BY-NC-SA 4.0.</a:t>
            </a:r>
            <a:endParaRPr sz="12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highlight>
                  <a:srgbClr val="FFFFFF"/>
                </a:highlight>
              </a:rPr>
              <a:t>To view a copy of this license, visit https://creativecommons.org/licenses/by-nc-sa/4.0/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" name="Google Shape;65;p16"/>
          <p:cNvCxnSpPr/>
          <p:nvPr/>
        </p:nvCxnSpPr>
        <p:spPr>
          <a:xfrm>
            <a:off x="303525" y="1609102"/>
            <a:ext cx="0" cy="454350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66" name="Google Shape;66;p16"/>
          <p:cNvCxnSpPr/>
          <p:nvPr/>
        </p:nvCxnSpPr>
        <p:spPr>
          <a:xfrm>
            <a:off x="9290514" y="1609102"/>
            <a:ext cx="0" cy="454350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67" name="Google Shape;67;p16"/>
          <p:cNvSpPr txBox="1"/>
          <p:nvPr/>
        </p:nvSpPr>
        <p:spPr>
          <a:xfrm>
            <a:off x="489600" y="1445325"/>
            <a:ext cx="911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2016</a:t>
            </a:r>
            <a:endParaRPr b="1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6"/>
          <p:cNvSpPr txBox="1"/>
          <p:nvPr/>
        </p:nvSpPr>
        <p:spPr>
          <a:xfrm>
            <a:off x="1773451" y="1445325"/>
            <a:ext cx="911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2017</a:t>
            </a:r>
            <a:endParaRPr b="1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6"/>
          <p:cNvSpPr txBox="1"/>
          <p:nvPr/>
        </p:nvSpPr>
        <p:spPr>
          <a:xfrm>
            <a:off x="3057314" y="1445325"/>
            <a:ext cx="911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2018</a:t>
            </a:r>
            <a:endParaRPr b="1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6"/>
          <p:cNvSpPr txBox="1"/>
          <p:nvPr/>
        </p:nvSpPr>
        <p:spPr>
          <a:xfrm>
            <a:off x="4341177" y="1445325"/>
            <a:ext cx="911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2019</a:t>
            </a:r>
            <a:endParaRPr b="1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6"/>
          <p:cNvSpPr txBox="1"/>
          <p:nvPr/>
        </p:nvSpPr>
        <p:spPr>
          <a:xfrm>
            <a:off x="5625028" y="1445325"/>
            <a:ext cx="911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2020</a:t>
            </a:r>
            <a:endParaRPr b="1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6"/>
          <p:cNvSpPr txBox="1"/>
          <p:nvPr/>
        </p:nvSpPr>
        <p:spPr>
          <a:xfrm>
            <a:off x="8227692" y="1445325"/>
            <a:ext cx="841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2022</a:t>
            </a:r>
            <a:endParaRPr b="1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" name="Google Shape;7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2450" y="2350500"/>
            <a:ext cx="1133699" cy="46484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4" name="Google Shape;74;p16"/>
          <p:cNvCxnSpPr/>
          <p:nvPr/>
        </p:nvCxnSpPr>
        <p:spPr>
          <a:xfrm>
            <a:off x="7156175" y="3166880"/>
            <a:ext cx="2543700" cy="0"/>
          </a:xfrm>
          <a:prstGeom prst="straightConnector1">
            <a:avLst/>
          </a:prstGeom>
          <a:noFill/>
          <a:ln cap="flat" cmpd="sng" w="38100">
            <a:solidFill>
              <a:srgbClr val="005196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gc" id="75" name="Google Shape;7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88225" y="2395455"/>
            <a:ext cx="720725" cy="720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litch_Purple_RGB" id="76" name="Google Shape;7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90628" y="5047170"/>
            <a:ext cx="612775" cy="64261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7" name="Google Shape;77;p16"/>
          <p:cNvCxnSpPr/>
          <p:nvPr/>
        </p:nvCxnSpPr>
        <p:spPr>
          <a:xfrm>
            <a:off x="4882600" y="5812150"/>
            <a:ext cx="7572600" cy="0"/>
          </a:xfrm>
          <a:prstGeom prst="straightConnector1">
            <a:avLst/>
          </a:prstGeom>
          <a:noFill/>
          <a:ln cap="flat" cmpd="sng" w="38100">
            <a:solidFill>
              <a:srgbClr val="6441A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8" name="Google Shape;78;p16"/>
          <p:cNvSpPr txBox="1"/>
          <p:nvPr>
            <p:ph idx="4294967295" type="title"/>
          </p:nvPr>
        </p:nvSpPr>
        <p:spPr>
          <a:xfrm>
            <a:off x="800500" y="2597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Trajetória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9" name="Google Shape;79;p16"/>
          <p:cNvCxnSpPr/>
          <p:nvPr/>
        </p:nvCxnSpPr>
        <p:spPr>
          <a:xfrm>
            <a:off x="1587381" y="1609102"/>
            <a:ext cx="0" cy="454350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80" name="Google Shape;80;p16"/>
          <p:cNvCxnSpPr/>
          <p:nvPr/>
        </p:nvCxnSpPr>
        <p:spPr>
          <a:xfrm>
            <a:off x="2871236" y="1609102"/>
            <a:ext cx="0" cy="454350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81" name="Google Shape;81;p16"/>
          <p:cNvCxnSpPr/>
          <p:nvPr/>
        </p:nvCxnSpPr>
        <p:spPr>
          <a:xfrm>
            <a:off x="4155092" y="1609102"/>
            <a:ext cx="0" cy="454350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82" name="Google Shape;82;p16"/>
          <p:cNvCxnSpPr/>
          <p:nvPr/>
        </p:nvCxnSpPr>
        <p:spPr>
          <a:xfrm>
            <a:off x="5438947" y="1609102"/>
            <a:ext cx="0" cy="454350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83" name="Google Shape;83;p16"/>
          <p:cNvCxnSpPr/>
          <p:nvPr/>
        </p:nvCxnSpPr>
        <p:spPr>
          <a:xfrm>
            <a:off x="6722803" y="1609102"/>
            <a:ext cx="0" cy="454350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84" name="Google Shape;84;p16"/>
          <p:cNvCxnSpPr/>
          <p:nvPr/>
        </p:nvCxnSpPr>
        <p:spPr>
          <a:xfrm>
            <a:off x="8006658" y="1609102"/>
            <a:ext cx="0" cy="454350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85" name="Google Shape;85;p16"/>
          <p:cNvSpPr txBox="1"/>
          <p:nvPr/>
        </p:nvSpPr>
        <p:spPr>
          <a:xfrm>
            <a:off x="6908879" y="1445325"/>
            <a:ext cx="911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2021</a:t>
            </a:r>
            <a:endParaRPr b="1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" name="Google Shape;8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26688" y="2169438"/>
            <a:ext cx="983154" cy="64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6"/>
          <p:cNvPicPr preferRelativeResize="0"/>
          <p:nvPr/>
        </p:nvPicPr>
        <p:blipFill rotWithShape="1">
          <a:blip r:embed="rId7">
            <a:alphaModFix/>
          </a:blip>
          <a:srcRect b="0" l="0" r="57155" t="0"/>
          <a:stretch/>
        </p:blipFill>
        <p:spPr>
          <a:xfrm>
            <a:off x="556900" y="2045625"/>
            <a:ext cx="720727" cy="69820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980038" y="2483341"/>
            <a:ext cx="1209075" cy="11153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" name="Google Shape;89;p16"/>
          <p:cNvCxnSpPr/>
          <p:nvPr/>
        </p:nvCxnSpPr>
        <p:spPr>
          <a:xfrm>
            <a:off x="10574369" y="1609521"/>
            <a:ext cx="0" cy="454350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90" name="Google Shape;90;p16"/>
          <p:cNvSpPr txBox="1"/>
          <p:nvPr/>
        </p:nvSpPr>
        <p:spPr>
          <a:xfrm>
            <a:off x="9511555" y="1445325"/>
            <a:ext cx="841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 b="1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" name="Google Shape;91;p16"/>
          <p:cNvCxnSpPr/>
          <p:nvPr/>
        </p:nvCxnSpPr>
        <p:spPr>
          <a:xfrm>
            <a:off x="3727175" y="2567690"/>
            <a:ext cx="1481700" cy="0"/>
          </a:xfrm>
          <a:prstGeom prst="straightConnector1">
            <a:avLst/>
          </a:prstGeom>
          <a:noFill/>
          <a:ln cap="flat" cmpd="sng" w="38100">
            <a:solidFill>
              <a:srgbClr val="F7822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2" name="Google Shape;92;p16"/>
          <p:cNvCxnSpPr/>
          <p:nvPr/>
        </p:nvCxnSpPr>
        <p:spPr>
          <a:xfrm>
            <a:off x="5236400" y="2867285"/>
            <a:ext cx="1724100" cy="0"/>
          </a:xfrm>
          <a:prstGeom prst="straightConnector1">
            <a:avLst/>
          </a:prstGeom>
          <a:noFill/>
          <a:ln cap="flat" cmpd="sng" w="38100">
            <a:solidFill>
              <a:srgbClr val="0CC5CA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3" name="Google Shape;93;p16"/>
          <p:cNvCxnSpPr/>
          <p:nvPr/>
        </p:nvCxnSpPr>
        <p:spPr>
          <a:xfrm>
            <a:off x="1938655" y="2268095"/>
            <a:ext cx="1676700" cy="0"/>
          </a:xfrm>
          <a:prstGeom prst="straightConnector1">
            <a:avLst/>
          </a:prstGeom>
          <a:noFill/>
          <a:ln cap="flat" cmpd="sng" w="38100">
            <a:solidFill>
              <a:srgbClr val="007CC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4" name="Google Shape;94;p16"/>
          <p:cNvCxnSpPr/>
          <p:nvPr/>
        </p:nvCxnSpPr>
        <p:spPr>
          <a:xfrm>
            <a:off x="1277620" y="1968500"/>
            <a:ext cx="656700" cy="0"/>
          </a:xfrm>
          <a:prstGeom prst="straightConnector1">
            <a:avLst/>
          </a:prstGeom>
          <a:noFill/>
          <a:ln cap="flat" cmpd="sng" w="38100">
            <a:solidFill>
              <a:srgbClr val="20C3F3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95" name="Google Shape;95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432025" y="4459400"/>
            <a:ext cx="1000855" cy="1000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6" name="Google Shape;96;p16"/>
          <p:cNvCxnSpPr/>
          <p:nvPr/>
        </p:nvCxnSpPr>
        <p:spPr>
          <a:xfrm>
            <a:off x="9448375" y="5464725"/>
            <a:ext cx="3006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97" name="Google Shape;97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58450" y="417225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580475" y="4711576"/>
            <a:ext cx="1000801" cy="10008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9" name="Google Shape;99;p16"/>
          <p:cNvCxnSpPr/>
          <p:nvPr/>
        </p:nvCxnSpPr>
        <p:spPr>
          <a:xfrm>
            <a:off x="5460300" y="5636175"/>
            <a:ext cx="6995100" cy="0"/>
          </a:xfrm>
          <a:prstGeom prst="straightConnector1">
            <a:avLst/>
          </a:prstGeom>
          <a:noFill/>
          <a:ln cap="flat" cmpd="sng" w="38100">
            <a:solidFill>
              <a:srgbClr val="F90373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00" name="Google Shape;100;p16"/>
          <p:cNvPicPr preferRelativeResize="0"/>
          <p:nvPr/>
        </p:nvPicPr>
        <p:blipFill rotWithShape="1">
          <a:blip r:embed="rId12">
            <a:alphaModFix/>
          </a:blip>
          <a:srcRect b="20137" l="0" r="0" t="20250"/>
          <a:stretch/>
        </p:blipFill>
        <p:spPr>
          <a:xfrm>
            <a:off x="9327912" y="3314075"/>
            <a:ext cx="1209075" cy="72072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1" name="Google Shape;101;p16"/>
          <p:cNvCxnSpPr/>
          <p:nvPr/>
        </p:nvCxnSpPr>
        <p:spPr>
          <a:xfrm>
            <a:off x="10137925" y="3466475"/>
            <a:ext cx="456600" cy="0"/>
          </a:xfrm>
          <a:prstGeom prst="straightConnector1">
            <a:avLst/>
          </a:prstGeom>
          <a:noFill/>
          <a:ln cap="flat" cmpd="sng" w="38100">
            <a:solidFill>
              <a:srgbClr val="5400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2" name="Google Shape;102;p16"/>
          <p:cNvSpPr txBox="1"/>
          <p:nvPr/>
        </p:nvSpPr>
        <p:spPr>
          <a:xfrm>
            <a:off x="10795406" y="1445325"/>
            <a:ext cx="841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2024</a:t>
            </a:r>
            <a:endParaRPr b="1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" name="Google Shape;103;p16"/>
          <p:cNvCxnSpPr/>
          <p:nvPr/>
        </p:nvCxnSpPr>
        <p:spPr>
          <a:xfrm>
            <a:off x="11858225" y="1609521"/>
            <a:ext cx="0" cy="454350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dash"/>
            <a:miter lim="800000"/>
            <a:headEnd len="sm" w="sm" type="none"/>
            <a:tailEnd len="sm" w="sm" type="none"/>
          </a:ln>
        </p:spPr>
      </p:cxnSp>
      <p:pic>
        <p:nvPicPr>
          <p:cNvPr id="104" name="Google Shape;104;p16"/>
          <p:cNvPicPr preferRelativeResize="0"/>
          <p:nvPr/>
        </p:nvPicPr>
        <p:blipFill rotWithShape="1">
          <a:blip r:embed="rId13">
            <a:alphaModFix/>
          </a:blip>
          <a:srcRect b="21604" l="9713" r="33620" t="21244"/>
          <a:stretch/>
        </p:blipFill>
        <p:spPr>
          <a:xfrm>
            <a:off x="10658150" y="5712375"/>
            <a:ext cx="456600" cy="460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450" y="4172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7"/>
          <p:cNvSpPr txBox="1"/>
          <p:nvPr>
            <p:ph idx="4294967295" type="title"/>
          </p:nvPr>
        </p:nvSpPr>
        <p:spPr>
          <a:xfrm>
            <a:off x="800500" y="2597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Combinados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" name="Google Shape;112;p17"/>
          <p:cNvSpPr txBox="1"/>
          <p:nvPr/>
        </p:nvSpPr>
        <p:spPr>
          <a:xfrm>
            <a:off x="844250" y="1337675"/>
            <a:ext cx="11001300" cy="47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Montserrat"/>
              <a:buChar char="●"/>
            </a:pPr>
            <a:r>
              <a:rPr b="0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Sempre das </a:t>
            </a:r>
            <a:r>
              <a:rPr b="1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19:30 às 22 horas</a:t>
            </a:r>
            <a:r>
              <a:rPr b="0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 estaremos online</a:t>
            </a:r>
            <a:endParaRPr b="0" i="0" sz="20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Montserrat"/>
              <a:buChar char="●"/>
            </a:pPr>
            <a:r>
              <a:rPr b="0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Pausa às </a:t>
            </a:r>
            <a:r>
              <a:rPr b="1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20:</a:t>
            </a:r>
            <a:r>
              <a:rPr b="1" lang="en-US" sz="2000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45</a:t>
            </a:r>
            <a:r>
              <a:rPr b="1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hrs</a:t>
            </a:r>
            <a:r>
              <a:rPr b="0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 até as 2</a:t>
            </a:r>
            <a:r>
              <a:rPr lang="en-US" sz="2000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b="0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r>
              <a:rPr lang="en-US" sz="2000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00</a:t>
            </a:r>
            <a:endParaRPr b="0" i="0" sz="20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Montserrat"/>
              <a:buChar char="●"/>
            </a:pPr>
            <a:r>
              <a:rPr b="0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Notificações serão </a:t>
            </a:r>
            <a:r>
              <a:rPr b="1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desligadas</a:t>
            </a:r>
            <a:r>
              <a:rPr b="0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, mas sua contribuição é sempre bem-vinda</a:t>
            </a:r>
            <a:endParaRPr b="0" i="0" sz="20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Montserrat"/>
              <a:buChar char="●"/>
            </a:pPr>
            <a:r>
              <a:rPr b="0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Quando houver ADs, a explicação é </a:t>
            </a:r>
            <a:r>
              <a:rPr b="1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pausada</a:t>
            </a:r>
            <a:endParaRPr b="1" i="0" sz="20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Montserrat"/>
              <a:buChar char="●"/>
            </a:pPr>
            <a:r>
              <a:rPr b="0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Evite </a:t>
            </a:r>
            <a:r>
              <a:rPr b="1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spamar</a:t>
            </a:r>
            <a:r>
              <a:rPr b="0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 a mesma coisa no chat, moderadores estarão de olho</a:t>
            </a:r>
            <a:endParaRPr b="0" i="0" sz="20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Montserrat"/>
              <a:buChar char="●"/>
            </a:pPr>
            <a:r>
              <a:rPr b="0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Comentários discriminatórios e babacas receberam </a:t>
            </a:r>
            <a:r>
              <a:rPr b="1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banimento</a:t>
            </a:r>
            <a:r>
              <a:rPr b="0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 sem aviso prévio</a:t>
            </a:r>
            <a:endParaRPr b="0" i="0" sz="20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Montserrat"/>
              <a:buChar char="●"/>
            </a:pPr>
            <a:r>
              <a:rPr b="1" lang="en-US" sz="2000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!ppt</a:t>
            </a:r>
            <a:r>
              <a:rPr lang="en-US" sz="2000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 para acessar todo materiald o curso</a:t>
            </a:r>
            <a:endParaRPr sz="2000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450" y="4172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8"/>
          <p:cNvSpPr txBox="1"/>
          <p:nvPr>
            <p:ph idx="4294967295" type="title"/>
          </p:nvPr>
        </p:nvSpPr>
        <p:spPr>
          <a:xfrm>
            <a:off x="800500" y="2597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Avisos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844250" y="1337675"/>
            <a:ext cx="11001300" cy="3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No último dia de curso teremos:</a:t>
            </a:r>
            <a:endParaRPr b="1" sz="2500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Montserrat"/>
              <a:buChar char="●"/>
            </a:pPr>
            <a:r>
              <a:rPr lang="en-US" sz="2000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Sorteio de livros</a:t>
            </a:r>
            <a:endParaRPr sz="2000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Montserrat"/>
              <a:buChar char="●"/>
            </a:pPr>
            <a:r>
              <a:rPr lang="en-US" sz="2000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Prova para certificado*</a:t>
            </a:r>
            <a:endParaRPr sz="2000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*certificado apenas para Subs disponível na nossa </a:t>
            </a:r>
            <a:r>
              <a:rPr lang="en-US" sz="2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lojinha</a:t>
            </a:r>
            <a:r>
              <a:rPr lang="en-US" sz="2000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 no valor de 1.500 datapoints</a:t>
            </a:r>
            <a:endParaRPr sz="2000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Por isso considere ser Sub e acompanhar todas as lives para adquirir conhecimento e datapoints.</a:t>
            </a:r>
            <a:endParaRPr sz="2000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450" y="4172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9"/>
          <p:cNvSpPr txBox="1"/>
          <p:nvPr>
            <p:ph idx="4294967295" type="title"/>
          </p:nvPr>
        </p:nvSpPr>
        <p:spPr>
          <a:xfrm>
            <a:off x="800500" y="2597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Avisos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" name="Google Shape;128;p19"/>
          <p:cNvSpPr txBox="1"/>
          <p:nvPr/>
        </p:nvSpPr>
        <p:spPr>
          <a:xfrm>
            <a:off x="844250" y="1337675"/>
            <a:ext cx="11001300" cy="40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Montserrat"/>
              <a:buChar char="●"/>
            </a:pPr>
            <a:r>
              <a:rPr b="0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Nosso foco </a:t>
            </a:r>
            <a:r>
              <a:rPr lang="en-US" sz="2000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é</a:t>
            </a:r>
            <a:r>
              <a:rPr b="0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 o básico bem feito;</a:t>
            </a:r>
            <a:endParaRPr b="0" i="0" sz="20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Montserrat"/>
              <a:buChar char="●"/>
            </a:pPr>
            <a:r>
              <a:rPr lang="en-US" sz="2000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Estamos melhorando ano após ano!</a:t>
            </a:r>
            <a:endParaRPr sz="2000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Montserrat"/>
              <a:buChar char="●"/>
            </a:pPr>
            <a:r>
              <a:rPr b="0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Tem algo que não abordei?</a:t>
            </a:r>
            <a:endParaRPr b="1" i="0" sz="20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Montserrat"/>
              <a:buChar char="●"/>
            </a:pPr>
            <a:r>
              <a:rPr b="0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Tem algo que você explicaria diferente?</a:t>
            </a:r>
            <a:endParaRPr b="0" i="0" sz="20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Montserrat"/>
              <a:buChar char="●"/>
            </a:pPr>
            <a:r>
              <a:rPr b="0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Tem algo mais complexo que deixei passar?</a:t>
            </a:r>
            <a:endParaRPr b="0" i="0" sz="20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29" name="Google Shape;129;p19"/>
          <p:cNvGrpSpPr/>
          <p:nvPr/>
        </p:nvGrpSpPr>
        <p:grpSpPr>
          <a:xfrm>
            <a:off x="7632738" y="3218875"/>
            <a:ext cx="4463163" cy="865800"/>
            <a:chOff x="7110713" y="3229650"/>
            <a:chExt cx="4463163" cy="865800"/>
          </a:xfrm>
        </p:grpSpPr>
        <p:sp>
          <p:nvSpPr>
            <p:cNvPr id="130" name="Google Shape;130;p19"/>
            <p:cNvSpPr/>
            <p:nvPr/>
          </p:nvSpPr>
          <p:spPr>
            <a:xfrm>
              <a:off x="7110713" y="3429000"/>
              <a:ext cx="934500" cy="467100"/>
            </a:xfrm>
            <a:prstGeom prst="notchedRightArrow">
              <a:avLst>
                <a:gd fmla="val 50000" name="adj1"/>
                <a:gd fmla="val 50000" name="adj2"/>
              </a:avLst>
            </a:prstGeom>
            <a:solidFill>
              <a:srgbClr val="D9D9D9"/>
            </a:solidFill>
            <a:ln cap="flat" cmpd="sng" w="2857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19"/>
            <p:cNvSpPr txBox="1"/>
            <p:nvPr/>
          </p:nvSpPr>
          <p:spPr>
            <a:xfrm>
              <a:off x="8321275" y="3229650"/>
              <a:ext cx="3252600" cy="86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Faça um vídeo/material</a:t>
              </a:r>
              <a:endParaRPr b="0" i="0" sz="2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32" name="Google Shape;132;p19"/>
          <p:cNvSpPr/>
          <p:nvPr/>
        </p:nvSpPr>
        <p:spPr>
          <a:xfrm>
            <a:off x="7076475" y="2605525"/>
            <a:ext cx="280200" cy="20925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450" y="4172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0"/>
          <p:cNvSpPr txBox="1"/>
          <p:nvPr>
            <p:ph idx="4294967295" type="title"/>
          </p:nvPr>
        </p:nvSpPr>
        <p:spPr>
          <a:xfrm>
            <a:off x="800500" y="2597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Nos Apoie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" name="Google Shape;140;p20"/>
          <p:cNvSpPr txBox="1"/>
          <p:nvPr/>
        </p:nvSpPr>
        <p:spPr>
          <a:xfrm>
            <a:off x="844250" y="1337675"/>
            <a:ext cx="11001300" cy="44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Nossos cursos são 100% gratuitos</a:t>
            </a:r>
            <a:endParaRPr b="1" sz="2500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e você pode nos apoiar em diferentes plataformas:</a:t>
            </a:r>
            <a:endParaRPr sz="2000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Montserrat"/>
              <a:buChar char="●"/>
            </a:pPr>
            <a:r>
              <a:rPr lang="en-US" sz="2000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Apoia.se: </a:t>
            </a:r>
            <a:r>
              <a:rPr lang="en-US" sz="2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apoia.se/teomewhy</a:t>
            </a:r>
            <a:endParaRPr sz="2000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Montserrat"/>
              <a:buChar char="●"/>
            </a:pPr>
            <a:r>
              <a:rPr lang="en-US" sz="2000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LivePix: </a:t>
            </a:r>
            <a:r>
              <a:rPr lang="en-US" sz="2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livepix.gg/teomewhy</a:t>
            </a:r>
            <a:endParaRPr sz="2000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Montserrat"/>
              <a:buChar char="●"/>
            </a:pPr>
            <a:r>
              <a:rPr lang="en-US" sz="2000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Assinante na Twitch: </a:t>
            </a:r>
            <a:r>
              <a:rPr lang="en-US" sz="2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twitch.tv/teomewhy</a:t>
            </a:r>
            <a:endParaRPr sz="2000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Montserrat"/>
              <a:buChar char="●"/>
            </a:pPr>
            <a:r>
              <a:rPr lang="en-US" sz="2000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Membros no YouTube: </a:t>
            </a:r>
            <a:r>
              <a:rPr lang="en-US" sz="2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7"/>
              </a:rPr>
              <a:t>youtube.com/@teomewhy</a:t>
            </a:r>
            <a:endParaRPr sz="2000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Montserrat"/>
              <a:buChar char="●"/>
            </a:pPr>
            <a:r>
              <a:rPr lang="en-US" sz="2000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GitHub Sponsors: </a:t>
            </a:r>
            <a:r>
              <a:rPr lang="en-US" sz="2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8"/>
              </a:rPr>
              <a:t>github.com/sponsors/TeoMeWhy</a:t>
            </a:r>
            <a:endParaRPr sz="2000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450" y="4172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1"/>
          <p:cNvSpPr txBox="1"/>
          <p:nvPr>
            <p:ph idx="4294967295" type="title"/>
          </p:nvPr>
        </p:nvSpPr>
        <p:spPr>
          <a:xfrm>
            <a:off x="800500" y="2597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Ementa (1/2)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" name="Google Shape;148;p21"/>
          <p:cNvSpPr txBox="1"/>
          <p:nvPr/>
        </p:nvSpPr>
        <p:spPr>
          <a:xfrm>
            <a:off x="844250" y="1337675"/>
            <a:ext cx="9175800" cy="53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Introdução a Estatística</a:t>
            </a:r>
            <a:endParaRPr b="1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 O que é e para o que serve</a:t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 População vs Amostra</a:t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 Conjunto de dados, Variáveis, Observações</a:t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Tipos de variáveis</a:t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 Variáveis Qualitativas</a:t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 Variáveis Quantitativas</a:t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8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Medidas Resumo</a:t>
            </a:r>
            <a:endParaRPr b="1" i="0" sz="18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- Tabela de frequências</a:t>
            </a:r>
            <a:endParaRPr b="0" i="0" sz="18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- Posição</a:t>
            </a:r>
            <a:endParaRPr b="0" i="0" sz="18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- Dispersão</a:t>
            </a:r>
            <a:endParaRPr b="0" i="0" sz="18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Gráficos</a:t>
            </a:r>
            <a:endParaRPr b="1" i="0" sz="18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- Principais gráficos</a:t>
            </a:r>
            <a:endParaRPr b="0" i="0" sz="18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- Gráficos para não se utilizar</a:t>
            </a:r>
            <a:endParaRPr b="0" i="0" sz="18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450" y="4172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2"/>
          <p:cNvSpPr txBox="1"/>
          <p:nvPr>
            <p:ph idx="4294967295" type="title"/>
          </p:nvPr>
        </p:nvSpPr>
        <p:spPr>
          <a:xfrm>
            <a:off x="800500" y="2597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Ementa (2/2)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" name="Google Shape;156;p22"/>
          <p:cNvSpPr txBox="1"/>
          <p:nvPr/>
        </p:nvSpPr>
        <p:spPr>
          <a:xfrm>
            <a:off x="844250" y="1337675"/>
            <a:ext cx="9175800" cy="49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Probabilidade Básica</a:t>
            </a:r>
            <a:endParaRPr b="1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 Eventos e Espaço Amostral</a:t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 Axiomas de Probabilidade</a:t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 Probabilidade Conjunta e Probabilidade Condicional</a:t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 Teorema de Bayes</a:t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8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Distribuição Normal</a:t>
            </a:r>
            <a:endParaRPr b="1" i="0" sz="18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- Introdução distribuição Normal</a:t>
            </a:r>
            <a:endParaRPr b="0" i="0" sz="18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- Propriedades e características</a:t>
            </a:r>
            <a:endParaRPr b="0" i="0" sz="18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- Normal padrão e sua tabela</a:t>
            </a:r>
            <a:endParaRPr b="0" i="0" sz="18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8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Intervalo de Confiança e Teste de Hipótese</a:t>
            </a:r>
            <a:endParaRPr b="1" i="0" sz="18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- Intervalo de confiança para a média</a:t>
            </a:r>
            <a:endParaRPr b="0" i="0" sz="18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- Teste de hipótese para média</a:t>
            </a:r>
            <a:endParaRPr b="0" i="0" sz="18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- Comparação de duas médias</a:t>
            </a:r>
            <a:endParaRPr b="0" i="0" sz="18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3"/>
          <p:cNvSpPr/>
          <p:nvPr/>
        </p:nvSpPr>
        <p:spPr>
          <a:xfrm>
            <a:off x="411675" y="1749575"/>
            <a:ext cx="4996200" cy="4968000"/>
          </a:xfrm>
          <a:prstGeom prst="ellipse">
            <a:avLst/>
          </a:prstGeom>
          <a:noFill/>
          <a:ln cap="flat" cmpd="sng" w="28575">
            <a:solidFill>
              <a:srgbClr val="2F54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3"/>
          <p:cNvSpPr txBox="1"/>
          <p:nvPr>
            <p:ph idx="4294967295" type="title"/>
          </p:nvPr>
        </p:nvSpPr>
        <p:spPr>
          <a:xfrm>
            <a:off x="800500" y="2597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Estatística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3" name="Google Shape;16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450" y="417225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06375" y="2080438"/>
            <a:ext cx="800400" cy="8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4550" y="3248325"/>
            <a:ext cx="800400" cy="8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11225" y="3028800"/>
            <a:ext cx="800400" cy="8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1438" y="4464725"/>
            <a:ext cx="800400" cy="8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61313" y="5519225"/>
            <a:ext cx="800400" cy="8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782050" y="2031918"/>
            <a:ext cx="800400" cy="8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496438" y="3068093"/>
            <a:ext cx="800400" cy="8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210813" y="4055731"/>
            <a:ext cx="800400" cy="8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12200" y="5411743"/>
            <a:ext cx="800400" cy="8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10450" y="5171550"/>
            <a:ext cx="800400" cy="8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0225" y="3933075"/>
            <a:ext cx="800400" cy="8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30200" y="4154538"/>
            <a:ext cx="800400" cy="8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3"/>
          <p:cNvSpPr txBox="1"/>
          <p:nvPr/>
        </p:nvSpPr>
        <p:spPr>
          <a:xfrm>
            <a:off x="6046625" y="1139975"/>
            <a:ext cx="6145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Quantas pessoas temos nessa população?</a:t>
            </a:r>
            <a:endParaRPr b="1" i="0" sz="1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7" name="Google Shape;177;p23"/>
          <p:cNvSpPr txBox="1"/>
          <p:nvPr/>
        </p:nvSpPr>
        <p:spPr>
          <a:xfrm>
            <a:off x="6046625" y="2316405"/>
            <a:ext cx="6145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Quantas pessoas azuis?</a:t>
            </a:r>
            <a:endParaRPr b="1" i="0" sz="1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" name="Google Shape;178;p23"/>
          <p:cNvSpPr txBox="1"/>
          <p:nvPr/>
        </p:nvSpPr>
        <p:spPr>
          <a:xfrm>
            <a:off x="6046625" y="3492834"/>
            <a:ext cx="6145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Qual a taxa de vermelhos e amarelos?</a:t>
            </a:r>
            <a:endParaRPr b="1" i="0" sz="1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9" name="Google Shape;179;p23"/>
          <p:cNvSpPr txBox="1"/>
          <p:nvPr/>
        </p:nvSpPr>
        <p:spPr>
          <a:xfrm>
            <a:off x="6046625" y="1606977"/>
            <a:ext cx="6113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 pessoas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3"/>
          <p:cNvSpPr txBox="1"/>
          <p:nvPr/>
        </p:nvSpPr>
        <p:spPr>
          <a:xfrm>
            <a:off x="6046625" y="2734094"/>
            <a:ext cx="6113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Temos 4 pessoas azuis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3"/>
          <p:cNvSpPr txBox="1"/>
          <p:nvPr/>
        </p:nvSpPr>
        <p:spPr>
          <a:xfrm>
            <a:off x="6046625" y="3954523"/>
            <a:ext cx="6113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vermelha e 3 amarelas -&gt; 4 / 12 = 1/3 = 33,33%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3"/>
          <p:cNvSpPr txBox="1"/>
          <p:nvPr/>
        </p:nvSpPr>
        <p:spPr>
          <a:xfrm>
            <a:off x="6046625" y="4954950"/>
            <a:ext cx="5361000" cy="17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Durante nosso dia a dia estamos cercados por estatísticas. Elas são muito utilizadas para resumir, sumarizar as características de uma população, conjunto de dados, observações e eventos.</a:t>
            </a:r>
            <a:endParaRPr b="0" i="0" sz="1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4"/>
          <p:cNvSpPr txBox="1"/>
          <p:nvPr/>
        </p:nvSpPr>
        <p:spPr>
          <a:xfrm>
            <a:off x="-5663425" y="4545875"/>
            <a:ext cx="6136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Sobre  computação</a:t>
            </a:r>
            <a:endParaRPr b="1" i="0" sz="40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" name="Google Shape;188;p24"/>
          <p:cNvSpPr txBox="1"/>
          <p:nvPr>
            <p:ph idx="4294967295" type="title"/>
          </p:nvPr>
        </p:nvSpPr>
        <p:spPr>
          <a:xfrm>
            <a:off x="800500" y="2597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Estatística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9" name="Google Shape;189;p24"/>
          <p:cNvSpPr txBox="1"/>
          <p:nvPr/>
        </p:nvSpPr>
        <p:spPr>
          <a:xfrm>
            <a:off x="844250" y="1476375"/>
            <a:ext cx="10281000" cy="48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Estatística é um conjunto de ferramentas utilizadas para cálculos que nos auxiliam a sumarizar e entender os dados. Estes dados podem ter origem de uma população, experimentação, sistemas, pesquisas de opinião/política e outras fontes.</a:t>
            </a:r>
            <a:endParaRPr b="0" i="0" sz="21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Sua aplicação é observada em diferentes áreas do conhecimento e indústrias no mercado de trabalho e meio acadêmico. Tanto na medicina, com experimentação de medicamentos e vacinas, quanto no MKT para avaliação de performance entre canais, ou até mesmo na indústria para detecção de falhas na linha de produção.</a:t>
            </a:r>
            <a:endParaRPr b="0" i="0" sz="21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90" name="Google Shape;19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450" y="417225"/>
            <a:ext cx="6858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5"/>
          <p:cNvSpPr txBox="1"/>
          <p:nvPr>
            <p:ph idx="4294967295" type="title"/>
          </p:nvPr>
        </p:nvSpPr>
        <p:spPr>
          <a:xfrm>
            <a:off x="800500" y="2597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População vs Amostra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6" name="Google Shape;19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450" y="4172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5"/>
          <p:cNvSpPr/>
          <p:nvPr/>
        </p:nvSpPr>
        <p:spPr>
          <a:xfrm>
            <a:off x="335475" y="1292375"/>
            <a:ext cx="4996200" cy="4968000"/>
          </a:xfrm>
          <a:prstGeom prst="ellipse">
            <a:avLst/>
          </a:prstGeom>
          <a:noFill/>
          <a:ln cap="flat" cmpd="sng" w="28575">
            <a:solidFill>
              <a:srgbClr val="2F54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8" name="Google Shape;19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30175" y="1623238"/>
            <a:ext cx="800400" cy="8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8350" y="2791125"/>
            <a:ext cx="800400" cy="8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35025" y="2571600"/>
            <a:ext cx="800400" cy="8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5238" y="4007525"/>
            <a:ext cx="800400" cy="8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85113" y="5062025"/>
            <a:ext cx="800400" cy="8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705850" y="1574718"/>
            <a:ext cx="800400" cy="8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420238" y="2610893"/>
            <a:ext cx="800400" cy="8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34613" y="3598531"/>
            <a:ext cx="800400" cy="8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36000" y="4954543"/>
            <a:ext cx="800400" cy="8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34250" y="4714350"/>
            <a:ext cx="800400" cy="8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64025" y="3475875"/>
            <a:ext cx="800400" cy="8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4000" y="3697338"/>
            <a:ext cx="800400" cy="8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5"/>
          <p:cNvSpPr txBox="1"/>
          <p:nvPr/>
        </p:nvSpPr>
        <p:spPr>
          <a:xfrm>
            <a:off x="1519125" y="6292225"/>
            <a:ext cx="262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F5496"/>
                </a:solidFill>
                <a:latin typeface="Montserrat"/>
                <a:ea typeface="Montserrat"/>
                <a:cs typeface="Montserrat"/>
                <a:sym typeface="Montserrat"/>
              </a:rPr>
              <a:t>População</a:t>
            </a:r>
            <a:endParaRPr b="1" i="0" sz="1800" u="none" cap="none" strike="noStrike">
              <a:solidFill>
                <a:srgbClr val="2F549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11" name="Google Shape;211;p25"/>
          <p:cNvGrpSpPr/>
          <p:nvPr/>
        </p:nvGrpSpPr>
        <p:grpSpPr>
          <a:xfrm>
            <a:off x="9001225" y="188625"/>
            <a:ext cx="1257000" cy="1249800"/>
            <a:chOff x="8571500" y="1350025"/>
            <a:chExt cx="1257000" cy="1249800"/>
          </a:xfrm>
        </p:grpSpPr>
        <p:sp>
          <p:nvSpPr>
            <p:cNvPr id="212" name="Google Shape;212;p25"/>
            <p:cNvSpPr/>
            <p:nvPr/>
          </p:nvSpPr>
          <p:spPr>
            <a:xfrm>
              <a:off x="8571500" y="1350025"/>
              <a:ext cx="1257000" cy="1249800"/>
            </a:xfrm>
            <a:prstGeom prst="ellipse">
              <a:avLst/>
            </a:prstGeom>
            <a:noFill/>
            <a:ln cap="flat" cmpd="sng" w="28575">
              <a:solidFill>
                <a:srgbClr val="2F549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13" name="Google Shape;213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799800" y="1505250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4" name="Google Shape;214;p25"/>
          <p:cNvGrpSpPr/>
          <p:nvPr/>
        </p:nvGrpSpPr>
        <p:grpSpPr>
          <a:xfrm>
            <a:off x="8488955" y="1602600"/>
            <a:ext cx="2220300" cy="2207400"/>
            <a:chOff x="8223705" y="2325300"/>
            <a:chExt cx="2220300" cy="2207400"/>
          </a:xfrm>
        </p:grpSpPr>
        <p:sp>
          <p:nvSpPr>
            <p:cNvPr id="215" name="Google Shape;215;p25"/>
            <p:cNvSpPr/>
            <p:nvPr/>
          </p:nvSpPr>
          <p:spPr>
            <a:xfrm>
              <a:off x="8223705" y="2325300"/>
              <a:ext cx="2220300" cy="2207400"/>
            </a:xfrm>
            <a:prstGeom prst="ellipse">
              <a:avLst/>
            </a:prstGeom>
            <a:noFill/>
            <a:ln cap="flat" cmpd="sng" w="28575">
              <a:solidFill>
                <a:srgbClr val="2F549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16" name="Google Shape;216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370075" y="2896950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7" name="Google Shape;217;p2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9229513" y="2571593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8" name="Google Shape;218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29525" y="3475863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9" name="Google Shape;219;p25"/>
          <p:cNvGrpSpPr/>
          <p:nvPr/>
        </p:nvGrpSpPr>
        <p:grpSpPr>
          <a:xfrm>
            <a:off x="8223899" y="3974175"/>
            <a:ext cx="2750400" cy="2734500"/>
            <a:chOff x="8223899" y="4355175"/>
            <a:chExt cx="2750400" cy="2734500"/>
          </a:xfrm>
        </p:grpSpPr>
        <p:pic>
          <p:nvPicPr>
            <p:cNvPr id="220" name="Google Shape;220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826725" y="5754938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1" name="Google Shape;221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198900" y="6092125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2" name="Google Shape;222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560550" y="5754950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3" name="Google Shape;223;p2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9908838" y="4954543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4" name="Google Shape;224;p2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9198888" y="5243306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5" name="Google Shape;225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29525" y="4442900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6" name="Google Shape;226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458525" y="5062013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7" name="Google Shape;227;p25"/>
            <p:cNvSpPr/>
            <p:nvPr/>
          </p:nvSpPr>
          <p:spPr>
            <a:xfrm>
              <a:off x="8223899" y="4355175"/>
              <a:ext cx="2750400" cy="2734500"/>
            </a:xfrm>
            <a:prstGeom prst="ellipse">
              <a:avLst/>
            </a:prstGeom>
            <a:noFill/>
            <a:ln cap="flat" cmpd="sng" w="28575">
              <a:solidFill>
                <a:srgbClr val="2F549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8" name="Google Shape;228;p25"/>
          <p:cNvSpPr/>
          <p:nvPr/>
        </p:nvSpPr>
        <p:spPr>
          <a:xfrm>
            <a:off x="5558202" y="3147900"/>
            <a:ext cx="1538400" cy="800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F54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Amostras</a:t>
            </a:r>
            <a:endParaRPr b="1" i="0" sz="1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9" name="Google Shape;229;p25"/>
          <p:cNvSpPr/>
          <p:nvPr/>
        </p:nvSpPr>
        <p:spPr>
          <a:xfrm>
            <a:off x="7323150" y="342900"/>
            <a:ext cx="1068300" cy="64104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2F54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6"/>
          <p:cNvSpPr txBox="1"/>
          <p:nvPr>
            <p:ph idx="4294967295" type="title"/>
          </p:nvPr>
        </p:nvSpPr>
        <p:spPr>
          <a:xfrm>
            <a:off x="800500" y="2597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Amostra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5" name="Google Shape;23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450" y="417225"/>
            <a:ext cx="685800" cy="685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6" name="Google Shape;236;p26"/>
          <p:cNvGrpSpPr/>
          <p:nvPr/>
        </p:nvGrpSpPr>
        <p:grpSpPr>
          <a:xfrm>
            <a:off x="9001225" y="188625"/>
            <a:ext cx="1257000" cy="1249800"/>
            <a:chOff x="8571500" y="1350025"/>
            <a:chExt cx="1257000" cy="1249800"/>
          </a:xfrm>
        </p:grpSpPr>
        <p:sp>
          <p:nvSpPr>
            <p:cNvPr id="237" name="Google Shape;237;p26"/>
            <p:cNvSpPr/>
            <p:nvPr/>
          </p:nvSpPr>
          <p:spPr>
            <a:xfrm>
              <a:off x="8571500" y="1350025"/>
              <a:ext cx="1257000" cy="1249800"/>
            </a:xfrm>
            <a:prstGeom prst="ellipse">
              <a:avLst/>
            </a:prstGeom>
            <a:noFill/>
            <a:ln cap="flat" cmpd="sng" w="28575">
              <a:solidFill>
                <a:srgbClr val="2F549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38" name="Google Shape;238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99800" y="1505250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9" name="Google Shape;239;p26"/>
          <p:cNvGrpSpPr/>
          <p:nvPr/>
        </p:nvGrpSpPr>
        <p:grpSpPr>
          <a:xfrm>
            <a:off x="8488955" y="1602600"/>
            <a:ext cx="2220300" cy="2207400"/>
            <a:chOff x="8223705" y="2325300"/>
            <a:chExt cx="2220300" cy="2207400"/>
          </a:xfrm>
        </p:grpSpPr>
        <p:sp>
          <p:nvSpPr>
            <p:cNvPr id="240" name="Google Shape;240;p26"/>
            <p:cNvSpPr/>
            <p:nvPr/>
          </p:nvSpPr>
          <p:spPr>
            <a:xfrm>
              <a:off x="8223705" y="2325300"/>
              <a:ext cx="2220300" cy="2207400"/>
            </a:xfrm>
            <a:prstGeom prst="ellipse">
              <a:avLst/>
            </a:prstGeom>
            <a:noFill/>
            <a:ln cap="flat" cmpd="sng" w="28575">
              <a:solidFill>
                <a:srgbClr val="2F549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41" name="Google Shape;241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370075" y="2896950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2" name="Google Shape;242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29513" y="2571593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3" name="Google Shape;243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29525" y="3475863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4" name="Google Shape;244;p26"/>
          <p:cNvGrpSpPr/>
          <p:nvPr/>
        </p:nvGrpSpPr>
        <p:grpSpPr>
          <a:xfrm>
            <a:off x="8223899" y="3974175"/>
            <a:ext cx="2750400" cy="2734500"/>
            <a:chOff x="8223899" y="4355175"/>
            <a:chExt cx="2750400" cy="2734500"/>
          </a:xfrm>
        </p:grpSpPr>
        <p:pic>
          <p:nvPicPr>
            <p:cNvPr id="245" name="Google Shape;245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826725" y="5754938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6" name="Google Shape;246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198900" y="6092125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7" name="Google Shape;247;p2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560550" y="5754950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8" name="Google Shape;248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908838" y="4954543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9" name="Google Shape;249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198888" y="5243306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0" name="Google Shape;250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29525" y="4442900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1" name="Google Shape;251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458525" y="5062013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2" name="Google Shape;252;p26"/>
            <p:cNvSpPr/>
            <p:nvPr/>
          </p:nvSpPr>
          <p:spPr>
            <a:xfrm>
              <a:off x="8223899" y="4355175"/>
              <a:ext cx="2750400" cy="2734500"/>
            </a:xfrm>
            <a:prstGeom prst="ellipse">
              <a:avLst/>
            </a:prstGeom>
            <a:noFill/>
            <a:ln cap="flat" cmpd="sng" w="28575">
              <a:solidFill>
                <a:srgbClr val="2F549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3" name="Google Shape;253;p26"/>
          <p:cNvSpPr/>
          <p:nvPr/>
        </p:nvSpPr>
        <p:spPr>
          <a:xfrm>
            <a:off x="7323150" y="342900"/>
            <a:ext cx="1068300" cy="64104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2F54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6"/>
          <p:cNvSpPr txBox="1"/>
          <p:nvPr/>
        </p:nvSpPr>
        <p:spPr>
          <a:xfrm>
            <a:off x="295275" y="1866900"/>
            <a:ext cx="6858000" cy="43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São utilizadas para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inferir</a:t>
            </a: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estatísticas</a:t>
            </a: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sobre nossa população.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Representam uma fatia, pedaço, parcela de nossa população, havendo diferentes maneiras para sua seleção.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Como profissionais de dados, buscamos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amostras representativas</a:t>
            </a: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e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não enviesadas</a:t>
            </a: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 Para isso contamos com métodos de amostragem: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*Amostragem Aleatória*</a:t>
            </a:r>
            <a:endParaRPr b="1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7"/>
          <p:cNvSpPr txBox="1"/>
          <p:nvPr>
            <p:ph idx="4294967295" type="title"/>
          </p:nvPr>
        </p:nvSpPr>
        <p:spPr>
          <a:xfrm>
            <a:off x="800500" y="2597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Amostra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60" name="Google Shape;26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450" y="417225"/>
            <a:ext cx="685800" cy="685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61" name="Google Shape;261;p27"/>
          <p:cNvGraphicFramePr/>
          <p:nvPr/>
        </p:nvGraphicFramePr>
        <p:xfrm>
          <a:off x="1745838" y="1921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{E53BE7DB-6D05-4E4C-B960-DC2D34714B52}</a:tableStyleId>
              </a:tblPr>
              <a:tblGrid>
                <a:gridCol w="2015225"/>
                <a:gridCol w="3426275"/>
                <a:gridCol w="3258800"/>
              </a:tblGrid>
              <a:tr h="544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Parâmetro</a:t>
                      </a:r>
                      <a:endParaRPr b="1" sz="16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Estimador</a:t>
                      </a:r>
                      <a:endParaRPr b="1" sz="16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</a:tr>
              <a:tr h="838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Definição</a:t>
                      </a:r>
                      <a:endParaRPr b="1" sz="16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Descreve uma característica (medida) do conjunto de dados</a:t>
                      </a:r>
                      <a:endParaRPr sz="16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Estimativa de um parâmetro</a:t>
                      </a:r>
                      <a:endParaRPr sz="16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794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Conjunto de dados</a:t>
                      </a:r>
                      <a:endParaRPr b="1" sz="16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População</a:t>
                      </a:r>
                      <a:endParaRPr sz="16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Amostra</a:t>
                      </a:r>
                      <a:endParaRPr sz="16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838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Valor</a:t>
                      </a:r>
                      <a:endParaRPr b="1" sz="16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Fixo (normalmente desconhecido)</a:t>
                      </a:r>
                      <a:endParaRPr sz="16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Calculado e aleatório</a:t>
                      </a:r>
                      <a:endParaRPr sz="16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8"/>
          <p:cNvSpPr txBox="1"/>
          <p:nvPr>
            <p:ph idx="4294967295" type="title"/>
          </p:nvPr>
        </p:nvSpPr>
        <p:spPr>
          <a:xfrm>
            <a:off x="800500" y="2597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Amostra (exemplo)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67" name="Google Shape;26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450" y="4172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8"/>
          <p:cNvSpPr txBox="1"/>
          <p:nvPr/>
        </p:nvSpPr>
        <p:spPr>
          <a:xfrm>
            <a:off x="398425" y="2474700"/>
            <a:ext cx="11134800" cy="29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População</a:t>
            </a: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Pessoas brasileiras que estão com a carteira de trabalho ativa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Amostra</a:t>
            </a: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Respondentes de uma enquete de salário no Glassdoor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Unidade Amostral</a:t>
            </a: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Indivíduo respondente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Variáveis (ou características)</a:t>
            </a: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Informações da unidade amostral: gênero, idade, estado de residência, escolaridade, </a:t>
            </a:r>
            <a:r>
              <a:rPr b="0" i="0" lang="en-US" sz="20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cargo, salário</a:t>
            </a: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69" name="Google Shape;269;p28"/>
          <p:cNvSpPr txBox="1"/>
          <p:nvPr/>
        </p:nvSpPr>
        <p:spPr>
          <a:xfrm>
            <a:off x="398425" y="1317675"/>
            <a:ext cx="106890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Queremos descobrir a renda média das pessoas trabalhadoras do Brasil.</a:t>
            </a:r>
            <a:endParaRPr b="0" i="0" sz="17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Podemos perguntar para todo mundo?</a:t>
            </a:r>
            <a:endParaRPr b="0" i="0" sz="17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 txBox="1"/>
          <p:nvPr>
            <p:ph idx="4294967295" type="title"/>
          </p:nvPr>
        </p:nvSpPr>
        <p:spPr>
          <a:xfrm>
            <a:off x="800500" y="2597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Amostra (exemplo)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75" name="Google Shape;27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450" y="417225"/>
            <a:ext cx="685800" cy="685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76" name="Google Shape;276;p29"/>
          <p:cNvGraphicFramePr/>
          <p:nvPr/>
        </p:nvGraphicFramePr>
        <p:xfrm>
          <a:off x="902488" y="190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{284DB96D-A809-46EC-B382-F664F4A8D051}</a:tableStyleId>
              </a:tblPr>
              <a:tblGrid>
                <a:gridCol w="1165900"/>
                <a:gridCol w="1373100"/>
                <a:gridCol w="1760825"/>
                <a:gridCol w="1194475"/>
                <a:gridCol w="975400"/>
                <a:gridCol w="1713200"/>
                <a:gridCol w="1289725"/>
              </a:tblGrid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FFFFFF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Nome</a:t>
                      </a:r>
                      <a:endParaRPr sz="1500" u="none" cap="none" strike="noStrike">
                        <a:solidFill>
                          <a:srgbClr val="FFFFFF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FFFFFF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Estado Residência</a:t>
                      </a:r>
                      <a:endParaRPr sz="1500" u="none" cap="none" strike="noStrike">
                        <a:solidFill>
                          <a:srgbClr val="FFFFFF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FFFFFF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Escolaridade</a:t>
                      </a:r>
                      <a:endParaRPr sz="1500" u="none" cap="none" strike="noStrike">
                        <a:solidFill>
                          <a:srgbClr val="FFFFFF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FFFFFF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Gênero</a:t>
                      </a:r>
                      <a:endParaRPr sz="1500" u="none" cap="none" strike="noStrike">
                        <a:solidFill>
                          <a:srgbClr val="FFFFFF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FFFFFF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Idade</a:t>
                      </a:r>
                      <a:endParaRPr sz="1500" u="none" cap="none" strike="noStrike">
                        <a:solidFill>
                          <a:srgbClr val="FFFFFF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FFFFFF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Cargo</a:t>
                      </a:r>
                      <a:endParaRPr sz="1500" u="none" cap="none" strike="noStrike">
                        <a:solidFill>
                          <a:srgbClr val="FFFFFF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FFFFFF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Salário</a:t>
                      </a:r>
                      <a:endParaRPr sz="1500" u="none" cap="none" strike="noStrike">
                        <a:solidFill>
                          <a:srgbClr val="FFFFFF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Mariana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PE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Pós Graduação Incompleta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Feminino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59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Data Engineer Specialist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R$ 32.000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Tica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CE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Fundamental Incompleto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Feminino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64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Esport Manager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R$ 1.500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Giovana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CE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Pós Graduação Completa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N/A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44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Pesquisador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R$ 6.000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Ariel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SP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Superior Incompleto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N/A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50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Designer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R$ 4.500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Mauricio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PR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Fundamental Incompleto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Masculino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48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Auxiliar Advogado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R$ 40.000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Eduardo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RJ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Médio Completo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Masculino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43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Construtor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R$ 7.600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Henrique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MG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Superior Completo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Masculino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35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Pro Player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R$ 12.000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grpSp>
        <p:nvGrpSpPr>
          <p:cNvPr id="277" name="Google Shape;277;p29"/>
          <p:cNvGrpSpPr/>
          <p:nvPr/>
        </p:nvGrpSpPr>
        <p:grpSpPr>
          <a:xfrm>
            <a:off x="46025" y="2458017"/>
            <a:ext cx="735100" cy="3871097"/>
            <a:chOff x="46025" y="2476500"/>
            <a:chExt cx="735100" cy="3982200"/>
          </a:xfrm>
        </p:grpSpPr>
        <p:sp>
          <p:nvSpPr>
            <p:cNvPr id="278" name="Google Shape;278;p29"/>
            <p:cNvSpPr/>
            <p:nvPr/>
          </p:nvSpPr>
          <p:spPr>
            <a:xfrm>
              <a:off x="619125" y="2476500"/>
              <a:ext cx="162000" cy="39822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28575">
              <a:solidFill>
                <a:srgbClr val="2F549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29"/>
            <p:cNvSpPr txBox="1"/>
            <p:nvPr/>
          </p:nvSpPr>
          <p:spPr>
            <a:xfrm rot="-5400000">
              <a:off x="-1154275" y="4267500"/>
              <a:ext cx="2800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rgbClr val="2F549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AMOSTRA</a:t>
              </a:r>
              <a:endParaRPr b="1" i="0" sz="2500" u="none" cap="none" strike="noStrike">
                <a:solidFill>
                  <a:srgbClr val="2F549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80" name="Google Shape;280;p29"/>
          <p:cNvGrpSpPr/>
          <p:nvPr/>
        </p:nvGrpSpPr>
        <p:grpSpPr>
          <a:xfrm>
            <a:off x="902625" y="1169850"/>
            <a:ext cx="9470100" cy="716175"/>
            <a:chOff x="902625" y="1169850"/>
            <a:chExt cx="9470100" cy="716175"/>
          </a:xfrm>
        </p:grpSpPr>
        <p:sp>
          <p:nvSpPr>
            <p:cNvPr id="281" name="Google Shape;281;p29"/>
            <p:cNvSpPr/>
            <p:nvPr/>
          </p:nvSpPr>
          <p:spPr>
            <a:xfrm rot="5400000">
              <a:off x="5466225" y="-3020475"/>
              <a:ext cx="342900" cy="94701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19050">
              <a:solidFill>
                <a:srgbClr val="FF66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29"/>
            <p:cNvSpPr txBox="1"/>
            <p:nvPr/>
          </p:nvSpPr>
          <p:spPr>
            <a:xfrm>
              <a:off x="4238413" y="1169850"/>
              <a:ext cx="2800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rgbClr val="FF66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VARIÁVEIS</a:t>
              </a:r>
              <a:endParaRPr b="1" i="0" sz="2500" u="none" cap="none" strike="noStrike">
                <a:solidFill>
                  <a:srgbClr val="FF66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83" name="Google Shape;283;p29"/>
          <p:cNvGrpSpPr/>
          <p:nvPr/>
        </p:nvGrpSpPr>
        <p:grpSpPr>
          <a:xfrm>
            <a:off x="10467975" y="2445020"/>
            <a:ext cx="1695300" cy="553055"/>
            <a:chOff x="10467975" y="2445000"/>
            <a:chExt cx="1695300" cy="615600"/>
          </a:xfrm>
        </p:grpSpPr>
        <p:sp>
          <p:nvSpPr>
            <p:cNvPr id="284" name="Google Shape;284;p29"/>
            <p:cNvSpPr/>
            <p:nvPr/>
          </p:nvSpPr>
          <p:spPr>
            <a:xfrm>
              <a:off x="10467975" y="2457450"/>
              <a:ext cx="114300" cy="590700"/>
            </a:xfrm>
            <a:prstGeom prst="rightBrace">
              <a:avLst>
                <a:gd fmla="val 50000" name="adj1"/>
                <a:gd fmla="val 50000" name="adj2"/>
              </a:avLst>
            </a:prstGeom>
            <a:noFill/>
            <a:ln cap="flat" cmpd="sng" w="28575">
              <a:solidFill>
                <a:srgbClr val="5481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29"/>
            <p:cNvSpPr txBox="1"/>
            <p:nvPr/>
          </p:nvSpPr>
          <p:spPr>
            <a:xfrm>
              <a:off x="10582275" y="2445000"/>
              <a:ext cx="15810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54813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UNIDADE</a:t>
              </a:r>
              <a:endParaRPr b="1" i="0" sz="1600" u="none" cap="none" strike="noStrike">
                <a:solidFill>
                  <a:srgbClr val="548135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54813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AMOSTRAL</a:t>
              </a:r>
              <a:endParaRPr b="1" i="0" sz="1600" u="none" cap="none" strike="noStrike">
                <a:solidFill>
                  <a:srgbClr val="548135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86" name="Google Shape;286;p29"/>
          <p:cNvGrpSpPr/>
          <p:nvPr/>
        </p:nvGrpSpPr>
        <p:grpSpPr>
          <a:xfrm>
            <a:off x="10451325" y="5223320"/>
            <a:ext cx="1695300" cy="553055"/>
            <a:chOff x="10467975" y="2445000"/>
            <a:chExt cx="1695300" cy="615600"/>
          </a:xfrm>
        </p:grpSpPr>
        <p:sp>
          <p:nvSpPr>
            <p:cNvPr id="287" name="Google Shape;287;p29"/>
            <p:cNvSpPr/>
            <p:nvPr/>
          </p:nvSpPr>
          <p:spPr>
            <a:xfrm>
              <a:off x="10467975" y="2457450"/>
              <a:ext cx="114300" cy="590700"/>
            </a:xfrm>
            <a:prstGeom prst="rightBrace">
              <a:avLst>
                <a:gd fmla="val 50000" name="adj1"/>
                <a:gd fmla="val 50000" name="adj2"/>
              </a:avLst>
            </a:prstGeom>
            <a:noFill/>
            <a:ln cap="flat" cmpd="sng" w="28575">
              <a:solidFill>
                <a:srgbClr val="5481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29"/>
            <p:cNvSpPr txBox="1"/>
            <p:nvPr/>
          </p:nvSpPr>
          <p:spPr>
            <a:xfrm>
              <a:off x="10582275" y="2445000"/>
              <a:ext cx="15810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54813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UNIDADE</a:t>
              </a:r>
              <a:endParaRPr b="1" i="0" sz="1600" u="none" cap="none" strike="noStrike">
                <a:solidFill>
                  <a:srgbClr val="548135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54813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AMOSTRAL</a:t>
              </a:r>
              <a:endParaRPr b="1" i="0" sz="1600" u="none" cap="none" strike="noStrike">
                <a:solidFill>
                  <a:srgbClr val="548135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30"/>
          <p:cNvSpPr txBox="1"/>
          <p:nvPr>
            <p:ph idx="4294967295" type="title"/>
          </p:nvPr>
        </p:nvSpPr>
        <p:spPr>
          <a:xfrm>
            <a:off x="1425300" y="4630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Tipos de Variáveis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6" name="Google Shape;296;p30"/>
          <p:cNvSpPr/>
          <p:nvPr/>
        </p:nvSpPr>
        <p:spPr>
          <a:xfrm>
            <a:off x="1747875" y="3370788"/>
            <a:ext cx="1323900" cy="600000"/>
          </a:xfrm>
          <a:prstGeom prst="roundRect">
            <a:avLst>
              <a:gd fmla="val 16667" name="adj"/>
            </a:avLst>
          </a:prstGeom>
          <a:solidFill>
            <a:srgbClr val="274E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Variáveis</a:t>
            </a:r>
            <a:endParaRPr b="1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30"/>
          <p:cNvSpPr/>
          <p:nvPr/>
        </p:nvSpPr>
        <p:spPr>
          <a:xfrm>
            <a:off x="5434050" y="1946275"/>
            <a:ext cx="1795500" cy="600000"/>
          </a:xfrm>
          <a:prstGeom prst="roundRect">
            <a:avLst>
              <a:gd fmla="val 16667" name="adj"/>
            </a:avLst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Qualitativas</a:t>
            </a:r>
            <a:endParaRPr b="1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30"/>
          <p:cNvSpPr/>
          <p:nvPr/>
        </p:nvSpPr>
        <p:spPr>
          <a:xfrm>
            <a:off x="5434050" y="4749750"/>
            <a:ext cx="1795500" cy="600000"/>
          </a:xfrm>
          <a:prstGeom prst="roundRect">
            <a:avLst>
              <a:gd fmla="val 16667" name="adj"/>
            </a:avLst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Quantitativas</a:t>
            </a:r>
            <a:endParaRPr b="1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30"/>
          <p:cNvSpPr/>
          <p:nvPr/>
        </p:nvSpPr>
        <p:spPr>
          <a:xfrm>
            <a:off x="8743950" y="1463825"/>
            <a:ext cx="1838100" cy="5730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952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274E13"/>
                </a:solidFill>
                <a:latin typeface="Arial"/>
                <a:ea typeface="Arial"/>
                <a:cs typeface="Arial"/>
                <a:sym typeface="Arial"/>
              </a:rPr>
              <a:t>Nominais</a:t>
            </a:r>
            <a:endParaRPr b="1" i="0" sz="1900" u="none" cap="none" strike="noStrike">
              <a:solidFill>
                <a:srgbClr val="274E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30"/>
          <p:cNvSpPr/>
          <p:nvPr/>
        </p:nvSpPr>
        <p:spPr>
          <a:xfrm>
            <a:off x="8743950" y="2797802"/>
            <a:ext cx="1838100" cy="5730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952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274E13"/>
                </a:solidFill>
                <a:latin typeface="Arial"/>
                <a:ea typeface="Arial"/>
                <a:cs typeface="Arial"/>
                <a:sym typeface="Arial"/>
              </a:rPr>
              <a:t>Ordinais</a:t>
            </a:r>
            <a:endParaRPr b="1" i="0" sz="1900" u="none" cap="none" strike="noStrike">
              <a:solidFill>
                <a:srgbClr val="274E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30"/>
          <p:cNvSpPr/>
          <p:nvPr/>
        </p:nvSpPr>
        <p:spPr>
          <a:xfrm>
            <a:off x="8743950" y="4131780"/>
            <a:ext cx="1838100" cy="5730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952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274E13"/>
                </a:solidFill>
                <a:latin typeface="Arial"/>
                <a:ea typeface="Arial"/>
                <a:cs typeface="Arial"/>
                <a:sym typeface="Arial"/>
              </a:rPr>
              <a:t>Discretas</a:t>
            </a:r>
            <a:endParaRPr b="1" i="0" sz="1900" u="none" cap="none" strike="noStrike">
              <a:solidFill>
                <a:srgbClr val="274E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30"/>
          <p:cNvSpPr/>
          <p:nvPr/>
        </p:nvSpPr>
        <p:spPr>
          <a:xfrm>
            <a:off x="8743950" y="5465757"/>
            <a:ext cx="1838100" cy="5730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952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274E13"/>
                </a:solidFill>
                <a:latin typeface="Arial"/>
                <a:ea typeface="Arial"/>
                <a:cs typeface="Arial"/>
                <a:sym typeface="Arial"/>
              </a:rPr>
              <a:t>Contínuas</a:t>
            </a:r>
            <a:endParaRPr b="1" i="0" sz="1900" u="none" cap="none" strike="noStrike">
              <a:solidFill>
                <a:srgbClr val="274E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3" name="Google Shape;303;p30"/>
          <p:cNvCxnSpPr>
            <a:stCxn id="296" idx="3"/>
            <a:endCxn id="297" idx="1"/>
          </p:cNvCxnSpPr>
          <p:nvPr/>
        </p:nvCxnSpPr>
        <p:spPr>
          <a:xfrm flipH="1" rot="10800000">
            <a:off x="3071775" y="2246388"/>
            <a:ext cx="2362200" cy="1424400"/>
          </a:xfrm>
          <a:prstGeom prst="straightConnector1">
            <a:avLst/>
          </a:prstGeom>
          <a:noFill/>
          <a:ln cap="flat" cmpd="sng" w="28575">
            <a:solidFill>
              <a:srgbClr val="3F662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04" name="Google Shape;304;p30"/>
          <p:cNvCxnSpPr>
            <a:stCxn id="296" idx="3"/>
            <a:endCxn id="298" idx="1"/>
          </p:cNvCxnSpPr>
          <p:nvPr/>
        </p:nvCxnSpPr>
        <p:spPr>
          <a:xfrm>
            <a:off x="3071775" y="3670788"/>
            <a:ext cx="2362200" cy="1379100"/>
          </a:xfrm>
          <a:prstGeom prst="straightConnector1">
            <a:avLst/>
          </a:prstGeom>
          <a:noFill/>
          <a:ln cap="flat" cmpd="sng" w="28575">
            <a:solidFill>
              <a:srgbClr val="3F662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05" name="Google Shape;305;p30"/>
          <p:cNvCxnSpPr>
            <a:stCxn id="298" idx="3"/>
            <a:endCxn id="301" idx="1"/>
          </p:cNvCxnSpPr>
          <p:nvPr/>
        </p:nvCxnSpPr>
        <p:spPr>
          <a:xfrm flipH="1" rot="10800000">
            <a:off x="7229550" y="4418250"/>
            <a:ext cx="1514400" cy="631500"/>
          </a:xfrm>
          <a:prstGeom prst="straightConnector1">
            <a:avLst/>
          </a:prstGeom>
          <a:noFill/>
          <a:ln cap="flat" cmpd="sng" w="28575">
            <a:solidFill>
              <a:srgbClr val="3F662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06" name="Google Shape;306;p30"/>
          <p:cNvCxnSpPr>
            <a:stCxn id="298" idx="3"/>
            <a:endCxn id="302" idx="1"/>
          </p:cNvCxnSpPr>
          <p:nvPr/>
        </p:nvCxnSpPr>
        <p:spPr>
          <a:xfrm>
            <a:off x="7229550" y="5049750"/>
            <a:ext cx="1514400" cy="702600"/>
          </a:xfrm>
          <a:prstGeom prst="straightConnector1">
            <a:avLst/>
          </a:prstGeom>
          <a:noFill/>
          <a:ln cap="flat" cmpd="sng" w="28575">
            <a:solidFill>
              <a:srgbClr val="3F662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07" name="Google Shape;307;p30"/>
          <p:cNvCxnSpPr>
            <a:stCxn id="297" idx="3"/>
            <a:endCxn id="299" idx="1"/>
          </p:cNvCxnSpPr>
          <p:nvPr/>
        </p:nvCxnSpPr>
        <p:spPr>
          <a:xfrm flipH="1" rot="10800000">
            <a:off x="7229550" y="1750375"/>
            <a:ext cx="1514400" cy="495900"/>
          </a:xfrm>
          <a:prstGeom prst="straightConnector1">
            <a:avLst/>
          </a:prstGeom>
          <a:noFill/>
          <a:ln cap="flat" cmpd="sng" w="28575">
            <a:solidFill>
              <a:srgbClr val="3F662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08" name="Google Shape;308;p30"/>
          <p:cNvCxnSpPr>
            <a:stCxn id="297" idx="3"/>
            <a:endCxn id="300" idx="1"/>
          </p:cNvCxnSpPr>
          <p:nvPr/>
        </p:nvCxnSpPr>
        <p:spPr>
          <a:xfrm>
            <a:off x="7229550" y="2246275"/>
            <a:ext cx="1514400" cy="837900"/>
          </a:xfrm>
          <a:prstGeom prst="straightConnector1">
            <a:avLst/>
          </a:prstGeom>
          <a:noFill/>
          <a:ln cap="flat" cmpd="sng" w="28575">
            <a:solidFill>
              <a:srgbClr val="3F6622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31"/>
          <p:cNvSpPr txBox="1"/>
          <p:nvPr>
            <p:ph idx="4294967295" type="title"/>
          </p:nvPr>
        </p:nvSpPr>
        <p:spPr>
          <a:xfrm>
            <a:off x="1425300" y="4630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Tipos de Variáveis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6" name="Google Shape;316;p31"/>
          <p:cNvGraphicFramePr/>
          <p:nvPr/>
        </p:nvGraphicFramePr>
        <p:xfrm>
          <a:off x="13431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{E53BE7DB-6D05-4E4C-B960-DC2D34714B52}</a:tableStyleId>
              </a:tblPr>
              <a:tblGrid>
                <a:gridCol w="2376450"/>
                <a:gridCol w="2376450"/>
                <a:gridCol w="2376450"/>
                <a:gridCol w="2376450"/>
              </a:tblGrid>
              <a:tr h="472400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chemeClr val="lt1"/>
                          </a:solidFill>
                        </a:rPr>
                        <a:t>Variáveis</a:t>
                      </a:r>
                      <a:endParaRPr b="1" sz="19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74E13"/>
                    </a:solidFill>
                  </a:tcPr>
                </a:tc>
                <a:tc hMerge="1"/>
                <a:tc hMerge="1"/>
                <a:tc hMerge="1"/>
              </a:tr>
              <a:tr h="4724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chemeClr val="lt1"/>
                          </a:solidFill>
                        </a:rPr>
                        <a:t>Qualitativas / Categóricas</a:t>
                      </a:r>
                      <a:endParaRPr b="1" sz="19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761D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chemeClr val="lt1"/>
                          </a:solidFill>
                        </a:rPr>
                        <a:t>Quantitativas / Numéricas</a:t>
                      </a:r>
                      <a:endParaRPr b="1" sz="19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761D"/>
                    </a:solidFill>
                  </a:tcPr>
                </a:tc>
                <a:tc hMerge="1"/>
              </a:tr>
              <a:tr h="47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274E13"/>
                          </a:solidFill>
                        </a:rPr>
                        <a:t>Nominais</a:t>
                      </a:r>
                      <a:endParaRPr b="1" sz="1900" u="none" cap="none" strike="noStrike">
                        <a:solidFill>
                          <a:srgbClr val="274E13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274E13"/>
                          </a:solidFill>
                        </a:rPr>
                        <a:t>Ordinais</a:t>
                      </a:r>
                      <a:endParaRPr b="1" sz="1900" u="none" cap="none" strike="noStrike">
                        <a:solidFill>
                          <a:srgbClr val="274E13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274E13"/>
                          </a:solidFill>
                        </a:rPr>
                        <a:t>Discretas</a:t>
                      </a:r>
                      <a:endParaRPr b="1" sz="1900" u="none" cap="none" strike="noStrike">
                        <a:solidFill>
                          <a:srgbClr val="274E13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274E13"/>
                          </a:solidFill>
                        </a:rPr>
                        <a:t>Contínuas</a:t>
                      </a:r>
                      <a:endParaRPr b="1" sz="1900" u="none" cap="none" strike="noStrike">
                        <a:solidFill>
                          <a:srgbClr val="274E13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</a:tr>
              <a:tr h="47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3F6622"/>
                          </a:solidFill>
                        </a:rPr>
                        <a:t>Nome</a:t>
                      </a:r>
                      <a:endParaRPr b="1" sz="1900" u="none" cap="none" strike="noStrike">
                        <a:solidFill>
                          <a:srgbClr val="3F6622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3F6622"/>
                          </a:solidFill>
                        </a:rPr>
                        <a:t>Escolaridade</a:t>
                      </a:r>
                      <a:endParaRPr b="1" sz="1900" u="none" cap="none" strike="noStrike">
                        <a:solidFill>
                          <a:srgbClr val="3F6622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3F6622"/>
                          </a:solidFill>
                        </a:rPr>
                        <a:t>Idade</a:t>
                      </a:r>
                      <a:endParaRPr b="1" sz="1900" u="none" cap="none" strike="noStrike">
                        <a:solidFill>
                          <a:srgbClr val="3F6622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3F6622"/>
                          </a:solidFill>
                        </a:rPr>
                        <a:t>Salário</a:t>
                      </a:r>
                      <a:endParaRPr b="1" sz="1900" u="none" cap="none" strike="noStrike">
                        <a:solidFill>
                          <a:srgbClr val="3F6622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7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3F6622"/>
                          </a:solidFill>
                        </a:rPr>
                        <a:t>Estado</a:t>
                      </a:r>
                      <a:endParaRPr b="1" sz="1900" u="none" cap="none" strike="noStrike">
                        <a:solidFill>
                          <a:srgbClr val="3F6622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3F6622"/>
                          </a:solidFill>
                        </a:rPr>
                        <a:t>Cargo (?)</a:t>
                      </a:r>
                      <a:endParaRPr b="1" sz="1900" u="none" cap="none" strike="noStrike">
                        <a:solidFill>
                          <a:srgbClr val="3F6622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3F6622"/>
                          </a:solidFill>
                        </a:rPr>
                        <a:t>-</a:t>
                      </a:r>
                      <a:endParaRPr b="1" sz="1900" u="none" cap="none" strike="noStrike">
                        <a:solidFill>
                          <a:srgbClr val="3F6622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3F6622"/>
                          </a:solidFill>
                        </a:rPr>
                        <a:t>-</a:t>
                      </a:r>
                      <a:endParaRPr b="1" sz="1900" u="none" cap="none" strike="noStrike">
                        <a:solidFill>
                          <a:srgbClr val="3F6622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7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3F6622"/>
                          </a:solidFill>
                        </a:rPr>
                        <a:t>Gênero</a:t>
                      </a:r>
                      <a:endParaRPr b="1" sz="1900" u="none" cap="none" strike="noStrike">
                        <a:solidFill>
                          <a:srgbClr val="3F6622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3F6622"/>
                          </a:solidFill>
                        </a:rPr>
                        <a:t>-</a:t>
                      </a:r>
                      <a:endParaRPr b="1" sz="1900" u="none" cap="none" strike="noStrike">
                        <a:solidFill>
                          <a:srgbClr val="3F6622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3F6622"/>
                          </a:solidFill>
                        </a:rPr>
                        <a:t>-</a:t>
                      </a:r>
                      <a:endParaRPr b="1" sz="1900" u="none" cap="none" strike="noStrike">
                        <a:solidFill>
                          <a:srgbClr val="3F6622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3F6622"/>
                          </a:solidFill>
                        </a:rPr>
                        <a:t>-</a:t>
                      </a:r>
                      <a:endParaRPr b="1" sz="1900" u="none" cap="none" strike="noStrike">
                        <a:solidFill>
                          <a:srgbClr val="3F6622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32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2"/>
          <p:cNvSpPr txBox="1"/>
          <p:nvPr>
            <p:ph idx="4294967295" type="title"/>
          </p:nvPr>
        </p:nvSpPr>
        <p:spPr>
          <a:xfrm>
            <a:off x="1425300" y="4630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Exercícios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4" name="Google Shape;324;p32"/>
          <p:cNvSpPr txBox="1"/>
          <p:nvPr/>
        </p:nvSpPr>
        <p:spPr>
          <a:xfrm>
            <a:off x="751500" y="1652550"/>
            <a:ext cx="10689000" cy="13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>
                <a:latin typeface="Montserrat Medium"/>
                <a:ea typeface="Montserrat Medium"/>
                <a:cs typeface="Montserrat Medium"/>
                <a:sym typeface="Montserrat Medium"/>
              </a:rPr>
              <a:t>Considere a base de transações para criar tabelas de frequência com os dados de Pontos, Produto e Quantidade.</a:t>
            </a:r>
            <a:endParaRPr sz="17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sz="17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u="sng">
                <a:solidFill>
                  <a:schemeClr val="hlink"/>
                </a:solidFill>
                <a:latin typeface="Montserrat Medium"/>
                <a:ea typeface="Montserrat Medium"/>
                <a:cs typeface="Montserrat Medium"/>
                <a:sym typeface="Montserrat Medium"/>
                <a:hlinkClick r:id="rId4"/>
              </a:rPr>
              <a:t>Acesso os dados aqui</a:t>
            </a:r>
            <a:endParaRPr b="0" i="0" sz="17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3"/>
          <p:cNvSpPr txBox="1"/>
          <p:nvPr>
            <p:ph idx="4294967295" type="title"/>
          </p:nvPr>
        </p:nvSpPr>
        <p:spPr>
          <a:xfrm>
            <a:off x="1425300" y="4630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Medidas de Resumo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2" name="Google Shape;332;p33"/>
          <p:cNvSpPr txBox="1"/>
          <p:nvPr/>
        </p:nvSpPr>
        <p:spPr>
          <a:xfrm>
            <a:off x="1425300" y="1686400"/>
            <a:ext cx="91710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As Medidas de Resumo, também conhecidas como Estatísticas Descritivas, são valores que resumem e descrevem um conjunto de dados de forma concisa, permitindo uma compreensão mais rápida e fácil das características centrais e distribuição dos dados. Elas são amplamente utilizadas na estatística para apresentar informações significativas sobre um conjunto de dados. - </a:t>
            </a:r>
            <a:r>
              <a:rPr b="1" i="0" lang="en-US" sz="18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GPT, chat</a:t>
            </a:r>
            <a:endParaRPr b="1" i="0" sz="1800" u="none" cap="none" strike="noStrike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4"/>
          <p:cNvSpPr txBox="1"/>
          <p:nvPr/>
        </p:nvSpPr>
        <p:spPr>
          <a:xfrm>
            <a:off x="1425300" y="3617475"/>
            <a:ext cx="91710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Frequência Absoluta</a:t>
            </a:r>
            <a:endParaRPr b="0" i="0" sz="1800" u="none" cap="none" strike="noStrike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Podemos denotar por         a quantidade de ocorrência (frequência) do i-ésimo nível da variável.</a:t>
            </a:r>
            <a:endParaRPr b="0" i="0" sz="1800" u="none" cap="none" strike="noStrike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Para exemplo, vamos considerar os dados que apresentamos anteriormente.</a:t>
            </a:r>
            <a:endParaRPr b="0" i="0" sz="1800" u="none" cap="none" strike="noStrike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9" name="Google Shape;33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4"/>
          <p:cNvSpPr txBox="1"/>
          <p:nvPr>
            <p:ph idx="4294967295" type="title"/>
          </p:nvPr>
        </p:nvSpPr>
        <p:spPr>
          <a:xfrm>
            <a:off x="1425300" y="4630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Tabela de Frequências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1" name="Google Shape;341;p34"/>
          <p:cNvSpPr txBox="1"/>
          <p:nvPr/>
        </p:nvSpPr>
        <p:spPr>
          <a:xfrm>
            <a:off x="1425300" y="1686400"/>
            <a:ext cx="91710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As tabelas de frequências são utilizadas para descrever a distribuição de </a:t>
            </a:r>
            <a:r>
              <a:rPr b="1" i="0" lang="en-US" sz="18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variáveis qualitativas</a:t>
            </a:r>
            <a:r>
              <a:rPr b="0" i="0" lang="en-US" sz="18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. Desta maneira conseguimos identificar quanto cada nível (ou valor) da variável ocorre e sua representação em todo conjunto de dados.</a:t>
            </a:r>
            <a:endParaRPr b="0" i="0" sz="1800" u="none" cap="none" strike="noStrike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42" name="Google Shape;342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05925" y="4179175"/>
            <a:ext cx="288450" cy="21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8" name="Google Shape;348;p35"/>
          <p:cNvGraphicFramePr/>
          <p:nvPr/>
        </p:nvGraphicFramePr>
        <p:xfrm>
          <a:off x="732588" y="1741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{284DB96D-A809-46EC-B382-F664F4A8D051}</a:tableStyleId>
              </a:tblPr>
              <a:tblGrid>
                <a:gridCol w="1165900"/>
                <a:gridCol w="1194475"/>
              </a:tblGrid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FFFFFF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Nome</a:t>
                      </a:r>
                      <a:endParaRPr sz="1500" u="none" cap="none" strike="noStrike">
                        <a:solidFill>
                          <a:srgbClr val="FFFFFF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FFFFFF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Gênero</a:t>
                      </a:r>
                      <a:endParaRPr sz="1500" u="none" cap="none" strike="noStrike">
                        <a:solidFill>
                          <a:srgbClr val="FFFFFF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Mariana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Feminino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Tica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Feminino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Giovana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N/A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Ariel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N/A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Mauricio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Masculino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Eduardo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Masculino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Henrique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Masculino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9" name="Google Shape;349;p35"/>
          <p:cNvGraphicFramePr/>
          <p:nvPr/>
        </p:nvGraphicFramePr>
        <p:xfrm>
          <a:off x="3763125" y="1741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{E53BE7DB-6D05-4E4C-B960-DC2D34714B52}</a:tableStyleId>
              </a:tblPr>
              <a:tblGrid>
                <a:gridCol w="2332875"/>
                <a:gridCol w="2332875"/>
              </a:tblGrid>
              <a:tr h="764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Nível</a:t>
                      </a:r>
                      <a:endParaRPr b="1" sz="15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00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Frequência Absoluta</a:t>
                      </a:r>
                      <a:endParaRPr b="1" sz="15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009A"/>
                    </a:solidFill>
                  </a:tcPr>
                </a:tc>
              </a:tr>
              <a:tr h="764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Feminino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2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764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Masculino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3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764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N/A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2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pic>
        <p:nvPicPr>
          <p:cNvPr id="350" name="Google Shape;35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67102" y="2174500"/>
            <a:ext cx="308350" cy="23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5"/>
          <p:cNvSpPr txBox="1"/>
          <p:nvPr>
            <p:ph idx="4294967295" type="title"/>
          </p:nvPr>
        </p:nvSpPr>
        <p:spPr>
          <a:xfrm>
            <a:off x="1425300" y="4630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Tabela de Frequências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6"/>
          <p:cNvSpPr txBox="1"/>
          <p:nvPr/>
        </p:nvSpPr>
        <p:spPr>
          <a:xfrm>
            <a:off x="1425300" y="1864875"/>
            <a:ext cx="9171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Frequência Relativa (ou propoção)</a:t>
            </a:r>
            <a:endParaRPr b="0" i="0" sz="1800" u="none" cap="none" strike="noStrike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Podemos denotar por         a proporção de ocorrência do i-ésimo nível da variável em relação ao total de observações no conjunto de dados.</a:t>
            </a:r>
            <a:endParaRPr b="0" i="0" sz="1800" u="none" cap="none" strike="noStrike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59" name="Google Shape;35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36"/>
          <p:cNvSpPr txBox="1"/>
          <p:nvPr>
            <p:ph idx="4294967295" type="title"/>
          </p:nvPr>
        </p:nvSpPr>
        <p:spPr>
          <a:xfrm>
            <a:off x="1425300" y="4630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Tabela de Frequências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61" name="Google Shape;361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54125" y="2292925"/>
            <a:ext cx="333750" cy="43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7" name="Google Shape;367;p37"/>
          <p:cNvGraphicFramePr/>
          <p:nvPr/>
        </p:nvGraphicFramePr>
        <p:xfrm>
          <a:off x="732588" y="1741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{284DB96D-A809-46EC-B382-F664F4A8D051}</a:tableStyleId>
              </a:tblPr>
              <a:tblGrid>
                <a:gridCol w="1165900"/>
                <a:gridCol w="1194475"/>
              </a:tblGrid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FFFFFF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Nome</a:t>
                      </a:r>
                      <a:endParaRPr sz="1500" u="none" cap="none" strike="noStrike">
                        <a:solidFill>
                          <a:srgbClr val="FFFFFF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FFFFFF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Gênero</a:t>
                      </a:r>
                      <a:endParaRPr sz="1500" u="none" cap="none" strike="noStrike">
                        <a:solidFill>
                          <a:srgbClr val="FFFFFF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Mariana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Feminino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Tica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Feminino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Giovana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N/A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Ariel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N/A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Mauricio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Masculino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Eduardo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Masculino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Henrique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Masculino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pic>
        <p:nvPicPr>
          <p:cNvPr id="368" name="Google Shape;36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7"/>
          <p:cNvSpPr txBox="1"/>
          <p:nvPr>
            <p:ph idx="4294967295" type="title"/>
          </p:nvPr>
        </p:nvSpPr>
        <p:spPr>
          <a:xfrm>
            <a:off x="1425300" y="4630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Tabela de Frequências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70" name="Google Shape;370;p37"/>
          <p:cNvGraphicFramePr/>
          <p:nvPr/>
        </p:nvGraphicFramePr>
        <p:xfrm>
          <a:off x="3763125" y="1741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{E53BE7DB-6D05-4E4C-B960-DC2D34714B52}</a:tableStyleId>
              </a:tblPr>
              <a:tblGrid>
                <a:gridCol w="2394125"/>
                <a:gridCol w="2394125"/>
                <a:gridCol w="2394125"/>
              </a:tblGrid>
              <a:tr h="764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Nível</a:t>
                      </a:r>
                      <a:endParaRPr b="1" sz="15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00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Frequência Absoluta</a:t>
                      </a:r>
                      <a:endParaRPr b="1" sz="15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00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Frequência Relativa</a:t>
                      </a:r>
                      <a:endParaRPr b="1" sz="15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009A"/>
                    </a:solidFill>
                  </a:tcPr>
                </a:tc>
              </a:tr>
              <a:tr h="764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Feminino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2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0,2857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764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Masculino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3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0,4285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764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N/A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2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0,2857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pic>
        <p:nvPicPr>
          <p:cNvPr id="371" name="Google Shape;371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00139" y="2164975"/>
            <a:ext cx="308350" cy="23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16050" y="2063988"/>
            <a:ext cx="333750" cy="43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8"/>
          <p:cNvSpPr txBox="1"/>
          <p:nvPr/>
        </p:nvSpPr>
        <p:spPr>
          <a:xfrm>
            <a:off x="1425300" y="1864875"/>
            <a:ext cx="9171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Frequência Absoluta Acumulada</a:t>
            </a:r>
            <a:endParaRPr b="0" i="0" sz="1800" u="none" cap="none" strike="noStrike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Podemos denotar por         a ocorrência acumulada do i-ésimo nível da variável no conjunto de dados, dado o acúmulo das frequências dos níveis anteriores.</a:t>
            </a:r>
            <a:endParaRPr b="0" i="0" sz="1800" u="none" cap="none" strike="noStrike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79" name="Google Shape;37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38"/>
          <p:cNvSpPr txBox="1"/>
          <p:nvPr>
            <p:ph idx="4294967295" type="title"/>
          </p:nvPr>
        </p:nvSpPr>
        <p:spPr>
          <a:xfrm>
            <a:off x="1425300" y="4630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Tabela de Frequências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81" name="Google Shape;381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1075" y="2333463"/>
            <a:ext cx="419550" cy="35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7" name="Google Shape;387;p39"/>
          <p:cNvGraphicFramePr/>
          <p:nvPr/>
        </p:nvGraphicFramePr>
        <p:xfrm>
          <a:off x="732588" y="1741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{284DB96D-A809-46EC-B382-F664F4A8D051}</a:tableStyleId>
              </a:tblPr>
              <a:tblGrid>
                <a:gridCol w="1165900"/>
                <a:gridCol w="1194475"/>
              </a:tblGrid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FFFFFF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Nome</a:t>
                      </a:r>
                      <a:endParaRPr sz="1500" u="none" cap="none" strike="noStrike">
                        <a:solidFill>
                          <a:srgbClr val="FFFFFF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FFFFFF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Gênero</a:t>
                      </a:r>
                      <a:endParaRPr sz="1500" u="none" cap="none" strike="noStrike">
                        <a:solidFill>
                          <a:srgbClr val="FFFFFF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Mariana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Feminino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Tica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Feminino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Giovana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N/A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Ariel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N/A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Mauricio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Masculino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Eduardo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Masculino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Henrique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Masculino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pic>
        <p:nvPicPr>
          <p:cNvPr id="388" name="Google Shape;388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39"/>
          <p:cNvSpPr txBox="1"/>
          <p:nvPr>
            <p:ph idx="4294967295" type="title"/>
          </p:nvPr>
        </p:nvSpPr>
        <p:spPr>
          <a:xfrm>
            <a:off x="1425300" y="4630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Tabela de Frequências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90" name="Google Shape;390;p39"/>
          <p:cNvGraphicFramePr/>
          <p:nvPr/>
        </p:nvGraphicFramePr>
        <p:xfrm>
          <a:off x="3763125" y="1741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{E53BE7DB-6D05-4E4C-B960-DC2D34714B52}</a:tableStyleId>
              </a:tblPr>
              <a:tblGrid>
                <a:gridCol w="1935025"/>
                <a:gridCol w="1935025"/>
                <a:gridCol w="1935025"/>
                <a:gridCol w="1935025"/>
              </a:tblGrid>
              <a:tr h="764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Nível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00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Frequência Abs.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00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Frequência Acum.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00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Frequência Rela.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009A"/>
                    </a:solidFill>
                  </a:tcPr>
                </a:tc>
              </a:tr>
              <a:tr h="764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Feminino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2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2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0,2857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764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Masculino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3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5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0,4285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764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N/A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2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7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0,2857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pic>
        <p:nvPicPr>
          <p:cNvPr id="391" name="Google Shape;391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66139" y="2164975"/>
            <a:ext cx="308350" cy="23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69125" y="2063988"/>
            <a:ext cx="333750" cy="43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62038" y="2104525"/>
            <a:ext cx="419550" cy="35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0"/>
          <p:cNvSpPr txBox="1"/>
          <p:nvPr/>
        </p:nvSpPr>
        <p:spPr>
          <a:xfrm>
            <a:off x="1425300" y="1864875"/>
            <a:ext cx="9171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Frequência Relativa Acumulada</a:t>
            </a:r>
            <a:endParaRPr b="0" i="0" sz="1800" u="none" cap="none" strike="noStrike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Podemos denotar por         a proporção acumulada do i-ésimo nível da variável no conjunto de dados, dado o acúmulo das proporções dos níveis anteriores.</a:t>
            </a:r>
            <a:endParaRPr b="0" i="0" sz="1800" u="none" cap="none" strike="noStrike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00" name="Google Shape;400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40"/>
          <p:cNvSpPr txBox="1"/>
          <p:nvPr>
            <p:ph idx="4294967295" type="title"/>
          </p:nvPr>
        </p:nvSpPr>
        <p:spPr>
          <a:xfrm>
            <a:off x="1425300" y="4630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Tabela de Frequências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02" name="Google Shape;402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08375" y="2301600"/>
            <a:ext cx="419550" cy="41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8" name="Google Shape;408;p41"/>
          <p:cNvGraphicFramePr/>
          <p:nvPr/>
        </p:nvGraphicFramePr>
        <p:xfrm>
          <a:off x="732588" y="1741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{284DB96D-A809-46EC-B382-F664F4A8D051}</a:tableStyleId>
              </a:tblPr>
              <a:tblGrid>
                <a:gridCol w="1165900"/>
                <a:gridCol w="1194475"/>
              </a:tblGrid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FFFFFF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Nome</a:t>
                      </a:r>
                      <a:endParaRPr sz="1500" u="none" cap="none" strike="noStrike">
                        <a:solidFill>
                          <a:srgbClr val="FFFFFF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FFFFFF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Gênero</a:t>
                      </a:r>
                      <a:endParaRPr sz="1500" u="none" cap="none" strike="noStrike">
                        <a:solidFill>
                          <a:srgbClr val="FFFFFF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Mariana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Feminino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Tica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Feminino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Giovana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N/A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Ariel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N/A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Mauricio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Masculino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Eduardo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Masculino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Henrique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Masculino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pic>
        <p:nvPicPr>
          <p:cNvPr id="409" name="Google Shape;40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41"/>
          <p:cNvSpPr txBox="1"/>
          <p:nvPr>
            <p:ph idx="4294967295" type="title"/>
          </p:nvPr>
        </p:nvSpPr>
        <p:spPr>
          <a:xfrm>
            <a:off x="1425300" y="4630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Tabela de Frequências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411" name="Google Shape;411;p41"/>
          <p:cNvGraphicFramePr/>
          <p:nvPr/>
        </p:nvGraphicFramePr>
        <p:xfrm>
          <a:off x="3763125" y="1741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{E53BE7DB-6D05-4E4C-B960-DC2D34714B52}</a:tableStyleId>
              </a:tblPr>
              <a:tblGrid>
                <a:gridCol w="1548025"/>
                <a:gridCol w="1548025"/>
                <a:gridCol w="1548025"/>
                <a:gridCol w="1548025"/>
                <a:gridCol w="1548025"/>
              </a:tblGrid>
              <a:tr h="764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Nível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00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Frequência Abs.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00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Frequência Acum.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00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Frequência Rela.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00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Freq. Rela. Acum.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009A"/>
                    </a:solidFill>
                  </a:tcPr>
                </a:tc>
              </a:tr>
              <a:tr h="764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Feminino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2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2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0,2857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0,2857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764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Masculino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3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5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0,4285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0,7142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764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N/A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2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7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0,2857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1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pic>
        <p:nvPicPr>
          <p:cNvPr id="412" name="Google Shape;412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8889" y="2225425"/>
            <a:ext cx="308350" cy="23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30350" y="2063988"/>
            <a:ext cx="333750" cy="43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14013" y="2104525"/>
            <a:ext cx="419550" cy="35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4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013225" y="2072663"/>
            <a:ext cx="419550" cy="41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" name="Google Shape;421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42"/>
          <p:cNvSpPr txBox="1"/>
          <p:nvPr>
            <p:ph idx="4294967295" type="title"/>
          </p:nvPr>
        </p:nvSpPr>
        <p:spPr>
          <a:xfrm>
            <a:off x="1425300" y="4630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Exemplo de Escolaridade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423" name="Google Shape;423;p42"/>
          <p:cNvGraphicFramePr/>
          <p:nvPr/>
        </p:nvGraphicFramePr>
        <p:xfrm>
          <a:off x="3763125" y="1512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{E53BE7DB-6D05-4E4C-B960-DC2D34714B52}</a:tableStyleId>
              </a:tblPr>
              <a:tblGrid>
                <a:gridCol w="1725475"/>
                <a:gridCol w="1394025"/>
                <a:gridCol w="1394025"/>
                <a:gridCol w="1394025"/>
                <a:gridCol w="1394025"/>
              </a:tblGrid>
              <a:tr h="496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Nível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00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00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00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00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009A"/>
                    </a:solidFill>
                  </a:tcPr>
                </a:tc>
              </a:tr>
              <a:tr h="666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Fundamental Incompleto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2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2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0,2857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0,2857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666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Médio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Completo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1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3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0,1428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0,4285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666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Superior Incompleto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1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4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0,1428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0,5714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666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Superior Completo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1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5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0,1428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0,7142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666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Pós Graduação Incompleta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1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6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0,1428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0,8571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666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Pós Graduação Completa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1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7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0,1428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1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pic>
        <p:nvPicPr>
          <p:cNvPr id="424" name="Google Shape;424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65825" y="1581513"/>
            <a:ext cx="452702" cy="344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00900" y="1542225"/>
            <a:ext cx="323506" cy="42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79368" y="1581513"/>
            <a:ext cx="406672" cy="344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4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139253" y="1550633"/>
            <a:ext cx="406672" cy="40665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28" name="Google Shape;428;p42"/>
          <p:cNvGraphicFramePr/>
          <p:nvPr/>
        </p:nvGraphicFramePr>
        <p:xfrm>
          <a:off x="739488" y="1512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{284DB96D-A809-46EC-B382-F664F4A8D051}</a:tableStyleId>
              </a:tblPr>
              <a:tblGrid>
                <a:gridCol w="1165900"/>
                <a:gridCol w="1760825"/>
              </a:tblGrid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FFFFFF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Nome</a:t>
                      </a:r>
                      <a:endParaRPr sz="1500" u="none" cap="none" strike="noStrike">
                        <a:solidFill>
                          <a:srgbClr val="FFFFFF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FFFFFF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Escolaridade</a:t>
                      </a:r>
                      <a:endParaRPr sz="1500" u="none" cap="none" strike="noStrike">
                        <a:solidFill>
                          <a:srgbClr val="FFFFFF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Mariana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Pós Graduação Incompleta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Tica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Fundamental Incompleto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Giovana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Pós Graduação Completa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Ariel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Superior Incompleto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Mauricio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Fundamental Incompleto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Eduardo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Médio Completo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Henrique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Superior Completo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43"/>
          <p:cNvSpPr txBox="1"/>
          <p:nvPr>
            <p:ph idx="4294967295" type="title"/>
          </p:nvPr>
        </p:nvSpPr>
        <p:spPr>
          <a:xfrm>
            <a:off x="1425300" y="4630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Exemplo de Escola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6" name="Google Shape;436;p43"/>
          <p:cNvSpPr txBox="1"/>
          <p:nvPr/>
        </p:nvSpPr>
        <p:spPr>
          <a:xfrm>
            <a:off x="2647650" y="2373875"/>
            <a:ext cx="6896700" cy="16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Como fazer isso em uma planilha eletrônica?</a:t>
            </a:r>
            <a:endParaRPr b="0" i="0" sz="4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37" name="Google Shape;437;p43"/>
          <p:cNvSpPr txBox="1"/>
          <p:nvPr/>
        </p:nvSpPr>
        <p:spPr>
          <a:xfrm>
            <a:off x="2647700" y="4557100"/>
            <a:ext cx="6896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sng" cap="none" strike="noStrik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Acesse a planilha com os dados aqui</a:t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Por favor, faça uma cópia da planilha</a:t>
            </a:r>
            <a:endParaRPr b="0" i="0" sz="1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3" name="Google Shape;443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44"/>
          <p:cNvSpPr txBox="1"/>
          <p:nvPr>
            <p:ph idx="4294967295" type="title"/>
          </p:nvPr>
        </p:nvSpPr>
        <p:spPr>
          <a:xfrm>
            <a:off x="1425300" y="4630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Medidas de posição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5" name="Google Shape;445;p44"/>
          <p:cNvSpPr txBox="1"/>
          <p:nvPr/>
        </p:nvSpPr>
        <p:spPr>
          <a:xfrm>
            <a:off x="2647650" y="2373875"/>
            <a:ext cx="6896700" cy="16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Mas antes….</a:t>
            </a:r>
            <a:endParaRPr b="0" i="0" sz="4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46" name="Google Shape;446;p44"/>
          <p:cNvSpPr txBox="1"/>
          <p:nvPr/>
        </p:nvSpPr>
        <p:spPr>
          <a:xfrm>
            <a:off x="2647700" y="4557100"/>
            <a:ext cx="6896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Vamos aprender a somar</a:t>
            </a:r>
            <a:endParaRPr b="0" i="0" sz="23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2" name="Google Shape;45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45"/>
          <p:cNvSpPr txBox="1"/>
          <p:nvPr>
            <p:ph idx="4294967295" type="title"/>
          </p:nvPr>
        </p:nvSpPr>
        <p:spPr>
          <a:xfrm>
            <a:off x="1425300" y="4630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Somatórios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54" name="Google Shape;454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1025" y="1729137"/>
            <a:ext cx="1017700" cy="153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1037" y="3688625"/>
            <a:ext cx="10809925" cy="231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4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22500" y="1463815"/>
            <a:ext cx="4923102" cy="19200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Google Shape;462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46"/>
          <p:cNvSpPr txBox="1"/>
          <p:nvPr>
            <p:ph idx="4294967295" type="title"/>
          </p:nvPr>
        </p:nvSpPr>
        <p:spPr>
          <a:xfrm>
            <a:off x="1425300" y="4630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Somatórios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64" name="Google Shape;464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1025" y="3683498"/>
            <a:ext cx="5469325" cy="261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1025" y="1463825"/>
            <a:ext cx="1420477" cy="1799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12750" y="1616215"/>
            <a:ext cx="5726850" cy="2233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2" name="Google Shape;472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47"/>
          <p:cNvSpPr txBox="1"/>
          <p:nvPr>
            <p:ph idx="4294967295" type="title"/>
          </p:nvPr>
        </p:nvSpPr>
        <p:spPr>
          <a:xfrm>
            <a:off x="1425300" y="4630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Somatórios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74" name="Google Shape;474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9500" y="1597875"/>
            <a:ext cx="2052489" cy="152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9501" y="3495025"/>
            <a:ext cx="8841550" cy="282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4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65554" y="1378276"/>
            <a:ext cx="5047446" cy="196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2" name="Google Shape;48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48"/>
          <p:cNvSpPr txBox="1"/>
          <p:nvPr>
            <p:ph idx="4294967295" type="title"/>
          </p:nvPr>
        </p:nvSpPr>
        <p:spPr>
          <a:xfrm>
            <a:off x="1425300" y="4630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Somatórios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84" name="Google Shape;484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775" y="1702025"/>
            <a:ext cx="5907386" cy="573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4775" y="2688866"/>
            <a:ext cx="1019125" cy="122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775" y="4331601"/>
            <a:ext cx="7111325" cy="189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4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26711" y="2009390"/>
            <a:ext cx="5065040" cy="24438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49"/>
          <p:cNvSpPr txBox="1"/>
          <p:nvPr>
            <p:ph idx="4294967295" type="title"/>
          </p:nvPr>
        </p:nvSpPr>
        <p:spPr>
          <a:xfrm>
            <a:off x="1425300" y="4630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Somatórios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95" name="Google Shape;495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775" y="1702025"/>
            <a:ext cx="5907386" cy="573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4775" y="2666662"/>
            <a:ext cx="1155082" cy="129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4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775" y="4355100"/>
            <a:ext cx="7645377" cy="195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50"/>
          <p:cNvSpPr txBox="1"/>
          <p:nvPr>
            <p:ph idx="4294967295" type="title"/>
          </p:nvPr>
        </p:nvSpPr>
        <p:spPr>
          <a:xfrm>
            <a:off x="1425300" y="463025"/>
            <a:ext cx="101472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Agora que sabemos somar, vamos para a média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05" name="Google Shape;505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9500" y="1549500"/>
            <a:ext cx="6853950" cy="467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51"/>
          <p:cNvSpPr txBox="1"/>
          <p:nvPr>
            <p:ph idx="4294967295" type="title"/>
          </p:nvPr>
        </p:nvSpPr>
        <p:spPr>
          <a:xfrm>
            <a:off x="1425300" y="463025"/>
            <a:ext cx="101472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Agora que sabemos somar, vamos para a média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513" name="Google Shape;513;p51"/>
          <p:cNvGrpSpPr/>
          <p:nvPr/>
        </p:nvGrpSpPr>
        <p:grpSpPr>
          <a:xfrm>
            <a:off x="791154" y="1463734"/>
            <a:ext cx="1392498" cy="2397652"/>
            <a:chOff x="791200" y="1463813"/>
            <a:chExt cx="1621446" cy="2791863"/>
          </a:xfrm>
        </p:grpSpPr>
        <p:grpSp>
          <p:nvGrpSpPr>
            <p:cNvPr id="514" name="Google Shape;514;p51"/>
            <p:cNvGrpSpPr/>
            <p:nvPr/>
          </p:nvGrpSpPr>
          <p:grpSpPr>
            <a:xfrm>
              <a:off x="791200" y="2602325"/>
              <a:ext cx="1621446" cy="1653350"/>
              <a:chOff x="791200" y="2640850"/>
              <a:chExt cx="1621446" cy="1653350"/>
            </a:xfrm>
          </p:grpSpPr>
          <p:sp>
            <p:nvSpPr>
              <p:cNvPr id="515" name="Google Shape;515;p51"/>
              <p:cNvSpPr/>
              <p:nvPr/>
            </p:nvSpPr>
            <p:spPr>
              <a:xfrm>
                <a:off x="791200" y="3237575"/>
                <a:ext cx="459900" cy="459900"/>
              </a:xfrm>
              <a:prstGeom prst="rect">
                <a:avLst/>
              </a:prstGeom>
              <a:solidFill>
                <a:srgbClr val="A700FF"/>
              </a:solidFill>
              <a:ln cap="flat" cmpd="sng" w="19050">
                <a:solidFill>
                  <a:srgbClr val="7030A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6" name="Google Shape;516;p51"/>
              <p:cNvSpPr/>
              <p:nvPr/>
            </p:nvSpPr>
            <p:spPr>
              <a:xfrm>
                <a:off x="1371973" y="3237575"/>
                <a:ext cx="459900" cy="459900"/>
              </a:xfrm>
              <a:prstGeom prst="rect">
                <a:avLst/>
              </a:prstGeom>
              <a:solidFill>
                <a:srgbClr val="A700FF"/>
              </a:solidFill>
              <a:ln cap="flat" cmpd="sng" w="19050">
                <a:solidFill>
                  <a:srgbClr val="7030A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7" name="Google Shape;517;p51"/>
              <p:cNvSpPr/>
              <p:nvPr/>
            </p:nvSpPr>
            <p:spPr>
              <a:xfrm>
                <a:off x="1952746" y="3237575"/>
                <a:ext cx="459900" cy="459900"/>
              </a:xfrm>
              <a:prstGeom prst="rect">
                <a:avLst/>
              </a:prstGeom>
              <a:solidFill>
                <a:srgbClr val="A700FF"/>
              </a:solidFill>
              <a:ln cap="flat" cmpd="sng" w="19050">
                <a:solidFill>
                  <a:srgbClr val="7030A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8" name="Google Shape;518;p51"/>
              <p:cNvSpPr/>
              <p:nvPr/>
            </p:nvSpPr>
            <p:spPr>
              <a:xfrm>
                <a:off x="791200" y="3834300"/>
                <a:ext cx="459900" cy="459900"/>
              </a:xfrm>
              <a:prstGeom prst="rect">
                <a:avLst/>
              </a:prstGeom>
              <a:solidFill>
                <a:srgbClr val="A700FF"/>
              </a:solidFill>
              <a:ln cap="flat" cmpd="sng" w="19050">
                <a:solidFill>
                  <a:srgbClr val="7030A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9" name="Google Shape;519;p51"/>
              <p:cNvSpPr/>
              <p:nvPr/>
            </p:nvSpPr>
            <p:spPr>
              <a:xfrm>
                <a:off x="1371973" y="3834300"/>
                <a:ext cx="459900" cy="459900"/>
              </a:xfrm>
              <a:prstGeom prst="rect">
                <a:avLst/>
              </a:prstGeom>
              <a:solidFill>
                <a:srgbClr val="A700FF"/>
              </a:solidFill>
              <a:ln cap="flat" cmpd="sng" w="19050">
                <a:solidFill>
                  <a:srgbClr val="7030A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0" name="Google Shape;520;p51"/>
              <p:cNvSpPr/>
              <p:nvPr/>
            </p:nvSpPr>
            <p:spPr>
              <a:xfrm>
                <a:off x="791200" y="2640850"/>
                <a:ext cx="459900" cy="459900"/>
              </a:xfrm>
              <a:prstGeom prst="rect">
                <a:avLst/>
              </a:prstGeom>
              <a:solidFill>
                <a:srgbClr val="A700FF"/>
              </a:solidFill>
              <a:ln cap="flat" cmpd="sng" w="19050">
                <a:solidFill>
                  <a:srgbClr val="7030A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1" name="Google Shape;521;p51"/>
              <p:cNvSpPr/>
              <p:nvPr/>
            </p:nvSpPr>
            <p:spPr>
              <a:xfrm>
                <a:off x="1371973" y="2640850"/>
                <a:ext cx="459900" cy="459900"/>
              </a:xfrm>
              <a:prstGeom prst="rect">
                <a:avLst/>
              </a:prstGeom>
              <a:solidFill>
                <a:srgbClr val="A700FF"/>
              </a:solidFill>
              <a:ln cap="flat" cmpd="sng" w="19050">
                <a:solidFill>
                  <a:srgbClr val="7030A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2" name="Google Shape;522;p51"/>
              <p:cNvSpPr/>
              <p:nvPr/>
            </p:nvSpPr>
            <p:spPr>
              <a:xfrm>
                <a:off x="1952746" y="2640850"/>
                <a:ext cx="459900" cy="459900"/>
              </a:xfrm>
              <a:prstGeom prst="rect">
                <a:avLst/>
              </a:prstGeom>
              <a:solidFill>
                <a:srgbClr val="A700FF"/>
              </a:solidFill>
              <a:ln cap="flat" cmpd="sng" w="19050">
                <a:solidFill>
                  <a:srgbClr val="7030A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523" name="Google Shape;523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201725" y="1463813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4" name="Google Shape;524;p51"/>
          <p:cNvGrpSpPr/>
          <p:nvPr/>
        </p:nvGrpSpPr>
        <p:grpSpPr>
          <a:xfrm>
            <a:off x="3818976" y="1463734"/>
            <a:ext cx="1392498" cy="1885184"/>
            <a:chOff x="2880696" y="1463813"/>
            <a:chExt cx="1621446" cy="2195138"/>
          </a:xfrm>
        </p:grpSpPr>
        <p:grpSp>
          <p:nvGrpSpPr>
            <p:cNvPr id="525" name="Google Shape;525;p51"/>
            <p:cNvGrpSpPr/>
            <p:nvPr/>
          </p:nvGrpSpPr>
          <p:grpSpPr>
            <a:xfrm>
              <a:off x="2880696" y="2602325"/>
              <a:ext cx="1621446" cy="1056625"/>
              <a:chOff x="2880696" y="2640850"/>
              <a:chExt cx="1621446" cy="1056625"/>
            </a:xfrm>
          </p:grpSpPr>
          <p:sp>
            <p:nvSpPr>
              <p:cNvPr id="526" name="Google Shape;526;p51"/>
              <p:cNvSpPr/>
              <p:nvPr/>
            </p:nvSpPr>
            <p:spPr>
              <a:xfrm>
                <a:off x="2880696" y="3237575"/>
                <a:ext cx="459900" cy="459900"/>
              </a:xfrm>
              <a:prstGeom prst="rect">
                <a:avLst/>
              </a:prstGeom>
              <a:solidFill>
                <a:srgbClr val="60D44B"/>
              </a:solidFill>
              <a:ln cap="flat" cmpd="sng" w="19050">
                <a:solidFill>
                  <a:srgbClr val="09390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7" name="Google Shape;527;p51"/>
              <p:cNvSpPr/>
              <p:nvPr/>
            </p:nvSpPr>
            <p:spPr>
              <a:xfrm>
                <a:off x="2880696" y="2640850"/>
                <a:ext cx="459900" cy="459900"/>
              </a:xfrm>
              <a:prstGeom prst="rect">
                <a:avLst/>
              </a:prstGeom>
              <a:solidFill>
                <a:srgbClr val="60D44B"/>
              </a:solidFill>
              <a:ln cap="flat" cmpd="sng" w="19050">
                <a:solidFill>
                  <a:srgbClr val="09390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8" name="Google Shape;528;p51"/>
              <p:cNvSpPr/>
              <p:nvPr/>
            </p:nvSpPr>
            <p:spPr>
              <a:xfrm>
                <a:off x="3461469" y="2640850"/>
                <a:ext cx="459900" cy="459900"/>
              </a:xfrm>
              <a:prstGeom prst="rect">
                <a:avLst/>
              </a:prstGeom>
              <a:solidFill>
                <a:srgbClr val="60D44B"/>
              </a:solidFill>
              <a:ln cap="flat" cmpd="sng" w="19050">
                <a:solidFill>
                  <a:srgbClr val="09390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9" name="Google Shape;529;p51"/>
              <p:cNvSpPr/>
              <p:nvPr/>
            </p:nvSpPr>
            <p:spPr>
              <a:xfrm>
                <a:off x="4042242" y="2640850"/>
                <a:ext cx="459900" cy="459900"/>
              </a:xfrm>
              <a:prstGeom prst="rect">
                <a:avLst/>
              </a:prstGeom>
              <a:solidFill>
                <a:srgbClr val="60D44B"/>
              </a:solidFill>
              <a:ln cap="flat" cmpd="sng" w="19050">
                <a:solidFill>
                  <a:srgbClr val="09390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530" name="Google Shape;530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291225" y="1463813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31" name="Google Shape;531;p51"/>
          <p:cNvGrpSpPr/>
          <p:nvPr/>
        </p:nvGrpSpPr>
        <p:grpSpPr>
          <a:xfrm>
            <a:off x="6846798" y="1463734"/>
            <a:ext cx="1392501" cy="3921872"/>
            <a:chOff x="4970199" y="1463813"/>
            <a:chExt cx="1621450" cy="4566688"/>
          </a:xfrm>
        </p:grpSpPr>
        <p:pic>
          <p:nvPicPr>
            <p:cNvPr id="532" name="Google Shape;532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380725" y="1463813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33" name="Google Shape;533;p51"/>
            <p:cNvGrpSpPr/>
            <p:nvPr/>
          </p:nvGrpSpPr>
          <p:grpSpPr>
            <a:xfrm>
              <a:off x="4970199" y="2602325"/>
              <a:ext cx="1621450" cy="3428176"/>
              <a:chOff x="6938824" y="2640850"/>
              <a:chExt cx="1621450" cy="3428176"/>
            </a:xfrm>
          </p:grpSpPr>
          <p:grpSp>
            <p:nvGrpSpPr>
              <p:cNvPr id="534" name="Google Shape;534;p51"/>
              <p:cNvGrpSpPr/>
              <p:nvPr/>
            </p:nvGrpSpPr>
            <p:grpSpPr>
              <a:xfrm>
                <a:off x="6938828" y="2640850"/>
                <a:ext cx="1621446" cy="2846801"/>
                <a:chOff x="6938828" y="2640850"/>
                <a:chExt cx="1621446" cy="2846801"/>
              </a:xfrm>
            </p:grpSpPr>
            <p:sp>
              <p:nvSpPr>
                <p:cNvPr id="535" name="Google Shape;535;p51"/>
                <p:cNvSpPr/>
                <p:nvPr/>
              </p:nvSpPr>
              <p:spPr>
                <a:xfrm>
                  <a:off x="6938828" y="3237575"/>
                  <a:ext cx="459900" cy="459900"/>
                </a:xfrm>
                <a:prstGeom prst="rect">
                  <a:avLst/>
                </a:prstGeom>
                <a:solidFill>
                  <a:srgbClr val="F2D300"/>
                </a:solidFill>
                <a:ln cap="flat" cmpd="sng" w="19050">
                  <a:solidFill>
                    <a:srgbClr val="62310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6" name="Google Shape;536;p51"/>
                <p:cNvSpPr/>
                <p:nvPr/>
              </p:nvSpPr>
              <p:spPr>
                <a:xfrm>
                  <a:off x="7519601" y="3237575"/>
                  <a:ext cx="459900" cy="459900"/>
                </a:xfrm>
                <a:prstGeom prst="rect">
                  <a:avLst/>
                </a:prstGeom>
                <a:solidFill>
                  <a:srgbClr val="F2D300"/>
                </a:solidFill>
                <a:ln cap="flat" cmpd="sng" w="19050">
                  <a:solidFill>
                    <a:srgbClr val="62310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7" name="Google Shape;537;p51"/>
                <p:cNvSpPr/>
                <p:nvPr/>
              </p:nvSpPr>
              <p:spPr>
                <a:xfrm>
                  <a:off x="8100374" y="3237575"/>
                  <a:ext cx="459900" cy="459900"/>
                </a:xfrm>
                <a:prstGeom prst="rect">
                  <a:avLst/>
                </a:prstGeom>
                <a:solidFill>
                  <a:srgbClr val="F2D300"/>
                </a:solidFill>
                <a:ln cap="flat" cmpd="sng" w="19050">
                  <a:solidFill>
                    <a:srgbClr val="62310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8" name="Google Shape;538;p51"/>
                <p:cNvSpPr/>
                <p:nvPr/>
              </p:nvSpPr>
              <p:spPr>
                <a:xfrm>
                  <a:off x="6938828" y="3834300"/>
                  <a:ext cx="459900" cy="459900"/>
                </a:xfrm>
                <a:prstGeom prst="rect">
                  <a:avLst/>
                </a:prstGeom>
                <a:solidFill>
                  <a:srgbClr val="F2D300"/>
                </a:solidFill>
                <a:ln cap="flat" cmpd="sng" w="19050">
                  <a:solidFill>
                    <a:srgbClr val="62310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9" name="Google Shape;539;p51"/>
                <p:cNvSpPr/>
                <p:nvPr/>
              </p:nvSpPr>
              <p:spPr>
                <a:xfrm>
                  <a:off x="7519601" y="3834300"/>
                  <a:ext cx="459900" cy="459900"/>
                </a:xfrm>
                <a:prstGeom prst="rect">
                  <a:avLst/>
                </a:prstGeom>
                <a:solidFill>
                  <a:srgbClr val="F2D300"/>
                </a:solidFill>
                <a:ln cap="flat" cmpd="sng" w="19050">
                  <a:solidFill>
                    <a:srgbClr val="62310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0" name="Google Shape;540;p51"/>
                <p:cNvSpPr/>
                <p:nvPr/>
              </p:nvSpPr>
              <p:spPr>
                <a:xfrm>
                  <a:off x="8100374" y="3834300"/>
                  <a:ext cx="459900" cy="459900"/>
                </a:xfrm>
                <a:prstGeom prst="rect">
                  <a:avLst/>
                </a:prstGeom>
                <a:solidFill>
                  <a:srgbClr val="F2D300"/>
                </a:solidFill>
                <a:ln cap="flat" cmpd="sng" w="19050">
                  <a:solidFill>
                    <a:srgbClr val="62310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1" name="Google Shape;541;p51"/>
                <p:cNvSpPr/>
                <p:nvPr/>
              </p:nvSpPr>
              <p:spPr>
                <a:xfrm>
                  <a:off x="6938828" y="4431025"/>
                  <a:ext cx="459900" cy="459900"/>
                </a:xfrm>
                <a:prstGeom prst="rect">
                  <a:avLst/>
                </a:prstGeom>
                <a:solidFill>
                  <a:srgbClr val="F2D300"/>
                </a:solidFill>
                <a:ln cap="flat" cmpd="sng" w="19050">
                  <a:solidFill>
                    <a:srgbClr val="62310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2" name="Google Shape;542;p51"/>
                <p:cNvSpPr/>
                <p:nvPr/>
              </p:nvSpPr>
              <p:spPr>
                <a:xfrm>
                  <a:off x="7519601" y="4431025"/>
                  <a:ext cx="459900" cy="459900"/>
                </a:xfrm>
                <a:prstGeom prst="rect">
                  <a:avLst/>
                </a:prstGeom>
                <a:solidFill>
                  <a:srgbClr val="F2D300"/>
                </a:solidFill>
                <a:ln cap="flat" cmpd="sng" w="19050">
                  <a:solidFill>
                    <a:srgbClr val="62310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3" name="Google Shape;543;p51"/>
                <p:cNvSpPr/>
                <p:nvPr/>
              </p:nvSpPr>
              <p:spPr>
                <a:xfrm>
                  <a:off x="8100374" y="4431025"/>
                  <a:ext cx="459900" cy="459900"/>
                </a:xfrm>
                <a:prstGeom prst="rect">
                  <a:avLst/>
                </a:prstGeom>
                <a:solidFill>
                  <a:srgbClr val="F2D300"/>
                </a:solidFill>
                <a:ln cap="flat" cmpd="sng" w="19050">
                  <a:solidFill>
                    <a:srgbClr val="62310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4" name="Google Shape;544;p51"/>
                <p:cNvSpPr/>
                <p:nvPr/>
              </p:nvSpPr>
              <p:spPr>
                <a:xfrm>
                  <a:off x="6938828" y="5027751"/>
                  <a:ext cx="459900" cy="459900"/>
                </a:xfrm>
                <a:prstGeom prst="rect">
                  <a:avLst/>
                </a:prstGeom>
                <a:solidFill>
                  <a:srgbClr val="F2D300"/>
                </a:solidFill>
                <a:ln cap="flat" cmpd="sng" w="19050">
                  <a:solidFill>
                    <a:srgbClr val="62310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5" name="Google Shape;545;p51"/>
                <p:cNvSpPr/>
                <p:nvPr/>
              </p:nvSpPr>
              <p:spPr>
                <a:xfrm>
                  <a:off x="7519601" y="5027751"/>
                  <a:ext cx="459900" cy="459900"/>
                </a:xfrm>
                <a:prstGeom prst="rect">
                  <a:avLst/>
                </a:prstGeom>
                <a:solidFill>
                  <a:srgbClr val="F2D300"/>
                </a:solidFill>
                <a:ln cap="flat" cmpd="sng" w="19050">
                  <a:solidFill>
                    <a:srgbClr val="62310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6" name="Google Shape;546;p51"/>
                <p:cNvSpPr/>
                <p:nvPr/>
              </p:nvSpPr>
              <p:spPr>
                <a:xfrm>
                  <a:off x="8100374" y="5027751"/>
                  <a:ext cx="459900" cy="459900"/>
                </a:xfrm>
                <a:prstGeom prst="rect">
                  <a:avLst/>
                </a:prstGeom>
                <a:solidFill>
                  <a:srgbClr val="F2D300"/>
                </a:solidFill>
                <a:ln cap="flat" cmpd="sng" w="19050">
                  <a:solidFill>
                    <a:srgbClr val="62310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7" name="Google Shape;547;p51"/>
                <p:cNvSpPr/>
                <p:nvPr/>
              </p:nvSpPr>
              <p:spPr>
                <a:xfrm>
                  <a:off x="6938828" y="2640850"/>
                  <a:ext cx="459900" cy="459900"/>
                </a:xfrm>
                <a:prstGeom prst="rect">
                  <a:avLst/>
                </a:prstGeom>
                <a:solidFill>
                  <a:srgbClr val="F2D300"/>
                </a:solidFill>
                <a:ln cap="flat" cmpd="sng" w="19050">
                  <a:solidFill>
                    <a:srgbClr val="62310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8" name="Google Shape;548;p51"/>
                <p:cNvSpPr/>
                <p:nvPr/>
              </p:nvSpPr>
              <p:spPr>
                <a:xfrm>
                  <a:off x="7519601" y="2640850"/>
                  <a:ext cx="459900" cy="459900"/>
                </a:xfrm>
                <a:prstGeom prst="rect">
                  <a:avLst/>
                </a:prstGeom>
                <a:solidFill>
                  <a:srgbClr val="F2D300"/>
                </a:solidFill>
                <a:ln cap="flat" cmpd="sng" w="19050">
                  <a:solidFill>
                    <a:srgbClr val="62310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9" name="Google Shape;549;p51"/>
                <p:cNvSpPr/>
                <p:nvPr/>
              </p:nvSpPr>
              <p:spPr>
                <a:xfrm>
                  <a:off x="8100374" y="2640850"/>
                  <a:ext cx="459900" cy="459900"/>
                </a:xfrm>
                <a:prstGeom prst="rect">
                  <a:avLst/>
                </a:prstGeom>
                <a:solidFill>
                  <a:srgbClr val="F2D300"/>
                </a:solidFill>
                <a:ln cap="flat" cmpd="sng" w="19050">
                  <a:solidFill>
                    <a:srgbClr val="62310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550" name="Google Shape;550;p51"/>
              <p:cNvSpPr/>
              <p:nvPr/>
            </p:nvSpPr>
            <p:spPr>
              <a:xfrm>
                <a:off x="6938824" y="5609126"/>
                <a:ext cx="459900" cy="459900"/>
              </a:xfrm>
              <a:prstGeom prst="rect">
                <a:avLst/>
              </a:prstGeom>
              <a:solidFill>
                <a:srgbClr val="F2D300"/>
              </a:solidFill>
              <a:ln cap="flat" cmpd="sng" w="19050">
                <a:solidFill>
                  <a:srgbClr val="62310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51" name="Google Shape;551;p51"/>
          <p:cNvGrpSpPr/>
          <p:nvPr/>
        </p:nvGrpSpPr>
        <p:grpSpPr>
          <a:xfrm>
            <a:off x="9874624" y="1463834"/>
            <a:ext cx="1392498" cy="2910119"/>
            <a:chOff x="7059692" y="1463813"/>
            <a:chExt cx="1621446" cy="3388588"/>
          </a:xfrm>
        </p:grpSpPr>
        <p:pic>
          <p:nvPicPr>
            <p:cNvPr id="552" name="Google Shape;552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470225" y="1463813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53" name="Google Shape;553;p51"/>
            <p:cNvGrpSpPr/>
            <p:nvPr/>
          </p:nvGrpSpPr>
          <p:grpSpPr>
            <a:xfrm>
              <a:off x="7059692" y="2602325"/>
              <a:ext cx="1621446" cy="2250075"/>
              <a:chOff x="7059692" y="2602325"/>
              <a:chExt cx="1621446" cy="2250075"/>
            </a:xfrm>
          </p:grpSpPr>
          <p:sp>
            <p:nvSpPr>
              <p:cNvPr id="554" name="Google Shape;554;p51"/>
              <p:cNvSpPr/>
              <p:nvPr/>
            </p:nvSpPr>
            <p:spPr>
              <a:xfrm>
                <a:off x="7059692" y="3199050"/>
                <a:ext cx="459900" cy="459900"/>
              </a:xfrm>
              <a:prstGeom prst="rect">
                <a:avLst/>
              </a:prstGeom>
              <a:solidFill>
                <a:srgbClr val="00BCF4"/>
              </a:solidFill>
              <a:ln cap="flat" cmpd="sng" w="19050">
                <a:solidFill>
                  <a:srgbClr val="01317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5" name="Google Shape;555;p51"/>
              <p:cNvSpPr/>
              <p:nvPr/>
            </p:nvSpPr>
            <p:spPr>
              <a:xfrm>
                <a:off x="7640465" y="3199050"/>
                <a:ext cx="459900" cy="459900"/>
              </a:xfrm>
              <a:prstGeom prst="rect">
                <a:avLst/>
              </a:prstGeom>
              <a:solidFill>
                <a:srgbClr val="00BCF4"/>
              </a:solidFill>
              <a:ln cap="flat" cmpd="sng" w="19050">
                <a:solidFill>
                  <a:srgbClr val="01317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6" name="Google Shape;556;p51"/>
              <p:cNvSpPr/>
              <p:nvPr/>
            </p:nvSpPr>
            <p:spPr>
              <a:xfrm>
                <a:off x="8221238" y="3199050"/>
                <a:ext cx="459900" cy="459900"/>
              </a:xfrm>
              <a:prstGeom prst="rect">
                <a:avLst/>
              </a:prstGeom>
              <a:solidFill>
                <a:srgbClr val="00BCF4"/>
              </a:solidFill>
              <a:ln cap="flat" cmpd="sng" w="19050">
                <a:solidFill>
                  <a:srgbClr val="01317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7" name="Google Shape;557;p51"/>
              <p:cNvSpPr/>
              <p:nvPr/>
            </p:nvSpPr>
            <p:spPr>
              <a:xfrm>
                <a:off x="7059692" y="3795775"/>
                <a:ext cx="459900" cy="459900"/>
              </a:xfrm>
              <a:prstGeom prst="rect">
                <a:avLst/>
              </a:prstGeom>
              <a:solidFill>
                <a:srgbClr val="00BCF4"/>
              </a:solidFill>
              <a:ln cap="flat" cmpd="sng" w="19050">
                <a:solidFill>
                  <a:srgbClr val="01317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8" name="Google Shape;558;p51"/>
              <p:cNvSpPr/>
              <p:nvPr/>
            </p:nvSpPr>
            <p:spPr>
              <a:xfrm>
                <a:off x="7640465" y="3795775"/>
                <a:ext cx="459900" cy="459900"/>
              </a:xfrm>
              <a:prstGeom prst="rect">
                <a:avLst/>
              </a:prstGeom>
              <a:solidFill>
                <a:srgbClr val="00BCF4"/>
              </a:solidFill>
              <a:ln cap="flat" cmpd="sng" w="19050">
                <a:solidFill>
                  <a:srgbClr val="01317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9" name="Google Shape;559;p51"/>
              <p:cNvSpPr/>
              <p:nvPr/>
            </p:nvSpPr>
            <p:spPr>
              <a:xfrm>
                <a:off x="7059692" y="2602325"/>
                <a:ext cx="459900" cy="459900"/>
              </a:xfrm>
              <a:prstGeom prst="rect">
                <a:avLst/>
              </a:prstGeom>
              <a:solidFill>
                <a:srgbClr val="00BCF4"/>
              </a:solidFill>
              <a:ln cap="flat" cmpd="sng" w="19050">
                <a:solidFill>
                  <a:srgbClr val="01317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0" name="Google Shape;560;p51"/>
              <p:cNvSpPr/>
              <p:nvPr/>
            </p:nvSpPr>
            <p:spPr>
              <a:xfrm>
                <a:off x="7640465" y="2602325"/>
                <a:ext cx="459900" cy="459900"/>
              </a:xfrm>
              <a:prstGeom prst="rect">
                <a:avLst/>
              </a:prstGeom>
              <a:solidFill>
                <a:srgbClr val="00BCF4"/>
              </a:solidFill>
              <a:ln cap="flat" cmpd="sng" w="19050">
                <a:solidFill>
                  <a:srgbClr val="01317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1" name="Google Shape;561;p51"/>
              <p:cNvSpPr/>
              <p:nvPr/>
            </p:nvSpPr>
            <p:spPr>
              <a:xfrm>
                <a:off x="8221238" y="2602325"/>
                <a:ext cx="459900" cy="459900"/>
              </a:xfrm>
              <a:prstGeom prst="rect">
                <a:avLst/>
              </a:prstGeom>
              <a:solidFill>
                <a:srgbClr val="00BCF4"/>
              </a:solidFill>
              <a:ln cap="flat" cmpd="sng" w="19050">
                <a:solidFill>
                  <a:srgbClr val="01317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2" name="Google Shape;562;p51"/>
              <p:cNvSpPr/>
              <p:nvPr/>
            </p:nvSpPr>
            <p:spPr>
              <a:xfrm>
                <a:off x="8221238" y="3795775"/>
                <a:ext cx="459900" cy="459900"/>
              </a:xfrm>
              <a:prstGeom prst="rect">
                <a:avLst/>
              </a:prstGeom>
              <a:solidFill>
                <a:srgbClr val="00BCF4"/>
              </a:solidFill>
              <a:ln cap="flat" cmpd="sng" w="19050">
                <a:solidFill>
                  <a:srgbClr val="01317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3" name="Google Shape;563;p51"/>
              <p:cNvSpPr/>
              <p:nvPr/>
            </p:nvSpPr>
            <p:spPr>
              <a:xfrm>
                <a:off x="7059692" y="4392500"/>
                <a:ext cx="459900" cy="459900"/>
              </a:xfrm>
              <a:prstGeom prst="rect">
                <a:avLst/>
              </a:prstGeom>
              <a:solidFill>
                <a:srgbClr val="00BCF4"/>
              </a:solidFill>
              <a:ln cap="flat" cmpd="sng" w="19050">
                <a:solidFill>
                  <a:srgbClr val="01317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" name="Google Shape;564;p51"/>
              <p:cNvSpPr/>
              <p:nvPr/>
            </p:nvSpPr>
            <p:spPr>
              <a:xfrm>
                <a:off x="7640465" y="4392500"/>
                <a:ext cx="459900" cy="459900"/>
              </a:xfrm>
              <a:prstGeom prst="rect">
                <a:avLst/>
              </a:prstGeom>
              <a:solidFill>
                <a:srgbClr val="00BCF4"/>
              </a:solidFill>
              <a:ln cap="flat" cmpd="sng" w="19050">
                <a:solidFill>
                  <a:srgbClr val="01317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5" name="Google Shape;565;p51"/>
              <p:cNvSpPr/>
              <p:nvPr/>
            </p:nvSpPr>
            <p:spPr>
              <a:xfrm>
                <a:off x="8221238" y="4392500"/>
                <a:ext cx="459900" cy="459900"/>
              </a:xfrm>
              <a:prstGeom prst="rect">
                <a:avLst/>
              </a:prstGeom>
              <a:solidFill>
                <a:srgbClr val="00BCF4"/>
              </a:solidFill>
              <a:ln cap="flat" cmpd="sng" w="19050">
                <a:solidFill>
                  <a:srgbClr val="01317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1" name="Google Shape;571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52"/>
          <p:cNvSpPr txBox="1"/>
          <p:nvPr>
            <p:ph idx="4294967295" type="title"/>
          </p:nvPr>
        </p:nvSpPr>
        <p:spPr>
          <a:xfrm>
            <a:off x="1425300" y="463025"/>
            <a:ext cx="101472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Agora que sabemos somar, vamos para a média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573" name="Google Shape;573;p52"/>
          <p:cNvGrpSpPr/>
          <p:nvPr/>
        </p:nvGrpSpPr>
        <p:grpSpPr>
          <a:xfrm>
            <a:off x="791154" y="2441489"/>
            <a:ext cx="1392636" cy="1420035"/>
            <a:chOff x="791154" y="2441489"/>
            <a:chExt cx="1392636" cy="1420035"/>
          </a:xfrm>
        </p:grpSpPr>
        <p:sp>
          <p:nvSpPr>
            <p:cNvPr id="574" name="Google Shape;574;p52"/>
            <p:cNvSpPr/>
            <p:nvPr/>
          </p:nvSpPr>
          <p:spPr>
            <a:xfrm>
              <a:off x="791154" y="2953956"/>
              <a:ext cx="395100" cy="395100"/>
            </a:xfrm>
            <a:prstGeom prst="rect">
              <a:avLst/>
            </a:prstGeom>
            <a:solidFill>
              <a:srgbClr val="A700FF"/>
            </a:solidFill>
            <a:ln cap="flat" cmpd="sng" w="19050">
              <a:solidFill>
                <a:srgbClr val="7030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52"/>
            <p:cNvSpPr/>
            <p:nvPr/>
          </p:nvSpPr>
          <p:spPr>
            <a:xfrm>
              <a:off x="1289922" y="2953956"/>
              <a:ext cx="395100" cy="395100"/>
            </a:xfrm>
            <a:prstGeom prst="rect">
              <a:avLst/>
            </a:prstGeom>
            <a:solidFill>
              <a:srgbClr val="A700FF"/>
            </a:solidFill>
            <a:ln cap="flat" cmpd="sng" w="19050">
              <a:solidFill>
                <a:srgbClr val="7030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52"/>
            <p:cNvSpPr/>
            <p:nvPr/>
          </p:nvSpPr>
          <p:spPr>
            <a:xfrm>
              <a:off x="1788690" y="2953956"/>
              <a:ext cx="395100" cy="395100"/>
            </a:xfrm>
            <a:prstGeom prst="rect">
              <a:avLst/>
            </a:prstGeom>
            <a:solidFill>
              <a:srgbClr val="A700FF"/>
            </a:solidFill>
            <a:ln cap="flat" cmpd="sng" w="19050">
              <a:solidFill>
                <a:srgbClr val="7030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52"/>
            <p:cNvSpPr/>
            <p:nvPr/>
          </p:nvSpPr>
          <p:spPr>
            <a:xfrm>
              <a:off x="791154" y="3466424"/>
              <a:ext cx="395100" cy="395100"/>
            </a:xfrm>
            <a:prstGeom prst="rect">
              <a:avLst/>
            </a:prstGeom>
            <a:solidFill>
              <a:srgbClr val="A700FF"/>
            </a:solidFill>
            <a:ln cap="flat" cmpd="sng" w="19050">
              <a:solidFill>
                <a:srgbClr val="7030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52"/>
            <p:cNvSpPr/>
            <p:nvPr/>
          </p:nvSpPr>
          <p:spPr>
            <a:xfrm>
              <a:off x="1289922" y="3466424"/>
              <a:ext cx="395100" cy="395100"/>
            </a:xfrm>
            <a:prstGeom prst="rect">
              <a:avLst/>
            </a:prstGeom>
            <a:solidFill>
              <a:srgbClr val="A700FF"/>
            </a:solidFill>
            <a:ln cap="flat" cmpd="sng" w="19050">
              <a:solidFill>
                <a:srgbClr val="7030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52"/>
            <p:cNvSpPr/>
            <p:nvPr/>
          </p:nvSpPr>
          <p:spPr>
            <a:xfrm>
              <a:off x="791154" y="2441489"/>
              <a:ext cx="395100" cy="395100"/>
            </a:xfrm>
            <a:prstGeom prst="rect">
              <a:avLst/>
            </a:prstGeom>
            <a:solidFill>
              <a:srgbClr val="A700FF"/>
            </a:solidFill>
            <a:ln cap="flat" cmpd="sng" w="19050">
              <a:solidFill>
                <a:srgbClr val="7030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52"/>
            <p:cNvSpPr/>
            <p:nvPr/>
          </p:nvSpPr>
          <p:spPr>
            <a:xfrm>
              <a:off x="1289922" y="2441489"/>
              <a:ext cx="395100" cy="395100"/>
            </a:xfrm>
            <a:prstGeom prst="rect">
              <a:avLst/>
            </a:prstGeom>
            <a:solidFill>
              <a:srgbClr val="A700FF"/>
            </a:solidFill>
            <a:ln cap="flat" cmpd="sng" w="19050">
              <a:solidFill>
                <a:srgbClr val="7030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52"/>
            <p:cNvSpPr/>
            <p:nvPr/>
          </p:nvSpPr>
          <p:spPr>
            <a:xfrm>
              <a:off x="1788690" y="2441489"/>
              <a:ext cx="395100" cy="395100"/>
            </a:xfrm>
            <a:prstGeom prst="rect">
              <a:avLst/>
            </a:prstGeom>
            <a:solidFill>
              <a:srgbClr val="A700FF"/>
            </a:solidFill>
            <a:ln cap="flat" cmpd="sng" w="19050">
              <a:solidFill>
                <a:srgbClr val="7030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582" name="Google Shape;582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3713" y="1463734"/>
            <a:ext cx="687384" cy="687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3" name="Google Shape;583;p52"/>
          <p:cNvGrpSpPr/>
          <p:nvPr/>
        </p:nvGrpSpPr>
        <p:grpSpPr>
          <a:xfrm>
            <a:off x="3818976" y="2441489"/>
            <a:ext cx="1392498" cy="907430"/>
            <a:chOff x="2880696" y="2640850"/>
            <a:chExt cx="1621446" cy="1056625"/>
          </a:xfrm>
        </p:grpSpPr>
        <p:sp>
          <p:nvSpPr>
            <p:cNvPr id="584" name="Google Shape;584;p52"/>
            <p:cNvSpPr/>
            <p:nvPr/>
          </p:nvSpPr>
          <p:spPr>
            <a:xfrm>
              <a:off x="2880696" y="3237575"/>
              <a:ext cx="459900" cy="459900"/>
            </a:xfrm>
            <a:prstGeom prst="rect">
              <a:avLst/>
            </a:prstGeom>
            <a:solidFill>
              <a:srgbClr val="60D44B"/>
            </a:solidFill>
            <a:ln cap="flat" cmpd="sng" w="19050">
              <a:solidFill>
                <a:srgbClr val="09390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52"/>
            <p:cNvSpPr/>
            <p:nvPr/>
          </p:nvSpPr>
          <p:spPr>
            <a:xfrm>
              <a:off x="2880696" y="2640850"/>
              <a:ext cx="459900" cy="459900"/>
            </a:xfrm>
            <a:prstGeom prst="rect">
              <a:avLst/>
            </a:prstGeom>
            <a:solidFill>
              <a:srgbClr val="60D44B"/>
            </a:solidFill>
            <a:ln cap="flat" cmpd="sng" w="19050">
              <a:solidFill>
                <a:srgbClr val="09390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52"/>
            <p:cNvSpPr/>
            <p:nvPr/>
          </p:nvSpPr>
          <p:spPr>
            <a:xfrm>
              <a:off x="3461469" y="2640850"/>
              <a:ext cx="459900" cy="459900"/>
            </a:xfrm>
            <a:prstGeom prst="rect">
              <a:avLst/>
            </a:prstGeom>
            <a:solidFill>
              <a:srgbClr val="60D44B"/>
            </a:solidFill>
            <a:ln cap="flat" cmpd="sng" w="19050">
              <a:solidFill>
                <a:srgbClr val="09390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52"/>
            <p:cNvSpPr/>
            <p:nvPr/>
          </p:nvSpPr>
          <p:spPr>
            <a:xfrm>
              <a:off x="4042242" y="2640850"/>
              <a:ext cx="459900" cy="459900"/>
            </a:xfrm>
            <a:prstGeom prst="rect">
              <a:avLst/>
            </a:prstGeom>
            <a:solidFill>
              <a:srgbClr val="60D44B"/>
            </a:solidFill>
            <a:ln cap="flat" cmpd="sng" w="19050">
              <a:solidFill>
                <a:srgbClr val="09390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588" name="Google Shape;588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71538" y="1463734"/>
            <a:ext cx="687384" cy="687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89" name="Google Shape;589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99358" y="1463734"/>
            <a:ext cx="687384" cy="687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0" name="Google Shape;590;p52"/>
          <p:cNvGrpSpPr/>
          <p:nvPr/>
        </p:nvGrpSpPr>
        <p:grpSpPr>
          <a:xfrm>
            <a:off x="6846798" y="2441489"/>
            <a:ext cx="1392501" cy="2944117"/>
            <a:chOff x="6938824" y="2640850"/>
            <a:chExt cx="1621450" cy="3428176"/>
          </a:xfrm>
        </p:grpSpPr>
        <p:grpSp>
          <p:nvGrpSpPr>
            <p:cNvPr id="591" name="Google Shape;591;p52"/>
            <p:cNvGrpSpPr/>
            <p:nvPr/>
          </p:nvGrpSpPr>
          <p:grpSpPr>
            <a:xfrm>
              <a:off x="6938828" y="2640850"/>
              <a:ext cx="1621446" cy="2846801"/>
              <a:chOff x="6938828" y="2640850"/>
              <a:chExt cx="1621446" cy="2846801"/>
            </a:xfrm>
          </p:grpSpPr>
          <p:sp>
            <p:nvSpPr>
              <p:cNvPr id="592" name="Google Shape;592;p52"/>
              <p:cNvSpPr/>
              <p:nvPr/>
            </p:nvSpPr>
            <p:spPr>
              <a:xfrm>
                <a:off x="6938828" y="3237575"/>
                <a:ext cx="459900" cy="459900"/>
              </a:xfrm>
              <a:prstGeom prst="rect">
                <a:avLst/>
              </a:prstGeom>
              <a:solidFill>
                <a:srgbClr val="F2D300"/>
              </a:solidFill>
              <a:ln cap="flat" cmpd="sng" w="19050">
                <a:solidFill>
                  <a:srgbClr val="62310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3" name="Google Shape;593;p52"/>
              <p:cNvSpPr/>
              <p:nvPr/>
            </p:nvSpPr>
            <p:spPr>
              <a:xfrm>
                <a:off x="7519601" y="3237575"/>
                <a:ext cx="459900" cy="459900"/>
              </a:xfrm>
              <a:prstGeom prst="rect">
                <a:avLst/>
              </a:prstGeom>
              <a:solidFill>
                <a:srgbClr val="F2D300"/>
              </a:solidFill>
              <a:ln cap="flat" cmpd="sng" w="19050">
                <a:solidFill>
                  <a:srgbClr val="62310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4" name="Google Shape;594;p52"/>
              <p:cNvSpPr/>
              <p:nvPr/>
            </p:nvSpPr>
            <p:spPr>
              <a:xfrm>
                <a:off x="8100374" y="3237575"/>
                <a:ext cx="459900" cy="459900"/>
              </a:xfrm>
              <a:prstGeom prst="rect">
                <a:avLst/>
              </a:prstGeom>
              <a:solidFill>
                <a:srgbClr val="F2D300"/>
              </a:solidFill>
              <a:ln cap="flat" cmpd="sng" w="19050">
                <a:solidFill>
                  <a:srgbClr val="62310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5" name="Google Shape;595;p52"/>
              <p:cNvSpPr/>
              <p:nvPr/>
            </p:nvSpPr>
            <p:spPr>
              <a:xfrm>
                <a:off x="6938828" y="3834300"/>
                <a:ext cx="459900" cy="459900"/>
              </a:xfrm>
              <a:prstGeom prst="rect">
                <a:avLst/>
              </a:prstGeom>
              <a:solidFill>
                <a:srgbClr val="F2D300"/>
              </a:solidFill>
              <a:ln cap="flat" cmpd="sng" w="19050">
                <a:solidFill>
                  <a:srgbClr val="62310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6" name="Google Shape;596;p52"/>
              <p:cNvSpPr/>
              <p:nvPr/>
            </p:nvSpPr>
            <p:spPr>
              <a:xfrm>
                <a:off x="7519601" y="3834300"/>
                <a:ext cx="459900" cy="459900"/>
              </a:xfrm>
              <a:prstGeom prst="rect">
                <a:avLst/>
              </a:prstGeom>
              <a:solidFill>
                <a:srgbClr val="F2D300"/>
              </a:solidFill>
              <a:ln cap="flat" cmpd="sng" w="19050">
                <a:solidFill>
                  <a:srgbClr val="62310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" name="Google Shape;597;p52"/>
              <p:cNvSpPr/>
              <p:nvPr/>
            </p:nvSpPr>
            <p:spPr>
              <a:xfrm>
                <a:off x="8100374" y="3834300"/>
                <a:ext cx="459900" cy="459900"/>
              </a:xfrm>
              <a:prstGeom prst="rect">
                <a:avLst/>
              </a:prstGeom>
              <a:solidFill>
                <a:srgbClr val="F2D300"/>
              </a:solidFill>
              <a:ln cap="flat" cmpd="sng" w="19050">
                <a:solidFill>
                  <a:srgbClr val="62310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8" name="Google Shape;598;p52"/>
              <p:cNvSpPr/>
              <p:nvPr/>
            </p:nvSpPr>
            <p:spPr>
              <a:xfrm>
                <a:off x="6938828" y="4431025"/>
                <a:ext cx="459900" cy="459900"/>
              </a:xfrm>
              <a:prstGeom prst="rect">
                <a:avLst/>
              </a:prstGeom>
              <a:solidFill>
                <a:srgbClr val="F2D300"/>
              </a:solidFill>
              <a:ln cap="flat" cmpd="sng" w="19050">
                <a:solidFill>
                  <a:srgbClr val="62310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9" name="Google Shape;599;p52"/>
              <p:cNvSpPr/>
              <p:nvPr/>
            </p:nvSpPr>
            <p:spPr>
              <a:xfrm>
                <a:off x="7519601" y="4431025"/>
                <a:ext cx="459900" cy="459900"/>
              </a:xfrm>
              <a:prstGeom prst="rect">
                <a:avLst/>
              </a:prstGeom>
              <a:solidFill>
                <a:srgbClr val="F2D300"/>
              </a:solidFill>
              <a:ln cap="flat" cmpd="sng" w="19050">
                <a:solidFill>
                  <a:srgbClr val="62310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0" name="Google Shape;600;p52"/>
              <p:cNvSpPr/>
              <p:nvPr/>
            </p:nvSpPr>
            <p:spPr>
              <a:xfrm>
                <a:off x="8100374" y="4431025"/>
                <a:ext cx="459900" cy="459900"/>
              </a:xfrm>
              <a:prstGeom prst="rect">
                <a:avLst/>
              </a:prstGeom>
              <a:solidFill>
                <a:srgbClr val="F2D300"/>
              </a:solidFill>
              <a:ln cap="flat" cmpd="sng" w="19050">
                <a:solidFill>
                  <a:srgbClr val="62310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1" name="Google Shape;601;p52"/>
              <p:cNvSpPr/>
              <p:nvPr/>
            </p:nvSpPr>
            <p:spPr>
              <a:xfrm>
                <a:off x="6938828" y="5027751"/>
                <a:ext cx="459900" cy="459900"/>
              </a:xfrm>
              <a:prstGeom prst="rect">
                <a:avLst/>
              </a:prstGeom>
              <a:solidFill>
                <a:srgbClr val="F2D300"/>
              </a:solidFill>
              <a:ln cap="flat" cmpd="sng" w="19050">
                <a:solidFill>
                  <a:srgbClr val="62310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2" name="Google Shape;602;p52"/>
              <p:cNvSpPr/>
              <p:nvPr/>
            </p:nvSpPr>
            <p:spPr>
              <a:xfrm>
                <a:off x="7519601" y="5027751"/>
                <a:ext cx="459900" cy="459900"/>
              </a:xfrm>
              <a:prstGeom prst="rect">
                <a:avLst/>
              </a:prstGeom>
              <a:solidFill>
                <a:srgbClr val="F2D300"/>
              </a:solidFill>
              <a:ln cap="flat" cmpd="sng" w="19050">
                <a:solidFill>
                  <a:srgbClr val="62310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3" name="Google Shape;603;p52"/>
              <p:cNvSpPr/>
              <p:nvPr/>
            </p:nvSpPr>
            <p:spPr>
              <a:xfrm>
                <a:off x="8100374" y="5027751"/>
                <a:ext cx="459900" cy="459900"/>
              </a:xfrm>
              <a:prstGeom prst="rect">
                <a:avLst/>
              </a:prstGeom>
              <a:solidFill>
                <a:srgbClr val="F2D300"/>
              </a:solidFill>
              <a:ln cap="flat" cmpd="sng" w="19050">
                <a:solidFill>
                  <a:srgbClr val="62310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4" name="Google Shape;604;p52"/>
              <p:cNvSpPr/>
              <p:nvPr/>
            </p:nvSpPr>
            <p:spPr>
              <a:xfrm>
                <a:off x="6938828" y="2640850"/>
                <a:ext cx="459900" cy="459900"/>
              </a:xfrm>
              <a:prstGeom prst="rect">
                <a:avLst/>
              </a:prstGeom>
              <a:solidFill>
                <a:srgbClr val="F2D300"/>
              </a:solidFill>
              <a:ln cap="flat" cmpd="sng" w="19050">
                <a:solidFill>
                  <a:srgbClr val="62310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5" name="Google Shape;605;p52"/>
              <p:cNvSpPr/>
              <p:nvPr/>
            </p:nvSpPr>
            <p:spPr>
              <a:xfrm>
                <a:off x="7519601" y="2640850"/>
                <a:ext cx="459900" cy="459900"/>
              </a:xfrm>
              <a:prstGeom prst="rect">
                <a:avLst/>
              </a:prstGeom>
              <a:solidFill>
                <a:srgbClr val="F2D300"/>
              </a:solidFill>
              <a:ln cap="flat" cmpd="sng" w="19050">
                <a:solidFill>
                  <a:srgbClr val="62310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6" name="Google Shape;606;p52"/>
              <p:cNvSpPr/>
              <p:nvPr/>
            </p:nvSpPr>
            <p:spPr>
              <a:xfrm>
                <a:off x="8100374" y="2640850"/>
                <a:ext cx="459900" cy="459900"/>
              </a:xfrm>
              <a:prstGeom prst="rect">
                <a:avLst/>
              </a:prstGeom>
              <a:solidFill>
                <a:srgbClr val="F2D300"/>
              </a:solidFill>
              <a:ln cap="flat" cmpd="sng" w="19050">
                <a:solidFill>
                  <a:srgbClr val="62310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07" name="Google Shape;607;p52"/>
            <p:cNvSpPr/>
            <p:nvPr/>
          </p:nvSpPr>
          <p:spPr>
            <a:xfrm>
              <a:off x="6938824" y="5609126"/>
              <a:ext cx="459900" cy="459900"/>
            </a:xfrm>
            <a:prstGeom prst="rect">
              <a:avLst/>
            </a:prstGeom>
            <a:solidFill>
              <a:srgbClr val="F2D300"/>
            </a:solidFill>
            <a:ln cap="flat" cmpd="sng" w="19050">
              <a:solidFill>
                <a:srgbClr val="62310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608" name="Google Shape;608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27189" y="1463834"/>
            <a:ext cx="687384" cy="687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09" name="Google Shape;609;p52"/>
          <p:cNvGrpSpPr/>
          <p:nvPr/>
        </p:nvGrpSpPr>
        <p:grpSpPr>
          <a:xfrm>
            <a:off x="9874624" y="2441589"/>
            <a:ext cx="1392498" cy="1932365"/>
            <a:chOff x="7059692" y="2602325"/>
            <a:chExt cx="1621446" cy="2250075"/>
          </a:xfrm>
        </p:grpSpPr>
        <p:sp>
          <p:nvSpPr>
            <p:cNvPr id="610" name="Google Shape;610;p52"/>
            <p:cNvSpPr/>
            <p:nvPr/>
          </p:nvSpPr>
          <p:spPr>
            <a:xfrm>
              <a:off x="7059692" y="3199050"/>
              <a:ext cx="459900" cy="459900"/>
            </a:xfrm>
            <a:prstGeom prst="rect">
              <a:avLst/>
            </a:prstGeom>
            <a:solidFill>
              <a:srgbClr val="00BCF4"/>
            </a:solidFill>
            <a:ln cap="flat" cmpd="sng" w="19050">
              <a:solidFill>
                <a:srgbClr val="0131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52"/>
            <p:cNvSpPr/>
            <p:nvPr/>
          </p:nvSpPr>
          <p:spPr>
            <a:xfrm>
              <a:off x="7640465" y="3199050"/>
              <a:ext cx="459900" cy="459900"/>
            </a:xfrm>
            <a:prstGeom prst="rect">
              <a:avLst/>
            </a:prstGeom>
            <a:solidFill>
              <a:srgbClr val="00BCF4"/>
            </a:solidFill>
            <a:ln cap="flat" cmpd="sng" w="19050">
              <a:solidFill>
                <a:srgbClr val="0131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52"/>
            <p:cNvSpPr/>
            <p:nvPr/>
          </p:nvSpPr>
          <p:spPr>
            <a:xfrm>
              <a:off x="8221238" y="3199050"/>
              <a:ext cx="459900" cy="459900"/>
            </a:xfrm>
            <a:prstGeom prst="rect">
              <a:avLst/>
            </a:prstGeom>
            <a:solidFill>
              <a:srgbClr val="00BCF4"/>
            </a:solidFill>
            <a:ln cap="flat" cmpd="sng" w="19050">
              <a:solidFill>
                <a:srgbClr val="0131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52"/>
            <p:cNvSpPr/>
            <p:nvPr/>
          </p:nvSpPr>
          <p:spPr>
            <a:xfrm>
              <a:off x="7059692" y="3795775"/>
              <a:ext cx="459900" cy="459900"/>
            </a:xfrm>
            <a:prstGeom prst="rect">
              <a:avLst/>
            </a:prstGeom>
            <a:solidFill>
              <a:srgbClr val="00BCF4"/>
            </a:solidFill>
            <a:ln cap="flat" cmpd="sng" w="19050">
              <a:solidFill>
                <a:srgbClr val="0131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52"/>
            <p:cNvSpPr/>
            <p:nvPr/>
          </p:nvSpPr>
          <p:spPr>
            <a:xfrm>
              <a:off x="7640465" y="3795775"/>
              <a:ext cx="459900" cy="459900"/>
            </a:xfrm>
            <a:prstGeom prst="rect">
              <a:avLst/>
            </a:prstGeom>
            <a:solidFill>
              <a:srgbClr val="00BCF4"/>
            </a:solidFill>
            <a:ln cap="flat" cmpd="sng" w="19050">
              <a:solidFill>
                <a:srgbClr val="0131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52"/>
            <p:cNvSpPr/>
            <p:nvPr/>
          </p:nvSpPr>
          <p:spPr>
            <a:xfrm>
              <a:off x="7059692" y="2602325"/>
              <a:ext cx="459900" cy="459900"/>
            </a:xfrm>
            <a:prstGeom prst="rect">
              <a:avLst/>
            </a:prstGeom>
            <a:solidFill>
              <a:srgbClr val="00BCF4"/>
            </a:solidFill>
            <a:ln cap="flat" cmpd="sng" w="19050">
              <a:solidFill>
                <a:srgbClr val="0131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52"/>
            <p:cNvSpPr/>
            <p:nvPr/>
          </p:nvSpPr>
          <p:spPr>
            <a:xfrm>
              <a:off x="7640465" y="2602325"/>
              <a:ext cx="459900" cy="459900"/>
            </a:xfrm>
            <a:prstGeom prst="rect">
              <a:avLst/>
            </a:prstGeom>
            <a:solidFill>
              <a:srgbClr val="00BCF4"/>
            </a:solidFill>
            <a:ln cap="flat" cmpd="sng" w="19050">
              <a:solidFill>
                <a:srgbClr val="0131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52"/>
            <p:cNvSpPr/>
            <p:nvPr/>
          </p:nvSpPr>
          <p:spPr>
            <a:xfrm>
              <a:off x="8221238" y="2602325"/>
              <a:ext cx="459900" cy="459900"/>
            </a:xfrm>
            <a:prstGeom prst="rect">
              <a:avLst/>
            </a:prstGeom>
            <a:solidFill>
              <a:srgbClr val="00BCF4"/>
            </a:solidFill>
            <a:ln cap="flat" cmpd="sng" w="19050">
              <a:solidFill>
                <a:srgbClr val="0131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52"/>
            <p:cNvSpPr/>
            <p:nvPr/>
          </p:nvSpPr>
          <p:spPr>
            <a:xfrm>
              <a:off x="8221238" y="3795775"/>
              <a:ext cx="459900" cy="459900"/>
            </a:xfrm>
            <a:prstGeom prst="rect">
              <a:avLst/>
            </a:prstGeom>
            <a:solidFill>
              <a:srgbClr val="00BCF4"/>
            </a:solidFill>
            <a:ln cap="flat" cmpd="sng" w="19050">
              <a:solidFill>
                <a:srgbClr val="0131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52"/>
            <p:cNvSpPr/>
            <p:nvPr/>
          </p:nvSpPr>
          <p:spPr>
            <a:xfrm>
              <a:off x="7059692" y="4392500"/>
              <a:ext cx="459900" cy="459900"/>
            </a:xfrm>
            <a:prstGeom prst="rect">
              <a:avLst/>
            </a:prstGeom>
            <a:solidFill>
              <a:srgbClr val="00BCF4"/>
            </a:solidFill>
            <a:ln cap="flat" cmpd="sng" w="19050">
              <a:solidFill>
                <a:srgbClr val="0131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52"/>
            <p:cNvSpPr/>
            <p:nvPr/>
          </p:nvSpPr>
          <p:spPr>
            <a:xfrm>
              <a:off x="7640465" y="4392500"/>
              <a:ext cx="459900" cy="459900"/>
            </a:xfrm>
            <a:prstGeom prst="rect">
              <a:avLst/>
            </a:prstGeom>
            <a:solidFill>
              <a:srgbClr val="00BCF4"/>
            </a:solidFill>
            <a:ln cap="flat" cmpd="sng" w="19050">
              <a:solidFill>
                <a:srgbClr val="0131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52"/>
            <p:cNvSpPr/>
            <p:nvPr/>
          </p:nvSpPr>
          <p:spPr>
            <a:xfrm>
              <a:off x="8221238" y="4392500"/>
              <a:ext cx="459900" cy="459900"/>
            </a:xfrm>
            <a:prstGeom prst="rect">
              <a:avLst/>
            </a:prstGeom>
            <a:solidFill>
              <a:srgbClr val="00BCF4"/>
            </a:solidFill>
            <a:ln cap="flat" cmpd="sng" w="19050">
              <a:solidFill>
                <a:srgbClr val="0131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2" name="Google Shape;622;p52"/>
          <p:cNvSpPr/>
          <p:nvPr/>
        </p:nvSpPr>
        <p:spPr>
          <a:xfrm>
            <a:off x="791092" y="5863514"/>
            <a:ext cx="395100" cy="395100"/>
          </a:xfrm>
          <a:prstGeom prst="rect">
            <a:avLst/>
          </a:prstGeom>
          <a:solidFill>
            <a:srgbClr val="A700FF"/>
          </a:solidFill>
          <a:ln cap="flat" cmpd="sng" w="1905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52"/>
          <p:cNvSpPr/>
          <p:nvPr/>
        </p:nvSpPr>
        <p:spPr>
          <a:xfrm>
            <a:off x="1289842" y="5863964"/>
            <a:ext cx="395100" cy="395100"/>
          </a:xfrm>
          <a:prstGeom prst="rect">
            <a:avLst/>
          </a:prstGeom>
          <a:solidFill>
            <a:srgbClr val="A700FF"/>
          </a:solidFill>
          <a:ln cap="flat" cmpd="sng" w="1905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52"/>
          <p:cNvSpPr/>
          <p:nvPr/>
        </p:nvSpPr>
        <p:spPr>
          <a:xfrm>
            <a:off x="3818967" y="5863289"/>
            <a:ext cx="395100" cy="395100"/>
          </a:xfrm>
          <a:prstGeom prst="rect">
            <a:avLst/>
          </a:prstGeom>
          <a:solidFill>
            <a:srgbClr val="A700FF"/>
          </a:solidFill>
          <a:ln cap="flat" cmpd="sng" w="1905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52"/>
          <p:cNvSpPr/>
          <p:nvPr/>
        </p:nvSpPr>
        <p:spPr>
          <a:xfrm>
            <a:off x="4317717" y="5863739"/>
            <a:ext cx="395100" cy="395100"/>
          </a:xfrm>
          <a:prstGeom prst="rect">
            <a:avLst/>
          </a:prstGeom>
          <a:solidFill>
            <a:srgbClr val="A700FF"/>
          </a:solidFill>
          <a:ln cap="flat" cmpd="sng" w="1905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52"/>
          <p:cNvSpPr/>
          <p:nvPr/>
        </p:nvSpPr>
        <p:spPr>
          <a:xfrm>
            <a:off x="6846842" y="5863064"/>
            <a:ext cx="395100" cy="395100"/>
          </a:xfrm>
          <a:prstGeom prst="rect">
            <a:avLst/>
          </a:prstGeom>
          <a:solidFill>
            <a:srgbClr val="A700FF"/>
          </a:solidFill>
          <a:ln cap="flat" cmpd="sng" w="1905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52"/>
          <p:cNvSpPr/>
          <p:nvPr/>
        </p:nvSpPr>
        <p:spPr>
          <a:xfrm>
            <a:off x="7345592" y="5863514"/>
            <a:ext cx="395100" cy="395100"/>
          </a:xfrm>
          <a:prstGeom prst="rect">
            <a:avLst/>
          </a:prstGeom>
          <a:solidFill>
            <a:srgbClr val="A700FF"/>
          </a:solidFill>
          <a:ln cap="flat" cmpd="sng" w="1905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52"/>
          <p:cNvSpPr/>
          <p:nvPr/>
        </p:nvSpPr>
        <p:spPr>
          <a:xfrm>
            <a:off x="9874717" y="5862839"/>
            <a:ext cx="395100" cy="395100"/>
          </a:xfrm>
          <a:prstGeom prst="rect">
            <a:avLst/>
          </a:prstGeom>
          <a:solidFill>
            <a:srgbClr val="A700FF"/>
          </a:solidFill>
          <a:ln cap="flat" cmpd="sng" w="1905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52"/>
          <p:cNvSpPr/>
          <p:nvPr/>
        </p:nvSpPr>
        <p:spPr>
          <a:xfrm>
            <a:off x="10373467" y="5863289"/>
            <a:ext cx="395100" cy="395100"/>
          </a:xfrm>
          <a:prstGeom prst="rect">
            <a:avLst/>
          </a:prstGeom>
          <a:solidFill>
            <a:srgbClr val="A700FF"/>
          </a:solidFill>
          <a:ln cap="flat" cmpd="sng" w="1905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52"/>
          <p:cNvSpPr/>
          <p:nvPr/>
        </p:nvSpPr>
        <p:spPr>
          <a:xfrm>
            <a:off x="1788601" y="5863981"/>
            <a:ext cx="395100" cy="395100"/>
          </a:xfrm>
          <a:prstGeom prst="rect">
            <a:avLst/>
          </a:prstGeom>
          <a:solidFill>
            <a:srgbClr val="60D44B"/>
          </a:solidFill>
          <a:ln cap="flat" cmpd="sng" w="19050">
            <a:solidFill>
              <a:srgbClr val="0939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52"/>
          <p:cNvSpPr/>
          <p:nvPr/>
        </p:nvSpPr>
        <p:spPr>
          <a:xfrm>
            <a:off x="4816476" y="5863981"/>
            <a:ext cx="395100" cy="395100"/>
          </a:xfrm>
          <a:prstGeom prst="rect">
            <a:avLst/>
          </a:prstGeom>
          <a:solidFill>
            <a:srgbClr val="60D44B"/>
          </a:solidFill>
          <a:ln cap="flat" cmpd="sng" w="19050">
            <a:solidFill>
              <a:srgbClr val="0939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52"/>
          <p:cNvSpPr/>
          <p:nvPr/>
        </p:nvSpPr>
        <p:spPr>
          <a:xfrm>
            <a:off x="7844351" y="5862856"/>
            <a:ext cx="395100" cy="395100"/>
          </a:xfrm>
          <a:prstGeom prst="rect">
            <a:avLst/>
          </a:prstGeom>
          <a:solidFill>
            <a:srgbClr val="60D44B"/>
          </a:solidFill>
          <a:ln cap="flat" cmpd="sng" w="19050">
            <a:solidFill>
              <a:srgbClr val="0939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52"/>
          <p:cNvSpPr/>
          <p:nvPr/>
        </p:nvSpPr>
        <p:spPr>
          <a:xfrm>
            <a:off x="10872226" y="5863531"/>
            <a:ext cx="395100" cy="395100"/>
          </a:xfrm>
          <a:prstGeom prst="rect">
            <a:avLst/>
          </a:prstGeom>
          <a:solidFill>
            <a:srgbClr val="60D44B"/>
          </a:solidFill>
          <a:ln cap="flat" cmpd="sng" w="19050">
            <a:solidFill>
              <a:srgbClr val="0939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52"/>
          <p:cNvSpPr/>
          <p:nvPr/>
        </p:nvSpPr>
        <p:spPr>
          <a:xfrm>
            <a:off x="791098" y="5385594"/>
            <a:ext cx="395100" cy="395100"/>
          </a:xfrm>
          <a:prstGeom prst="rect">
            <a:avLst/>
          </a:prstGeom>
          <a:solidFill>
            <a:srgbClr val="F2D300"/>
          </a:solidFill>
          <a:ln cap="flat" cmpd="sng" w="19050">
            <a:solidFill>
              <a:srgbClr val="6231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52"/>
          <p:cNvSpPr/>
          <p:nvPr/>
        </p:nvSpPr>
        <p:spPr>
          <a:xfrm>
            <a:off x="1289861" y="5385594"/>
            <a:ext cx="395100" cy="395100"/>
          </a:xfrm>
          <a:prstGeom prst="rect">
            <a:avLst/>
          </a:prstGeom>
          <a:solidFill>
            <a:srgbClr val="F2D300"/>
          </a:solidFill>
          <a:ln cap="flat" cmpd="sng" w="19050">
            <a:solidFill>
              <a:srgbClr val="6231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52"/>
          <p:cNvSpPr/>
          <p:nvPr/>
        </p:nvSpPr>
        <p:spPr>
          <a:xfrm>
            <a:off x="1788611" y="5385594"/>
            <a:ext cx="395100" cy="395100"/>
          </a:xfrm>
          <a:prstGeom prst="rect">
            <a:avLst/>
          </a:prstGeom>
          <a:solidFill>
            <a:srgbClr val="F2D300"/>
          </a:solidFill>
          <a:ln cap="flat" cmpd="sng" w="19050">
            <a:solidFill>
              <a:srgbClr val="6231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52"/>
          <p:cNvSpPr/>
          <p:nvPr/>
        </p:nvSpPr>
        <p:spPr>
          <a:xfrm>
            <a:off x="791111" y="4907669"/>
            <a:ext cx="395100" cy="395100"/>
          </a:xfrm>
          <a:prstGeom prst="rect">
            <a:avLst/>
          </a:prstGeom>
          <a:solidFill>
            <a:srgbClr val="F2D300"/>
          </a:solidFill>
          <a:ln cap="flat" cmpd="sng" w="19050">
            <a:solidFill>
              <a:srgbClr val="6231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52"/>
          <p:cNvSpPr/>
          <p:nvPr/>
        </p:nvSpPr>
        <p:spPr>
          <a:xfrm>
            <a:off x="3818948" y="5385594"/>
            <a:ext cx="395100" cy="395100"/>
          </a:xfrm>
          <a:prstGeom prst="rect">
            <a:avLst/>
          </a:prstGeom>
          <a:solidFill>
            <a:srgbClr val="F2D300"/>
          </a:solidFill>
          <a:ln cap="flat" cmpd="sng" w="19050">
            <a:solidFill>
              <a:srgbClr val="6231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52"/>
          <p:cNvSpPr/>
          <p:nvPr/>
        </p:nvSpPr>
        <p:spPr>
          <a:xfrm>
            <a:off x="4317711" y="5385594"/>
            <a:ext cx="395100" cy="395100"/>
          </a:xfrm>
          <a:prstGeom prst="rect">
            <a:avLst/>
          </a:prstGeom>
          <a:solidFill>
            <a:srgbClr val="F2D300"/>
          </a:solidFill>
          <a:ln cap="flat" cmpd="sng" w="19050">
            <a:solidFill>
              <a:srgbClr val="6231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52"/>
          <p:cNvSpPr/>
          <p:nvPr/>
        </p:nvSpPr>
        <p:spPr>
          <a:xfrm>
            <a:off x="4816461" y="5385594"/>
            <a:ext cx="395100" cy="395100"/>
          </a:xfrm>
          <a:prstGeom prst="rect">
            <a:avLst/>
          </a:prstGeom>
          <a:solidFill>
            <a:srgbClr val="F2D300"/>
          </a:solidFill>
          <a:ln cap="flat" cmpd="sng" w="19050">
            <a:solidFill>
              <a:srgbClr val="6231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52"/>
          <p:cNvSpPr/>
          <p:nvPr/>
        </p:nvSpPr>
        <p:spPr>
          <a:xfrm>
            <a:off x="3818961" y="4907669"/>
            <a:ext cx="395100" cy="395100"/>
          </a:xfrm>
          <a:prstGeom prst="rect">
            <a:avLst/>
          </a:prstGeom>
          <a:solidFill>
            <a:srgbClr val="F2D300"/>
          </a:solidFill>
          <a:ln cap="flat" cmpd="sng" w="19050">
            <a:solidFill>
              <a:srgbClr val="6231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52"/>
          <p:cNvSpPr/>
          <p:nvPr/>
        </p:nvSpPr>
        <p:spPr>
          <a:xfrm>
            <a:off x="6846798" y="5385594"/>
            <a:ext cx="395100" cy="395100"/>
          </a:xfrm>
          <a:prstGeom prst="rect">
            <a:avLst/>
          </a:prstGeom>
          <a:solidFill>
            <a:srgbClr val="F2D300"/>
          </a:solidFill>
          <a:ln cap="flat" cmpd="sng" w="19050">
            <a:solidFill>
              <a:srgbClr val="6231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52"/>
          <p:cNvSpPr/>
          <p:nvPr/>
        </p:nvSpPr>
        <p:spPr>
          <a:xfrm>
            <a:off x="7345561" y="5385594"/>
            <a:ext cx="395100" cy="395100"/>
          </a:xfrm>
          <a:prstGeom prst="rect">
            <a:avLst/>
          </a:prstGeom>
          <a:solidFill>
            <a:srgbClr val="F2D300"/>
          </a:solidFill>
          <a:ln cap="flat" cmpd="sng" w="19050">
            <a:solidFill>
              <a:srgbClr val="6231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52"/>
          <p:cNvSpPr/>
          <p:nvPr/>
        </p:nvSpPr>
        <p:spPr>
          <a:xfrm>
            <a:off x="7844311" y="5385594"/>
            <a:ext cx="395100" cy="395100"/>
          </a:xfrm>
          <a:prstGeom prst="rect">
            <a:avLst/>
          </a:prstGeom>
          <a:solidFill>
            <a:srgbClr val="F2D300"/>
          </a:solidFill>
          <a:ln cap="flat" cmpd="sng" w="19050">
            <a:solidFill>
              <a:srgbClr val="6231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52"/>
          <p:cNvSpPr/>
          <p:nvPr/>
        </p:nvSpPr>
        <p:spPr>
          <a:xfrm>
            <a:off x="6846811" y="4907669"/>
            <a:ext cx="395100" cy="395100"/>
          </a:xfrm>
          <a:prstGeom prst="rect">
            <a:avLst/>
          </a:prstGeom>
          <a:solidFill>
            <a:srgbClr val="F2D300"/>
          </a:solidFill>
          <a:ln cap="flat" cmpd="sng" w="19050">
            <a:solidFill>
              <a:srgbClr val="6231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52"/>
          <p:cNvSpPr/>
          <p:nvPr/>
        </p:nvSpPr>
        <p:spPr>
          <a:xfrm>
            <a:off x="9874548" y="5385594"/>
            <a:ext cx="395100" cy="395100"/>
          </a:xfrm>
          <a:prstGeom prst="rect">
            <a:avLst/>
          </a:prstGeom>
          <a:solidFill>
            <a:srgbClr val="F2D300"/>
          </a:solidFill>
          <a:ln cap="flat" cmpd="sng" w="19050">
            <a:solidFill>
              <a:srgbClr val="6231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52"/>
          <p:cNvSpPr/>
          <p:nvPr/>
        </p:nvSpPr>
        <p:spPr>
          <a:xfrm>
            <a:off x="10373311" y="5385594"/>
            <a:ext cx="395100" cy="395100"/>
          </a:xfrm>
          <a:prstGeom prst="rect">
            <a:avLst/>
          </a:prstGeom>
          <a:solidFill>
            <a:srgbClr val="F2D300"/>
          </a:solidFill>
          <a:ln cap="flat" cmpd="sng" w="19050">
            <a:solidFill>
              <a:srgbClr val="6231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52"/>
          <p:cNvSpPr/>
          <p:nvPr/>
        </p:nvSpPr>
        <p:spPr>
          <a:xfrm>
            <a:off x="10872061" y="5385594"/>
            <a:ext cx="395100" cy="395100"/>
          </a:xfrm>
          <a:prstGeom prst="rect">
            <a:avLst/>
          </a:prstGeom>
          <a:solidFill>
            <a:srgbClr val="F2D300"/>
          </a:solidFill>
          <a:ln cap="flat" cmpd="sng" w="19050">
            <a:solidFill>
              <a:srgbClr val="6231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52"/>
          <p:cNvSpPr/>
          <p:nvPr/>
        </p:nvSpPr>
        <p:spPr>
          <a:xfrm>
            <a:off x="9874561" y="4907669"/>
            <a:ext cx="395100" cy="395100"/>
          </a:xfrm>
          <a:prstGeom prst="rect">
            <a:avLst/>
          </a:prstGeom>
          <a:solidFill>
            <a:srgbClr val="F2D300"/>
          </a:solidFill>
          <a:ln cap="flat" cmpd="sng" w="19050">
            <a:solidFill>
              <a:srgbClr val="6231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52"/>
          <p:cNvSpPr/>
          <p:nvPr/>
        </p:nvSpPr>
        <p:spPr>
          <a:xfrm>
            <a:off x="1289861" y="4907216"/>
            <a:ext cx="395100" cy="395100"/>
          </a:xfrm>
          <a:prstGeom prst="rect">
            <a:avLst/>
          </a:prstGeom>
          <a:solidFill>
            <a:srgbClr val="00BCF4"/>
          </a:solidFill>
          <a:ln cap="flat" cmpd="sng" w="19050">
            <a:solidFill>
              <a:srgbClr val="0131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52"/>
          <p:cNvSpPr/>
          <p:nvPr/>
        </p:nvSpPr>
        <p:spPr>
          <a:xfrm>
            <a:off x="1788599" y="4907216"/>
            <a:ext cx="395100" cy="395100"/>
          </a:xfrm>
          <a:prstGeom prst="rect">
            <a:avLst/>
          </a:prstGeom>
          <a:solidFill>
            <a:srgbClr val="00BCF4"/>
          </a:solidFill>
          <a:ln cap="flat" cmpd="sng" w="19050">
            <a:solidFill>
              <a:srgbClr val="0131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52"/>
          <p:cNvSpPr/>
          <p:nvPr/>
        </p:nvSpPr>
        <p:spPr>
          <a:xfrm>
            <a:off x="791099" y="4425929"/>
            <a:ext cx="395100" cy="395100"/>
          </a:xfrm>
          <a:prstGeom prst="rect">
            <a:avLst/>
          </a:prstGeom>
          <a:solidFill>
            <a:srgbClr val="00BCF4"/>
          </a:solidFill>
          <a:ln cap="flat" cmpd="sng" w="19050">
            <a:solidFill>
              <a:srgbClr val="0131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52"/>
          <p:cNvSpPr/>
          <p:nvPr/>
        </p:nvSpPr>
        <p:spPr>
          <a:xfrm>
            <a:off x="4317711" y="4907891"/>
            <a:ext cx="395100" cy="395100"/>
          </a:xfrm>
          <a:prstGeom prst="rect">
            <a:avLst/>
          </a:prstGeom>
          <a:solidFill>
            <a:srgbClr val="00BCF4"/>
          </a:solidFill>
          <a:ln cap="flat" cmpd="sng" w="19050">
            <a:solidFill>
              <a:srgbClr val="0131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52"/>
          <p:cNvSpPr/>
          <p:nvPr/>
        </p:nvSpPr>
        <p:spPr>
          <a:xfrm>
            <a:off x="4816449" y="4907891"/>
            <a:ext cx="395100" cy="395100"/>
          </a:xfrm>
          <a:prstGeom prst="rect">
            <a:avLst/>
          </a:prstGeom>
          <a:solidFill>
            <a:srgbClr val="00BCF4"/>
          </a:solidFill>
          <a:ln cap="flat" cmpd="sng" w="19050">
            <a:solidFill>
              <a:srgbClr val="0131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2"/>
          <p:cNvSpPr/>
          <p:nvPr/>
        </p:nvSpPr>
        <p:spPr>
          <a:xfrm>
            <a:off x="3818949" y="4426604"/>
            <a:ext cx="395100" cy="395100"/>
          </a:xfrm>
          <a:prstGeom prst="rect">
            <a:avLst/>
          </a:prstGeom>
          <a:solidFill>
            <a:srgbClr val="00BCF4"/>
          </a:solidFill>
          <a:ln cap="flat" cmpd="sng" w="19050">
            <a:solidFill>
              <a:srgbClr val="0131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52"/>
          <p:cNvSpPr/>
          <p:nvPr/>
        </p:nvSpPr>
        <p:spPr>
          <a:xfrm>
            <a:off x="7345511" y="4908116"/>
            <a:ext cx="395100" cy="395100"/>
          </a:xfrm>
          <a:prstGeom prst="rect">
            <a:avLst/>
          </a:prstGeom>
          <a:solidFill>
            <a:srgbClr val="00BCF4"/>
          </a:solidFill>
          <a:ln cap="flat" cmpd="sng" w="19050">
            <a:solidFill>
              <a:srgbClr val="0131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52"/>
          <p:cNvSpPr/>
          <p:nvPr/>
        </p:nvSpPr>
        <p:spPr>
          <a:xfrm>
            <a:off x="7844249" y="4908116"/>
            <a:ext cx="395100" cy="395100"/>
          </a:xfrm>
          <a:prstGeom prst="rect">
            <a:avLst/>
          </a:prstGeom>
          <a:solidFill>
            <a:srgbClr val="00BCF4"/>
          </a:solidFill>
          <a:ln cap="flat" cmpd="sng" w="19050">
            <a:solidFill>
              <a:srgbClr val="0131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52"/>
          <p:cNvSpPr/>
          <p:nvPr/>
        </p:nvSpPr>
        <p:spPr>
          <a:xfrm>
            <a:off x="6846749" y="4426829"/>
            <a:ext cx="395100" cy="395100"/>
          </a:xfrm>
          <a:prstGeom prst="rect">
            <a:avLst/>
          </a:prstGeom>
          <a:solidFill>
            <a:srgbClr val="00BCF4"/>
          </a:solidFill>
          <a:ln cap="flat" cmpd="sng" w="19050">
            <a:solidFill>
              <a:srgbClr val="0131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52"/>
          <p:cNvSpPr/>
          <p:nvPr/>
        </p:nvSpPr>
        <p:spPr>
          <a:xfrm>
            <a:off x="10373311" y="4908341"/>
            <a:ext cx="395100" cy="395100"/>
          </a:xfrm>
          <a:prstGeom prst="rect">
            <a:avLst/>
          </a:prstGeom>
          <a:solidFill>
            <a:srgbClr val="00BCF4"/>
          </a:solidFill>
          <a:ln cap="flat" cmpd="sng" w="19050">
            <a:solidFill>
              <a:srgbClr val="0131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52"/>
          <p:cNvSpPr/>
          <p:nvPr/>
        </p:nvSpPr>
        <p:spPr>
          <a:xfrm>
            <a:off x="10872049" y="4908341"/>
            <a:ext cx="395100" cy="395100"/>
          </a:xfrm>
          <a:prstGeom prst="rect">
            <a:avLst/>
          </a:prstGeom>
          <a:solidFill>
            <a:srgbClr val="00BCF4"/>
          </a:solidFill>
          <a:ln cap="flat" cmpd="sng" w="19050">
            <a:solidFill>
              <a:srgbClr val="0131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52"/>
          <p:cNvSpPr/>
          <p:nvPr/>
        </p:nvSpPr>
        <p:spPr>
          <a:xfrm>
            <a:off x="9874549" y="4427054"/>
            <a:ext cx="395100" cy="395100"/>
          </a:xfrm>
          <a:prstGeom prst="rect">
            <a:avLst/>
          </a:prstGeom>
          <a:solidFill>
            <a:srgbClr val="00BCF4"/>
          </a:solidFill>
          <a:ln cap="flat" cmpd="sng" w="19050">
            <a:solidFill>
              <a:srgbClr val="0131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6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7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8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9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6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7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80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6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9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100"/>
                                        <p:tgtEl>
                                          <p:spTgt spid="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41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1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61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71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81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91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7" name="Google Shape;667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668" name="Google Shape;668;p53"/>
          <p:cNvSpPr txBox="1"/>
          <p:nvPr>
            <p:ph idx="4294967295" type="title"/>
          </p:nvPr>
        </p:nvSpPr>
        <p:spPr>
          <a:xfrm>
            <a:off x="1425300" y="463025"/>
            <a:ext cx="101472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Agora que sabemos somar, vamos para a média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69" name="Google Shape;669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3713" y="1463734"/>
            <a:ext cx="687384" cy="687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70" name="Google Shape;670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71538" y="1463734"/>
            <a:ext cx="687384" cy="687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71" name="Google Shape;671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99358" y="1463734"/>
            <a:ext cx="687384" cy="687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72" name="Google Shape;672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27189" y="1463834"/>
            <a:ext cx="687384" cy="687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73" name="Google Shape;673;p53"/>
          <p:cNvGrpSpPr/>
          <p:nvPr/>
        </p:nvGrpSpPr>
        <p:grpSpPr>
          <a:xfrm>
            <a:off x="791092" y="2673329"/>
            <a:ext cx="10476235" cy="1833153"/>
            <a:chOff x="791092" y="2673329"/>
            <a:chExt cx="10476235" cy="1833153"/>
          </a:xfrm>
        </p:grpSpPr>
        <p:sp>
          <p:nvSpPr>
            <p:cNvPr id="674" name="Google Shape;674;p53"/>
            <p:cNvSpPr/>
            <p:nvPr/>
          </p:nvSpPr>
          <p:spPr>
            <a:xfrm>
              <a:off x="791092" y="4110914"/>
              <a:ext cx="395100" cy="395100"/>
            </a:xfrm>
            <a:prstGeom prst="rect">
              <a:avLst/>
            </a:prstGeom>
            <a:solidFill>
              <a:srgbClr val="A700FF"/>
            </a:solidFill>
            <a:ln cap="flat" cmpd="sng" w="19050">
              <a:solidFill>
                <a:srgbClr val="7030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53"/>
            <p:cNvSpPr/>
            <p:nvPr/>
          </p:nvSpPr>
          <p:spPr>
            <a:xfrm>
              <a:off x="1289842" y="4111364"/>
              <a:ext cx="395100" cy="395100"/>
            </a:xfrm>
            <a:prstGeom prst="rect">
              <a:avLst/>
            </a:prstGeom>
            <a:solidFill>
              <a:srgbClr val="A700FF"/>
            </a:solidFill>
            <a:ln cap="flat" cmpd="sng" w="19050">
              <a:solidFill>
                <a:srgbClr val="7030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53"/>
            <p:cNvSpPr/>
            <p:nvPr/>
          </p:nvSpPr>
          <p:spPr>
            <a:xfrm>
              <a:off x="3818967" y="4110689"/>
              <a:ext cx="395100" cy="395100"/>
            </a:xfrm>
            <a:prstGeom prst="rect">
              <a:avLst/>
            </a:prstGeom>
            <a:solidFill>
              <a:srgbClr val="A700FF"/>
            </a:solidFill>
            <a:ln cap="flat" cmpd="sng" w="19050">
              <a:solidFill>
                <a:srgbClr val="7030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53"/>
            <p:cNvSpPr/>
            <p:nvPr/>
          </p:nvSpPr>
          <p:spPr>
            <a:xfrm>
              <a:off x="4317717" y="4111139"/>
              <a:ext cx="395100" cy="395100"/>
            </a:xfrm>
            <a:prstGeom prst="rect">
              <a:avLst/>
            </a:prstGeom>
            <a:solidFill>
              <a:srgbClr val="A700FF"/>
            </a:solidFill>
            <a:ln cap="flat" cmpd="sng" w="19050">
              <a:solidFill>
                <a:srgbClr val="7030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53"/>
            <p:cNvSpPr/>
            <p:nvPr/>
          </p:nvSpPr>
          <p:spPr>
            <a:xfrm>
              <a:off x="6846842" y="4110464"/>
              <a:ext cx="395100" cy="395100"/>
            </a:xfrm>
            <a:prstGeom prst="rect">
              <a:avLst/>
            </a:prstGeom>
            <a:solidFill>
              <a:srgbClr val="A700FF"/>
            </a:solidFill>
            <a:ln cap="flat" cmpd="sng" w="19050">
              <a:solidFill>
                <a:srgbClr val="7030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53"/>
            <p:cNvSpPr/>
            <p:nvPr/>
          </p:nvSpPr>
          <p:spPr>
            <a:xfrm>
              <a:off x="7345592" y="4110914"/>
              <a:ext cx="395100" cy="395100"/>
            </a:xfrm>
            <a:prstGeom prst="rect">
              <a:avLst/>
            </a:prstGeom>
            <a:solidFill>
              <a:srgbClr val="A700FF"/>
            </a:solidFill>
            <a:ln cap="flat" cmpd="sng" w="19050">
              <a:solidFill>
                <a:srgbClr val="7030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53"/>
            <p:cNvSpPr/>
            <p:nvPr/>
          </p:nvSpPr>
          <p:spPr>
            <a:xfrm>
              <a:off x="9874717" y="4110239"/>
              <a:ext cx="395100" cy="395100"/>
            </a:xfrm>
            <a:prstGeom prst="rect">
              <a:avLst/>
            </a:prstGeom>
            <a:solidFill>
              <a:srgbClr val="A700FF"/>
            </a:solidFill>
            <a:ln cap="flat" cmpd="sng" w="19050">
              <a:solidFill>
                <a:srgbClr val="7030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53"/>
            <p:cNvSpPr/>
            <p:nvPr/>
          </p:nvSpPr>
          <p:spPr>
            <a:xfrm>
              <a:off x="10373467" y="4110689"/>
              <a:ext cx="395100" cy="395100"/>
            </a:xfrm>
            <a:prstGeom prst="rect">
              <a:avLst/>
            </a:prstGeom>
            <a:solidFill>
              <a:srgbClr val="A700FF"/>
            </a:solidFill>
            <a:ln cap="flat" cmpd="sng" w="19050">
              <a:solidFill>
                <a:srgbClr val="7030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53"/>
            <p:cNvSpPr/>
            <p:nvPr/>
          </p:nvSpPr>
          <p:spPr>
            <a:xfrm>
              <a:off x="1788601" y="4111381"/>
              <a:ext cx="395100" cy="395100"/>
            </a:xfrm>
            <a:prstGeom prst="rect">
              <a:avLst/>
            </a:prstGeom>
            <a:solidFill>
              <a:srgbClr val="60D44B"/>
            </a:solidFill>
            <a:ln cap="flat" cmpd="sng" w="19050">
              <a:solidFill>
                <a:srgbClr val="09390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53"/>
            <p:cNvSpPr/>
            <p:nvPr/>
          </p:nvSpPr>
          <p:spPr>
            <a:xfrm>
              <a:off x="4816476" y="4111381"/>
              <a:ext cx="395100" cy="395100"/>
            </a:xfrm>
            <a:prstGeom prst="rect">
              <a:avLst/>
            </a:prstGeom>
            <a:solidFill>
              <a:srgbClr val="60D44B"/>
            </a:solidFill>
            <a:ln cap="flat" cmpd="sng" w="19050">
              <a:solidFill>
                <a:srgbClr val="09390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53"/>
            <p:cNvSpPr/>
            <p:nvPr/>
          </p:nvSpPr>
          <p:spPr>
            <a:xfrm>
              <a:off x="7844351" y="4110256"/>
              <a:ext cx="395100" cy="395100"/>
            </a:xfrm>
            <a:prstGeom prst="rect">
              <a:avLst/>
            </a:prstGeom>
            <a:solidFill>
              <a:srgbClr val="60D44B"/>
            </a:solidFill>
            <a:ln cap="flat" cmpd="sng" w="19050">
              <a:solidFill>
                <a:srgbClr val="09390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53"/>
            <p:cNvSpPr/>
            <p:nvPr/>
          </p:nvSpPr>
          <p:spPr>
            <a:xfrm>
              <a:off x="10872226" y="4110931"/>
              <a:ext cx="395100" cy="395100"/>
            </a:xfrm>
            <a:prstGeom prst="rect">
              <a:avLst/>
            </a:prstGeom>
            <a:solidFill>
              <a:srgbClr val="60D44B"/>
            </a:solidFill>
            <a:ln cap="flat" cmpd="sng" w="19050">
              <a:solidFill>
                <a:srgbClr val="09390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53"/>
            <p:cNvSpPr/>
            <p:nvPr/>
          </p:nvSpPr>
          <p:spPr>
            <a:xfrm>
              <a:off x="791098" y="3632994"/>
              <a:ext cx="395100" cy="395100"/>
            </a:xfrm>
            <a:prstGeom prst="rect">
              <a:avLst/>
            </a:prstGeom>
            <a:solidFill>
              <a:srgbClr val="F2D300"/>
            </a:solidFill>
            <a:ln cap="flat" cmpd="sng" w="19050">
              <a:solidFill>
                <a:srgbClr val="62310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53"/>
            <p:cNvSpPr/>
            <p:nvPr/>
          </p:nvSpPr>
          <p:spPr>
            <a:xfrm>
              <a:off x="1289861" y="3632994"/>
              <a:ext cx="395100" cy="395100"/>
            </a:xfrm>
            <a:prstGeom prst="rect">
              <a:avLst/>
            </a:prstGeom>
            <a:solidFill>
              <a:srgbClr val="F2D300"/>
            </a:solidFill>
            <a:ln cap="flat" cmpd="sng" w="19050">
              <a:solidFill>
                <a:srgbClr val="62310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53"/>
            <p:cNvSpPr/>
            <p:nvPr/>
          </p:nvSpPr>
          <p:spPr>
            <a:xfrm>
              <a:off x="1788611" y="3632994"/>
              <a:ext cx="395100" cy="395100"/>
            </a:xfrm>
            <a:prstGeom prst="rect">
              <a:avLst/>
            </a:prstGeom>
            <a:solidFill>
              <a:srgbClr val="F2D300"/>
            </a:solidFill>
            <a:ln cap="flat" cmpd="sng" w="19050">
              <a:solidFill>
                <a:srgbClr val="62310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53"/>
            <p:cNvSpPr/>
            <p:nvPr/>
          </p:nvSpPr>
          <p:spPr>
            <a:xfrm>
              <a:off x="791111" y="3155069"/>
              <a:ext cx="395100" cy="395100"/>
            </a:xfrm>
            <a:prstGeom prst="rect">
              <a:avLst/>
            </a:prstGeom>
            <a:solidFill>
              <a:srgbClr val="F2D300"/>
            </a:solidFill>
            <a:ln cap="flat" cmpd="sng" w="19050">
              <a:solidFill>
                <a:srgbClr val="62310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53"/>
            <p:cNvSpPr/>
            <p:nvPr/>
          </p:nvSpPr>
          <p:spPr>
            <a:xfrm>
              <a:off x="3818948" y="3632994"/>
              <a:ext cx="395100" cy="395100"/>
            </a:xfrm>
            <a:prstGeom prst="rect">
              <a:avLst/>
            </a:prstGeom>
            <a:solidFill>
              <a:srgbClr val="F2D300"/>
            </a:solidFill>
            <a:ln cap="flat" cmpd="sng" w="19050">
              <a:solidFill>
                <a:srgbClr val="62310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53"/>
            <p:cNvSpPr/>
            <p:nvPr/>
          </p:nvSpPr>
          <p:spPr>
            <a:xfrm>
              <a:off x="4317711" y="3632994"/>
              <a:ext cx="395100" cy="395100"/>
            </a:xfrm>
            <a:prstGeom prst="rect">
              <a:avLst/>
            </a:prstGeom>
            <a:solidFill>
              <a:srgbClr val="F2D300"/>
            </a:solidFill>
            <a:ln cap="flat" cmpd="sng" w="19050">
              <a:solidFill>
                <a:srgbClr val="62310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53"/>
            <p:cNvSpPr/>
            <p:nvPr/>
          </p:nvSpPr>
          <p:spPr>
            <a:xfrm>
              <a:off x="4816461" y="3632994"/>
              <a:ext cx="395100" cy="395100"/>
            </a:xfrm>
            <a:prstGeom prst="rect">
              <a:avLst/>
            </a:prstGeom>
            <a:solidFill>
              <a:srgbClr val="F2D300"/>
            </a:solidFill>
            <a:ln cap="flat" cmpd="sng" w="19050">
              <a:solidFill>
                <a:srgbClr val="62310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53"/>
            <p:cNvSpPr/>
            <p:nvPr/>
          </p:nvSpPr>
          <p:spPr>
            <a:xfrm>
              <a:off x="3818961" y="3155069"/>
              <a:ext cx="395100" cy="395100"/>
            </a:xfrm>
            <a:prstGeom prst="rect">
              <a:avLst/>
            </a:prstGeom>
            <a:solidFill>
              <a:srgbClr val="F2D300"/>
            </a:solidFill>
            <a:ln cap="flat" cmpd="sng" w="19050">
              <a:solidFill>
                <a:srgbClr val="62310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53"/>
            <p:cNvSpPr/>
            <p:nvPr/>
          </p:nvSpPr>
          <p:spPr>
            <a:xfrm>
              <a:off x="6846798" y="3632994"/>
              <a:ext cx="395100" cy="395100"/>
            </a:xfrm>
            <a:prstGeom prst="rect">
              <a:avLst/>
            </a:prstGeom>
            <a:solidFill>
              <a:srgbClr val="F2D300"/>
            </a:solidFill>
            <a:ln cap="flat" cmpd="sng" w="19050">
              <a:solidFill>
                <a:srgbClr val="62310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53"/>
            <p:cNvSpPr/>
            <p:nvPr/>
          </p:nvSpPr>
          <p:spPr>
            <a:xfrm>
              <a:off x="7345561" y="3632994"/>
              <a:ext cx="395100" cy="395100"/>
            </a:xfrm>
            <a:prstGeom prst="rect">
              <a:avLst/>
            </a:prstGeom>
            <a:solidFill>
              <a:srgbClr val="F2D300"/>
            </a:solidFill>
            <a:ln cap="flat" cmpd="sng" w="19050">
              <a:solidFill>
                <a:srgbClr val="62310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53"/>
            <p:cNvSpPr/>
            <p:nvPr/>
          </p:nvSpPr>
          <p:spPr>
            <a:xfrm>
              <a:off x="7844311" y="3632994"/>
              <a:ext cx="395100" cy="395100"/>
            </a:xfrm>
            <a:prstGeom prst="rect">
              <a:avLst/>
            </a:prstGeom>
            <a:solidFill>
              <a:srgbClr val="F2D300"/>
            </a:solidFill>
            <a:ln cap="flat" cmpd="sng" w="19050">
              <a:solidFill>
                <a:srgbClr val="62310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53"/>
            <p:cNvSpPr/>
            <p:nvPr/>
          </p:nvSpPr>
          <p:spPr>
            <a:xfrm>
              <a:off x="6846811" y="3155069"/>
              <a:ext cx="395100" cy="395100"/>
            </a:xfrm>
            <a:prstGeom prst="rect">
              <a:avLst/>
            </a:prstGeom>
            <a:solidFill>
              <a:srgbClr val="F2D300"/>
            </a:solidFill>
            <a:ln cap="flat" cmpd="sng" w="19050">
              <a:solidFill>
                <a:srgbClr val="62310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53"/>
            <p:cNvSpPr/>
            <p:nvPr/>
          </p:nvSpPr>
          <p:spPr>
            <a:xfrm>
              <a:off x="9874548" y="3632994"/>
              <a:ext cx="395100" cy="395100"/>
            </a:xfrm>
            <a:prstGeom prst="rect">
              <a:avLst/>
            </a:prstGeom>
            <a:solidFill>
              <a:srgbClr val="F2D300"/>
            </a:solidFill>
            <a:ln cap="flat" cmpd="sng" w="19050">
              <a:solidFill>
                <a:srgbClr val="62310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53"/>
            <p:cNvSpPr/>
            <p:nvPr/>
          </p:nvSpPr>
          <p:spPr>
            <a:xfrm>
              <a:off x="10373311" y="3632994"/>
              <a:ext cx="395100" cy="395100"/>
            </a:xfrm>
            <a:prstGeom prst="rect">
              <a:avLst/>
            </a:prstGeom>
            <a:solidFill>
              <a:srgbClr val="F2D300"/>
            </a:solidFill>
            <a:ln cap="flat" cmpd="sng" w="19050">
              <a:solidFill>
                <a:srgbClr val="62310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53"/>
            <p:cNvSpPr/>
            <p:nvPr/>
          </p:nvSpPr>
          <p:spPr>
            <a:xfrm>
              <a:off x="10872061" y="3632994"/>
              <a:ext cx="395100" cy="395100"/>
            </a:xfrm>
            <a:prstGeom prst="rect">
              <a:avLst/>
            </a:prstGeom>
            <a:solidFill>
              <a:srgbClr val="F2D300"/>
            </a:solidFill>
            <a:ln cap="flat" cmpd="sng" w="19050">
              <a:solidFill>
                <a:srgbClr val="62310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53"/>
            <p:cNvSpPr/>
            <p:nvPr/>
          </p:nvSpPr>
          <p:spPr>
            <a:xfrm>
              <a:off x="9874561" y="3155069"/>
              <a:ext cx="395100" cy="395100"/>
            </a:xfrm>
            <a:prstGeom prst="rect">
              <a:avLst/>
            </a:prstGeom>
            <a:solidFill>
              <a:srgbClr val="F2D300"/>
            </a:solidFill>
            <a:ln cap="flat" cmpd="sng" w="19050">
              <a:solidFill>
                <a:srgbClr val="62310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53"/>
            <p:cNvSpPr/>
            <p:nvPr/>
          </p:nvSpPr>
          <p:spPr>
            <a:xfrm>
              <a:off x="1289861" y="3154616"/>
              <a:ext cx="395100" cy="395100"/>
            </a:xfrm>
            <a:prstGeom prst="rect">
              <a:avLst/>
            </a:prstGeom>
            <a:solidFill>
              <a:srgbClr val="00BCF4"/>
            </a:solidFill>
            <a:ln cap="flat" cmpd="sng" w="19050">
              <a:solidFill>
                <a:srgbClr val="0131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53"/>
            <p:cNvSpPr/>
            <p:nvPr/>
          </p:nvSpPr>
          <p:spPr>
            <a:xfrm>
              <a:off x="1788599" y="3154616"/>
              <a:ext cx="395100" cy="395100"/>
            </a:xfrm>
            <a:prstGeom prst="rect">
              <a:avLst/>
            </a:prstGeom>
            <a:solidFill>
              <a:srgbClr val="00BCF4"/>
            </a:solidFill>
            <a:ln cap="flat" cmpd="sng" w="19050">
              <a:solidFill>
                <a:srgbClr val="0131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53"/>
            <p:cNvSpPr/>
            <p:nvPr/>
          </p:nvSpPr>
          <p:spPr>
            <a:xfrm>
              <a:off x="791099" y="2673329"/>
              <a:ext cx="395100" cy="395100"/>
            </a:xfrm>
            <a:prstGeom prst="rect">
              <a:avLst/>
            </a:prstGeom>
            <a:solidFill>
              <a:srgbClr val="00BCF4"/>
            </a:solidFill>
            <a:ln cap="flat" cmpd="sng" w="19050">
              <a:solidFill>
                <a:srgbClr val="0131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53"/>
            <p:cNvSpPr/>
            <p:nvPr/>
          </p:nvSpPr>
          <p:spPr>
            <a:xfrm>
              <a:off x="4317711" y="3155291"/>
              <a:ext cx="395100" cy="395100"/>
            </a:xfrm>
            <a:prstGeom prst="rect">
              <a:avLst/>
            </a:prstGeom>
            <a:solidFill>
              <a:srgbClr val="00BCF4"/>
            </a:solidFill>
            <a:ln cap="flat" cmpd="sng" w="19050">
              <a:solidFill>
                <a:srgbClr val="0131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53"/>
            <p:cNvSpPr/>
            <p:nvPr/>
          </p:nvSpPr>
          <p:spPr>
            <a:xfrm>
              <a:off x="4816449" y="3155291"/>
              <a:ext cx="395100" cy="395100"/>
            </a:xfrm>
            <a:prstGeom prst="rect">
              <a:avLst/>
            </a:prstGeom>
            <a:solidFill>
              <a:srgbClr val="00BCF4"/>
            </a:solidFill>
            <a:ln cap="flat" cmpd="sng" w="19050">
              <a:solidFill>
                <a:srgbClr val="0131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53"/>
            <p:cNvSpPr/>
            <p:nvPr/>
          </p:nvSpPr>
          <p:spPr>
            <a:xfrm>
              <a:off x="3818949" y="2674004"/>
              <a:ext cx="395100" cy="395100"/>
            </a:xfrm>
            <a:prstGeom prst="rect">
              <a:avLst/>
            </a:prstGeom>
            <a:solidFill>
              <a:srgbClr val="00BCF4"/>
            </a:solidFill>
            <a:ln cap="flat" cmpd="sng" w="19050">
              <a:solidFill>
                <a:srgbClr val="0131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53"/>
            <p:cNvSpPr/>
            <p:nvPr/>
          </p:nvSpPr>
          <p:spPr>
            <a:xfrm>
              <a:off x="7345511" y="3155516"/>
              <a:ext cx="395100" cy="395100"/>
            </a:xfrm>
            <a:prstGeom prst="rect">
              <a:avLst/>
            </a:prstGeom>
            <a:solidFill>
              <a:srgbClr val="00BCF4"/>
            </a:solidFill>
            <a:ln cap="flat" cmpd="sng" w="19050">
              <a:solidFill>
                <a:srgbClr val="0131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53"/>
            <p:cNvSpPr/>
            <p:nvPr/>
          </p:nvSpPr>
          <p:spPr>
            <a:xfrm>
              <a:off x="7844249" y="3155516"/>
              <a:ext cx="395100" cy="395100"/>
            </a:xfrm>
            <a:prstGeom prst="rect">
              <a:avLst/>
            </a:prstGeom>
            <a:solidFill>
              <a:srgbClr val="00BCF4"/>
            </a:solidFill>
            <a:ln cap="flat" cmpd="sng" w="19050">
              <a:solidFill>
                <a:srgbClr val="0131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53"/>
            <p:cNvSpPr/>
            <p:nvPr/>
          </p:nvSpPr>
          <p:spPr>
            <a:xfrm>
              <a:off x="6846749" y="2674229"/>
              <a:ext cx="395100" cy="395100"/>
            </a:xfrm>
            <a:prstGeom prst="rect">
              <a:avLst/>
            </a:prstGeom>
            <a:solidFill>
              <a:srgbClr val="00BCF4"/>
            </a:solidFill>
            <a:ln cap="flat" cmpd="sng" w="19050">
              <a:solidFill>
                <a:srgbClr val="0131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53"/>
            <p:cNvSpPr/>
            <p:nvPr/>
          </p:nvSpPr>
          <p:spPr>
            <a:xfrm>
              <a:off x="10373311" y="3155741"/>
              <a:ext cx="395100" cy="395100"/>
            </a:xfrm>
            <a:prstGeom prst="rect">
              <a:avLst/>
            </a:prstGeom>
            <a:solidFill>
              <a:srgbClr val="00BCF4"/>
            </a:solidFill>
            <a:ln cap="flat" cmpd="sng" w="19050">
              <a:solidFill>
                <a:srgbClr val="0131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53"/>
            <p:cNvSpPr/>
            <p:nvPr/>
          </p:nvSpPr>
          <p:spPr>
            <a:xfrm>
              <a:off x="10872049" y="3155741"/>
              <a:ext cx="395100" cy="395100"/>
            </a:xfrm>
            <a:prstGeom prst="rect">
              <a:avLst/>
            </a:prstGeom>
            <a:solidFill>
              <a:srgbClr val="00BCF4"/>
            </a:solidFill>
            <a:ln cap="flat" cmpd="sng" w="19050">
              <a:solidFill>
                <a:srgbClr val="0131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53"/>
            <p:cNvSpPr/>
            <p:nvPr/>
          </p:nvSpPr>
          <p:spPr>
            <a:xfrm>
              <a:off x="9874549" y="2674454"/>
              <a:ext cx="395100" cy="395100"/>
            </a:xfrm>
            <a:prstGeom prst="rect">
              <a:avLst/>
            </a:prstGeom>
            <a:solidFill>
              <a:srgbClr val="00BCF4"/>
            </a:solidFill>
            <a:ln cap="flat" cmpd="sng" w="19050">
              <a:solidFill>
                <a:srgbClr val="0131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714" name="Google Shape;714;p53"/>
          <p:cNvCxnSpPr/>
          <p:nvPr/>
        </p:nvCxnSpPr>
        <p:spPr>
          <a:xfrm>
            <a:off x="723325" y="4815900"/>
            <a:ext cx="10564500" cy="0"/>
          </a:xfrm>
          <a:prstGeom prst="straightConnector1">
            <a:avLst/>
          </a:prstGeom>
          <a:noFill/>
          <a:ln cap="flat" cmpd="sng" w="19050">
            <a:solidFill>
              <a:srgbClr val="3F3F3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5" name="Google Shape;715;p53"/>
          <p:cNvSpPr txBox="1"/>
          <p:nvPr/>
        </p:nvSpPr>
        <p:spPr>
          <a:xfrm>
            <a:off x="878263" y="5028675"/>
            <a:ext cx="121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Montserrat SemiBold"/>
                <a:ea typeface="Montserrat SemiBold"/>
                <a:cs typeface="Montserrat SemiBold"/>
                <a:sym typeface="Montserrat SemiBold"/>
              </a:rPr>
              <a:t>10</a:t>
            </a:r>
            <a:endParaRPr sz="22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16" name="Google Shape;716;p53"/>
          <p:cNvSpPr txBox="1"/>
          <p:nvPr/>
        </p:nvSpPr>
        <p:spPr>
          <a:xfrm>
            <a:off x="3857388" y="5028675"/>
            <a:ext cx="121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Montserrat SemiBold"/>
                <a:ea typeface="Montserrat SemiBold"/>
                <a:cs typeface="Montserrat SemiBold"/>
                <a:sym typeface="Montserrat SemiBold"/>
              </a:rPr>
              <a:t>10</a:t>
            </a:r>
            <a:endParaRPr sz="22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17" name="Google Shape;717;p53"/>
          <p:cNvSpPr txBox="1"/>
          <p:nvPr/>
        </p:nvSpPr>
        <p:spPr>
          <a:xfrm>
            <a:off x="6933888" y="5028675"/>
            <a:ext cx="121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Montserrat SemiBold"/>
                <a:ea typeface="Montserrat SemiBold"/>
                <a:cs typeface="Montserrat SemiBold"/>
                <a:sym typeface="Montserrat SemiBold"/>
              </a:rPr>
              <a:t>10</a:t>
            </a:r>
            <a:endParaRPr sz="22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18" name="Google Shape;718;p53"/>
          <p:cNvSpPr txBox="1"/>
          <p:nvPr/>
        </p:nvSpPr>
        <p:spPr>
          <a:xfrm>
            <a:off x="10010388" y="5028575"/>
            <a:ext cx="121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Montserrat SemiBold"/>
                <a:ea typeface="Montserrat SemiBold"/>
                <a:cs typeface="Montserrat SemiBold"/>
                <a:sym typeface="Montserrat SemiBold"/>
              </a:rPr>
              <a:t>10</a:t>
            </a:r>
            <a:endParaRPr sz="22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4" name="Google Shape;724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4"/>
          <p:cNvSpPr txBox="1"/>
          <p:nvPr>
            <p:ph idx="4294967295" type="title"/>
          </p:nvPr>
        </p:nvSpPr>
        <p:spPr>
          <a:xfrm>
            <a:off x="1425300" y="463025"/>
            <a:ext cx="101472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Definição da Média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726" name="Google Shape;726;p54"/>
          <p:cNvGrpSpPr/>
          <p:nvPr/>
        </p:nvGrpSpPr>
        <p:grpSpPr>
          <a:xfrm>
            <a:off x="6964350" y="3429000"/>
            <a:ext cx="3819600" cy="2919300"/>
            <a:chOff x="6964350" y="3429000"/>
            <a:chExt cx="3819600" cy="2919300"/>
          </a:xfrm>
        </p:grpSpPr>
        <p:sp>
          <p:nvSpPr>
            <p:cNvPr id="727" name="Google Shape;727;p54"/>
            <p:cNvSpPr/>
            <p:nvPr/>
          </p:nvSpPr>
          <p:spPr>
            <a:xfrm>
              <a:off x="6964350" y="3429000"/>
              <a:ext cx="3819600" cy="2919300"/>
            </a:xfrm>
            <a:prstGeom prst="roundRect">
              <a:avLst>
                <a:gd fmla="val 16667" name="adj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28" name="Google Shape;728;p5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472681" y="4769675"/>
              <a:ext cx="2802937" cy="1462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9" name="Google Shape;729;p54"/>
            <p:cNvSpPr txBox="1"/>
            <p:nvPr/>
          </p:nvSpPr>
          <p:spPr>
            <a:xfrm>
              <a:off x="7156200" y="3759625"/>
              <a:ext cx="3435900" cy="59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Para dados</a:t>
              </a:r>
              <a:endParaRPr b="0" i="0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amostrais</a:t>
              </a:r>
              <a:endParaRPr b="0" i="0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pic>
        <p:nvPicPr>
          <p:cNvPr id="730" name="Google Shape;730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83913" y="683475"/>
            <a:ext cx="4780476" cy="248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1" name="Google Shape;731;p5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43100" y="1653338"/>
            <a:ext cx="3819600" cy="142866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32" name="Google Shape;732;p54"/>
          <p:cNvGrpSpPr/>
          <p:nvPr/>
        </p:nvGrpSpPr>
        <p:grpSpPr>
          <a:xfrm>
            <a:off x="1044300" y="3429000"/>
            <a:ext cx="3819600" cy="2919300"/>
            <a:chOff x="1044300" y="3429000"/>
            <a:chExt cx="3819600" cy="2919300"/>
          </a:xfrm>
        </p:grpSpPr>
        <p:sp>
          <p:nvSpPr>
            <p:cNvPr id="733" name="Google Shape;733;p54"/>
            <p:cNvSpPr/>
            <p:nvPr/>
          </p:nvSpPr>
          <p:spPr>
            <a:xfrm>
              <a:off x="1044300" y="3429000"/>
              <a:ext cx="3819600" cy="2919300"/>
            </a:xfrm>
            <a:prstGeom prst="roundRect">
              <a:avLst>
                <a:gd fmla="val 16667" name="adj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54"/>
            <p:cNvSpPr txBox="1"/>
            <p:nvPr/>
          </p:nvSpPr>
          <p:spPr>
            <a:xfrm>
              <a:off x="1236150" y="3759625"/>
              <a:ext cx="3435900" cy="59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Para dados populacionais</a:t>
              </a:r>
              <a:endParaRPr b="0" i="0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pic>
          <p:nvPicPr>
            <p:cNvPr id="735" name="Google Shape;735;p54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427312" y="4567100"/>
              <a:ext cx="3053575" cy="15722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1" name="Google Shape;741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55"/>
          <p:cNvSpPr txBox="1"/>
          <p:nvPr>
            <p:ph idx="4294967295" type="title"/>
          </p:nvPr>
        </p:nvSpPr>
        <p:spPr>
          <a:xfrm>
            <a:off x="1425300" y="463025"/>
            <a:ext cx="101472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Definição da Média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43" name="Google Shape;743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83913" y="683475"/>
            <a:ext cx="4780476" cy="2485850"/>
          </a:xfrm>
          <a:prstGeom prst="rect">
            <a:avLst/>
          </a:prstGeom>
          <a:noFill/>
          <a:ln>
            <a:noFill/>
          </a:ln>
        </p:spPr>
      </p:pic>
      <p:sp>
        <p:nvSpPr>
          <p:cNvPr id="744" name="Google Shape;744;p55"/>
          <p:cNvSpPr txBox="1"/>
          <p:nvPr/>
        </p:nvSpPr>
        <p:spPr>
          <a:xfrm>
            <a:off x="1484875" y="3565150"/>
            <a:ext cx="9181800" cy="24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 média é uma medida de tendência central. Isto é, ela é o ponto mais próximo de todos os outros pontos do nosso conjunto de dados. Por este motivo, muitas vezes é utilizada para ser a representante do conjunto de dados.</a:t>
            </a:r>
            <a:endParaRPr b="0" i="0" sz="17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Em outras palavras, ela é uma fortíssima candidata para sumarizar o conjunto de dados em um único valor.</a:t>
            </a:r>
            <a:endParaRPr b="0" i="0" sz="17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745" name="Google Shape;745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43100" y="1653338"/>
            <a:ext cx="3819600" cy="14286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1" name="Google Shape;751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56"/>
          <p:cNvSpPr txBox="1"/>
          <p:nvPr>
            <p:ph idx="4294967295" type="title"/>
          </p:nvPr>
        </p:nvSpPr>
        <p:spPr>
          <a:xfrm>
            <a:off x="1425300" y="463025"/>
            <a:ext cx="101472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Definição da Média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53" name="Google Shape;753;p56"/>
          <p:cNvPicPr preferRelativeResize="0"/>
          <p:nvPr/>
        </p:nvPicPr>
        <p:blipFill rotWithShape="1">
          <a:blip r:embed="rId4">
            <a:alphaModFix/>
          </a:blip>
          <a:srcRect b="86171" l="0" r="39132" t="0"/>
          <a:stretch/>
        </p:blipFill>
        <p:spPr>
          <a:xfrm>
            <a:off x="7850800" y="696825"/>
            <a:ext cx="3444725" cy="53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4" name="Google Shape;754;p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9500" y="1803050"/>
            <a:ext cx="9516600" cy="412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0" name="Google Shape;760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57"/>
          <p:cNvSpPr txBox="1"/>
          <p:nvPr>
            <p:ph idx="4294967295" type="title"/>
          </p:nvPr>
        </p:nvSpPr>
        <p:spPr>
          <a:xfrm>
            <a:off x="1425300" y="463025"/>
            <a:ext cx="101472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Definição da Média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62" name="Google Shape;762;p57"/>
          <p:cNvPicPr preferRelativeResize="0"/>
          <p:nvPr/>
        </p:nvPicPr>
        <p:blipFill rotWithShape="1">
          <a:blip r:embed="rId4">
            <a:alphaModFix/>
          </a:blip>
          <a:srcRect b="86171" l="0" r="39132" t="0"/>
          <a:stretch/>
        </p:blipFill>
        <p:spPr>
          <a:xfrm>
            <a:off x="7850800" y="696825"/>
            <a:ext cx="3444725" cy="53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3" name="Google Shape;763;p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00" y="1534750"/>
            <a:ext cx="8578599" cy="4816901"/>
          </a:xfrm>
          <a:prstGeom prst="rect">
            <a:avLst/>
          </a:prstGeom>
          <a:noFill/>
          <a:ln>
            <a:noFill/>
          </a:ln>
        </p:spPr>
      </p:pic>
      <p:sp>
        <p:nvSpPr>
          <p:cNvPr id="764" name="Google Shape;764;p57"/>
          <p:cNvSpPr/>
          <p:nvPr/>
        </p:nvSpPr>
        <p:spPr>
          <a:xfrm rot="10800000">
            <a:off x="9665125" y="3653100"/>
            <a:ext cx="1160100" cy="580200"/>
          </a:xfrm>
          <a:prstGeom prst="notchedRightArrow">
            <a:avLst>
              <a:gd fmla="val 50000" name="adj1"/>
              <a:gd fmla="val 50000" name="adj2"/>
            </a:avLst>
          </a:prstGeom>
          <a:solidFill>
            <a:srgbClr val="D9EAD3"/>
          </a:solidFill>
          <a:ln cap="flat" cmpd="sng" w="38100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65" name="Google Shape;765;p57"/>
          <p:cNvGrpSpPr/>
          <p:nvPr/>
        </p:nvGrpSpPr>
        <p:grpSpPr>
          <a:xfrm>
            <a:off x="10043575" y="1818975"/>
            <a:ext cx="403200" cy="4248450"/>
            <a:chOff x="10043575" y="1818975"/>
            <a:chExt cx="403200" cy="4248450"/>
          </a:xfrm>
        </p:grpSpPr>
        <p:sp>
          <p:nvSpPr>
            <p:cNvPr id="766" name="Google Shape;766;p57"/>
            <p:cNvSpPr/>
            <p:nvPr/>
          </p:nvSpPr>
          <p:spPr>
            <a:xfrm>
              <a:off x="10043575" y="1818975"/>
              <a:ext cx="403200" cy="8064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rgbClr val="F4CCCC"/>
            </a:solidFill>
            <a:ln cap="flat" cmpd="sng" w="38100">
              <a:solidFill>
                <a:srgbClr val="99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57"/>
            <p:cNvSpPr/>
            <p:nvPr/>
          </p:nvSpPr>
          <p:spPr>
            <a:xfrm rot="10800000">
              <a:off x="10043575" y="5261025"/>
              <a:ext cx="403200" cy="8064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rgbClr val="F4CCCC"/>
            </a:solidFill>
            <a:ln cap="flat" cmpd="sng" w="38100">
              <a:solidFill>
                <a:srgbClr val="99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3" name="Google Shape;773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774" name="Google Shape;774;p58"/>
          <p:cNvSpPr txBox="1"/>
          <p:nvPr>
            <p:ph idx="4294967295" type="title"/>
          </p:nvPr>
        </p:nvSpPr>
        <p:spPr>
          <a:xfrm>
            <a:off x="1425300" y="463025"/>
            <a:ext cx="101472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E sobre a mediana?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75" name="Google Shape;775;p58"/>
          <p:cNvPicPr preferRelativeResize="0"/>
          <p:nvPr/>
        </p:nvPicPr>
        <p:blipFill rotWithShape="1">
          <a:blip r:embed="rId4">
            <a:alphaModFix/>
          </a:blip>
          <a:srcRect b="86171" l="0" r="39132" t="0"/>
          <a:stretch/>
        </p:blipFill>
        <p:spPr>
          <a:xfrm>
            <a:off x="1425300" y="3162400"/>
            <a:ext cx="3444725" cy="5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58"/>
          <p:cNvSpPr txBox="1"/>
          <p:nvPr/>
        </p:nvSpPr>
        <p:spPr>
          <a:xfrm>
            <a:off x="1484763" y="1639550"/>
            <a:ext cx="92226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 mediana também é uma medida de tendência central. A questão é que ela considera a ordem dos valores e divide os dados em sua metade. Isto é, 50% dos valores são maiores que ela, e 50% dos valores são menores do que ela.</a:t>
            </a:r>
            <a:endParaRPr b="0" i="0" sz="17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777" name="Google Shape;777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82275" y="3162400"/>
            <a:ext cx="4165625" cy="5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778" name="Google Shape;778;p58"/>
          <p:cNvSpPr/>
          <p:nvPr/>
        </p:nvSpPr>
        <p:spPr>
          <a:xfrm>
            <a:off x="9036775" y="3603250"/>
            <a:ext cx="381300" cy="5331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D9EAD3"/>
          </a:solidFill>
          <a:ln cap="flat" cmpd="sng" w="381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58"/>
          <p:cNvSpPr txBox="1"/>
          <p:nvPr/>
        </p:nvSpPr>
        <p:spPr>
          <a:xfrm>
            <a:off x="1484638" y="4375450"/>
            <a:ext cx="92226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Como temos uma quantidade de elementos par, o valor da medida está entre 8 e 12. Assim, podemos somar os dois valores e dividi-los por 2.</a:t>
            </a:r>
            <a:endParaRPr b="0" i="0" sz="17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0" name="Google Shape;780;p5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61600" y="5438925"/>
            <a:ext cx="3268801" cy="83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6" name="Google Shape;786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59"/>
          <p:cNvSpPr txBox="1"/>
          <p:nvPr>
            <p:ph idx="4294967295" type="title"/>
          </p:nvPr>
        </p:nvSpPr>
        <p:spPr>
          <a:xfrm>
            <a:off x="1425300" y="463025"/>
            <a:ext cx="101472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E sobre a mediana? Fórmula geral.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8" name="Google Shape;788;p59"/>
          <p:cNvSpPr txBox="1"/>
          <p:nvPr/>
        </p:nvSpPr>
        <p:spPr>
          <a:xfrm>
            <a:off x="1484763" y="1639550"/>
            <a:ext cx="9222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Para quantidade par de elementos no conjunto de dados:</a:t>
            </a:r>
            <a:endParaRPr b="0" i="0" sz="17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789" name="Google Shape;789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25300" y="2345235"/>
            <a:ext cx="9222602" cy="4093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790" name="Google Shape;790;p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67350" y="2181175"/>
            <a:ext cx="3140024" cy="177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6" name="Google Shape;796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797" name="Google Shape;797;p60"/>
          <p:cNvSpPr txBox="1"/>
          <p:nvPr>
            <p:ph idx="4294967295" type="title"/>
          </p:nvPr>
        </p:nvSpPr>
        <p:spPr>
          <a:xfrm>
            <a:off x="1425300" y="463025"/>
            <a:ext cx="101472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E sobre a mediana? Fórmula geral.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8" name="Google Shape;798;p60"/>
          <p:cNvSpPr txBox="1"/>
          <p:nvPr/>
        </p:nvSpPr>
        <p:spPr>
          <a:xfrm>
            <a:off x="1484763" y="1639550"/>
            <a:ext cx="9222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Para quantidade ímpar de elementos no conjunto de dados:</a:t>
            </a:r>
            <a:endParaRPr b="0" i="0" sz="17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799" name="Google Shape;799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25300" y="2487950"/>
            <a:ext cx="9658801" cy="3807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0" name="Google Shape;800;p6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45942" y="2181175"/>
            <a:ext cx="3782833" cy="177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6" name="Google Shape;806;p61" title="hist_media_mediana.mp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93827" y="2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2" name="Google Shape;812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813" name="Google Shape;813;p62"/>
          <p:cNvSpPr txBox="1"/>
          <p:nvPr>
            <p:ph idx="4294967295" type="title"/>
          </p:nvPr>
        </p:nvSpPr>
        <p:spPr>
          <a:xfrm>
            <a:off x="1425300" y="463025"/>
            <a:ext cx="101472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E sobre a mediana? Quando utilizá-la?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4" name="Google Shape;814;p62"/>
          <p:cNvSpPr txBox="1"/>
          <p:nvPr/>
        </p:nvSpPr>
        <p:spPr>
          <a:xfrm>
            <a:off x="1484763" y="1639550"/>
            <a:ext cx="9222600" cy="22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Como vimos no vídeo anterior, a mediana é menos sensível a dados que se distanciam da maior concentração. Lembram que a média busca sempre ter a menor distância entre todos os valores do conjunto de dados, assim, ela “corre” para os valores que estão se distanciando dos demais.</a:t>
            </a:r>
            <a:endParaRPr b="0" i="0" sz="19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0" name="Google Shape;820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821" name="Google Shape;821;p63"/>
          <p:cNvSpPr txBox="1"/>
          <p:nvPr>
            <p:ph idx="4294967295" type="title"/>
          </p:nvPr>
        </p:nvSpPr>
        <p:spPr>
          <a:xfrm>
            <a:off x="1425300" y="463025"/>
            <a:ext cx="101472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Quartis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2" name="Google Shape;822;p63"/>
          <p:cNvSpPr txBox="1"/>
          <p:nvPr/>
        </p:nvSpPr>
        <p:spPr>
          <a:xfrm>
            <a:off x="1484763" y="1639550"/>
            <a:ext cx="9222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23" name="Google Shape;823;p63"/>
          <p:cNvSpPr/>
          <p:nvPr/>
        </p:nvSpPr>
        <p:spPr>
          <a:xfrm>
            <a:off x="6292950" y="2301375"/>
            <a:ext cx="869100" cy="536700"/>
          </a:xfrm>
          <a:prstGeom prst="notchedRightArrow">
            <a:avLst>
              <a:gd fmla="val 50000" name="adj1"/>
              <a:gd fmla="val 50000" name="adj2"/>
            </a:avLst>
          </a:prstGeom>
          <a:solidFill>
            <a:srgbClr val="F3F3F3"/>
          </a:solidFill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63"/>
          <p:cNvSpPr/>
          <p:nvPr/>
        </p:nvSpPr>
        <p:spPr>
          <a:xfrm>
            <a:off x="6292950" y="4496625"/>
            <a:ext cx="869100" cy="536700"/>
          </a:xfrm>
          <a:prstGeom prst="notchedRightArrow">
            <a:avLst>
              <a:gd fmla="val 50000" name="adj1"/>
              <a:gd fmla="val 50000" name="adj2"/>
            </a:avLst>
          </a:prstGeom>
          <a:solidFill>
            <a:srgbClr val="F3F3F3"/>
          </a:solidFill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63"/>
          <p:cNvSpPr txBox="1"/>
          <p:nvPr/>
        </p:nvSpPr>
        <p:spPr>
          <a:xfrm>
            <a:off x="7373975" y="2138775"/>
            <a:ext cx="40785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25% dos valores são menores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75% dos valores são maiores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p63"/>
          <p:cNvSpPr txBox="1"/>
          <p:nvPr/>
        </p:nvSpPr>
        <p:spPr>
          <a:xfrm>
            <a:off x="7373975" y="4334025"/>
            <a:ext cx="40785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75% dos valores são menores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25% dos valores são maiores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27" name="Google Shape;827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7975" y="4311800"/>
            <a:ext cx="4733167" cy="90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8" name="Google Shape;828;p6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7987" y="2116550"/>
            <a:ext cx="4733159" cy="90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4" name="Google Shape;834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56225" y="702500"/>
            <a:ext cx="3140024" cy="177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5" name="Google Shape;835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836" name="Google Shape;836;p64"/>
          <p:cNvSpPr txBox="1"/>
          <p:nvPr>
            <p:ph idx="4294967295" type="title"/>
          </p:nvPr>
        </p:nvSpPr>
        <p:spPr>
          <a:xfrm>
            <a:off x="1425300" y="463025"/>
            <a:ext cx="101472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Quartis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37" name="Google Shape;837;p6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1625" y="2409425"/>
            <a:ext cx="7299901" cy="38740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38" name="Google Shape;838;p64"/>
          <p:cNvGrpSpPr/>
          <p:nvPr/>
        </p:nvGrpSpPr>
        <p:grpSpPr>
          <a:xfrm>
            <a:off x="8369300" y="3429000"/>
            <a:ext cx="3140024" cy="573200"/>
            <a:chOff x="8369300" y="3429000"/>
            <a:chExt cx="3140024" cy="573200"/>
          </a:xfrm>
        </p:grpSpPr>
        <p:sp>
          <p:nvSpPr>
            <p:cNvPr id="839" name="Google Shape;839;p64"/>
            <p:cNvSpPr/>
            <p:nvPr/>
          </p:nvSpPr>
          <p:spPr>
            <a:xfrm>
              <a:off x="9430450" y="3473300"/>
              <a:ext cx="499500" cy="528900"/>
            </a:xfrm>
            <a:prstGeom prst="roundRect">
              <a:avLst>
                <a:gd fmla="val 16667" name="adj"/>
              </a:avLst>
            </a:prstGeom>
            <a:solidFill>
              <a:srgbClr val="F4CCCC"/>
            </a:solidFill>
            <a:ln cap="flat" cmpd="sng" w="9525">
              <a:solidFill>
                <a:srgbClr val="99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64"/>
            <p:cNvSpPr/>
            <p:nvPr/>
          </p:nvSpPr>
          <p:spPr>
            <a:xfrm>
              <a:off x="9929950" y="3473300"/>
              <a:ext cx="1540200" cy="528900"/>
            </a:xfrm>
            <a:prstGeom prst="roundRect">
              <a:avLst>
                <a:gd fmla="val 16667" name="adj"/>
              </a:avLst>
            </a:prstGeom>
            <a:solidFill>
              <a:srgbClr val="D9EAD3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41" name="Google Shape;841;p64"/>
            <p:cNvPicPr preferRelativeResize="0"/>
            <p:nvPr/>
          </p:nvPicPr>
          <p:blipFill rotWithShape="1">
            <a:blip r:embed="rId3">
              <a:alphaModFix/>
            </a:blip>
            <a:srcRect b="0" l="0" r="0" t="67703"/>
            <a:stretch/>
          </p:blipFill>
          <p:spPr>
            <a:xfrm>
              <a:off x="8369300" y="3429000"/>
              <a:ext cx="3140024" cy="573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42" name="Google Shape;842;p64"/>
          <p:cNvGrpSpPr/>
          <p:nvPr/>
        </p:nvGrpSpPr>
        <p:grpSpPr>
          <a:xfrm>
            <a:off x="8369300" y="5710300"/>
            <a:ext cx="3140024" cy="573200"/>
            <a:chOff x="8369300" y="5710300"/>
            <a:chExt cx="3140024" cy="573200"/>
          </a:xfrm>
        </p:grpSpPr>
        <p:sp>
          <p:nvSpPr>
            <p:cNvPr id="843" name="Google Shape;843;p64"/>
            <p:cNvSpPr/>
            <p:nvPr/>
          </p:nvSpPr>
          <p:spPr>
            <a:xfrm>
              <a:off x="9430450" y="5754600"/>
              <a:ext cx="1488600" cy="528900"/>
            </a:xfrm>
            <a:prstGeom prst="roundRect">
              <a:avLst>
                <a:gd fmla="val 16667" name="adj"/>
              </a:avLst>
            </a:prstGeom>
            <a:solidFill>
              <a:srgbClr val="F4CCCC"/>
            </a:solidFill>
            <a:ln cap="flat" cmpd="sng" w="9525">
              <a:solidFill>
                <a:srgbClr val="99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" name="Google Shape;844;p64"/>
            <p:cNvSpPr/>
            <p:nvPr/>
          </p:nvSpPr>
          <p:spPr>
            <a:xfrm>
              <a:off x="10918950" y="5754600"/>
              <a:ext cx="551100" cy="528900"/>
            </a:xfrm>
            <a:prstGeom prst="roundRect">
              <a:avLst>
                <a:gd fmla="val 16667" name="adj"/>
              </a:avLst>
            </a:prstGeom>
            <a:solidFill>
              <a:srgbClr val="D9EAD3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45" name="Google Shape;845;p64"/>
            <p:cNvPicPr preferRelativeResize="0"/>
            <p:nvPr/>
          </p:nvPicPr>
          <p:blipFill rotWithShape="1">
            <a:blip r:embed="rId3">
              <a:alphaModFix/>
            </a:blip>
            <a:srcRect b="0" l="0" r="0" t="67703"/>
            <a:stretch/>
          </p:blipFill>
          <p:spPr>
            <a:xfrm>
              <a:off x="8369300" y="5710300"/>
              <a:ext cx="3140024" cy="573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1" name="Google Shape;851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852" name="Google Shape;852;p65"/>
          <p:cNvSpPr txBox="1"/>
          <p:nvPr>
            <p:ph idx="4294967295" type="title"/>
          </p:nvPr>
        </p:nvSpPr>
        <p:spPr>
          <a:xfrm>
            <a:off x="1425300" y="463025"/>
            <a:ext cx="101472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O que está na moda?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3" name="Google Shape;853;p65"/>
          <p:cNvSpPr txBox="1"/>
          <p:nvPr/>
        </p:nvSpPr>
        <p:spPr>
          <a:xfrm>
            <a:off x="1484763" y="1487150"/>
            <a:ext cx="92226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 moda é mais uma medida de posição onde consideramos o valor que mais aparece no conjunto de dados, isto é, valor com maior frequência. Ela é muito utilizada para valores discretos e variáveis qualitativas, uma vez que seu cálculo é mais simples de ser realizado.</a:t>
            </a:r>
            <a:endParaRPr b="0" i="0" sz="19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Quando temos dados contínuos, é necessário criar intervalos entre os valores para definirmos a moda.</a:t>
            </a:r>
            <a:endParaRPr b="0" i="0" sz="19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854" name="Google Shape;854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84775" y="4996450"/>
            <a:ext cx="4901950" cy="1000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55" name="Google Shape;855;p65"/>
          <p:cNvCxnSpPr/>
          <p:nvPr/>
        </p:nvCxnSpPr>
        <p:spPr>
          <a:xfrm>
            <a:off x="8548700" y="6229275"/>
            <a:ext cx="236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856" name="Google Shape;856;p65"/>
          <p:cNvGrpSpPr/>
          <p:nvPr/>
        </p:nvGrpSpPr>
        <p:grpSpPr>
          <a:xfrm>
            <a:off x="8543925" y="4324350"/>
            <a:ext cx="2367000" cy="1905000"/>
            <a:chOff x="8543925" y="4324350"/>
            <a:chExt cx="2367000" cy="1905000"/>
          </a:xfrm>
        </p:grpSpPr>
        <p:grpSp>
          <p:nvGrpSpPr>
            <p:cNvPr id="857" name="Google Shape;857;p65"/>
            <p:cNvGrpSpPr/>
            <p:nvPr/>
          </p:nvGrpSpPr>
          <p:grpSpPr>
            <a:xfrm>
              <a:off x="8543925" y="4324350"/>
              <a:ext cx="2367000" cy="1905000"/>
              <a:chOff x="8543925" y="4324350"/>
              <a:chExt cx="2367000" cy="1905000"/>
            </a:xfrm>
          </p:grpSpPr>
          <p:grpSp>
            <p:nvGrpSpPr>
              <p:cNvPr id="858" name="Google Shape;858;p65"/>
              <p:cNvGrpSpPr/>
              <p:nvPr/>
            </p:nvGrpSpPr>
            <p:grpSpPr>
              <a:xfrm>
                <a:off x="8722050" y="4329125"/>
                <a:ext cx="2099053" cy="1900200"/>
                <a:chOff x="8722050" y="4329125"/>
                <a:chExt cx="2099053" cy="1900200"/>
              </a:xfrm>
            </p:grpSpPr>
            <p:pic>
              <p:nvPicPr>
                <p:cNvPr id="859" name="Google Shape;859;p65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0" r="0" t="0"/>
                <a:stretch/>
              </p:blipFill>
              <p:spPr>
                <a:xfrm>
                  <a:off x="8722050" y="4404075"/>
                  <a:ext cx="2099053" cy="180444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cxnSp>
              <p:nvCxnSpPr>
                <p:cNvPr id="860" name="Google Shape;860;p65"/>
                <p:cNvCxnSpPr/>
                <p:nvPr/>
              </p:nvCxnSpPr>
              <p:spPr>
                <a:xfrm>
                  <a:off x="9444050" y="4329125"/>
                  <a:ext cx="0" cy="1900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861" name="Google Shape;861;p65"/>
              <p:cNvCxnSpPr/>
              <p:nvPr/>
            </p:nvCxnSpPr>
            <p:spPr>
              <a:xfrm>
                <a:off x="8543925" y="4329125"/>
                <a:ext cx="0" cy="1900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62" name="Google Shape;862;p65"/>
              <p:cNvCxnSpPr/>
              <p:nvPr/>
            </p:nvCxnSpPr>
            <p:spPr>
              <a:xfrm>
                <a:off x="10910900" y="4324350"/>
                <a:ext cx="0" cy="190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63" name="Google Shape;863;p65"/>
              <p:cNvCxnSpPr/>
              <p:nvPr/>
            </p:nvCxnSpPr>
            <p:spPr>
              <a:xfrm>
                <a:off x="8543925" y="4327875"/>
                <a:ext cx="2367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cxnSp>
          <p:nvCxnSpPr>
            <p:cNvPr id="864" name="Google Shape;864;p65"/>
            <p:cNvCxnSpPr/>
            <p:nvPr/>
          </p:nvCxnSpPr>
          <p:spPr>
            <a:xfrm>
              <a:off x="8543925" y="4656300"/>
              <a:ext cx="23670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0" name="Google Shape;870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871" name="Google Shape;871;p66"/>
          <p:cNvSpPr txBox="1"/>
          <p:nvPr>
            <p:ph idx="4294967295" type="title"/>
          </p:nvPr>
        </p:nvSpPr>
        <p:spPr>
          <a:xfrm>
            <a:off x="1425300" y="463025"/>
            <a:ext cx="101472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Mínimo e Máximo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2" name="Google Shape;872;p66"/>
          <p:cNvSpPr txBox="1"/>
          <p:nvPr/>
        </p:nvSpPr>
        <p:spPr>
          <a:xfrm>
            <a:off x="1172550" y="1921025"/>
            <a:ext cx="9846900" cy="43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Ponto de Mínimo</a:t>
            </a:r>
            <a:r>
              <a:rPr b="0" i="0" lang="en-US" sz="1800" u="none" cap="none" strike="noStrike">
                <a:solidFill>
                  <a:srgbClr val="33333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O ponto de mínimo refere-se ao valor mais baixo em um conjunto de dados. É o número que possui o valor mais baixo entre todos os valores presentes.</a:t>
            </a:r>
            <a:endParaRPr b="0" i="0" sz="1800" u="none" cap="none" strike="noStrike">
              <a:solidFill>
                <a:srgbClr val="33333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Ponto de Máximo</a:t>
            </a:r>
            <a:r>
              <a:rPr b="0" i="0" lang="en-US" sz="1800" u="none" cap="none" strike="noStrike">
                <a:solidFill>
                  <a:srgbClr val="33333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O ponto de máximo refere-se ao valor mais alto em um conjunto de dados. É o número que possui o valor mais alto entre todos os valores presentes.</a:t>
            </a:r>
            <a:endParaRPr b="0" i="0" sz="1800" u="none" cap="none" strike="noStrike">
              <a:solidFill>
                <a:srgbClr val="33333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3333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500"/>
              </a:spcBef>
              <a:spcAft>
                <a:spcPts val="15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Esses termos são bastante intuitivos e são frequentemente usados para se referir aos valores extremos em um conjunto de dados.</a:t>
            </a:r>
            <a:endParaRPr b="0" i="0" sz="1800" u="none" cap="none" strike="noStrike">
              <a:solidFill>
                <a:srgbClr val="33333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8" name="Google Shape;878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879" name="Google Shape;879;p67"/>
          <p:cNvSpPr txBox="1"/>
          <p:nvPr>
            <p:ph idx="4294967295" type="title"/>
          </p:nvPr>
        </p:nvSpPr>
        <p:spPr>
          <a:xfrm>
            <a:off x="1425300" y="463025"/>
            <a:ext cx="101472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Mas e a distribuição dos valores?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0" name="Google Shape;880;p67"/>
          <p:cNvSpPr txBox="1"/>
          <p:nvPr/>
        </p:nvSpPr>
        <p:spPr>
          <a:xfrm>
            <a:off x="1425300" y="1539675"/>
            <a:ext cx="96015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 calcularmos novamente a distância entre todos os pontos?</a:t>
            </a:r>
            <a:endParaRPr b="0" i="0" sz="18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Mas dessa vez considerando a melhor medida que temos, que é a média?</a:t>
            </a:r>
            <a:endParaRPr b="0" i="0" sz="18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881" name="Google Shape;881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25300" y="2696575"/>
            <a:ext cx="2384100" cy="1211675"/>
          </a:xfrm>
          <a:prstGeom prst="rect">
            <a:avLst/>
          </a:prstGeom>
          <a:noFill/>
          <a:ln>
            <a:noFill/>
          </a:ln>
        </p:spPr>
      </p:pic>
      <p:sp>
        <p:nvSpPr>
          <p:cNvPr id="882" name="Google Shape;882;p67"/>
          <p:cNvSpPr txBox="1"/>
          <p:nvPr/>
        </p:nvSpPr>
        <p:spPr>
          <a:xfrm>
            <a:off x="1295250" y="4277350"/>
            <a:ext cx="960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Qual será essa distância média?</a:t>
            </a:r>
            <a:endParaRPr b="0" i="0" sz="18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83" name="Google Shape;883;p67"/>
          <p:cNvSpPr/>
          <p:nvPr/>
        </p:nvSpPr>
        <p:spPr>
          <a:xfrm>
            <a:off x="7454300" y="1623177"/>
            <a:ext cx="4842666" cy="2870640"/>
          </a:xfrm>
          <a:prstGeom prst="irregularSeal2">
            <a:avLst/>
          </a:prstGeom>
          <a:solidFill>
            <a:srgbClr val="FFD966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Variância!</a:t>
            </a:r>
            <a:endParaRPr b="1" i="0" sz="2700" u="none" cap="none" strike="noStrike">
              <a:solidFill>
                <a:srgbClr val="CC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84" name="Google Shape;884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25300" y="4815250"/>
            <a:ext cx="2679209" cy="138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5" name="Google Shape;885;p6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10753" y="4815250"/>
            <a:ext cx="3816035" cy="138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1" name="Google Shape;891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892" name="Google Shape;892;p68"/>
          <p:cNvSpPr txBox="1"/>
          <p:nvPr>
            <p:ph idx="4294967295" type="title"/>
          </p:nvPr>
        </p:nvSpPr>
        <p:spPr>
          <a:xfrm>
            <a:off x="1425300" y="463025"/>
            <a:ext cx="101472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As coisas mudam um pouco para amostras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93" name="Google Shape;893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86088" y="2338388"/>
            <a:ext cx="6219825" cy="218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9" name="Google Shape;899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900" name="Google Shape;900;p69"/>
          <p:cNvSpPr txBox="1"/>
          <p:nvPr>
            <p:ph idx="4294967295" type="title"/>
          </p:nvPr>
        </p:nvSpPr>
        <p:spPr>
          <a:xfrm>
            <a:off x="1425300" y="463025"/>
            <a:ext cx="101472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Medida quadrática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1" name="Google Shape;901;p69"/>
          <p:cNvSpPr txBox="1"/>
          <p:nvPr/>
        </p:nvSpPr>
        <p:spPr>
          <a:xfrm>
            <a:off x="1425300" y="1539675"/>
            <a:ext cx="96015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 variância é uma medida quadrática, então podemos calcular a raiz quadrada do valor final para poder obter maior interpretabilidade do valor.</a:t>
            </a:r>
            <a:endParaRPr b="0" i="0" sz="18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902" name="Google Shape;902;p69"/>
          <p:cNvGrpSpPr/>
          <p:nvPr/>
        </p:nvGrpSpPr>
        <p:grpSpPr>
          <a:xfrm>
            <a:off x="6994050" y="246852"/>
            <a:ext cx="4842666" cy="2870640"/>
            <a:chOff x="7454300" y="1623177"/>
            <a:chExt cx="4842666" cy="2870640"/>
          </a:xfrm>
        </p:grpSpPr>
        <p:sp>
          <p:nvSpPr>
            <p:cNvPr id="903" name="Google Shape;903;p69"/>
            <p:cNvSpPr/>
            <p:nvPr/>
          </p:nvSpPr>
          <p:spPr>
            <a:xfrm>
              <a:off x="7454300" y="1623177"/>
              <a:ext cx="4842666" cy="2870640"/>
            </a:xfrm>
            <a:prstGeom prst="irregularSeal2">
              <a:avLst/>
            </a:prstGeom>
            <a:solidFill>
              <a:srgbClr val="FFD966"/>
            </a:solidFill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t/>
              </a:r>
              <a:endParaRPr b="1" i="0" sz="2700" u="none" cap="none" strike="noStrike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04" name="Google Shape;904;p69"/>
            <p:cNvSpPr txBox="1"/>
            <p:nvPr/>
          </p:nvSpPr>
          <p:spPr>
            <a:xfrm rot="-822325">
              <a:off x="7905452" y="2446214"/>
              <a:ext cx="3427595" cy="13271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Arial"/>
                <a:buNone/>
              </a:pPr>
              <a:r>
                <a:rPr b="0" i="0" lang="en-US" sz="34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Desvio</a:t>
              </a:r>
              <a:endParaRPr b="0" i="0" sz="3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Arial"/>
                <a:buNone/>
              </a:pPr>
              <a:r>
                <a:rPr b="0" i="0" lang="en-US" sz="34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Padrão!</a:t>
              </a:r>
              <a:endParaRPr b="0" i="0" sz="3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5" name="Google Shape;905;p69"/>
          <p:cNvGrpSpPr/>
          <p:nvPr/>
        </p:nvGrpSpPr>
        <p:grpSpPr>
          <a:xfrm>
            <a:off x="6449013" y="3304750"/>
            <a:ext cx="4634100" cy="2742000"/>
            <a:chOff x="6449013" y="3304750"/>
            <a:chExt cx="4634100" cy="2742000"/>
          </a:xfrm>
        </p:grpSpPr>
        <p:sp>
          <p:nvSpPr>
            <p:cNvPr id="906" name="Google Shape;906;p69"/>
            <p:cNvSpPr/>
            <p:nvPr/>
          </p:nvSpPr>
          <p:spPr>
            <a:xfrm>
              <a:off x="6449013" y="3304750"/>
              <a:ext cx="4634100" cy="2742000"/>
            </a:xfrm>
            <a:prstGeom prst="roundRect">
              <a:avLst>
                <a:gd fmla="val 16667" name="adj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69"/>
            <p:cNvSpPr txBox="1"/>
            <p:nvPr/>
          </p:nvSpPr>
          <p:spPr>
            <a:xfrm>
              <a:off x="7363100" y="3422300"/>
              <a:ext cx="32631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Para dados amostrais</a:t>
              </a:r>
              <a:endParaRPr b="0" i="0" sz="16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pic>
          <p:nvPicPr>
            <p:cNvPr id="908" name="Google Shape;908;p6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694570" y="4127300"/>
              <a:ext cx="4143026" cy="174320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09" name="Google Shape;909;p69"/>
          <p:cNvGrpSpPr/>
          <p:nvPr/>
        </p:nvGrpSpPr>
        <p:grpSpPr>
          <a:xfrm>
            <a:off x="1103225" y="3304750"/>
            <a:ext cx="4634100" cy="2742000"/>
            <a:chOff x="1103225" y="3304750"/>
            <a:chExt cx="4634100" cy="2742000"/>
          </a:xfrm>
        </p:grpSpPr>
        <p:sp>
          <p:nvSpPr>
            <p:cNvPr id="910" name="Google Shape;910;p69"/>
            <p:cNvSpPr/>
            <p:nvPr/>
          </p:nvSpPr>
          <p:spPr>
            <a:xfrm>
              <a:off x="1103225" y="3304750"/>
              <a:ext cx="4634100" cy="2742000"/>
            </a:xfrm>
            <a:prstGeom prst="roundRect">
              <a:avLst>
                <a:gd fmla="val 16667" name="adj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p69"/>
            <p:cNvSpPr txBox="1"/>
            <p:nvPr/>
          </p:nvSpPr>
          <p:spPr>
            <a:xfrm>
              <a:off x="2017313" y="3422300"/>
              <a:ext cx="32631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Para dados populacionais</a:t>
              </a:r>
              <a:endParaRPr b="0" i="0" sz="16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pic>
          <p:nvPicPr>
            <p:cNvPr id="912" name="Google Shape;912;p6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348758" y="4165551"/>
              <a:ext cx="4143025" cy="170494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8" name="Google Shape;918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919" name="Google Shape;919;p70"/>
          <p:cNvSpPr txBox="1"/>
          <p:nvPr>
            <p:ph idx="4294967295" type="title"/>
          </p:nvPr>
        </p:nvSpPr>
        <p:spPr>
          <a:xfrm>
            <a:off x="1425300" y="463025"/>
            <a:ext cx="101472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Amplitude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0" name="Google Shape;920;p70"/>
          <p:cNvSpPr txBox="1"/>
          <p:nvPr/>
        </p:nvSpPr>
        <p:spPr>
          <a:xfrm>
            <a:off x="1425300" y="1539675"/>
            <a:ext cx="96015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Podemos inferir a extensão de nossos dados a partir da amplitude, subtraindo o valor máximo pelo mínimo de nosso conjunto de dados.</a:t>
            </a:r>
            <a:endParaRPr b="0" i="0" sz="18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921" name="Google Shape;921;p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47562" y="2960425"/>
            <a:ext cx="7896876" cy="596550"/>
          </a:xfrm>
          <a:prstGeom prst="rect">
            <a:avLst/>
          </a:prstGeom>
          <a:noFill/>
          <a:ln>
            <a:noFill/>
          </a:ln>
        </p:spPr>
      </p:pic>
      <p:sp>
        <p:nvSpPr>
          <p:cNvPr id="922" name="Google Shape;922;p70"/>
          <p:cNvSpPr txBox="1"/>
          <p:nvPr/>
        </p:nvSpPr>
        <p:spPr>
          <a:xfrm>
            <a:off x="1295250" y="4088950"/>
            <a:ext cx="96015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Quando há presença de pontos discrepantes, muito distantes da região central, a amplitude é impactada. Além disso, não temos informações sobre a distribuição interna do conjunto de dados.</a:t>
            </a:r>
            <a:endParaRPr b="0" i="0" sz="18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923" name="Google Shape;923;p70"/>
          <p:cNvGrpSpPr/>
          <p:nvPr/>
        </p:nvGrpSpPr>
        <p:grpSpPr>
          <a:xfrm>
            <a:off x="8293100" y="5321050"/>
            <a:ext cx="3140024" cy="581450"/>
            <a:chOff x="8369300" y="5702050"/>
            <a:chExt cx="3140024" cy="581450"/>
          </a:xfrm>
        </p:grpSpPr>
        <p:sp>
          <p:nvSpPr>
            <p:cNvPr id="924" name="Google Shape;924;p70"/>
            <p:cNvSpPr/>
            <p:nvPr/>
          </p:nvSpPr>
          <p:spPr>
            <a:xfrm>
              <a:off x="9430450" y="5754600"/>
              <a:ext cx="465600" cy="528900"/>
            </a:xfrm>
            <a:prstGeom prst="roundRect">
              <a:avLst>
                <a:gd fmla="val 16667" name="adj"/>
              </a:avLst>
            </a:prstGeom>
            <a:solidFill>
              <a:srgbClr val="F4CCCC"/>
            </a:solidFill>
            <a:ln cap="flat" cmpd="sng" w="9525">
              <a:solidFill>
                <a:srgbClr val="99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70"/>
            <p:cNvSpPr/>
            <p:nvPr/>
          </p:nvSpPr>
          <p:spPr>
            <a:xfrm>
              <a:off x="10918950" y="5754600"/>
              <a:ext cx="551100" cy="528900"/>
            </a:xfrm>
            <a:prstGeom prst="roundRect">
              <a:avLst>
                <a:gd fmla="val 16667" name="adj"/>
              </a:avLst>
            </a:prstGeom>
            <a:solidFill>
              <a:srgbClr val="D9EAD3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26" name="Google Shape;926;p70"/>
            <p:cNvPicPr preferRelativeResize="0"/>
            <p:nvPr/>
          </p:nvPicPr>
          <p:blipFill rotWithShape="1">
            <a:blip r:embed="rId5">
              <a:alphaModFix/>
            </a:blip>
            <a:srcRect b="0" l="0" r="0" t="67703"/>
            <a:stretch/>
          </p:blipFill>
          <p:spPr>
            <a:xfrm>
              <a:off x="8369300" y="5702050"/>
              <a:ext cx="3140024" cy="573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2" name="Google Shape;932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933" name="Google Shape;933;p71"/>
          <p:cNvSpPr txBox="1"/>
          <p:nvPr>
            <p:ph idx="4294967295" type="title"/>
          </p:nvPr>
        </p:nvSpPr>
        <p:spPr>
          <a:xfrm>
            <a:off x="1425300" y="4630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Exercício</a:t>
            </a: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 de Escola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4" name="Google Shape;934;p71"/>
          <p:cNvSpPr txBox="1"/>
          <p:nvPr/>
        </p:nvSpPr>
        <p:spPr>
          <a:xfrm>
            <a:off x="2647650" y="2373875"/>
            <a:ext cx="6896700" cy="16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-US" sz="4200">
                <a:latin typeface="Montserrat Medium"/>
                <a:ea typeface="Montserrat Medium"/>
                <a:cs typeface="Montserrat Medium"/>
                <a:sym typeface="Montserrat Medium"/>
              </a:rPr>
              <a:t>Calcule cada estatística descritiva das variáveis numéricas</a:t>
            </a:r>
            <a:endParaRPr b="0" i="0" sz="4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35" name="Google Shape;935;p71"/>
          <p:cNvSpPr txBox="1"/>
          <p:nvPr/>
        </p:nvSpPr>
        <p:spPr>
          <a:xfrm>
            <a:off x="2647700" y="4557100"/>
            <a:ext cx="6896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sng" cap="none" strike="noStrik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Acesse a planilha com os dados aqui</a:t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Por favor, faça uma cópia da planilha</a:t>
            </a:r>
            <a:endParaRPr b="0" i="0" sz="1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1" name="Google Shape;941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5050" y="37780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Google Shape;942;p72"/>
          <p:cNvSpPr txBox="1"/>
          <p:nvPr/>
        </p:nvSpPr>
        <p:spPr>
          <a:xfrm>
            <a:off x="1022550" y="282100"/>
            <a:ext cx="2988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Gráficos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3" name="Google Shape;943;p72"/>
          <p:cNvSpPr txBox="1"/>
          <p:nvPr/>
        </p:nvSpPr>
        <p:spPr>
          <a:xfrm>
            <a:off x="888325" y="3076400"/>
            <a:ext cx="50775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 que usar?</a:t>
            </a:r>
            <a:endParaRPr b="0" i="0" sz="26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 que </a:t>
            </a:r>
            <a:r>
              <a:rPr b="1" i="0" lang="en-US" sz="2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não</a:t>
            </a:r>
            <a:r>
              <a:rPr b="0" i="0" lang="en-US" sz="26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usar?</a:t>
            </a:r>
            <a:endParaRPr b="0" i="0" sz="26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9" name="Google Shape;949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5800" y="6422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950" name="Google Shape;950;p73"/>
          <p:cNvSpPr txBox="1"/>
          <p:nvPr/>
        </p:nvSpPr>
        <p:spPr>
          <a:xfrm>
            <a:off x="1463300" y="546525"/>
            <a:ext cx="63555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Gráfico de barras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1" name="Google Shape;951;p73"/>
          <p:cNvSpPr txBox="1"/>
          <p:nvPr/>
        </p:nvSpPr>
        <p:spPr>
          <a:xfrm>
            <a:off x="1463300" y="1423725"/>
            <a:ext cx="772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Utilizado para representar variáveis qualitativas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952" name="Google Shape;952;p73" title="Gráfico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91688" y="2224825"/>
            <a:ext cx="6608625" cy="4086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8" name="Google Shape;958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5800" y="6422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959" name="Google Shape;959;p74"/>
          <p:cNvSpPr txBox="1"/>
          <p:nvPr/>
        </p:nvSpPr>
        <p:spPr>
          <a:xfrm>
            <a:off x="1463300" y="546525"/>
            <a:ext cx="63555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Gráfico de linhas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0" name="Google Shape;960;p74"/>
          <p:cNvSpPr txBox="1"/>
          <p:nvPr/>
        </p:nvSpPr>
        <p:spPr>
          <a:xfrm>
            <a:off x="1463300" y="1423725"/>
            <a:ext cx="9326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Utilizado para representar variáveis quantitativas, normalmente ao longo do tempo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961" name="Google Shape;961;p74" title="Gráfico"/>
          <p:cNvPicPr preferRelativeResize="0"/>
          <p:nvPr/>
        </p:nvPicPr>
        <p:blipFill rotWithShape="1">
          <a:blip r:embed="rId4">
            <a:alphaModFix/>
          </a:blip>
          <a:srcRect b="9990" l="0" r="0" t="0"/>
          <a:stretch/>
        </p:blipFill>
        <p:spPr>
          <a:xfrm>
            <a:off x="2660100" y="2405275"/>
            <a:ext cx="6871798" cy="3818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7" name="Google Shape;967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5800" y="6422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968" name="Google Shape;968;p75"/>
          <p:cNvSpPr txBox="1"/>
          <p:nvPr/>
        </p:nvSpPr>
        <p:spPr>
          <a:xfrm>
            <a:off x="1463300" y="546525"/>
            <a:ext cx="63555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Histograma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9" name="Google Shape;969;p75"/>
          <p:cNvSpPr txBox="1"/>
          <p:nvPr/>
        </p:nvSpPr>
        <p:spPr>
          <a:xfrm>
            <a:off x="1463300" y="1423725"/>
            <a:ext cx="932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Utilizado para representar a distribuição de dados quantitativos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970" name="Google Shape;970;p75" title="Gráfico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67975" y="2066175"/>
            <a:ext cx="6256050" cy="4264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6" name="Google Shape;976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5800" y="6422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977" name="Google Shape;977;p76"/>
          <p:cNvSpPr txBox="1"/>
          <p:nvPr/>
        </p:nvSpPr>
        <p:spPr>
          <a:xfrm>
            <a:off x="1463300" y="546525"/>
            <a:ext cx="63555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Histograma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8" name="Google Shape;978;p76"/>
          <p:cNvSpPr txBox="1"/>
          <p:nvPr/>
        </p:nvSpPr>
        <p:spPr>
          <a:xfrm>
            <a:off x="1463300" y="1423725"/>
            <a:ext cx="93261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Como funciona?</a:t>
            </a:r>
            <a:endParaRPr b="1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 Medium"/>
              <a:buAutoNum type="arabicPeriod"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Precisamos definir a quantidade de bins (intervalos)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 Medium"/>
              <a:buAutoNum type="alphaLcPeriod"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Regra de Sturges: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 Medium"/>
              <a:buAutoNum type="alphaLcPeriod"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Regra da Raiz Quadrada: 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 Medium"/>
              <a:buAutoNum type="alphaLcPeriod"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Definir um valor arbitrário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 Medium"/>
              <a:buAutoNum type="arabicPeriod"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Calcular a frequência em cada um dos bins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 Medium"/>
              <a:buAutoNum type="arabicPeriod"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Esboçar o gráfico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979" name="Google Shape;979;p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68375" y="2739400"/>
            <a:ext cx="2818225" cy="35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0" name="Google Shape;980;p7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41075" y="3340713"/>
            <a:ext cx="1706791" cy="35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6" name="Google Shape;986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5800" y="6422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987" name="Google Shape;987;p77"/>
          <p:cNvSpPr txBox="1"/>
          <p:nvPr/>
        </p:nvSpPr>
        <p:spPr>
          <a:xfrm>
            <a:off x="1463300" y="546525"/>
            <a:ext cx="63555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Boxplot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88" name="Google Shape;988;p77"/>
          <p:cNvPicPr preferRelativeResize="0"/>
          <p:nvPr/>
        </p:nvPicPr>
        <p:blipFill rotWithShape="1">
          <a:blip r:embed="rId4">
            <a:alphaModFix/>
          </a:blip>
          <a:srcRect b="9536" l="2489" r="8288" t="5241"/>
          <a:stretch/>
        </p:blipFill>
        <p:spPr>
          <a:xfrm>
            <a:off x="2362400" y="1524675"/>
            <a:ext cx="6600250" cy="47282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89" name="Google Shape;989;p77"/>
          <p:cNvCxnSpPr/>
          <p:nvPr/>
        </p:nvCxnSpPr>
        <p:spPr>
          <a:xfrm flipH="1" rot="10800000">
            <a:off x="6487775" y="4892175"/>
            <a:ext cx="2670900" cy="476100"/>
          </a:xfrm>
          <a:prstGeom prst="straightConnector1">
            <a:avLst/>
          </a:prstGeom>
          <a:noFill/>
          <a:ln cap="flat" cmpd="sng" w="19050">
            <a:solidFill>
              <a:srgbClr val="FF8B2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90" name="Google Shape;990;p77"/>
          <p:cNvSpPr txBox="1"/>
          <p:nvPr/>
        </p:nvSpPr>
        <p:spPr>
          <a:xfrm>
            <a:off x="9132200" y="4663100"/>
            <a:ext cx="178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8B25"/>
                </a:solidFill>
                <a:latin typeface="Montserrat"/>
                <a:ea typeface="Montserrat"/>
                <a:cs typeface="Montserrat"/>
                <a:sym typeface="Montserrat"/>
              </a:rPr>
              <a:t>Mediana</a:t>
            </a:r>
            <a:endParaRPr b="1" i="0" sz="1400" u="none" cap="none" strike="noStrike">
              <a:solidFill>
                <a:srgbClr val="FF8B2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91" name="Google Shape;991;p77"/>
          <p:cNvCxnSpPr/>
          <p:nvPr/>
        </p:nvCxnSpPr>
        <p:spPr>
          <a:xfrm>
            <a:off x="6478950" y="5597475"/>
            <a:ext cx="2635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92" name="Google Shape;992;p77"/>
          <p:cNvSpPr txBox="1"/>
          <p:nvPr/>
        </p:nvSpPr>
        <p:spPr>
          <a:xfrm>
            <a:off x="9163050" y="5397375"/>
            <a:ext cx="178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1o Quartil</a:t>
            </a:r>
            <a:endParaRPr b="1" i="0" sz="1400" u="none" cap="none" strike="noStrike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93" name="Google Shape;993;p77"/>
          <p:cNvCxnSpPr/>
          <p:nvPr/>
        </p:nvCxnSpPr>
        <p:spPr>
          <a:xfrm>
            <a:off x="6507575" y="3891375"/>
            <a:ext cx="2631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94" name="Google Shape;994;p77"/>
          <p:cNvSpPr txBox="1"/>
          <p:nvPr/>
        </p:nvSpPr>
        <p:spPr>
          <a:xfrm>
            <a:off x="9158650" y="3691275"/>
            <a:ext cx="178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3o Quartil</a:t>
            </a:r>
            <a:endParaRPr b="1" i="0" sz="1400" u="none" cap="none" strike="noStrike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95" name="Google Shape;995;p77"/>
          <p:cNvCxnSpPr/>
          <p:nvPr/>
        </p:nvCxnSpPr>
        <p:spPr>
          <a:xfrm>
            <a:off x="6329100" y="5973475"/>
            <a:ext cx="2803200" cy="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96" name="Google Shape;996;p77"/>
          <p:cNvSpPr txBox="1"/>
          <p:nvPr/>
        </p:nvSpPr>
        <p:spPr>
          <a:xfrm>
            <a:off x="9132200" y="5779050"/>
            <a:ext cx="178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Limite Inferior</a:t>
            </a:r>
            <a:endParaRPr b="1" i="0" sz="1400" u="none" cap="none" strike="noStrike">
              <a:solidFill>
                <a:srgbClr val="CC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97" name="Google Shape;997;p77"/>
          <p:cNvCxnSpPr/>
          <p:nvPr/>
        </p:nvCxnSpPr>
        <p:spPr>
          <a:xfrm>
            <a:off x="6285025" y="2067650"/>
            <a:ext cx="2877900" cy="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98" name="Google Shape;998;p77"/>
          <p:cNvSpPr txBox="1"/>
          <p:nvPr/>
        </p:nvSpPr>
        <p:spPr>
          <a:xfrm>
            <a:off x="9163050" y="1867550"/>
            <a:ext cx="178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Limite Superior</a:t>
            </a:r>
            <a:endParaRPr b="1" i="0" sz="1400" u="none" cap="none" strike="noStrike">
              <a:solidFill>
                <a:srgbClr val="CC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4" name="Google Shape;1004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5800" y="6422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5" name="Google Shape;1005;p78"/>
          <p:cNvSpPr txBox="1"/>
          <p:nvPr/>
        </p:nvSpPr>
        <p:spPr>
          <a:xfrm>
            <a:off x="1463300" y="546525"/>
            <a:ext cx="63555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Boxplot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06" name="Google Shape;1006;p7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63300" y="2077600"/>
            <a:ext cx="5623900" cy="297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2" name="Google Shape;1012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5800" y="6422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3" name="Google Shape;1013;p79"/>
          <p:cNvSpPr txBox="1"/>
          <p:nvPr/>
        </p:nvSpPr>
        <p:spPr>
          <a:xfrm>
            <a:off x="1463300" y="546525"/>
            <a:ext cx="10128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Relação Boxplot / Histograma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14" name="Google Shape;1014;p79" title="Gráfico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29175" y="1478125"/>
            <a:ext cx="5967801" cy="4068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5" name="Google Shape;1015;p79"/>
          <p:cNvPicPr preferRelativeResize="0"/>
          <p:nvPr/>
        </p:nvPicPr>
        <p:blipFill rotWithShape="1">
          <a:blip r:embed="rId5">
            <a:alphaModFix/>
          </a:blip>
          <a:srcRect b="12138" l="43238" r="41032" t="13345"/>
          <a:stretch/>
        </p:blipFill>
        <p:spPr>
          <a:xfrm rot="5400000">
            <a:off x="5974300" y="3407900"/>
            <a:ext cx="665525" cy="462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1" name="Google Shape;1021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5800" y="6422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2" name="Google Shape;1022;p80"/>
          <p:cNvSpPr txBox="1"/>
          <p:nvPr/>
        </p:nvSpPr>
        <p:spPr>
          <a:xfrm>
            <a:off x="1463300" y="546525"/>
            <a:ext cx="10128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Boxplot / Histograma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3" name="Google Shape;1023;p80"/>
          <p:cNvSpPr txBox="1"/>
          <p:nvPr/>
        </p:nvSpPr>
        <p:spPr>
          <a:xfrm>
            <a:off x="1463300" y="1804725"/>
            <a:ext cx="93261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Por que usar ambos?</a:t>
            </a:r>
            <a:endParaRPr b="1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Com o histograma, muitas vezes fica mais simples de identificar a distribuição dos dados, e qual função que pode gerá-los. Além de ser mais intuitivo para pessoas não técnicas.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 Boxplot deixa claro a presença de outliers, isto é, pontos que se distanciam de maneira considerável da centralidade do conjunto de dados, ultrapassando os limites (inferior ou superior).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Google Shape;1029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5800" y="6422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0" name="Google Shape;1030;p81"/>
          <p:cNvSpPr txBox="1"/>
          <p:nvPr/>
        </p:nvSpPr>
        <p:spPr>
          <a:xfrm>
            <a:off x="1463300" y="546525"/>
            <a:ext cx="10128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Gráfico de dispersão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1" name="Google Shape;1031;p81"/>
          <p:cNvSpPr txBox="1"/>
          <p:nvPr/>
        </p:nvSpPr>
        <p:spPr>
          <a:xfrm>
            <a:off x="1463300" y="1423725"/>
            <a:ext cx="932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Primeira vez que utilizamos 2 variáveis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032" name="Google Shape;1032;p81" title="Gráfico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25675" y="2130450"/>
            <a:ext cx="6540651" cy="40443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33" name="Google Shape;1033;p81"/>
          <p:cNvGrpSpPr/>
          <p:nvPr/>
        </p:nvGrpSpPr>
        <p:grpSpPr>
          <a:xfrm rot="1776279">
            <a:off x="8376727" y="206046"/>
            <a:ext cx="3891986" cy="2869845"/>
            <a:chOff x="8330100" y="383037"/>
            <a:chExt cx="3490722" cy="2573964"/>
          </a:xfrm>
        </p:grpSpPr>
        <p:sp>
          <p:nvSpPr>
            <p:cNvPr id="1034" name="Google Shape;1034;p81"/>
            <p:cNvSpPr/>
            <p:nvPr/>
          </p:nvSpPr>
          <p:spPr>
            <a:xfrm>
              <a:off x="8330100" y="383037"/>
              <a:ext cx="3490722" cy="2573964"/>
            </a:xfrm>
            <a:prstGeom prst="irregularSeal1">
              <a:avLst/>
            </a:prstGeom>
            <a:solidFill>
              <a:srgbClr val="FFE599"/>
            </a:solidFill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p81"/>
            <p:cNvSpPr txBox="1"/>
            <p:nvPr/>
          </p:nvSpPr>
          <p:spPr>
            <a:xfrm>
              <a:off x="8691575" y="1057800"/>
              <a:ext cx="2767800" cy="115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rgbClr val="CC0000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Existe</a:t>
              </a:r>
              <a:endParaRPr b="0" i="0" sz="2200" u="none" cap="none" strike="noStrike">
                <a:solidFill>
                  <a:srgbClr val="CC0000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rgbClr val="CC0000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associação?</a:t>
              </a:r>
              <a:endParaRPr b="0" i="0" sz="2200" u="none" cap="none" strike="noStrike">
                <a:solidFill>
                  <a:srgbClr val="CC0000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1" name="Google Shape;1041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675" y="21910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2" name="Google Shape;1042;p82"/>
          <p:cNvSpPr txBox="1"/>
          <p:nvPr/>
        </p:nvSpPr>
        <p:spPr>
          <a:xfrm>
            <a:off x="858175" y="123400"/>
            <a:ext cx="10128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Gráfico de dispersão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3" name="Google Shape;1043;p82"/>
          <p:cNvSpPr txBox="1"/>
          <p:nvPr/>
        </p:nvSpPr>
        <p:spPr>
          <a:xfrm>
            <a:off x="858175" y="1000600"/>
            <a:ext cx="932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Primeira vez que utilizamos 2 variáveis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044" name="Google Shape;1044;p8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65713" y="2149926"/>
            <a:ext cx="7260576" cy="119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5" name="Google Shape;1045;p82"/>
          <p:cNvSpPr txBox="1"/>
          <p:nvPr/>
        </p:nvSpPr>
        <p:spPr>
          <a:xfrm>
            <a:off x="796475" y="4225725"/>
            <a:ext cx="93261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Coeficiente de correlação de Pearson</a:t>
            </a:r>
            <a:endParaRPr b="1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Mensura a relação linear entre duas variáveis quantitativas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1046" name="Google Shape;1046;p82"/>
          <p:cNvCxnSpPr/>
          <p:nvPr/>
        </p:nvCxnSpPr>
        <p:spPr>
          <a:xfrm rot="10800000">
            <a:off x="858175" y="562000"/>
            <a:ext cx="63642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7" name="Google Shape;1047;p82"/>
          <p:cNvCxnSpPr/>
          <p:nvPr/>
        </p:nvCxnSpPr>
        <p:spPr>
          <a:xfrm rot="10800000">
            <a:off x="858175" y="696775"/>
            <a:ext cx="63642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3" name="Google Shape;1053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5800" y="6422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4" name="Google Shape;1054;p83"/>
          <p:cNvSpPr txBox="1"/>
          <p:nvPr/>
        </p:nvSpPr>
        <p:spPr>
          <a:xfrm>
            <a:off x="1463300" y="546525"/>
            <a:ext cx="10128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Gráficos proibidos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55" name="Google Shape;1055;p83" title="Gráfico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60624" y="1790902"/>
            <a:ext cx="6070749" cy="375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1" name="Google Shape;1061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5800" y="6422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2" name="Google Shape;1062;p84"/>
          <p:cNvSpPr txBox="1"/>
          <p:nvPr/>
        </p:nvSpPr>
        <p:spPr>
          <a:xfrm>
            <a:off x="1463300" y="546525"/>
            <a:ext cx="10128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Gráficos proibidos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63" name="Google Shape;1063;p84" title="Gráfico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5800" y="2203725"/>
            <a:ext cx="5231949" cy="323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4" name="Google Shape;1064;p84" title="Gráfico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78750" y="2203725"/>
            <a:ext cx="5231949" cy="323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0" name="Google Shape;1070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5800" y="6422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1" name="Google Shape;1071;p85"/>
          <p:cNvSpPr txBox="1"/>
          <p:nvPr/>
        </p:nvSpPr>
        <p:spPr>
          <a:xfrm>
            <a:off x="1463300" y="546525"/>
            <a:ext cx="10128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Gráficos proibidos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72" name="Google Shape;1072;p85" title="Gráfico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32825" y="1567300"/>
            <a:ext cx="6526350" cy="461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86"/>
          <p:cNvSpPr txBox="1"/>
          <p:nvPr>
            <p:ph idx="4294967295" type="title"/>
          </p:nvPr>
        </p:nvSpPr>
        <p:spPr>
          <a:xfrm>
            <a:off x="1425300" y="4630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Exercícios de ecommerce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9" name="Google Shape;1079;p86"/>
          <p:cNvSpPr txBox="1"/>
          <p:nvPr/>
        </p:nvSpPr>
        <p:spPr>
          <a:xfrm>
            <a:off x="2647650" y="1877075"/>
            <a:ext cx="6896700" cy="210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-US" sz="4200">
                <a:latin typeface="Montserrat Medium"/>
                <a:ea typeface="Montserrat Medium"/>
                <a:cs typeface="Montserrat Medium"/>
                <a:sym typeface="Montserrat Medium"/>
              </a:rPr>
              <a:t>Elabore os gráficos mais interessantes para os dados a seguir</a:t>
            </a:r>
            <a:endParaRPr b="0" i="0" sz="4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080" name="Google Shape;1080;p86"/>
          <p:cNvSpPr txBox="1"/>
          <p:nvPr/>
        </p:nvSpPr>
        <p:spPr>
          <a:xfrm>
            <a:off x="2292150" y="4398750"/>
            <a:ext cx="76077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sng" cap="none" strike="noStrik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Acesse a planilha com os dados aqui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latin typeface="Montserrat"/>
                <a:ea typeface="Montserrat"/>
                <a:cs typeface="Montserrat"/>
                <a:sym typeface="Montserrat"/>
              </a:rPr>
              <a:t>Considere as abas de </a:t>
            </a:r>
            <a:r>
              <a:rPr b="1" lang="en-US" sz="2000">
                <a:latin typeface="Montserrat"/>
                <a:ea typeface="Montserrat"/>
                <a:cs typeface="Montserrat"/>
                <a:sym typeface="Montserrat"/>
              </a:rPr>
              <a:t>transações</a:t>
            </a:r>
            <a:r>
              <a:rPr lang="en-US" sz="2000">
                <a:latin typeface="Montserrat"/>
                <a:ea typeface="Montserrat"/>
                <a:cs typeface="Montserrat"/>
                <a:sym typeface="Montserrat"/>
              </a:rPr>
              <a:t> e </a:t>
            </a:r>
            <a:r>
              <a:rPr b="1" lang="en-US" sz="2000">
                <a:latin typeface="Montserrat"/>
                <a:ea typeface="Montserrat"/>
                <a:cs typeface="Montserrat"/>
                <a:sym typeface="Montserrat"/>
              </a:rPr>
              <a:t>sumario_usuarios</a:t>
            </a:r>
            <a:endParaRPr b="1"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Por favor, faça uma cópia da planilha</a:t>
            </a:r>
            <a:endParaRPr b="0" i="0" sz="1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81" name="Google Shape;1081;p8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5800" y="642225"/>
            <a:ext cx="6858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7" name="Google Shape;1087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22925" y="2456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8" name="Google Shape;1088;p87"/>
          <p:cNvSpPr txBox="1"/>
          <p:nvPr/>
        </p:nvSpPr>
        <p:spPr>
          <a:xfrm>
            <a:off x="6540675" y="149925"/>
            <a:ext cx="54477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Probabilidade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4" name="Google Shape;1094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5" name="Google Shape;1095;p88"/>
          <p:cNvSpPr txBox="1"/>
          <p:nvPr/>
        </p:nvSpPr>
        <p:spPr>
          <a:xfrm>
            <a:off x="1586700" y="520150"/>
            <a:ext cx="54477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Eventos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6" name="Google Shape;1096;p88"/>
          <p:cNvSpPr txBox="1"/>
          <p:nvPr/>
        </p:nvSpPr>
        <p:spPr>
          <a:xfrm>
            <a:off x="1354750" y="1698725"/>
            <a:ext cx="9945900" cy="46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Um evento é o resultado observado de um experimento.</a:t>
            </a:r>
            <a:endParaRPr b="0" i="0" sz="19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Experimento: </a:t>
            </a:r>
            <a:r>
              <a:rPr b="1" i="0" lang="en-US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Lançar uma moeda e observar qual lado ficou para cima</a:t>
            </a:r>
            <a:endParaRPr b="1" i="0" sz="1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Eventos possíveis: {Cara, Coroa}</a:t>
            </a:r>
            <a:endParaRPr b="0" i="0" sz="15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Experimento: </a:t>
            </a:r>
            <a:r>
              <a:rPr b="1" i="0" lang="en-U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Entrevistar uma pessoa brasileira e anotar seu Estado de residência</a:t>
            </a:r>
            <a:endParaRPr b="1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Eventos possíveis: {AC, AL, … , SE, TO}</a:t>
            </a:r>
            <a:endParaRPr b="0" i="0" sz="15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Experimento: </a:t>
            </a:r>
            <a:r>
              <a:rPr b="1" i="0" lang="en-U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nota um estudante de Estatística</a:t>
            </a:r>
            <a:endParaRPr b="1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Eventos possíveis: </a:t>
            </a:r>
            <a:endParaRPr b="0" i="0" sz="15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Experimento: </a:t>
            </a:r>
            <a:r>
              <a:rPr b="1" i="0" lang="en-U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Lançar um dado e avaliar se o número da face superior é múltiplo de 3</a:t>
            </a:r>
            <a:endParaRPr b="1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Eventos possíveis: {Verdadeiro, Falso}</a:t>
            </a:r>
            <a:endParaRPr b="0" i="0" sz="15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097" name="Google Shape;1097;p8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55275" y="4898675"/>
            <a:ext cx="3197249" cy="34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3" name="Google Shape;1103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4" name="Google Shape;1104;p89"/>
          <p:cNvSpPr txBox="1"/>
          <p:nvPr/>
        </p:nvSpPr>
        <p:spPr>
          <a:xfrm>
            <a:off x="1586700" y="520150"/>
            <a:ext cx="54477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Espaço amostral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5" name="Google Shape;1105;p89"/>
          <p:cNvSpPr txBox="1"/>
          <p:nvPr/>
        </p:nvSpPr>
        <p:spPr>
          <a:xfrm>
            <a:off x="1354750" y="1698725"/>
            <a:ext cx="9945900" cy="3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É o espaço onde todas as possibilidades de evento podem ocorrer.</a:t>
            </a:r>
            <a:endParaRPr b="0" i="0" sz="19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Podemos entender que cada evento pertence a um espaço amostral, dentre tantos outros eventos.</a:t>
            </a:r>
            <a:endParaRPr b="0" i="0" sz="15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Experimento: </a:t>
            </a:r>
            <a:r>
              <a:rPr b="1" i="0" lang="en-U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Lançar uma moeda e observar qual lado ficou para cima</a:t>
            </a:r>
            <a:endParaRPr b="1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Espaço Amostral: {Cara, Coroa}</a:t>
            </a:r>
            <a:endParaRPr b="0" i="0" sz="15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Experimento: </a:t>
            </a:r>
            <a:r>
              <a:rPr b="1" i="0" lang="en-U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Lançar dois dados e observar o resultado de ambos</a:t>
            </a:r>
            <a:endParaRPr b="1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Espaço Amostral: {(1,1) , (1,2) … (1,6),</a:t>
            </a:r>
            <a:endParaRPr b="0" i="0" sz="15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			        (2,1) , (2,2) … (2,6),</a:t>
            </a:r>
            <a:endParaRPr b="0" i="0" sz="15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			       …</a:t>
            </a:r>
            <a:endParaRPr b="0" i="0" sz="15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			       (6,1) , (6,2) … (6,6)}</a:t>
            </a:r>
            <a:endParaRPr b="0" i="0" sz="15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106" name="Google Shape;1106;p8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12950" y="692050"/>
            <a:ext cx="504825" cy="53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2" name="Google Shape;1112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3" name="Google Shape;1113;p90"/>
          <p:cNvSpPr txBox="1"/>
          <p:nvPr/>
        </p:nvSpPr>
        <p:spPr>
          <a:xfrm>
            <a:off x="1586700" y="520150"/>
            <a:ext cx="54477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Probabilidade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4" name="Google Shape;1114;p90"/>
          <p:cNvSpPr txBox="1"/>
          <p:nvPr/>
        </p:nvSpPr>
        <p:spPr>
          <a:xfrm>
            <a:off x="1354750" y="1698725"/>
            <a:ext cx="99459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Definimos a probabilidade de um evento acontecer como:</a:t>
            </a:r>
            <a:endParaRPr b="0" i="0" sz="19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Para isso temos alguns axiomas de probabilidade:</a:t>
            </a:r>
            <a:endParaRPr b="0" i="0" sz="19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115" name="Google Shape;1115;p9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12650" y="1781350"/>
            <a:ext cx="685800" cy="3117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6" name="Google Shape;1116;p9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2400" y="3295075"/>
            <a:ext cx="11887201" cy="21417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91"/>
          <p:cNvSpPr/>
          <p:nvPr/>
        </p:nvSpPr>
        <p:spPr>
          <a:xfrm>
            <a:off x="668950" y="2362400"/>
            <a:ext cx="2997000" cy="2900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3" name="Google Shape;1123;p91"/>
          <p:cNvSpPr/>
          <p:nvPr/>
        </p:nvSpPr>
        <p:spPr>
          <a:xfrm>
            <a:off x="668950" y="2362400"/>
            <a:ext cx="2997000" cy="14457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4" name="Google Shape;1124;p91"/>
          <p:cNvSpPr/>
          <p:nvPr/>
        </p:nvSpPr>
        <p:spPr>
          <a:xfrm>
            <a:off x="668950" y="3808100"/>
            <a:ext cx="2997000" cy="14457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5" name="Google Shape;1125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6238" y="2843788"/>
            <a:ext cx="2542425" cy="48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6" name="Google Shape;1126;p9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6250" y="4313213"/>
            <a:ext cx="2542400" cy="435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7" name="Google Shape;1127;p9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82775" y="3578512"/>
            <a:ext cx="457025" cy="48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8" name="Google Shape;1128;p9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9" name="Google Shape;1129;p91"/>
          <p:cNvSpPr txBox="1"/>
          <p:nvPr/>
        </p:nvSpPr>
        <p:spPr>
          <a:xfrm>
            <a:off x="1586700" y="520150"/>
            <a:ext cx="54477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Probabilidade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0" name="Google Shape;1130;p91"/>
          <p:cNvSpPr txBox="1"/>
          <p:nvPr/>
        </p:nvSpPr>
        <p:spPr>
          <a:xfrm>
            <a:off x="668950" y="1642700"/>
            <a:ext cx="2997000" cy="6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Lançamento de uma moeda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131" name="Google Shape;1131;p91"/>
          <p:cNvSpPr/>
          <p:nvPr/>
        </p:nvSpPr>
        <p:spPr>
          <a:xfrm>
            <a:off x="4072500" y="3498213"/>
            <a:ext cx="1287000" cy="643500"/>
          </a:xfrm>
          <a:prstGeom prst="notchedRightArrow">
            <a:avLst>
              <a:gd fmla="val 50000" name="adj1"/>
              <a:gd fmla="val 50000" name="adj2"/>
            </a:avLst>
          </a:prstGeom>
          <a:solidFill>
            <a:srgbClr val="D9D9D9"/>
          </a:solidFill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32" name="Google Shape;1132;p9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90900" y="1642688"/>
            <a:ext cx="2633075" cy="120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3" name="Google Shape;1133;p9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90900" y="3125145"/>
            <a:ext cx="4571199" cy="13896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p92"/>
          <p:cNvSpPr/>
          <p:nvPr/>
        </p:nvSpPr>
        <p:spPr>
          <a:xfrm>
            <a:off x="668950" y="2362400"/>
            <a:ext cx="4525200" cy="2900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0" name="Google Shape;1140;p92"/>
          <p:cNvSpPr/>
          <p:nvPr/>
        </p:nvSpPr>
        <p:spPr>
          <a:xfrm>
            <a:off x="668950" y="2362400"/>
            <a:ext cx="1508400" cy="1445700"/>
          </a:xfrm>
          <a:prstGeom prst="rect">
            <a:avLst/>
          </a:prstGeom>
          <a:solidFill>
            <a:srgbClr val="E6B8A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1" name="Google Shape;1141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2" name="Google Shape;1142;p92"/>
          <p:cNvSpPr txBox="1"/>
          <p:nvPr/>
        </p:nvSpPr>
        <p:spPr>
          <a:xfrm>
            <a:off x="1586700" y="520150"/>
            <a:ext cx="54477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Probabilidade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3" name="Google Shape;1143;p92"/>
          <p:cNvSpPr txBox="1"/>
          <p:nvPr/>
        </p:nvSpPr>
        <p:spPr>
          <a:xfrm>
            <a:off x="668950" y="1718925"/>
            <a:ext cx="4525200" cy="6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Lançamento de um dado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144" name="Google Shape;1144;p92"/>
          <p:cNvSpPr/>
          <p:nvPr/>
        </p:nvSpPr>
        <p:spPr>
          <a:xfrm>
            <a:off x="2177350" y="2362400"/>
            <a:ext cx="1508400" cy="14457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5" name="Google Shape;1145;p92"/>
          <p:cNvSpPr/>
          <p:nvPr/>
        </p:nvSpPr>
        <p:spPr>
          <a:xfrm>
            <a:off x="3685750" y="2362400"/>
            <a:ext cx="1508400" cy="14457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6" name="Google Shape;1146;p92"/>
          <p:cNvSpPr/>
          <p:nvPr/>
        </p:nvSpPr>
        <p:spPr>
          <a:xfrm>
            <a:off x="668950" y="3808100"/>
            <a:ext cx="1508400" cy="14457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7" name="Google Shape;1147;p92"/>
          <p:cNvSpPr/>
          <p:nvPr/>
        </p:nvSpPr>
        <p:spPr>
          <a:xfrm>
            <a:off x="2177350" y="3808100"/>
            <a:ext cx="1508400" cy="1445700"/>
          </a:xfrm>
          <a:prstGeom prst="rect">
            <a:avLst/>
          </a:prstGeom>
          <a:solidFill>
            <a:srgbClr val="EAD1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8" name="Google Shape;1148;p92"/>
          <p:cNvSpPr/>
          <p:nvPr/>
        </p:nvSpPr>
        <p:spPr>
          <a:xfrm>
            <a:off x="3685750" y="3808100"/>
            <a:ext cx="1508400" cy="1445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9" name="Google Shape;1149;p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6763" y="2897314"/>
            <a:ext cx="1292766" cy="37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0" name="Google Shape;1150;p9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78213" y="2896968"/>
            <a:ext cx="1306677" cy="376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1" name="Google Shape;1151;p9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93575" y="2896974"/>
            <a:ext cx="1292765" cy="376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2" name="Google Shape;1152;p9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3953" y="4345463"/>
            <a:ext cx="1298386" cy="370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3" name="Google Shape;1153;p9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287978" y="4342658"/>
            <a:ext cx="1287144" cy="376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4" name="Google Shape;1154;p9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790760" y="4342654"/>
            <a:ext cx="1292765" cy="376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5" name="Google Shape;1155;p9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799001" y="3622625"/>
            <a:ext cx="351074" cy="37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6" name="Google Shape;1156;p9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457525" y="2742050"/>
            <a:ext cx="2463450" cy="46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7" name="Google Shape;1157;p9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457525" y="3630900"/>
            <a:ext cx="4089651" cy="124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8" name="Google Shape;1158;p92"/>
          <p:cNvSpPr/>
          <p:nvPr/>
        </p:nvSpPr>
        <p:spPr>
          <a:xfrm>
            <a:off x="5452500" y="3490688"/>
            <a:ext cx="1287000" cy="643500"/>
          </a:xfrm>
          <a:prstGeom prst="notchedRightArrow">
            <a:avLst>
              <a:gd fmla="val 50000" name="adj1"/>
              <a:gd fmla="val 50000" name="adj2"/>
            </a:avLst>
          </a:prstGeom>
          <a:solidFill>
            <a:srgbClr val="D9D9D9"/>
          </a:solidFill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4" name="Google Shape;1164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5" name="Google Shape;1165;p93"/>
          <p:cNvSpPr txBox="1"/>
          <p:nvPr/>
        </p:nvSpPr>
        <p:spPr>
          <a:xfrm>
            <a:off x="1586700" y="520150"/>
            <a:ext cx="54477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Probabilidade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6" name="Google Shape;1166;p93"/>
          <p:cNvSpPr txBox="1"/>
          <p:nvPr/>
        </p:nvSpPr>
        <p:spPr>
          <a:xfrm>
            <a:off x="1586700" y="1577875"/>
            <a:ext cx="9282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Como podemos calcular (inferir) a probabilidade?</a:t>
            </a:r>
            <a:endParaRPr b="0" i="0" sz="25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167" name="Google Shape;1167;p93"/>
          <p:cNvSpPr txBox="1"/>
          <p:nvPr/>
        </p:nvSpPr>
        <p:spPr>
          <a:xfrm>
            <a:off x="1586700" y="2529900"/>
            <a:ext cx="79245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 Medium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Definir a probabilidade associada a cada evento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556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 Medium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Realizar experimentos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556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 Medium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Assumir uma função que gera os dados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556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 Medium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Experiências passadas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3" name="Google Shape;1173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4" name="Google Shape;1174;p94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Probabilidade Condicional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5" name="Google Shape;1175;p94"/>
          <p:cNvSpPr txBox="1"/>
          <p:nvPr/>
        </p:nvSpPr>
        <p:spPr>
          <a:xfrm>
            <a:off x="1533825" y="1544400"/>
            <a:ext cx="9282000" cy="3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Probabilidade condicional é a probabilidade baseada em alguma informação previamente conhecida. Isto é, predizer a respeito do evento A, quando já sabemos a ocorrência do evento B. Denotaremos por       , leia-se probabilidade do evento A dado o evento B.</a:t>
            </a:r>
            <a:endParaRPr b="0" i="0" sz="18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Dizemos ainda que, caso                                 , então podemos dizer que A e B são eventos independentes.</a:t>
            </a:r>
            <a:endParaRPr b="0" i="0" sz="18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176" name="Google Shape;1176;p9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9650" y="2470925"/>
            <a:ext cx="960825" cy="29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7" name="Google Shape;1177;p9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56213" y="3708875"/>
            <a:ext cx="2026233" cy="29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8" name="Google Shape;1178;p94"/>
          <p:cNvSpPr txBox="1"/>
          <p:nvPr/>
        </p:nvSpPr>
        <p:spPr>
          <a:xfrm>
            <a:off x="1533825" y="5209600"/>
            <a:ext cx="928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Pense em probabilidade condicional como adição de informação, ou dica a respeito do evento de interesse.</a:t>
            </a:r>
            <a:endParaRPr b="0" i="0" sz="1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4" name="Google Shape;1184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5" name="Google Shape;1185;p95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Probabilidade Condicional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6" name="Google Shape;1186;p95"/>
          <p:cNvSpPr txBox="1"/>
          <p:nvPr/>
        </p:nvSpPr>
        <p:spPr>
          <a:xfrm>
            <a:off x="668950" y="1346275"/>
            <a:ext cx="109050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"/>
              <a:buChar char="●"/>
            </a:pPr>
            <a:r>
              <a:rPr b="0" i="0" lang="en-US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Probabilidade do resultado do lançamento de um dado ser 4, sabendo que o resultado foi par?</a:t>
            </a:r>
            <a:endParaRPr b="0" i="0" sz="1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"/>
              <a:buChar char="●"/>
            </a:pPr>
            <a:r>
              <a:rPr b="0" i="0" lang="en-U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Probabilidade do resultado do lançamento de um dado ser 5, sabendo que o resultado foi maior que 3?</a:t>
            </a:r>
            <a:endParaRPr b="0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●"/>
            </a:pPr>
            <a:r>
              <a:rPr b="0" i="0" lang="en-U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Lancei dois dados, qual a probabilidade de um dado ser 3, sabendo que o outro foi 2?</a:t>
            </a:r>
            <a:endParaRPr b="0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●"/>
            </a:pPr>
            <a:r>
              <a:rPr b="0" i="0" lang="en-U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Qual a probabilidade de eu cancelar a Netflix, sabendo que não assisto há 5 semanas?</a:t>
            </a:r>
            <a:endParaRPr b="0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2" name="Google Shape;1192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3" name="Google Shape;1193;p96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Probabilidade Conjunta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4" name="Google Shape;1194;p96"/>
          <p:cNvSpPr txBox="1"/>
          <p:nvPr/>
        </p:nvSpPr>
        <p:spPr>
          <a:xfrm>
            <a:off x="1354750" y="1565500"/>
            <a:ext cx="9470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 probabilidade conjunta é a probabilidade de dois ou mais eventos ocorrerem simultaneamente. Em um caso particular de apenas dois eventos, seguimos com a notação: </a:t>
            </a:r>
            <a:endParaRPr b="0" i="0" sz="18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195" name="Google Shape;1195;p9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67008" y="3219950"/>
            <a:ext cx="7457980" cy="418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96" name="Google Shape;1196;p96"/>
          <p:cNvGrpSpPr/>
          <p:nvPr/>
        </p:nvGrpSpPr>
        <p:grpSpPr>
          <a:xfrm>
            <a:off x="1360800" y="4264225"/>
            <a:ext cx="9470400" cy="1332924"/>
            <a:chOff x="1360800" y="4264225"/>
            <a:chExt cx="9470400" cy="1332924"/>
          </a:xfrm>
        </p:grpSpPr>
        <p:sp>
          <p:nvSpPr>
            <p:cNvPr id="1197" name="Google Shape;1197;p96"/>
            <p:cNvSpPr txBox="1"/>
            <p:nvPr/>
          </p:nvSpPr>
          <p:spPr>
            <a:xfrm>
              <a:off x="1360800" y="4264225"/>
              <a:ext cx="9470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Repare que no caso de eventos independentes, temos:</a:t>
              </a:r>
              <a:endParaRPr b="0" i="0" sz="18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pic>
          <p:nvPicPr>
            <p:cNvPr id="1198" name="Google Shape;1198;p9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800876" y="5179049"/>
              <a:ext cx="6590260" cy="4181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4" name="Google Shape;1204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5" name="Google Shape;1205;p97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Probabilidade Conjunta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6" name="Google Shape;1206;p97"/>
          <p:cNvSpPr txBox="1"/>
          <p:nvPr/>
        </p:nvSpPr>
        <p:spPr>
          <a:xfrm>
            <a:off x="1360800" y="1928025"/>
            <a:ext cx="94704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ontserrat Medium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Lançar dois dados e aparecer o número 3 em ambos</a:t>
            </a:r>
            <a:endParaRPr b="0" i="0" sz="18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ontserrat Medium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Lançar uma moeda 3 vezes e aparecer 3 caras</a:t>
            </a:r>
            <a:endParaRPr b="0" i="0" sz="18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ontserrat Medium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Chover e ter relâmpagos </a:t>
            </a:r>
            <a:endParaRPr b="0" i="0" sz="18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2" name="Google Shape;1212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3" name="Google Shape;1213;p98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Teorema de Bayes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14" name="Google Shape;1214;p9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84475" y="1715275"/>
            <a:ext cx="5823050" cy="53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5" name="Google Shape;1215;p9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78262" y="3092075"/>
            <a:ext cx="4035475" cy="108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6" name="Google Shape;1216;p9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50597" y="4933450"/>
            <a:ext cx="4690807" cy="108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2" name="Google Shape;1222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3" name="Google Shape;1223;p99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Teorema de Bayes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24" name="Google Shape;1224;p9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96125" y="3085200"/>
            <a:ext cx="6799751" cy="155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9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0" name="Google Shape;1230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1" name="Google Shape;1231;p100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Teorema de Bayes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2" name="Google Shape;1232;p100"/>
          <p:cNvSpPr txBox="1"/>
          <p:nvPr/>
        </p:nvSpPr>
        <p:spPr>
          <a:xfrm>
            <a:off x="668950" y="1570875"/>
            <a:ext cx="10905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"/>
              <a:buChar char="●"/>
            </a:pPr>
            <a:r>
              <a:rPr b="0" i="0" lang="en-US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Probabilidade do resultado do lançamento de um dado ser 4, sabendo que o resultado foi par?</a:t>
            </a:r>
            <a:endParaRPr b="0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7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8" name="Google Shape;1238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9" name="Google Shape;1239;p101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Teorema de Bayes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0" name="Google Shape;1240;p101"/>
          <p:cNvSpPr txBox="1"/>
          <p:nvPr/>
        </p:nvSpPr>
        <p:spPr>
          <a:xfrm>
            <a:off x="668950" y="1570875"/>
            <a:ext cx="10905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"/>
              <a:buChar char="●"/>
            </a:pPr>
            <a:r>
              <a:rPr b="0" i="0" lang="en-U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Lancei dois dados, qual a probabilidade de um dado ser 3, sabendo que o outro foi 2?</a:t>
            </a:r>
            <a:endParaRPr b="0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5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6" name="Google Shape;1246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7" name="Google Shape;1247;p102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Teorema de Bayes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8" name="Google Shape;1248;p102"/>
          <p:cNvSpPr txBox="1"/>
          <p:nvPr/>
        </p:nvSpPr>
        <p:spPr>
          <a:xfrm>
            <a:off x="668950" y="1570875"/>
            <a:ext cx="10905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"/>
              <a:buChar char="●"/>
            </a:pPr>
            <a:r>
              <a:rPr b="0" i="0" lang="en-U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Atualizando probabilidades (Monty Hall)</a:t>
            </a:r>
            <a:endParaRPr b="0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4" name="Google Shape;1254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5" name="Google Shape;1255;p103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Distribuições de Probabilidade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6" name="Google Shape;1256;p103"/>
          <p:cNvSpPr txBox="1"/>
          <p:nvPr/>
        </p:nvSpPr>
        <p:spPr>
          <a:xfrm>
            <a:off x="1127850" y="1544150"/>
            <a:ext cx="9987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Qual função que descreve o comportamento de uma moeda?</a:t>
            </a:r>
            <a:endParaRPr b="0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57" name="Google Shape;1257;p10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0850" y="4794650"/>
            <a:ext cx="3197075" cy="46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8" name="Google Shape;1258;p10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7850" y="2106445"/>
            <a:ext cx="3197075" cy="13039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9" name="Google Shape;1259;p10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0875" y="4119475"/>
            <a:ext cx="3197031" cy="46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0" name="Google Shape;1260;p10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95838" y="4403150"/>
            <a:ext cx="4919312" cy="4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1" name="Google Shape;1261;p103"/>
          <p:cNvSpPr/>
          <p:nvPr/>
        </p:nvSpPr>
        <p:spPr>
          <a:xfrm>
            <a:off x="4874225" y="4426650"/>
            <a:ext cx="831000" cy="415500"/>
          </a:xfrm>
          <a:prstGeom prst="notch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7" name="Google Shape;1267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8" name="Google Shape;1268;p104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Distribuições de Probabilidade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9" name="Google Shape;1269;p104"/>
          <p:cNvSpPr txBox="1"/>
          <p:nvPr/>
        </p:nvSpPr>
        <p:spPr>
          <a:xfrm>
            <a:off x="1127850" y="1544150"/>
            <a:ext cx="9987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Qual função que descreve o comportamento de uma moeda?</a:t>
            </a:r>
            <a:endParaRPr b="0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70" name="Google Shape;1270;p10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42450" y="1544145"/>
            <a:ext cx="3197075" cy="13039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1" name="Google Shape;1271;p10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37238" y="3219225"/>
            <a:ext cx="9657174" cy="286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7" name="Google Shape;1277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8" name="Google Shape;1278;p105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Distribuição Bernoulli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9" name="Google Shape;1279;p105"/>
          <p:cNvSpPr txBox="1"/>
          <p:nvPr/>
        </p:nvSpPr>
        <p:spPr>
          <a:xfrm>
            <a:off x="1127850" y="1544150"/>
            <a:ext cx="9987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Qual função que descreve o comportamento de uma moeda?</a:t>
            </a:r>
            <a:endParaRPr b="0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80" name="Google Shape;1280;p10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57350" y="3542125"/>
            <a:ext cx="8877300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5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6" name="Google Shape;1286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7" name="Google Shape;1287;p106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Distribuição Bernoulli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8" name="Google Shape;1288;p106"/>
          <p:cNvSpPr txBox="1"/>
          <p:nvPr/>
        </p:nvSpPr>
        <p:spPr>
          <a:xfrm>
            <a:off x="1127850" y="1544150"/>
            <a:ext cx="9987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Qual função que descreve o comportamento de uma moeda?</a:t>
            </a:r>
            <a:endParaRPr b="0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89" name="Google Shape;1289;p10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57350" y="3542125"/>
            <a:ext cx="8877300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5" name="Google Shape;1295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6" name="Google Shape;1296;p107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Distribuições de Probabilidade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7" name="Google Shape;1297;p107"/>
          <p:cNvSpPr txBox="1"/>
          <p:nvPr/>
        </p:nvSpPr>
        <p:spPr>
          <a:xfrm>
            <a:off x="1657350" y="1354550"/>
            <a:ext cx="9987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Para dados discretos</a:t>
            </a:r>
            <a:endParaRPr b="1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8" name="Google Shape;1298;p107"/>
          <p:cNvSpPr txBox="1"/>
          <p:nvPr/>
        </p:nvSpPr>
        <p:spPr>
          <a:xfrm>
            <a:off x="1657350" y="2371225"/>
            <a:ext cx="50775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 Medium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Distribuição Bernoulli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 Medium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Distribuição Binomial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 Medium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Distribuição Geométrica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 Medium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Distribuição Hipergeométrica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 Medium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Distribuição de Poison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 Medium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Distribuição Multinominal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4" name="Google Shape;1304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5" name="Google Shape;1305;p108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Distribuições Normal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06" name="Google Shape;1306;p10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7700" y="1397350"/>
            <a:ext cx="5436600" cy="106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7" name="Google Shape;1307;p10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11450" y="2611275"/>
            <a:ext cx="5865457" cy="43991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3" name="Google Shape;1313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4" name="Google Shape;1314;p109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Distribuições Normal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15" name="Google Shape;1315;p109"/>
          <p:cNvPicPr preferRelativeResize="0"/>
          <p:nvPr/>
        </p:nvPicPr>
        <p:blipFill rotWithShape="1">
          <a:blip r:embed="rId4">
            <a:alphaModFix/>
          </a:blip>
          <a:srcRect b="2125" l="0" r="0" t="2125"/>
          <a:stretch/>
        </p:blipFill>
        <p:spPr>
          <a:xfrm>
            <a:off x="1994225" y="1022875"/>
            <a:ext cx="8125302" cy="5835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1" name="Google Shape;1321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2" name="Google Shape;1322;p110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Distribuições Normal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23" name="Google Shape;1323;p110"/>
          <p:cNvPicPr preferRelativeResize="0"/>
          <p:nvPr/>
        </p:nvPicPr>
        <p:blipFill rotWithShape="1">
          <a:blip r:embed="rId4">
            <a:alphaModFix/>
          </a:blip>
          <a:srcRect b="2125" l="0" r="0" t="2125"/>
          <a:stretch/>
        </p:blipFill>
        <p:spPr>
          <a:xfrm>
            <a:off x="1994225" y="1022875"/>
            <a:ext cx="8125302" cy="5835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8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9" name="Google Shape;1329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0" name="Google Shape;1330;p111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Como funciona na prática?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31" name="Google Shape;1331;p111"/>
          <p:cNvPicPr preferRelativeResize="0"/>
          <p:nvPr/>
        </p:nvPicPr>
        <p:blipFill rotWithShape="1">
          <a:blip r:embed="rId4">
            <a:alphaModFix/>
          </a:blip>
          <a:srcRect b="1550" l="0" r="0" t="1550"/>
          <a:stretch/>
        </p:blipFill>
        <p:spPr>
          <a:xfrm>
            <a:off x="2249563" y="1267325"/>
            <a:ext cx="7692877" cy="559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7" name="Google Shape;1337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8" name="Google Shape;1338;p112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Como funciona na prática?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39" name="Google Shape;1339;p112"/>
          <p:cNvPicPr preferRelativeResize="0"/>
          <p:nvPr/>
        </p:nvPicPr>
        <p:blipFill rotWithShape="1">
          <a:blip r:embed="rId4">
            <a:alphaModFix/>
          </a:blip>
          <a:srcRect b="0" l="0" r="0" t="3100"/>
          <a:stretch/>
        </p:blipFill>
        <p:spPr>
          <a:xfrm>
            <a:off x="2249563" y="1267325"/>
            <a:ext cx="7692877" cy="559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4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5" name="Google Shape;1345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6" name="Google Shape;1346;p113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Como funciona na prática?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47" name="Google Shape;1347;p113"/>
          <p:cNvPicPr preferRelativeResize="0"/>
          <p:nvPr/>
        </p:nvPicPr>
        <p:blipFill rotWithShape="1">
          <a:blip r:embed="rId4">
            <a:alphaModFix/>
          </a:blip>
          <a:srcRect b="0" l="0" r="0" t="3100"/>
          <a:stretch/>
        </p:blipFill>
        <p:spPr>
          <a:xfrm>
            <a:off x="2249563" y="1267325"/>
            <a:ext cx="7692877" cy="559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2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3" name="Google Shape;1353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4" name="Google Shape;1354;p114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Como funciona na prática?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55" name="Google Shape;1355;p114"/>
          <p:cNvPicPr preferRelativeResize="0"/>
          <p:nvPr/>
        </p:nvPicPr>
        <p:blipFill rotWithShape="1">
          <a:blip r:embed="rId4">
            <a:alphaModFix/>
          </a:blip>
          <a:srcRect b="1550" l="0" r="0" t="1550"/>
          <a:stretch/>
        </p:blipFill>
        <p:spPr>
          <a:xfrm>
            <a:off x="2249563" y="1267325"/>
            <a:ext cx="7692877" cy="559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1" name="Google Shape;1361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2" name="Google Shape;1362;p115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Como funciona na prática?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63" name="Google Shape;1363;p115"/>
          <p:cNvPicPr preferRelativeResize="0"/>
          <p:nvPr/>
        </p:nvPicPr>
        <p:blipFill rotWithShape="1">
          <a:blip r:embed="rId4">
            <a:alphaModFix/>
          </a:blip>
          <a:srcRect b="1550" l="0" r="0" t="1550"/>
          <a:stretch/>
        </p:blipFill>
        <p:spPr>
          <a:xfrm>
            <a:off x="2249563" y="1267325"/>
            <a:ext cx="7692877" cy="559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9" name="Google Shape;1369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0" name="Google Shape;1370;p116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Como funciona na prática?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71" name="Google Shape;1371;p116"/>
          <p:cNvPicPr preferRelativeResize="0"/>
          <p:nvPr/>
        </p:nvPicPr>
        <p:blipFill rotWithShape="1">
          <a:blip r:embed="rId4">
            <a:alphaModFix/>
          </a:blip>
          <a:srcRect b="1550" l="0" r="0" t="1550"/>
          <a:stretch/>
        </p:blipFill>
        <p:spPr>
          <a:xfrm>
            <a:off x="2249563" y="1267325"/>
            <a:ext cx="7692877" cy="559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7" name="Google Shape;1377;p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8" name="Google Shape;1378;p117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Como funciona na prática?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9" name="Google Shape;1379;p117"/>
          <p:cNvSpPr txBox="1"/>
          <p:nvPr/>
        </p:nvSpPr>
        <p:spPr>
          <a:xfrm>
            <a:off x="668950" y="1763000"/>
            <a:ext cx="10164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 que define o melhor ajuste da distribuição Normal?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380" name="Google Shape;1380;p117"/>
          <p:cNvSpPr txBox="1"/>
          <p:nvPr/>
        </p:nvSpPr>
        <p:spPr>
          <a:xfrm>
            <a:off x="668950" y="2994100"/>
            <a:ext cx="10164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 estimativa de Mu e Sigma impactam diretamente o ajuste da curva.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381" name="Google Shape;1381;p117"/>
          <p:cNvSpPr txBox="1"/>
          <p:nvPr/>
        </p:nvSpPr>
        <p:spPr>
          <a:xfrm>
            <a:off x="668950" y="4225200"/>
            <a:ext cx="10164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Como saber o quão distante esses valores estão do verdadeiro valor?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382" name="Google Shape;1382;p117"/>
          <p:cNvGrpSpPr/>
          <p:nvPr/>
        </p:nvGrpSpPr>
        <p:grpSpPr>
          <a:xfrm>
            <a:off x="668950" y="5456300"/>
            <a:ext cx="10905000" cy="954300"/>
            <a:chOff x="668950" y="5456300"/>
            <a:chExt cx="10905000" cy="954300"/>
          </a:xfrm>
        </p:grpSpPr>
        <p:sp>
          <p:nvSpPr>
            <p:cNvPr id="1383" name="Google Shape;1383;p117"/>
            <p:cNvSpPr txBox="1"/>
            <p:nvPr/>
          </p:nvSpPr>
          <p:spPr>
            <a:xfrm>
              <a:off x="668950" y="5456300"/>
              <a:ext cx="10905000" cy="95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Tanto       , quanto       , são estimadores pontuais. Temos como criar um estimador</a:t>
              </a:r>
              <a:endParaRPr b="0" i="0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intervalar?</a:t>
              </a:r>
              <a:endParaRPr b="0" i="0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pic>
          <p:nvPicPr>
            <p:cNvPr id="1384" name="Google Shape;1384;p1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86700" y="5582588"/>
              <a:ext cx="205025" cy="240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5" name="Google Shape;1385;p11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91525" y="5557850"/>
              <a:ext cx="260124" cy="2895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1" name="Google Shape;1391;p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2" name="Google Shape;1392;p118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Intervalo de confiança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3" name="Google Shape;1393;p118"/>
          <p:cNvSpPr txBox="1"/>
          <p:nvPr/>
        </p:nvSpPr>
        <p:spPr>
          <a:xfrm>
            <a:off x="668950" y="1775525"/>
            <a:ext cx="109050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Nos traz informações sobre uma região de confiança onde acreditamos que o verdadeiro valor se encontra, com base em uma probabilidade associada.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Então, para cada amostra que retiramos a partir da população, temos uma chance (probabilidade) de cobrir o verdadeiro valor, com base em sua variabilidade. Ganhamos mais poder decisão a partir das regiões de confiança do que acreditar em um valor pontual.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9" name="Google Shape;1399;p1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0" name="Google Shape;1400;p119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Intervalo de confiança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1" name="Google Shape;1401;p119"/>
          <p:cNvSpPr/>
          <p:nvPr/>
        </p:nvSpPr>
        <p:spPr>
          <a:xfrm>
            <a:off x="668938" y="2614365"/>
            <a:ext cx="3133500" cy="3115800"/>
          </a:xfrm>
          <a:prstGeom prst="ellipse">
            <a:avLst/>
          </a:prstGeom>
          <a:noFill/>
          <a:ln cap="flat" cmpd="sng" w="28575">
            <a:solidFill>
              <a:srgbClr val="2F54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2" name="Google Shape;1402;p1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58979" y="2821873"/>
            <a:ext cx="501988" cy="501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3" name="Google Shape;1403;p1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0946" y="3554338"/>
            <a:ext cx="501988" cy="501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4" name="Google Shape;1404;p1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26475" y="3416658"/>
            <a:ext cx="501988" cy="501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5" name="Google Shape;1405;p1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3386" y="4317229"/>
            <a:ext cx="501988" cy="501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6" name="Google Shape;1406;p1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17130" y="4978581"/>
            <a:ext cx="501988" cy="501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7" name="Google Shape;1407;p1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28399" y="2791443"/>
            <a:ext cx="501988" cy="501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8" name="Google Shape;1408;p1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76443" y="3441302"/>
            <a:ext cx="501988" cy="501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9" name="Google Shape;1409;p1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424479" y="4060720"/>
            <a:ext cx="501988" cy="501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0" name="Google Shape;1410;p1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59156" y="4911172"/>
            <a:ext cx="501988" cy="501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1" name="Google Shape;1411;p1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75120" y="4760529"/>
            <a:ext cx="501988" cy="501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2" name="Google Shape;1412;p1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32815" y="3983793"/>
            <a:ext cx="501988" cy="501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3" name="Google Shape;1413;p1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21314" y="4122688"/>
            <a:ext cx="501988" cy="501988"/>
          </a:xfrm>
          <a:prstGeom prst="rect">
            <a:avLst/>
          </a:prstGeom>
          <a:noFill/>
          <a:ln>
            <a:noFill/>
          </a:ln>
        </p:spPr>
      </p:pic>
      <p:sp>
        <p:nvSpPr>
          <p:cNvPr id="1414" name="Google Shape;1414;p119"/>
          <p:cNvSpPr txBox="1"/>
          <p:nvPr/>
        </p:nvSpPr>
        <p:spPr>
          <a:xfrm>
            <a:off x="1411290" y="5750127"/>
            <a:ext cx="16488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F5496"/>
                </a:solidFill>
                <a:latin typeface="Montserrat"/>
                <a:ea typeface="Montserrat"/>
                <a:cs typeface="Montserrat"/>
                <a:sym typeface="Montserrat"/>
              </a:rPr>
              <a:t>População</a:t>
            </a:r>
            <a:endParaRPr b="1" i="0" sz="1800" u="none" cap="none" strike="noStrike">
              <a:solidFill>
                <a:srgbClr val="2F549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415" name="Google Shape;1415;p119"/>
          <p:cNvGrpSpPr/>
          <p:nvPr/>
        </p:nvGrpSpPr>
        <p:grpSpPr>
          <a:xfrm>
            <a:off x="6104093" y="1922164"/>
            <a:ext cx="788390" cy="783875"/>
            <a:chOff x="8571500" y="1350025"/>
            <a:chExt cx="1257000" cy="1249800"/>
          </a:xfrm>
        </p:grpSpPr>
        <p:sp>
          <p:nvSpPr>
            <p:cNvPr id="1416" name="Google Shape;1416;p119"/>
            <p:cNvSpPr/>
            <p:nvPr/>
          </p:nvSpPr>
          <p:spPr>
            <a:xfrm>
              <a:off x="8571500" y="1350025"/>
              <a:ext cx="1257000" cy="1249800"/>
            </a:xfrm>
            <a:prstGeom prst="ellipse">
              <a:avLst/>
            </a:prstGeom>
            <a:noFill/>
            <a:ln cap="flat" cmpd="sng" w="28575">
              <a:solidFill>
                <a:srgbClr val="2F549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17" name="Google Shape;1417;p11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799800" y="1505250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18" name="Google Shape;1418;p119"/>
          <p:cNvGrpSpPr/>
          <p:nvPr/>
        </p:nvGrpSpPr>
        <p:grpSpPr>
          <a:xfrm>
            <a:off x="5782802" y="2808996"/>
            <a:ext cx="1392572" cy="1384481"/>
            <a:chOff x="8223705" y="2325300"/>
            <a:chExt cx="2220300" cy="2207400"/>
          </a:xfrm>
        </p:grpSpPr>
        <p:sp>
          <p:nvSpPr>
            <p:cNvPr id="1419" name="Google Shape;1419;p119"/>
            <p:cNvSpPr/>
            <p:nvPr/>
          </p:nvSpPr>
          <p:spPr>
            <a:xfrm>
              <a:off x="8223705" y="2325300"/>
              <a:ext cx="2220300" cy="2207400"/>
            </a:xfrm>
            <a:prstGeom prst="ellipse">
              <a:avLst/>
            </a:prstGeom>
            <a:noFill/>
            <a:ln cap="flat" cmpd="sng" w="28575">
              <a:solidFill>
                <a:srgbClr val="2F549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20" name="Google Shape;1420;p11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370075" y="2896950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1" name="Google Shape;1421;p11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9229513" y="2571593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2" name="Google Shape;1422;p1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29525" y="3475863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23" name="Google Shape;1423;p119"/>
          <p:cNvGrpSpPr/>
          <p:nvPr/>
        </p:nvGrpSpPr>
        <p:grpSpPr>
          <a:xfrm>
            <a:off x="5616566" y="4296438"/>
            <a:ext cx="1725051" cy="1715078"/>
            <a:chOff x="8223899" y="4355175"/>
            <a:chExt cx="2750400" cy="2734500"/>
          </a:xfrm>
        </p:grpSpPr>
        <p:pic>
          <p:nvPicPr>
            <p:cNvPr id="1424" name="Google Shape;1424;p1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826725" y="5754938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5" name="Google Shape;1425;p11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198900" y="6092125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6" name="Google Shape;1426;p11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560550" y="5754950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7" name="Google Shape;1427;p11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9908838" y="4954543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8" name="Google Shape;1428;p11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9198888" y="5243306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9" name="Google Shape;1429;p1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29525" y="4442900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0" name="Google Shape;1430;p1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458525" y="5062013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31" name="Google Shape;1431;p119"/>
            <p:cNvSpPr/>
            <p:nvPr/>
          </p:nvSpPr>
          <p:spPr>
            <a:xfrm>
              <a:off x="8223899" y="4355175"/>
              <a:ext cx="2750400" cy="2734500"/>
            </a:xfrm>
            <a:prstGeom prst="ellipse">
              <a:avLst/>
            </a:prstGeom>
            <a:noFill/>
            <a:ln cap="flat" cmpd="sng" w="28575">
              <a:solidFill>
                <a:srgbClr val="2F549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32" name="Google Shape;1432;p119"/>
          <p:cNvSpPr/>
          <p:nvPr/>
        </p:nvSpPr>
        <p:spPr>
          <a:xfrm>
            <a:off x="3944487" y="3778097"/>
            <a:ext cx="964800" cy="501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F54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3" name="Google Shape;1433;p119"/>
          <p:cNvSpPr/>
          <p:nvPr/>
        </p:nvSpPr>
        <p:spPr>
          <a:xfrm>
            <a:off x="5051413" y="2018882"/>
            <a:ext cx="669900" cy="402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2F54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4" name="Google Shape;1434;p119"/>
          <p:cNvSpPr txBox="1"/>
          <p:nvPr/>
        </p:nvSpPr>
        <p:spPr>
          <a:xfrm>
            <a:off x="2926888" y="341665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F5496"/>
                </a:solidFill>
                <a:latin typeface="Montserrat"/>
                <a:ea typeface="Montserrat"/>
                <a:cs typeface="Montserrat"/>
                <a:sym typeface="Montserrat"/>
              </a:rPr>
              <a:t>Amostras</a:t>
            </a:r>
            <a:endParaRPr b="0" i="0" sz="1400" u="none" cap="none" strike="noStrike">
              <a:solidFill>
                <a:srgbClr val="2F549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5" name="Google Shape;1435;p1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9575" y="2033225"/>
            <a:ext cx="3802450" cy="372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6" name="Google Shape;1436;p1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95643" y="3261725"/>
            <a:ext cx="3357795" cy="33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7" name="Google Shape;1437;p1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595648" y="4986725"/>
            <a:ext cx="3357795" cy="33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8" name="Google Shape;1438;p1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595660" y="2146850"/>
            <a:ext cx="2362583" cy="33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4" name="Google Shape;1444;p1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5" name="Google Shape;1445;p120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Intervalo de confiança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46" name="Google Shape;1446;p1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9575" y="2033225"/>
            <a:ext cx="3802450" cy="37278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47" name="Google Shape;1447;p120"/>
          <p:cNvCxnSpPr/>
          <p:nvPr/>
        </p:nvCxnSpPr>
        <p:spPr>
          <a:xfrm>
            <a:off x="8418250" y="2062700"/>
            <a:ext cx="0" cy="4178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448" name="Google Shape;1448;p1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80374" y="1573250"/>
            <a:ext cx="1875750" cy="409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49" name="Google Shape;1449;p120"/>
          <p:cNvCxnSpPr/>
          <p:nvPr/>
        </p:nvCxnSpPr>
        <p:spPr>
          <a:xfrm>
            <a:off x="8180225" y="2198625"/>
            <a:ext cx="1419300" cy="0"/>
          </a:xfrm>
          <a:prstGeom prst="straightConnector1">
            <a:avLst/>
          </a:prstGeom>
          <a:noFill/>
          <a:ln cap="flat" cmpd="sng" w="28575">
            <a:solidFill>
              <a:srgbClr val="3C78D8"/>
            </a:solidFill>
            <a:prstDash val="dash"/>
            <a:round/>
            <a:headEnd len="med" w="med" type="diamond"/>
            <a:tailEnd len="med" w="med" type="diamond"/>
          </a:ln>
        </p:spPr>
      </p:cxnSp>
      <p:cxnSp>
        <p:nvCxnSpPr>
          <p:cNvPr id="1450" name="Google Shape;1450;p120"/>
          <p:cNvCxnSpPr/>
          <p:nvPr/>
        </p:nvCxnSpPr>
        <p:spPr>
          <a:xfrm>
            <a:off x="8508925" y="2588850"/>
            <a:ext cx="1419300" cy="0"/>
          </a:xfrm>
          <a:prstGeom prst="straightConnector1">
            <a:avLst/>
          </a:prstGeom>
          <a:noFill/>
          <a:ln cap="flat" cmpd="sng" w="28575">
            <a:solidFill>
              <a:srgbClr val="3C78D8"/>
            </a:solidFill>
            <a:prstDash val="dash"/>
            <a:round/>
            <a:headEnd len="med" w="med" type="diamond"/>
            <a:tailEnd len="med" w="med" type="diamond"/>
          </a:ln>
        </p:spPr>
      </p:cxnSp>
      <p:cxnSp>
        <p:nvCxnSpPr>
          <p:cNvPr id="1451" name="Google Shape;1451;p120"/>
          <p:cNvCxnSpPr/>
          <p:nvPr/>
        </p:nvCxnSpPr>
        <p:spPr>
          <a:xfrm>
            <a:off x="7708600" y="2979075"/>
            <a:ext cx="1419300" cy="0"/>
          </a:xfrm>
          <a:prstGeom prst="straightConnector1">
            <a:avLst/>
          </a:prstGeom>
          <a:noFill/>
          <a:ln cap="flat" cmpd="sng" w="28575">
            <a:solidFill>
              <a:srgbClr val="3C78D8"/>
            </a:solidFill>
            <a:prstDash val="dash"/>
            <a:round/>
            <a:headEnd len="med" w="med" type="diamond"/>
            <a:tailEnd len="med" w="med" type="diamond"/>
          </a:ln>
        </p:spPr>
      </p:cxnSp>
      <p:cxnSp>
        <p:nvCxnSpPr>
          <p:cNvPr id="1452" name="Google Shape;1452;p120"/>
          <p:cNvCxnSpPr/>
          <p:nvPr/>
        </p:nvCxnSpPr>
        <p:spPr>
          <a:xfrm>
            <a:off x="8055650" y="3369300"/>
            <a:ext cx="1419300" cy="0"/>
          </a:xfrm>
          <a:prstGeom prst="straightConnector1">
            <a:avLst/>
          </a:prstGeom>
          <a:noFill/>
          <a:ln cap="flat" cmpd="sng" w="28575">
            <a:solidFill>
              <a:srgbClr val="3C78D8"/>
            </a:solidFill>
            <a:prstDash val="dash"/>
            <a:round/>
            <a:headEnd len="med" w="med" type="diamond"/>
            <a:tailEnd len="med" w="med" type="diamond"/>
          </a:ln>
        </p:spPr>
      </p:cxnSp>
      <p:cxnSp>
        <p:nvCxnSpPr>
          <p:cNvPr id="1453" name="Google Shape;1453;p120"/>
          <p:cNvCxnSpPr/>
          <p:nvPr/>
        </p:nvCxnSpPr>
        <p:spPr>
          <a:xfrm>
            <a:off x="7141450" y="3759525"/>
            <a:ext cx="1419300" cy="0"/>
          </a:xfrm>
          <a:prstGeom prst="straightConnector1">
            <a:avLst/>
          </a:prstGeom>
          <a:noFill/>
          <a:ln cap="flat" cmpd="sng" w="28575">
            <a:solidFill>
              <a:srgbClr val="3C78D8"/>
            </a:solidFill>
            <a:prstDash val="dash"/>
            <a:round/>
            <a:headEnd len="med" w="med" type="diamond"/>
            <a:tailEnd len="med" w="med" type="diamond"/>
          </a:ln>
        </p:spPr>
      </p:cxnSp>
      <p:cxnSp>
        <p:nvCxnSpPr>
          <p:cNvPr id="1454" name="Google Shape;1454;p120"/>
          <p:cNvCxnSpPr/>
          <p:nvPr/>
        </p:nvCxnSpPr>
        <p:spPr>
          <a:xfrm>
            <a:off x="7708600" y="4149750"/>
            <a:ext cx="1419300" cy="0"/>
          </a:xfrm>
          <a:prstGeom prst="straightConnector1">
            <a:avLst/>
          </a:prstGeom>
          <a:noFill/>
          <a:ln cap="flat" cmpd="sng" w="28575">
            <a:solidFill>
              <a:srgbClr val="3C78D8"/>
            </a:solidFill>
            <a:prstDash val="dash"/>
            <a:round/>
            <a:headEnd len="med" w="med" type="diamond"/>
            <a:tailEnd len="med" w="med" type="diamond"/>
          </a:ln>
        </p:spPr>
      </p:cxnSp>
      <p:cxnSp>
        <p:nvCxnSpPr>
          <p:cNvPr id="1455" name="Google Shape;1455;p120"/>
          <p:cNvCxnSpPr/>
          <p:nvPr/>
        </p:nvCxnSpPr>
        <p:spPr>
          <a:xfrm>
            <a:off x="7287550" y="4539975"/>
            <a:ext cx="1419300" cy="0"/>
          </a:xfrm>
          <a:prstGeom prst="straightConnector1">
            <a:avLst/>
          </a:prstGeom>
          <a:noFill/>
          <a:ln cap="flat" cmpd="sng" w="28575">
            <a:solidFill>
              <a:srgbClr val="3C78D8"/>
            </a:solidFill>
            <a:prstDash val="dash"/>
            <a:round/>
            <a:headEnd len="med" w="med" type="diamond"/>
            <a:tailEnd len="med" w="med" type="diamond"/>
          </a:ln>
        </p:spPr>
      </p:cxnSp>
      <p:cxnSp>
        <p:nvCxnSpPr>
          <p:cNvPr id="1456" name="Google Shape;1456;p120"/>
          <p:cNvCxnSpPr/>
          <p:nvPr/>
        </p:nvCxnSpPr>
        <p:spPr>
          <a:xfrm>
            <a:off x="8180225" y="4930200"/>
            <a:ext cx="1419300" cy="0"/>
          </a:xfrm>
          <a:prstGeom prst="straightConnector1">
            <a:avLst/>
          </a:prstGeom>
          <a:noFill/>
          <a:ln cap="flat" cmpd="sng" w="28575">
            <a:solidFill>
              <a:srgbClr val="3C78D8"/>
            </a:solidFill>
            <a:prstDash val="dash"/>
            <a:round/>
            <a:headEnd len="med" w="med" type="diamond"/>
            <a:tailEnd len="med" w="med" type="diamond"/>
          </a:ln>
        </p:spPr>
      </p:cxnSp>
      <p:cxnSp>
        <p:nvCxnSpPr>
          <p:cNvPr id="1457" name="Google Shape;1457;p120"/>
          <p:cNvCxnSpPr/>
          <p:nvPr/>
        </p:nvCxnSpPr>
        <p:spPr>
          <a:xfrm>
            <a:off x="6896000" y="5320425"/>
            <a:ext cx="1419300" cy="0"/>
          </a:xfrm>
          <a:prstGeom prst="straightConnector1">
            <a:avLst/>
          </a:prstGeom>
          <a:noFill/>
          <a:ln cap="flat" cmpd="sng" w="28575">
            <a:solidFill>
              <a:srgbClr val="3C78D8"/>
            </a:solidFill>
            <a:prstDash val="dash"/>
            <a:round/>
            <a:headEnd len="med" w="med" type="diamond"/>
            <a:tailEnd len="med" w="med" type="diamond"/>
          </a:ln>
        </p:spPr>
      </p:cxnSp>
      <p:cxnSp>
        <p:nvCxnSpPr>
          <p:cNvPr id="1458" name="Google Shape;1458;p120"/>
          <p:cNvCxnSpPr/>
          <p:nvPr/>
        </p:nvCxnSpPr>
        <p:spPr>
          <a:xfrm>
            <a:off x="8315300" y="5710650"/>
            <a:ext cx="1419300" cy="0"/>
          </a:xfrm>
          <a:prstGeom prst="straightConnector1">
            <a:avLst/>
          </a:prstGeom>
          <a:noFill/>
          <a:ln cap="flat" cmpd="sng" w="28575">
            <a:solidFill>
              <a:srgbClr val="3C78D8"/>
            </a:solidFill>
            <a:prstDash val="dash"/>
            <a:round/>
            <a:headEnd len="med" w="med" type="diamond"/>
            <a:tailEnd len="med" w="med" type="diamond"/>
          </a:ln>
        </p:spPr>
      </p:cxnSp>
      <p:cxnSp>
        <p:nvCxnSpPr>
          <p:cNvPr id="1459" name="Google Shape;1459;p120"/>
          <p:cNvCxnSpPr/>
          <p:nvPr/>
        </p:nvCxnSpPr>
        <p:spPr>
          <a:xfrm>
            <a:off x="7650350" y="6100875"/>
            <a:ext cx="1419300" cy="0"/>
          </a:xfrm>
          <a:prstGeom prst="straightConnector1">
            <a:avLst/>
          </a:prstGeom>
          <a:noFill/>
          <a:ln cap="flat" cmpd="sng" w="28575">
            <a:solidFill>
              <a:srgbClr val="3C78D8"/>
            </a:solidFill>
            <a:prstDash val="dash"/>
            <a:round/>
            <a:headEnd len="med" w="med" type="diamond"/>
            <a:tailEnd len="med" w="med" type="diamond"/>
          </a:ln>
        </p:spPr>
      </p:cxnSp>
      <p:sp>
        <p:nvSpPr>
          <p:cNvPr id="1460" name="Google Shape;1460;p120"/>
          <p:cNvSpPr/>
          <p:nvPr/>
        </p:nvSpPr>
        <p:spPr>
          <a:xfrm>
            <a:off x="668938" y="2614365"/>
            <a:ext cx="3133500" cy="3115800"/>
          </a:xfrm>
          <a:prstGeom prst="ellipse">
            <a:avLst/>
          </a:prstGeom>
          <a:noFill/>
          <a:ln cap="flat" cmpd="sng" w="28575">
            <a:solidFill>
              <a:srgbClr val="2F54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1" name="Google Shape;1461;p1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358979" y="2821873"/>
            <a:ext cx="501988" cy="501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2" name="Google Shape;1462;p1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90946" y="3554338"/>
            <a:ext cx="501988" cy="501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3" name="Google Shape;1463;p1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926475" y="3416658"/>
            <a:ext cx="501988" cy="501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4" name="Google Shape;1464;p1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13386" y="4317229"/>
            <a:ext cx="501988" cy="501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5" name="Google Shape;1465;p1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017130" y="4978581"/>
            <a:ext cx="501988" cy="501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6" name="Google Shape;1466;p1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28399" y="2791443"/>
            <a:ext cx="501988" cy="501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7" name="Google Shape;1467;p1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976443" y="3441302"/>
            <a:ext cx="501988" cy="501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8" name="Google Shape;1468;p1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424479" y="4060720"/>
            <a:ext cx="501988" cy="501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9" name="Google Shape;1469;p1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359156" y="4911172"/>
            <a:ext cx="501988" cy="501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0" name="Google Shape;1470;p1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75120" y="4760529"/>
            <a:ext cx="501988" cy="501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1" name="Google Shape;1471;p1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32815" y="3983793"/>
            <a:ext cx="501988" cy="501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2" name="Google Shape;1472;p1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21314" y="4122688"/>
            <a:ext cx="501988" cy="501988"/>
          </a:xfrm>
          <a:prstGeom prst="rect">
            <a:avLst/>
          </a:prstGeom>
          <a:noFill/>
          <a:ln>
            <a:noFill/>
          </a:ln>
        </p:spPr>
      </p:pic>
      <p:sp>
        <p:nvSpPr>
          <p:cNvPr id="1473" name="Google Shape;1473;p120"/>
          <p:cNvSpPr txBox="1"/>
          <p:nvPr/>
        </p:nvSpPr>
        <p:spPr>
          <a:xfrm>
            <a:off x="1411290" y="5750127"/>
            <a:ext cx="16488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F5496"/>
                </a:solidFill>
                <a:latin typeface="Montserrat"/>
                <a:ea typeface="Montserrat"/>
                <a:cs typeface="Montserrat"/>
                <a:sym typeface="Montserrat"/>
              </a:rPr>
              <a:t>População</a:t>
            </a:r>
            <a:endParaRPr b="1" i="0" sz="1800" u="none" cap="none" strike="noStrike">
              <a:solidFill>
                <a:srgbClr val="2F549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4" name="Google Shape;1474;p120"/>
          <p:cNvSpPr/>
          <p:nvPr/>
        </p:nvSpPr>
        <p:spPr>
          <a:xfrm>
            <a:off x="3944487" y="3778097"/>
            <a:ext cx="964800" cy="501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F54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5" name="Google Shape;1475;p120"/>
          <p:cNvSpPr txBox="1"/>
          <p:nvPr/>
        </p:nvSpPr>
        <p:spPr>
          <a:xfrm>
            <a:off x="2926888" y="341665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F5496"/>
                </a:solidFill>
                <a:latin typeface="Montserrat"/>
                <a:ea typeface="Montserrat"/>
                <a:cs typeface="Montserrat"/>
                <a:sym typeface="Montserrat"/>
              </a:rPr>
              <a:t>Amostras</a:t>
            </a:r>
            <a:endParaRPr b="0" i="0" sz="1400" u="none" cap="none" strike="noStrike">
              <a:solidFill>
                <a:srgbClr val="2F549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0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1" name="Google Shape;1481;p1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2" name="Google Shape;1482;p121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Intervalo de confiança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83" name="Google Shape;1483;p1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9575" y="2033225"/>
            <a:ext cx="3802450" cy="37278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84" name="Google Shape;1484;p121"/>
          <p:cNvCxnSpPr/>
          <p:nvPr/>
        </p:nvCxnSpPr>
        <p:spPr>
          <a:xfrm>
            <a:off x="8418250" y="2062700"/>
            <a:ext cx="0" cy="4178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485" name="Google Shape;1485;p1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80374" y="1573250"/>
            <a:ext cx="1875750" cy="409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86" name="Google Shape;1486;p121"/>
          <p:cNvCxnSpPr/>
          <p:nvPr/>
        </p:nvCxnSpPr>
        <p:spPr>
          <a:xfrm>
            <a:off x="8180225" y="2198625"/>
            <a:ext cx="1419300" cy="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dash"/>
            <a:round/>
            <a:headEnd len="med" w="med" type="diamond"/>
            <a:tailEnd len="med" w="med" type="diamond"/>
          </a:ln>
        </p:spPr>
      </p:cxnSp>
      <p:cxnSp>
        <p:nvCxnSpPr>
          <p:cNvPr id="1487" name="Google Shape;1487;p121"/>
          <p:cNvCxnSpPr/>
          <p:nvPr/>
        </p:nvCxnSpPr>
        <p:spPr>
          <a:xfrm>
            <a:off x="8508925" y="2588850"/>
            <a:ext cx="1419300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dash"/>
            <a:round/>
            <a:headEnd len="med" w="med" type="diamond"/>
            <a:tailEnd len="med" w="med" type="diamond"/>
          </a:ln>
        </p:spPr>
      </p:cxnSp>
      <p:cxnSp>
        <p:nvCxnSpPr>
          <p:cNvPr id="1488" name="Google Shape;1488;p121"/>
          <p:cNvCxnSpPr/>
          <p:nvPr/>
        </p:nvCxnSpPr>
        <p:spPr>
          <a:xfrm>
            <a:off x="7708600" y="2979075"/>
            <a:ext cx="1419300" cy="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dash"/>
            <a:round/>
            <a:headEnd len="med" w="med" type="diamond"/>
            <a:tailEnd len="med" w="med" type="diamond"/>
          </a:ln>
        </p:spPr>
      </p:cxnSp>
      <p:cxnSp>
        <p:nvCxnSpPr>
          <p:cNvPr id="1489" name="Google Shape;1489;p121"/>
          <p:cNvCxnSpPr/>
          <p:nvPr/>
        </p:nvCxnSpPr>
        <p:spPr>
          <a:xfrm>
            <a:off x="8055650" y="3369300"/>
            <a:ext cx="1419300" cy="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dash"/>
            <a:round/>
            <a:headEnd len="med" w="med" type="diamond"/>
            <a:tailEnd len="med" w="med" type="diamond"/>
          </a:ln>
        </p:spPr>
      </p:cxnSp>
      <p:cxnSp>
        <p:nvCxnSpPr>
          <p:cNvPr id="1490" name="Google Shape;1490;p121"/>
          <p:cNvCxnSpPr/>
          <p:nvPr/>
        </p:nvCxnSpPr>
        <p:spPr>
          <a:xfrm>
            <a:off x="7141450" y="3759525"/>
            <a:ext cx="1419300" cy="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dash"/>
            <a:round/>
            <a:headEnd len="med" w="med" type="diamond"/>
            <a:tailEnd len="med" w="med" type="diamond"/>
          </a:ln>
        </p:spPr>
      </p:cxnSp>
      <p:cxnSp>
        <p:nvCxnSpPr>
          <p:cNvPr id="1491" name="Google Shape;1491;p121"/>
          <p:cNvCxnSpPr/>
          <p:nvPr/>
        </p:nvCxnSpPr>
        <p:spPr>
          <a:xfrm>
            <a:off x="7708600" y="4149750"/>
            <a:ext cx="1419300" cy="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dash"/>
            <a:round/>
            <a:headEnd len="med" w="med" type="diamond"/>
            <a:tailEnd len="med" w="med" type="diamond"/>
          </a:ln>
        </p:spPr>
      </p:cxnSp>
      <p:cxnSp>
        <p:nvCxnSpPr>
          <p:cNvPr id="1492" name="Google Shape;1492;p121"/>
          <p:cNvCxnSpPr/>
          <p:nvPr/>
        </p:nvCxnSpPr>
        <p:spPr>
          <a:xfrm>
            <a:off x="7287550" y="4539975"/>
            <a:ext cx="1419300" cy="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dash"/>
            <a:round/>
            <a:headEnd len="med" w="med" type="diamond"/>
            <a:tailEnd len="med" w="med" type="diamond"/>
          </a:ln>
        </p:spPr>
      </p:cxnSp>
      <p:cxnSp>
        <p:nvCxnSpPr>
          <p:cNvPr id="1493" name="Google Shape;1493;p121"/>
          <p:cNvCxnSpPr/>
          <p:nvPr/>
        </p:nvCxnSpPr>
        <p:spPr>
          <a:xfrm>
            <a:off x="8180225" y="4930200"/>
            <a:ext cx="1419300" cy="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dash"/>
            <a:round/>
            <a:headEnd len="med" w="med" type="diamond"/>
            <a:tailEnd len="med" w="med" type="diamond"/>
          </a:ln>
        </p:spPr>
      </p:cxnSp>
      <p:cxnSp>
        <p:nvCxnSpPr>
          <p:cNvPr id="1494" name="Google Shape;1494;p121"/>
          <p:cNvCxnSpPr/>
          <p:nvPr/>
        </p:nvCxnSpPr>
        <p:spPr>
          <a:xfrm>
            <a:off x="6896000" y="5320425"/>
            <a:ext cx="1419300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dash"/>
            <a:round/>
            <a:headEnd len="med" w="med" type="diamond"/>
            <a:tailEnd len="med" w="med" type="diamond"/>
          </a:ln>
        </p:spPr>
      </p:cxnSp>
      <p:cxnSp>
        <p:nvCxnSpPr>
          <p:cNvPr id="1495" name="Google Shape;1495;p121"/>
          <p:cNvCxnSpPr/>
          <p:nvPr/>
        </p:nvCxnSpPr>
        <p:spPr>
          <a:xfrm>
            <a:off x="8315300" y="5710650"/>
            <a:ext cx="1419300" cy="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dash"/>
            <a:round/>
            <a:headEnd len="med" w="med" type="diamond"/>
            <a:tailEnd len="med" w="med" type="diamond"/>
          </a:ln>
        </p:spPr>
      </p:cxnSp>
      <p:cxnSp>
        <p:nvCxnSpPr>
          <p:cNvPr id="1496" name="Google Shape;1496;p121"/>
          <p:cNvCxnSpPr/>
          <p:nvPr/>
        </p:nvCxnSpPr>
        <p:spPr>
          <a:xfrm>
            <a:off x="7650350" y="6100875"/>
            <a:ext cx="1419300" cy="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dash"/>
            <a:round/>
            <a:headEnd len="med" w="med" type="diamond"/>
            <a:tailEnd len="med" w="med" type="diamond"/>
          </a:ln>
        </p:spPr>
      </p:cxnSp>
      <p:sp>
        <p:nvSpPr>
          <p:cNvPr id="1497" name="Google Shape;1497;p121"/>
          <p:cNvSpPr/>
          <p:nvPr/>
        </p:nvSpPr>
        <p:spPr>
          <a:xfrm>
            <a:off x="668938" y="2614365"/>
            <a:ext cx="3133500" cy="3115800"/>
          </a:xfrm>
          <a:prstGeom prst="ellipse">
            <a:avLst/>
          </a:prstGeom>
          <a:noFill/>
          <a:ln cap="flat" cmpd="sng" w="28575">
            <a:solidFill>
              <a:srgbClr val="2F54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8" name="Google Shape;1498;p1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358979" y="2821873"/>
            <a:ext cx="501988" cy="501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9" name="Google Shape;1499;p1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90946" y="3554338"/>
            <a:ext cx="501988" cy="501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0" name="Google Shape;1500;p1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926475" y="3416658"/>
            <a:ext cx="501988" cy="501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1" name="Google Shape;1501;p1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13386" y="4317229"/>
            <a:ext cx="501988" cy="501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2" name="Google Shape;1502;p1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017130" y="4978581"/>
            <a:ext cx="501988" cy="501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3" name="Google Shape;1503;p1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28399" y="2791443"/>
            <a:ext cx="501988" cy="501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4" name="Google Shape;1504;p1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976443" y="3441302"/>
            <a:ext cx="501988" cy="501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5" name="Google Shape;1505;p1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424479" y="4060720"/>
            <a:ext cx="501988" cy="501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6" name="Google Shape;1506;p1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359156" y="4911172"/>
            <a:ext cx="501988" cy="501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7" name="Google Shape;1507;p1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75120" y="4760529"/>
            <a:ext cx="501988" cy="501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8" name="Google Shape;1508;p1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32815" y="3983793"/>
            <a:ext cx="501988" cy="501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9" name="Google Shape;1509;p1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21314" y="4122688"/>
            <a:ext cx="501988" cy="501988"/>
          </a:xfrm>
          <a:prstGeom prst="rect">
            <a:avLst/>
          </a:prstGeom>
          <a:noFill/>
          <a:ln>
            <a:noFill/>
          </a:ln>
        </p:spPr>
      </p:pic>
      <p:sp>
        <p:nvSpPr>
          <p:cNvPr id="1510" name="Google Shape;1510;p121"/>
          <p:cNvSpPr txBox="1"/>
          <p:nvPr/>
        </p:nvSpPr>
        <p:spPr>
          <a:xfrm>
            <a:off x="1411290" y="5750127"/>
            <a:ext cx="16488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F5496"/>
                </a:solidFill>
                <a:latin typeface="Montserrat"/>
                <a:ea typeface="Montserrat"/>
                <a:cs typeface="Montserrat"/>
                <a:sym typeface="Montserrat"/>
              </a:rPr>
              <a:t>População</a:t>
            </a:r>
            <a:endParaRPr b="1" i="0" sz="1800" u="none" cap="none" strike="noStrike">
              <a:solidFill>
                <a:srgbClr val="2F549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1" name="Google Shape;1511;p121"/>
          <p:cNvSpPr/>
          <p:nvPr/>
        </p:nvSpPr>
        <p:spPr>
          <a:xfrm>
            <a:off x="3944487" y="3778097"/>
            <a:ext cx="964800" cy="501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F54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2" name="Google Shape;1512;p121"/>
          <p:cNvSpPr txBox="1"/>
          <p:nvPr/>
        </p:nvSpPr>
        <p:spPr>
          <a:xfrm>
            <a:off x="2926888" y="341665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F5496"/>
                </a:solidFill>
                <a:latin typeface="Montserrat"/>
                <a:ea typeface="Montserrat"/>
                <a:cs typeface="Montserrat"/>
                <a:sym typeface="Montserrat"/>
              </a:rPr>
              <a:t>Amostras</a:t>
            </a:r>
            <a:endParaRPr b="0" i="0" sz="1400" u="none" cap="none" strike="noStrike">
              <a:solidFill>
                <a:srgbClr val="2F549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7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8" name="Google Shape;1518;p1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9" name="Google Shape;1519;p122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Intervalo de confiança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20" name="Google Shape;1520;p1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54201" y="2900100"/>
            <a:ext cx="6283600" cy="121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1" name="Google Shape;1521;p122"/>
          <p:cNvSpPr txBox="1"/>
          <p:nvPr/>
        </p:nvSpPr>
        <p:spPr>
          <a:xfrm>
            <a:off x="1586700" y="1604325"/>
            <a:ext cx="507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Para variância populacional conhecida</a:t>
            </a:r>
            <a:endParaRPr b="0" i="0" sz="18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522" name="Google Shape;1522;p122"/>
          <p:cNvGrpSpPr/>
          <p:nvPr/>
        </p:nvGrpSpPr>
        <p:grpSpPr>
          <a:xfrm>
            <a:off x="1586700" y="5619050"/>
            <a:ext cx="5077500" cy="569400"/>
            <a:chOff x="1586700" y="4950375"/>
            <a:chExt cx="5077500" cy="569400"/>
          </a:xfrm>
        </p:grpSpPr>
        <p:sp>
          <p:nvSpPr>
            <p:cNvPr id="1523" name="Google Shape;1523;p122"/>
            <p:cNvSpPr txBox="1"/>
            <p:nvPr/>
          </p:nvSpPr>
          <p:spPr>
            <a:xfrm>
              <a:off x="1586700" y="4950375"/>
              <a:ext cx="5077500" cy="56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0" i="0" lang="en-US" sz="2500" u="none" cap="none" strike="noStrike">
                  <a:solidFill>
                    <a:srgbClr val="000000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O que caralhos é              ???</a:t>
              </a:r>
              <a:endParaRPr b="0" i="0" sz="25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pic>
          <p:nvPicPr>
            <p:cNvPr id="1524" name="Google Shape;1524;p12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533425" y="5004225"/>
              <a:ext cx="825311" cy="4617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9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0" name="Google Shape;1530;p1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1" name="Google Shape;1531;p123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Intervalo de confiança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32" name="Google Shape;1532;p123"/>
          <p:cNvPicPr preferRelativeResize="0"/>
          <p:nvPr/>
        </p:nvPicPr>
        <p:blipFill rotWithShape="1">
          <a:blip r:embed="rId4">
            <a:alphaModFix/>
          </a:blip>
          <a:srcRect b="5252" l="5345" r="9125" t="6015"/>
          <a:stretch/>
        </p:blipFill>
        <p:spPr>
          <a:xfrm>
            <a:off x="2561463" y="1397350"/>
            <a:ext cx="7069071" cy="550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7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8" name="Google Shape;1538;p1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9" name="Google Shape;1539;p124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Intervalo de confiança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0" name="Google Shape;1540;p124"/>
          <p:cNvSpPr txBox="1"/>
          <p:nvPr/>
        </p:nvSpPr>
        <p:spPr>
          <a:xfrm>
            <a:off x="1586700" y="1604325"/>
            <a:ext cx="507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Para variância populacional desconhecida</a:t>
            </a:r>
            <a:endParaRPr b="0" i="0" sz="18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41" name="Google Shape;1541;p124"/>
          <p:cNvSpPr txBox="1"/>
          <p:nvPr/>
        </p:nvSpPr>
        <p:spPr>
          <a:xfrm>
            <a:off x="1586700" y="5619050"/>
            <a:ext cx="8479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 que caralhos é                       ???</a:t>
            </a:r>
            <a:endParaRPr b="0" i="0" sz="25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542" name="Google Shape;1542;p1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44313" y="2482875"/>
            <a:ext cx="7103375" cy="118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3" name="Google Shape;1543;p1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24750" y="5726750"/>
            <a:ext cx="1723613" cy="4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8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9" name="Google Shape;1549;p1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0" name="Google Shape;1550;p125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Intervalo de confiança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51" name="Google Shape;1551;p125"/>
          <p:cNvPicPr preferRelativeResize="0"/>
          <p:nvPr/>
        </p:nvPicPr>
        <p:blipFill rotWithShape="1">
          <a:blip r:embed="rId4">
            <a:alphaModFix/>
          </a:blip>
          <a:srcRect b="5210" l="5696" r="8126" t="6168"/>
          <a:stretch/>
        </p:blipFill>
        <p:spPr>
          <a:xfrm>
            <a:off x="2555975" y="1397350"/>
            <a:ext cx="7080059" cy="5460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6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7" name="Google Shape;1557;p1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8" name="Google Shape;1558;p126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Intervalo de confiança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9" name="Google Shape;1559;p126"/>
          <p:cNvSpPr txBox="1"/>
          <p:nvPr/>
        </p:nvSpPr>
        <p:spPr>
          <a:xfrm>
            <a:off x="668950" y="1639550"/>
            <a:ext cx="109050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Uma campanha de marketing gerou um ticket médio de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R$155,00</a:t>
            </a: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e um desvio padrão de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R$27,00</a:t>
            </a: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com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50 usuários</a:t>
            </a: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 Se a gente rodasse a campanha para a base toda, qual seria a expectativa de receita por pedido, considerando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95%</a:t>
            </a: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de confiança estatística?</a:t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4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5" name="Google Shape;1565;p1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6" name="Google Shape;1566;p127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Intervalo de confiança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7" name="Google Shape;1567;p127"/>
          <p:cNvSpPr txBox="1"/>
          <p:nvPr/>
        </p:nvSpPr>
        <p:spPr>
          <a:xfrm>
            <a:off x="668950" y="1639550"/>
            <a:ext cx="109050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Uma nova funcionalidade em nosso site foi testada com um grupo de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200 usuários</a:t>
            </a: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 Observou-se que o tempo médio de sessão por usuário é de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5 minutos</a:t>
            </a: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e o desvio padrão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 minuto</a:t>
            </a: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Caso a funcionalidade for implementada para todos os usuários da base, o tempo médio de sessão estará entre quais valores? Considerando 99% de confiança estatística.</a:t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2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3" name="Google Shape;1573;p1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4" name="Google Shape;1574;p128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Teste de Hipótese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5" name="Google Shape;1575;p128"/>
          <p:cNvSpPr txBox="1"/>
          <p:nvPr/>
        </p:nvSpPr>
        <p:spPr>
          <a:xfrm>
            <a:off x="668950" y="1639550"/>
            <a:ext cx="10905000" cy="37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 intervalo de confiança no traz a informação intervalar dos nossos estimadores.</a:t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Caso quiséssemos entender se por exemplo houve melhoria significativa em alguma funcionalidade de nosso site, como podemos provar isso estatisticamente?</a:t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Hoje a média de tempo que um usuário leva para fazer o cadastro é de 3 minutos. Com um redesign do fluxo de cadastro, esperamos obter um número abaixo de 2.5 minutos. Como podemos provar que alcançamos este objetivo?</a:t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0" name="Shape 1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1" name="Google Shape;1581;p1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2" name="Google Shape;1582;p129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Teste de Hipótese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3" name="Google Shape;1583;p129"/>
          <p:cNvSpPr txBox="1"/>
          <p:nvPr/>
        </p:nvSpPr>
        <p:spPr>
          <a:xfrm>
            <a:off x="668950" y="1639550"/>
            <a:ext cx="109050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Fazemos um experimento com um público de 120 usuários em cima do novo fluxo de cadastro. Obtivemos o resultados:</a:t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Média: 2.1 minutos</a:t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Desvio padrão: 0.32 minutos</a:t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Nível de confiança: 90%</a:t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Qual o resultado do experimento? Realmente melhoramos o tempo?</a:t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Atingimos o objetivo?</a:t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8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p130"/>
          <p:cNvSpPr/>
          <p:nvPr/>
        </p:nvSpPr>
        <p:spPr>
          <a:xfrm>
            <a:off x="7137295" y="3271700"/>
            <a:ext cx="3596400" cy="3208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0" name="Google Shape;1590;p130"/>
          <p:cNvSpPr txBox="1"/>
          <p:nvPr/>
        </p:nvSpPr>
        <p:spPr>
          <a:xfrm>
            <a:off x="7137295" y="3605924"/>
            <a:ext cx="359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Para variância populacional desconhecida</a:t>
            </a:r>
            <a:endParaRPr b="0" i="0" sz="1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1" name="Google Shape;1591;p130"/>
          <p:cNvSpPr/>
          <p:nvPr/>
        </p:nvSpPr>
        <p:spPr>
          <a:xfrm>
            <a:off x="1392750" y="3271700"/>
            <a:ext cx="3596400" cy="3208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2" name="Google Shape;1592;p1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3" name="Google Shape;1593;p130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Teste de Hipótese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94" name="Google Shape;1594;p1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23450" y="4910174"/>
            <a:ext cx="3135002" cy="1319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5" name="Google Shape;1595;p1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61779" y="4910189"/>
            <a:ext cx="2947433" cy="1319949"/>
          </a:xfrm>
          <a:prstGeom prst="rect">
            <a:avLst/>
          </a:prstGeom>
          <a:noFill/>
          <a:ln>
            <a:noFill/>
          </a:ln>
        </p:spPr>
      </p:pic>
      <p:sp>
        <p:nvSpPr>
          <p:cNvPr id="1596" name="Google Shape;1596;p130"/>
          <p:cNvSpPr txBox="1"/>
          <p:nvPr/>
        </p:nvSpPr>
        <p:spPr>
          <a:xfrm>
            <a:off x="1392750" y="3605924"/>
            <a:ext cx="359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Para variância populacional conhecida</a:t>
            </a:r>
            <a:endParaRPr b="0" i="0" sz="1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97" name="Google Shape;1597;p1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27963" y="1506225"/>
            <a:ext cx="2536075" cy="123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2" name="Shape 1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3" name="Google Shape;1603;p1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4" name="Google Shape;1604;p131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Teste de Hipótese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5" name="Google Shape;1605;p131"/>
          <p:cNvSpPr txBox="1"/>
          <p:nvPr/>
        </p:nvSpPr>
        <p:spPr>
          <a:xfrm>
            <a:off x="1586700" y="1754150"/>
            <a:ext cx="10436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 cálculo dessas estatística pode ser interpretado da seguinte maneira:</a:t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Qual a probabilidade de observarmos      dado que a média verdadeira é         .</a:t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06" name="Google Shape;1606;p1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9650" y="2461075"/>
            <a:ext cx="242400" cy="2837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7" name="Google Shape;1607;p1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81475" y="2461075"/>
            <a:ext cx="398367" cy="283775"/>
          </a:xfrm>
          <a:prstGeom prst="rect">
            <a:avLst/>
          </a:prstGeom>
          <a:noFill/>
          <a:ln>
            <a:noFill/>
          </a:ln>
        </p:spPr>
      </p:pic>
      <p:sp>
        <p:nvSpPr>
          <p:cNvPr id="1608" name="Google Shape;1608;p131"/>
          <p:cNvSpPr txBox="1"/>
          <p:nvPr/>
        </p:nvSpPr>
        <p:spPr>
          <a:xfrm>
            <a:off x="1586700" y="3951575"/>
            <a:ext cx="104367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Em outras palavras, qual a probabilidade de termos coletado esses dados, supondo que a distribuição de probabilidade que gera eles, é uma </a:t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09" name="Google Shape;1609;p1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163575" y="4508575"/>
            <a:ext cx="1410425" cy="39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4" name="Shape 1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5" name="Google Shape;1615;p1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6" name="Google Shape;1616;p132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Teste de Hipótese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1" name="Shape 1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2" name="Google Shape;1622;p1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3" name="Google Shape;1623;p133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Comparando médias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4" name="Google Shape;1624;p133"/>
          <p:cNvSpPr txBox="1"/>
          <p:nvPr/>
        </p:nvSpPr>
        <p:spPr>
          <a:xfrm>
            <a:off x="2133200" y="2353575"/>
            <a:ext cx="507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5" name="Google Shape;1625;p133"/>
          <p:cNvSpPr txBox="1"/>
          <p:nvPr/>
        </p:nvSpPr>
        <p:spPr>
          <a:xfrm>
            <a:off x="1586700" y="1754150"/>
            <a:ext cx="96171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Estamos em um momento de reformular todo check-in de nosso site. Foram propostas duas versões do novo check-in.</a:t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Versão A</a:t>
            </a: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 Dark-mode</a:t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Versão B</a:t>
            </a:r>
            <a:r>
              <a:rPr b="0" i="0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White-mode</a:t>
            </a:r>
            <a:endParaRPr b="0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Queremos saber qual das duas traz uma melhor experiência para o usuário. Para isso, consideraremos o tempo deste processo como critério de sucesso.</a:t>
            </a:r>
            <a:endParaRPr b="0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0" name="Shape 1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1" name="Google Shape;1631;p1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2" name="Google Shape;1632;p134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Comparando médias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3" name="Google Shape;1633;p134"/>
          <p:cNvSpPr txBox="1"/>
          <p:nvPr/>
        </p:nvSpPr>
        <p:spPr>
          <a:xfrm>
            <a:off x="2133200" y="2353575"/>
            <a:ext cx="507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4" name="Google Shape;1634;p134"/>
          <p:cNvSpPr txBox="1"/>
          <p:nvPr/>
        </p:nvSpPr>
        <p:spPr>
          <a:xfrm>
            <a:off x="748500" y="1754150"/>
            <a:ext cx="96171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Versão A</a:t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Usuários: 145</a:t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Média de tempo: 2.5min</a:t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Desvio Padrão: 0.5min</a:t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Versão B</a:t>
            </a:r>
            <a:endParaRPr b="0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Usuários: 145</a:t>
            </a:r>
            <a:endParaRPr b="0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Média de tempo: 3.1min</a:t>
            </a:r>
            <a:endParaRPr b="0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Desvio Padrão: 0.5min</a:t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9" name="Shape 1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0" name="Google Shape;1640;p1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1" name="Google Shape;1641;p135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Comparando médias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2" name="Google Shape;1642;p135"/>
          <p:cNvSpPr txBox="1"/>
          <p:nvPr/>
        </p:nvSpPr>
        <p:spPr>
          <a:xfrm>
            <a:off x="2133200" y="2353575"/>
            <a:ext cx="507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3" name="Google Shape;1643;p135"/>
          <p:cNvSpPr txBox="1"/>
          <p:nvPr/>
        </p:nvSpPr>
        <p:spPr>
          <a:xfrm>
            <a:off x="1586700" y="1754150"/>
            <a:ext cx="103488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Em uma campanha de CRM há aumento significativo de receita?</a:t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Como podemos fazer este experimento? Quais métricas devemos comparar?</a:t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8" name="Shape 1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Google Shape;1649;p136"/>
          <p:cNvSpPr txBox="1"/>
          <p:nvPr/>
        </p:nvSpPr>
        <p:spPr>
          <a:xfrm>
            <a:off x="608225" y="625850"/>
            <a:ext cx="5579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Considerações finais</a:t>
            </a:r>
            <a:endParaRPr b="0" i="0" sz="3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4" name="Shape 1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5" name="Google Shape;1655;p137"/>
          <p:cNvGrpSpPr/>
          <p:nvPr/>
        </p:nvGrpSpPr>
        <p:grpSpPr>
          <a:xfrm>
            <a:off x="986650" y="831125"/>
            <a:ext cx="6056575" cy="685800"/>
            <a:chOff x="986650" y="831125"/>
            <a:chExt cx="6056575" cy="685800"/>
          </a:xfrm>
        </p:grpSpPr>
        <p:pic>
          <p:nvPicPr>
            <p:cNvPr id="1656" name="Google Shape;1656;p1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86650" y="831125"/>
              <a:ext cx="685800" cy="68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57" name="Google Shape;1657;p137"/>
            <p:cNvSpPr txBox="1"/>
            <p:nvPr/>
          </p:nvSpPr>
          <p:spPr>
            <a:xfrm>
              <a:off x="1965725" y="943175"/>
              <a:ext cx="5077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Este é só o primeiro passo</a:t>
              </a:r>
              <a:endParaRPr b="0" i="0" sz="18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658" name="Google Shape;1658;p137"/>
          <p:cNvGrpSpPr/>
          <p:nvPr/>
        </p:nvGrpSpPr>
        <p:grpSpPr>
          <a:xfrm>
            <a:off x="986650" y="1679785"/>
            <a:ext cx="6056575" cy="685800"/>
            <a:chOff x="986650" y="1679785"/>
            <a:chExt cx="6056575" cy="685800"/>
          </a:xfrm>
        </p:grpSpPr>
        <p:pic>
          <p:nvPicPr>
            <p:cNvPr id="1659" name="Google Shape;1659;p1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86650" y="1679785"/>
              <a:ext cx="685800" cy="68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0" name="Google Shape;1660;p137"/>
            <p:cNvSpPr txBox="1"/>
            <p:nvPr/>
          </p:nvSpPr>
          <p:spPr>
            <a:xfrm>
              <a:off x="1965725" y="1791825"/>
              <a:ext cx="5077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Não há como voltar</a:t>
              </a:r>
              <a:endParaRPr b="0" i="0" sz="18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661" name="Google Shape;1661;p137"/>
          <p:cNvGrpSpPr/>
          <p:nvPr/>
        </p:nvGrpSpPr>
        <p:grpSpPr>
          <a:xfrm>
            <a:off x="986650" y="2528445"/>
            <a:ext cx="11080975" cy="685800"/>
            <a:chOff x="986650" y="2528445"/>
            <a:chExt cx="11080975" cy="685800"/>
          </a:xfrm>
        </p:grpSpPr>
        <p:pic>
          <p:nvPicPr>
            <p:cNvPr id="1662" name="Google Shape;1662;p13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86650" y="2528445"/>
              <a:ext cx="685800" cy="68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3" name="Google Shape;1663;p137"/>
            <p:cNvSpPr txBox="1"/>
            <p:nvPr/>
          </p:nvSpPr>
          <p:spPr>
            <a:xfrm>
              <a:off x="1965725" y="2640475"/>
              <a:ext cx="10101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Busque gráficos que representem de maneira suficiente e necessária</a:t>
              </a:r>
              <a:endParaRPr b="0" i="0" sz="18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664" name="Google Shape;1664;p137"/>
          <p:cNvGrpSpPr/>
          <p:nvPr/>
        </p:nvGrpSpPr>
        <p:grpSpPr>
          <a:xfrm>
            <a:off x="986650" y="3377105"/>
            <a:ext cx="9282775" cy="685800"/>
            <a:chOff x="986650" y="3377105"/>
            <a:chExt cx="9282775" cy="685800"/>
          </a:xfrm>
        </p:grpSpPr>
        <p:pic>
          <p:nvPicPr>
            <p:cNvPr id="1665" name="Google Shape;1665;p13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86650" y="3377105"/>
              <a:ext cx="685800" cy="68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6" name="Google Shape;1666;p137"/>
            <p:cNvSpPr txBox="1"/>
            <p:nvPr/>
          </p:nvSpPr>
          <p:spPr>
            <a:xfrm>
              <a:off x="1965725" y="3489125"/>
              <a:ext cx="8303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Exercite probabilidade, vá atrás de problemas e exercícios</a:t>
              </a:r>
              <a:endParaRPr b="0" i="0" sz="18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667" name="Google Shape;1667;p137"/>
          <p:cNvGrpSpPr/>
          <p:nvPr/>
        </p:nvGrpSpPr>
        <p:grpSpPr>
          <a:xfrm>
            <a:off x="986650" y="4225765"/>
            <a:ext cx="11080975" cy="685800"/>
            <a:chOff x="986650" y="4225765"/>
            <a:chExt cx="11080975" cy="685800"/>
          </a:xfrm>
        </p:grpSpPr>
        <p:pic>
          <p:nvPicPr>
            <p:cNvPr id="1668" name="Google Shape;1668;p13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986650" y="4225765"/>
              <a:ext cx="685800" cy="68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9" name="Google Shape;1669;p137"/>
            <p:cNvSpPr txBox="1"/>
            <p:nvPr/>
          </p:nvSpPr>
          <p:spPr>
            <a:xfrm>
              <a:off x="1965725" y="4337775"/>
              <a:ext cx="10101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Entenda os diferentes tipos de testes estatísticos e suas premissas</a:t>
              </a:r>
              <a:endParaRPr b="0" i="0" sz="18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670" name="Google Shape;1670;p137"/>
          <p:cNvGrpSpPr/>
          <p:nvPr/>
        </p:nvGrpSpPr>
        <p:grpSpPr>
          <a:xfrm>
            <a:off x="986650" y="5074425"/>
            <a:ext cx="11080975" cy="685800"/>
            <a:chOff x="986650" y="5074425"/>
            <a:chExt cx="11080975" cy="685800"/>
          </a:xfrm>
        </p:grpSpPr>
        <p:pic>
          <p:nvPicPr>
            <p:cNvPr id="1671" name="Google Shape;1671;p13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986650" y="5074425"/>
              <a:ext cx="685800" cy="68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2" name="Google Shape;1672;p137"/>
            <p:cNvSpPr txBox="1"/>
            <p:nvPr/>
          </p:nvSpPr>
          <p:spPr>
            <a:xfrm>
              <a:off x="1965725" y="5186425"/>
              <a:ext cx="10101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O que é erro tipo II?</a:t>
              </a:r>
              <a:endParaRPr b="0" i="0" sz="18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6" name="Shape 1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7" name="Google Shape;1677;p138"/>
          <p:cNvSpPr txBox="1"/>
          <p:nvPr/>
        </p:nvSpPr>
        <p:spPr>
          <a:xfrm>
            <a:off x="17407" y="-209439"/>
            <a:ext cx="1460700" cy="1323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425" spcFirstLastPara="1" rIns="91425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0"/>
              <a:buFont typeface="Arial"/>
              <a:buNone/>
            </a:pPr>
            <a:r>
              <a:rPr b="0" i="0" lang="en-US" sz="8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Big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8" name="Google Shape;1678;p1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577" cy="5801332"/>
          </a:xfrm>
          <a:prstGeom prst="rect">
            <a:avLst/>
          </a:prstGeom>
          <a:noFill/>
          <a:ln>
            <a:noFill/>
          </a:ln>
        </p:spPr>
      </p:pic>
      <p:sp>
        <p:nvSpPr>
          <p:cNvPr id="1679" name="Google Shape;1679;p138"/>
          <p:cNvSpPr/>
          <p:nvPr/>
        </p:nvSpPr>
        <p:spPr>
          <a:xfrm>
            <a:off x="352425" y="1937886"/>
            <a:ext cx="348645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425" spcFirstLastPara="1" rIns="91425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b="0" i="0" lang="en-US" sz="35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stories need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0" name="Google Shape;1680;p138"/>
          <p:cNvSpPr txBox="1"/>
          <p:nvPr/>
        </p:nvSpPr>
        <p:spPr>
          <a:xfrm>
            <a:off x="352425" y="590283"/>
            <a:ext cx="293385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425" spcFirstLastPara="1" rIns="91425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0"/>
              <a:buFont typeface="Arial"/>
              <a:buNone/>
            </a:pPr>
            <a:r>
              <a:rPr b="0" i="0" lang="en-US" sz="725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“Big </a:t>
            </a:r>
            <a:endParaRPr b="0" i="0" sz="7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1" name="Google Shape;1681;p138"/>
          <p:cNvSpPr/>
          <p:nvPr/>
        </p:nvSpPr>
        <p:spPr>
          <a:xfrm>
            <a:off x="1423988" y="2492058"/>
            <a:ext cx="4032568" cy="109251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425" spcFirstLastPara="1" rIns="91425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100"/>
              <a:buFont typeface="Arial"/>
              <a:buNone/>
            </a:pPr>
            <a:r>
              <a:rPr b="1" i="0" lang="en-US" sz="6050" u="none" cap="none" strike="noStrike">
                <a:solidFill>
                  <a:srgbClr val="3C78D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human</a:t>
            </a:r>
            <a:endParaRPr b="1" i="0" sz="6050" u="none" cap="none" strike="noStrike">
              <a:solidFill>
                <a:srgbClr val="3C78D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82" name="Google Shape;1682;p138"/>
          <p:cNvSpPr/>
          <p:nvPr/>
        </p:nvSpPr>
        <p:spPr>
          <a:xfrm>
            <a:off x="352434" y="3392960"/>
            <a:ext cx="293385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425" spcFirstLastPara="1" rIns="91425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b="0" i="0" lang="en-US" sz="35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stakes”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3" name="Google Shape;1683;p138"/>
          <p:cNvSpPr/>
          <p:nvPr/>
        </p:nvSpPr>
        <p:spPr>
          <a:xfrm>
            <a:off x="1424074" y="4286107"/>
            <a:ext cx="251445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425" spcFirstLastPara="1" rIns="91425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Aaron Swartz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84" name="Google Shape;1684;p138"/>
          <p:cNvGrpSpPr/>
          <p:nvPr/>
        </p:nvGrpSpPr>
        <p:grpSpPr>
          <a:xfrm>
            <a:off x="456198" y="6132566"/>
            <a:ext cx="3278947" cy="503232"/>
            <a:chOff x="360945" y="5025600"/>
            <a:chExt cx="2711105" cy="416100"/>
          </a:xfrm>
        </p:grpSpPr>
        <p:pic>
          <p:nvPicPr>
            <p:cNvPr id="1685" name="Google Shape;1685;p1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60945" y="5056650"/>
              <a:ext cx="354001" cy="3539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86" name="Google Shape;1686;p138"/>
            <p:cNvSpPr txBox="1"/>
            <p:nvPr/>
          </p:nvSpPr>
          <p:spPr>
            <a:xfrm>
              <a:off x="714950" y="5025600"/>
              <a:ext cx="2357100" cy="41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0575" lIns="110575" spcFirstLastPara="1" rIns="110575" wrap="square" tIns="11057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teo@teomewhy.org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87" name="Google Shape;1687;p138"/>
          <p:cNvGrpSpPr/>
          <p:nvPr/>
        </p:nvGrpSpPr>
        <p:grpSpPr>
          <a:xfrm>
            <a:off x="4727967" y="6163767"/>
            <a:ext cx="3977005" cy="428129"/>
            <a:chOff x="3436149" y="5025599"/>
            <a:chExt cx="3288301" cy="354001"/>
          </a:xfrm>
        </p:grpSpPr>
        <p:sp>
          <p:nvSpPr>
            <p:cNvPr id="1688" name="Google Shape;1688;p138"/>
            <p:cNvSpPr txBox="1"/>
            <p:nvPr/>
          </p:nvSpPr>
          <p:spPr>
            <a:xfrm>
              <a:off x="3790150" y="5025600"/>
              <a:ext cx="29343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675" lIns="91425" spcFirstLastPara="1" rIns="91425" wrap="square" tIns="4567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4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3C78D8"/>
                  </a:solidFill>
                  <a:uFill>
                    <a:noFill/>
                  </a:uFill>
                  <a:latin typeface="Arial"/>
                  <a:ea typeface="Arial"/>
                  <a:cs typeface="Arial"/>
                  <a:sym typeface="Arial"/>
                  <a:hlinkClick r:id="rId5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/teocalvo</a:t>
              </a:r>
              <a:endParaRPr b="0" i="0" sz="1600" u="none" cap="none" strike="noStrike">
                <a:solidFill>
                  <a:srgbClr val="3C78D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89" name="Google Shape;1689;p13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436149" y="5025599"/>
              <a:ext cx="354001" cy="3540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90" name="Google Shape;1690;p138"/>
          <p:cNvGrpSpPr/>
          <p:nvPr/>
        </p:nvGrpSpPr>
        <p:grpSpPr>
          <a:xfrm>
            <a:off x="8625915" y="6163507"/>
            <a:ext cx="3416935" cy="441360"/>
            <a:chOff x="7131625" y="5020134"/>
            <a:chExt cx="2825400" cy="364941"/>
          </a:xfrm>
        </p:grpSpPr>
        <p:sp>
          <p:nvSpPr>
            <p:cNvPr id="1691" name="Google Shape;1691;p138"/>
            <p:cNvSpPr txBox="1"/>
            <p:nvPr/>
          </p:nvSpPr>
          <p:spPr>
            <a:xfrm>
              <a:off x="7485625" y="5049900"/>
              <a:ext cx="2471400" cy="30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0575" lIns="110575" spcFirstLastPara="1" rIns="110575" wrap="square" tIns="11057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3C78D8"/>
                  </a:solidFill>
                  <a:latin typeface="Arial"/>
                  <a:ea typeface="Arial"/>
                  <a:cs typeface="Arial"/>
                  <a:sym typeface="Arial"/>
                </a:rPr>
                <a:t>/teomewhy</a:t>
              </a:r>
              <a:endParaRPr b="1" i="0" sz="1400" u="none" cap="none" strike="noStrike">
                <a:solidFill>
                  <a:srgbClr val="3C78D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92" name="Google Shape;1692;p13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131625" y="5020134"/>
              <a:ext cx="354000" cy="36494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7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8" name="Google Shape;1698;p1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78100" y="458475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9" name="Google Shape;1699;p1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16300" y="458475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0" name="Google Shape;1700;p1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56400" y="4080100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1" name="Google Shape;1701;p1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78100" y="1296675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2" name="Google Shape;1702;p13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94600" y="4080100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3" name="Google Shape;1703;p13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06550" y="390400"/>
            <a:ext cx="6858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