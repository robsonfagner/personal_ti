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</p:sldIdLst>
  <p:sldSz cy="6858000" cx="12192000"/>
  <p:notesSz cx="7103725" cy="10234275"/>
  <p:embeddedFontLst>
    <p:embeddedFont>
      <p:font typeface="Montserrat SemiBold"/>
      <p:regular r:id="rId132"/>
      <p:bold r:id="rId133"/>
      <p:italic r:id="rId134"/>
      <p:boldItalic r:id="rId135"/>
    </p:embeddedFont>
    <p:embeddedFont>
      <p:font typeface="Montserrat"/>
      <p:regular r:id="rId136"/>
      <p:bold r:id="rId137"/>
      <p:italic r:id="rId138"/>
      <p:boldItalic r:id="rId139"/>
    </p:embeddedFont>
    <p:embeddedFont>
      <p:font typeface="Montserrat Medium"/>
      <p:regular r:id="rId140"/>
      <p:bold r:id="rId141"/>
      <p:italic r:id="rId142"/>
      <p:boldItalic r:id="rId143"/>
    </p:embeddedFont>
    <p:embeddedFont>
      <p:font typeface="Helvetica Neue"/>
      <p:regular r:id="rId144"/>
      <p:bold r:id="rId145"/>
      <p:italic r:id="rId146"/>
      <p:boldItalic r:id="rId147"/>
    </p:embeddedFont>
    <p:embeddedFont>
      <p:font typeface="Arial Black"/>
      <p:regular r:id="rId1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758">
          <p15:clr>
            <a:srgbClr val="000000"/>
          </p15:clr>
        </p15:guide>
      </p15:sldGuideLst>
    </p:ext>
    <p:ext uri="GoogleSlidesCustomDataVersion2">
      <go:slidesCustomData xmlns:go="http://customooxmlschemas.google.com/" r:id="rId149" roundtripDataSignature="AMtx7mjIeFRjt9ygonBPs6j6dU3pmftD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C4D78B-840B-4CF0-B342-6041C879E8EB}">
  <a:tblStyle styleId="{48C4D78B-840B-4CF0-B342-6041C879E8E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55372FC-7AE3-4518-9567-167C29EBA21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75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customschemas.google.com/relationships/presentationmetadata" Target="metadata"/><Relationship Id="rId4" Type="http://schemas.openxmlformats.org/officeDocument/2006/relationships/tableStyles" Target="tableStyles.xml"/><Relationship Id="rId148" Type="http://schemas.openxmlformats.org/officeDocument/2006/relationships/font" Target="fonts/ArialBlack-regular.fntdata"/><Relationship Id="rId9" Type="http://schemas.openxmlformats.org/officeDocument/2006/relationships/slide" Target="slides/slide3.xml"/><Relationship Id="rId143" Type="http://schemas.openxmlformats.org/officeDocument/2006/relationships/font" Target="fonts/MontserratMedium-boldItalic.fntdata"/><Relationship Id="rId142" Type="http://schemas.openxmlformats.org/officeDocument/2006/relationships/font" Target="fonts/MontserratMedium-italic.fntdata"/><Relationship Id="rId141" Type="http://schemas.openxmlformats.org/officeDocument/2006/relationships/font" Target="fonts/MontserratMedium-bold.fntdata"/><Relationship Id="rId140" Type="http://schemas.openxmlformats.org/officeDocument/2006/relationships/font" Target="fonts/MontserratMedium-regular.fntdata"/><Relationship Id="rId5" Type="http://schemas.openxmlformats.org/officeDocument/2006/relationships/slideMaster" Target="slideMasters/slideMaster1.xml"/><Relationship Id="rId147" Type="http://schemas.openxmlformats.org/officeDocument/2006/relationships/font" Target="fonts/HelveticaNeue-boldItalic.fntdata"/><Relationship Id="rId6" Type="http://schemas.openxmlformats.org/officeDocument/2006/relationships/notesMaster" Target="notesMasters/notesMaster1.xml"/><Relationship Id="rId146" Type="http://schemas.openxmlformats.org/officeDocument/2006/relationships/font" Target="fonts/HelveticaNeue-italic.fntdata"/><Relationship Id="rId7" Type="http://schemas.openxmlformats.org/officeDocument/2006/relationships/slide" Target="slides/slide1.xml"/><Relationship Id="rId145" Type="http://schemas.openxmlformats.org/officeDocument/2006/relationships/font" Target="fonts/HelveticaNeue-bold.fntdata"/><Relationship Id="rId8" Type="http://schemas.openxmlformats.org/officeDocument/2006/relationships/slide" Target="slides/slide2.xml"/><Relationship Id="rId144" Type="http://schemas.openxmlformats.org/officeDocument/2006/relationships/font" Target="fonts/HelveticaNeue-regular.fntdata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font" Target="fonts/Montserrat-boldItalic.fntdata"/><Relationship Id="rId138" Type="http://schemas.openxmlformats.org/officeDocument/2006/relationships/font" Target="fonts/Montserrat-italic.fntdata"/><Relationship Id="rId137" Type="http://schemas.openxmlformats.org/officeDocument/2006/relationships/font" Target="fonts/Montserrat-bold.fntdata"/><Relationship Id="rId132" Type="http://schemas.openxmlformats.org/officeDocument/2006/relationships/font" Target="fonts/MontserratSemiBold-regular.fntdata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font" Target="fonts/Montserrat-regular.fntdata"/><Relationship Id="rId135" Type="http://schemas.openxmlformats.org/officeDocument/2006/relationships/font" Target="fonts/MontserratSemiBold-boldItalic.fntdata"/><Relationship Id="rId134" Type="http://schemas.openxmlformats.org/officeDocument/2006/relationships/font" Target="fonts/MontserratSemiBold-italic.fntdata"/><Relationship Id="rId133" Type="http://schemas.openxmlformats.org/officeDocument/2006/relationships/font" Target="fonts/MontserratSemiBold-bold.fntdata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f54b1f7361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g1f54b1f7361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594e2931f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1f594e2931f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1f594e2931f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f594e2931f_0_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1f594e2931f_0_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1f594e2931f_0_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594e2931f_0_1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1f594e2931f_0_1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1f594e2931f_0_1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f594e2931f_0_2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1f594e2931f_0_2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1f594e2931f_0_2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e4460966a3_0_1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1e4460966a3_0_1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1e4460966a3_0_1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e4460966a3_0_4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1e4460966a3_0_4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1e4460966a3_0_4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e61820831e_0_2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1e61820831e_0_2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e61820831e_0_5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1e61820831e_0_5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e61820831e_0_9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1e61820831e_0_9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e6ab53953b_0_20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g1e6ab53953b_0_20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e61820831e_0_13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g1e61820831e_0_13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e61820831e_0_16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g1e61820831e_0_16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e4460966a3_0_20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1e4460966a3_0_20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1e4460966a3_0_20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e61820831e_0_21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1e61820831e_0_21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1e61820831e_0_21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cc5363ff24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cc5363ff24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2cc5363ff24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e6ab53953b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1e6ab53953b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g1e6ab53953b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e6ab53953b_0_2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1e6ab53953b_0_2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1e6ab53953b_0_2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e6ab53953b_0_2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1e6ab53953b_0_2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1e6ab53953b_0_2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e6ab53953b_0_4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1e6ab53953b_0_4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1e6ab53953b_0_4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e6ab53953b_0_3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1e6ab53953b_0_3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g1e6ab53953b_0_3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e6ab53953b_0_6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1e6ab53953b_0_6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1e6ab53953b_0_6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e6ab53953b_0_7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1e6ab53953b_0_7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g1e6ab53953b_0_7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e6ab53953b_0_9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1e6ab53953b_0_9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g1e6ab53953b_0_9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e6ab53953b_0_10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1e6ab53953b_0_10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1e6ab53953b_0_10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e6ab53953b_0_11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1e6ab53953b_0_11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g1e6ab53953b_0_11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e6ab53953b_0_12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1e6ab53953b_0_12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g1e6ab53953b_0_12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e6ab53953b_0_14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1e6ab53953b_0_14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1e6ab53953b_0_14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e6ab53953b_0_15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1e6ab53953b_0_15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g1e6ab53953b_0_15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e6ab53953b_0_16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1e6ab53953b_0_16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g1e6ab53953b_0_16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e6ab53953b_0_17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1e6ab53953b_0_17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g1e6ab53953b_0_17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e6ab53953b_0_18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g1e6ab53953b_0_18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g1e6ab53953b_0_18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e6ab53953b_0_19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1e6ab53953b_0_19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1e6ab53953b_0_19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e6ab53953b_0_23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1e6ab53953b_0_23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1e6ab53953b_0_23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f54b1f7361_1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f54b1f7361_1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1f54b1f7361_1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1f54b1f7361_1_5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1f54b1f7361_1_5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1f54b1f7361_1_5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1f54b1f7361_1_15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1f54b1f7361_1_15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1f54b1f7361_1_15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1e6ab53953b_0_52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g1e6ab53953b_0_52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2" name="Google Shape;722;g1e6ab53953b_0_52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1e6b53436af_0_3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g1e6b53436af_0_3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9" name="Google Shape;739;g1e6b53436af_0_3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1e6b53436af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g1e6b53436af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9" name="Google Shape;749;g1e6b53436af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e6b53436af_0_2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7" name="Google Shape;757;g1e6b53436af_0_2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8" name="Google Shape;758;g1e6b53436af_0_2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1e6b53436af_0_5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g1e6b53436af_0_5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1" name="Google Shape;771;g1e6b53436af_0_5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1e6b53436af_0_7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3" name="Google Shape;783;g1e6b53436af_0_7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4" name="Google Shape;784;g1e6b53436af_0_7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1e6b53436af_0_8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g1e6b53436af_0_8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4" name="Google Shape;794;g1e6b53436af_0_8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1e6b53436af_0_10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g1e6b53436af_0_10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4" name="Google Shape;804;g1e6b53436af_0_106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1e6b53436af_0_11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g1e6b53436af_0_11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g1e6b53436af_0_116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1e6b53436af_0_16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g1e6b53436af_0_16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8" name="Google Shape;818;g1e6b53436af_0_166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1e6e955fa83_0_1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g1e6e955fa83_0_1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2" name="Google Shape;832;g1e6e955fa83_0_1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1e6b53436af_0_12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g1e6b53436af_0_12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9" name="Google Shape;849;g1e6b53436af_0_12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1e6b53436af_0_14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g1e6b53436af_0_14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8" name="Google Shape;868;g1e6b53436af_0_14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e6e955fa83_0_3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g1e6e955fa83_0_3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6" name="Google Shape;876;g1e6e955fa83_0_3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1e6e955fa83_0_4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g1e6e955fa83_0_4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9" name="Google Shape;889;g1e6e955fa83_0_4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1e6e955fa83_0_6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g1e6e955fa83_0_6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7" name="Google Shape;897;g1e6e955fa83_0_6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1e6f83c462a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g1e6f83c462a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6" name="Google Shape;916;g1e6f83c462a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cc5363ff24_0_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" name="Google Shape;929;g2cc5363ff24_0_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0" name="Google Shape;930;g2cc5363ff24_0_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1e6f83c462a_0_2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g1e6f83c462a_0_2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9" name="Google Shape;939;g1e6f83c462a_0_2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1e6f83c462a_0_3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6" name="Google Shape;946;g1e6f83c462a_0_3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7" name="Google Shape;947;g1e6f83c462a_0_3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1e6f83c462a_0_4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5" name="Google Shape;955;g1e6f83c462a_0_4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6" name="Google Shape;956;g1e6f83c462a_0_4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1e6f83c462a_0_4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4" name="Google Shape;964;g1e6f83c462a_0_4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5" name="Google Shape;965;g1e6f83c462a_0_4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1e6f83c462a_0_5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g1e6f83c462a_0_5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g1e6f83c462a_0_5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1e6f83c462a_0_6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g1e6f83c462a_0_6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4" name="Google Shape;984;g1e6f83c462a_0_6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1e6f83c462a_0_8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1" name="Google Shape;1001;g1e6f83c462a_0_8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2" name="Google Shape;1002;g1e6f83c462a_0_8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e6f83c462a_0_10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" name="Google Shape;1009;g1e6f83c462a_0_10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0" name="Google Shape;1010;g1e6f83c462a_0_10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1e6f83c462a_0_11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g1e6f83c462a_0_11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9" name="Google Shape;1019;g1e6f83c462a_0_11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1e6f83c462a_0_12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6" name="Google Shape;1026;g1e6f83c462a_0_12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7" name="Google Shape;1027;g1e6f83c462a_0_12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1e6f83c462a_0_13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8" name="Google Shape;1038;g1e6f83c462a_0_13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9" name="Google Shape;1039;g1e6f83c462a_0_136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1e6f83c462a_0_16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0" name="Google Shape;1050;g1e6f83c462a_0_16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1" name="Google Shape;1051;g1e6f83c462a_0_16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1e6f83c462a_0_17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g1e6f83c462a_0_17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9" name="Google Shape;1059;g1e6f83c462a_0_17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1e6f83c462a_0_18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7" name="Google Shape;1067;g1e6f83c462a_0_18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8" name="Google Shape;1068;g1e6f83c462a_0_18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2cc5363ff24_0_1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5" name="Google Shape;1075;g2cc5363ff24_0_1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6" name="Google Shape;1076;g2cc5363ff24_0_1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1e6f83c462a_0_18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4" name="Google Shape;1084;g1e6f83c462a_0_18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5" name="Google Shape;1085;g1e6f83c462a_0_18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1e6f83c462a_0_19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1" name="Google Shape;1091;g1e6f83c462a_0_19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2" name="Google Shape;1092;g1e6f83c462a_0_19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7eb944c4c9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0" name="Google Shape;1100;g27eb944c4c9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1" name="Google Shape;1101;g27eb944c4c9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7eb944c4c9_0_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9" name="Google Shape;1109;g27eb944c4c9_0_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0" name="Google Shape;1110;g27eb944c4c9_0_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27eb944c4c9_0_1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9" name="Google Shape;1119;g27eb944c4c9_0_1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0" name="Google Shape;1120;g27eb944c4c9_0_1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1e7b04da0fe_4_1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6" name="Google Shape;1136;g1e7b04da0fe_4_1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7" name="Google Shape;1137;g1e7b04da0fe_4_1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1e7b04da0fe_4_5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1" name="Google Shape;1161;g1e7b04da0fe_4_5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2" name="Google Shape;1162;g1e7b04da0fe_4_5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1e7b04da0fe_4_5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0" name="Google Shape;1170;g1e7b04da0fe_4_5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1" name="Google Shape;1171;g1e7b04da0fe_4_5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1e7b04da0fe_4_7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1" name="Google Shape;1181;g1e7b04da0fe_4_7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2" name="Google Shape;1182;g1e7b04da0fe_4_7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1e7b04da0fe_4_8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9" name="Google Shape;1189;g1e7b04da0fe_4_8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0" name="Google Shape;1190;g1e7b04da0fe_4_8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1e7b04da0fe_4_9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1" name="Google Shape;1201;g1e7b04da0fe_4_9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2" name="Google Shape;1202;g1e7b04da0fe_4_9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1e7b04da0fe_4_10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9" name="Google Shape;1209;g1e7b04da0fe_4_10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0" name="Google Shape;1210;g1e7b04da0fe_4_10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1e7b04da0fe_4_11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9" name="Google Shape;1219;g1e7b04da0fe_4_11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0" name="Google Shape;1220;g1e7b04da0fe_4_11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1e7b2ed87f4_1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7" name="Google Shape;1227;g1e7b2ed87f4_1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8" name="Google Shape;1228;g1e7b2ed87f4_1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1e7b2ed87f4_2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5" name="Google Shape;1235;g1e7b2ed87f4_2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6" name="Google Shape;1236;g1e7b2ed87f4_2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1e7b2ed87f4_2_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3" name="Google Shape;1243;g1e7b2ed87f4_2_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4" name="Google Shape;1244;g1e7b2ed87f4_2_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1e7b2ed87f4_2_1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1" name="Google Shape;1251;g1e7b2ed87f4_2_1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2" name="Google Shape;1252;g1e7b2ed87f4_2_1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1e7b2ed87f4_2_3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g1e7b2ed87f4_2_3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5" name="Google Shape;1265;g1e7b2ed87f4_2_3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1e7b2ed87f4_2_4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4" name="Google Shape;1274;g1e7b2ed87f4_2_4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5" name="Google Shape;1275;g1e7b2ed87f4_2_46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27f5496aa14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3" name="Google Shape;1283;g27f5496aa14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4" name="Google Shape;1284;g27f5496aa14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7f5496aa14_0_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2" name="Google Shape;1292;g27f5496aa14_0_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3" name="Google Shape;1293;g27f5496aa14_0_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27f5496aa14_0_1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1" name="Google Shape;1301;g27f5496aa14_0_1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2" name="Google Shape;1302;g27f5496aa14_0_1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27f7d314d46_0_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0" name="Google Shape;1310;g27f7d314d46_0_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1" name="Google Shape;1311;g27f7d314d46_0_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27f7d314d46_0_1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8" name="Google Shape;1318;g27f7d314d46_0_1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9" name="Google Shape;1319;g27f7d314d46_0_1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27f7d314d46_0_2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6" name="Google Shape;1326;g27f7d314d46_0_2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7" name="Google Shape;1327;g27f7d314d46_0_2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27f7d314d46_0_3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4" name="Google Shape;1334;g27f7d314d46_0_3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5" name="Google Shape;1335;g27f7d314d46_0_3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27f7d314d46_0_4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2" name="Google Shape;1342;g27f7d314d46_0_4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3" name="Google Shape;1343;g27f7d314d46_0_4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27f7d314d46_0_5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0" name="Google Shape;1350;g27f7d314d46_0_5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1" name="Google Shape;1351;g27f7d314d46_0_5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27f7d314d46_0_5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8" name="Google Shape;1358;g27f7d314d46_0_5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9" name="Google Shape;1359;g27f7d314d46_0_5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7f7d314d46_0_6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6" name="Google Shape;1366;g27f7d314d46_0_6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7" name="Google Shape;1367;g27f7d314d46_0_6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27f7d314d46_0_7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4" name="Google Shape;1374;g27f7d314d46_0_7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5" name="Google Shape;1375;g27f7d314d46_0_7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1e7bd84b71a_0_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8" name="Google Shape;1388;g1e7bd84b71a_0_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9" name="Google Shape;1389;g1e7bd84b71a_0_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1e7bd84b71a_0_9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6" name="Google Shape;1396;g1e7bd84b71a_0_9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7" name="Google Shape;1397;g1e7bd84b71a_0_9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1e7bd84b71a_0_13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1" name="Google Shape;1441;g1e7bd84b71a_0_13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2" name="Google Shape;1442;g1e7bd84b71a_0_13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1e7bd84b71a_0_21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8" name="Google Shape;1478;g1e7bd84b71a_0_21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9" name="Google Shape;1479;g1e7bd84b71a_0_216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1e7bd84b71a_0_25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5" name="Google Shape;1515;g1e7bd84b71a_0_25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6" name="Google Shape;1516;g1e7bd84b71a_0_25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1e7bd84b71a_0_29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7" name="Google Shape;1527;g1e7bd84b71a_0_29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8" name="Google Shape;1528;g1e7bd84b71a_0_29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1e7bd84b71a_0_31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5" name="Google Shape;1535;g1e7bd84b71a_0_31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6" name="Google Shape;1536;g1e7bd84b71a_0_31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1e7bd84b71a_0_32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6" name="Google Shape;1546;g1e7bd84b71a_0_32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7" name="Google Shape;1547;g1e7bd84b71a_0_32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1e7bd84b71a_0_33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4" name="Google Shape;1554;g1e7bd84b71a_0_33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5" name="Google Shape;1555;g1e7bd84b71a_0_33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1e7bd84b71a_0_34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2" name="Google Shape;1562;g1e7bd84b71a_0_34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3" name="Google Shape;1563;g1e7bd84b71a_0_34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1e7bd84b71a_0_35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0" name="Google Shape;1570;g1e7bd84b71a_0_35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1" name="Google Shape;1571;g1e7bd84b71a_0_35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1e7bd84b71a_0_36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8" name="Google Shape;1578;g1e7bd84b71a_0_36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9" name="Google Shape;1579;g1e7bd84b71a_0_36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1e7bd84b71a_0_368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6" name="Google Shape;1586;g1e7bd84b71a_0_36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7" name="Google Shape;1587;g1e7bd84b71a_0_368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1e7bd84b71a_0_38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0" name="Google Shape;1600;g1e7bd84b71a_0_38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1" name="Google Shape;1601;g1e7bd84b71a_0_38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1e7bd84b71a_0_40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2" name="Google Shape;1612;g1e7bd84b71a_0_40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3" name="Google Shape;1613;g1e7bd84b71a_0_40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1e7bd84b71a_0_41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9" name="Google Shape;1619;g1e7bd84b71a_0_41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0" name="Google Shape;1620;g1e7bd84b71a_0_41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g1e7bd84b71a_0_419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8" name="Google Shape;1628;g1e7bd84b71a_0_41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9" name="Google Shape;1629;g1e7bd84b71a_0_419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1e7bd84b71a_0_43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7" name="Google Shape;1637;g1e7bd84b71a_0_43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8" name="Google Shape;1638;g1e7bd84b71a_0_43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1e7bd84b71a_0_443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6" name="Google Shape;1646;g1e7bd84b71a_0_44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7" name="Google Shape;1647;g1e7bd84b71a_0_443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1e7bd84b71a_0_456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2" name="Google Shape;1652;g1e7bd84b71a_0_456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3" name="Google Shape;1653;g1e7bd84b71a_0_456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imSun"/>
              <a:buNone/>
            </a:pPr>
            <a:r>
              <a:t/>
            </a:r>
            <a:endParaRPr b="0" i="0" sz="22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5" name="Google Shape;167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1e4460966a3_0_2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5" name="Google Shape;1695;g1e4460966a3_0_2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6" name="Google Shape;1696;g1e4460966a3_0_2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mw-slides-bg-Artboard 1" id="13" name="Google Shape;13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525" y="-5715"/>
            <a:ext cx="12211050" cy="6868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 Layout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15" name="Google Shape;15;g1e4460966a3_0_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780" y="-9390"/>
            <a:ext cx="12227563" cy="687678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17" name="Google Shape;17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780" y="-9390"/>
            <a:ext cx="12227563" cy="687678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  <p:pic>
        <p:nvPicPr>
          <p:cNvPr descr="teomewhy-logo-interrogacao-v01_Prancheta 1" id="18" name="Google Shape;1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130" y="6285865"/>
            <a:ext cx="686435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576" y="6171609"/>
            <a:ext cx="686425" cy="68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mw-slides-bg-v2-Artboard 2 copy" id="21" name="Google Shape;2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4130" y="-12065"/>
            <a:ext cx="12240895" cy="6882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omewhy-logo-interrogacao-v01_Prancheta 1" id="22" name="Google Shape;2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130" y="6285865"/>
            <a:ext cx="686435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576" y="6171609"/>
            <a:ext cx="686425" cy="68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mw-slides-bg-v2-Artboard 2" id="25" name="Google Shape;2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3655" y="-17145"/>
            <a:ext cx="12259310" cy="6892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omewhy-logo-interrogacao-v01_Prancheta 1" id="26" name="Google Shape;2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130" y="6285865"/>
            <a:ext cx="686435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576" y="6171609"/>
            <a:ext cx="686425" cy="68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29" name="Google Shape;29;p58"/>
          <p:cNvPicPr preferRelativeResize="0"/>
          <p:nvPr/>
        </p:nvPicPr>
        <p:blipFill rotWithShape="1">
          <a:blip r:embed="rId2">
            <a:alphaModFix/>
          </a:blip>
          <a:srcRect b="0" l="49418" r="0" t="42986"/>
          <a:stretch/>
        </p:blipFill>
        <p:spPr>
          <a:xfrm>
            <a:off x="-26670" y="-10160"/>
            <a:ext cx="12244705" cy="6878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31" name="Google Shape;31;p61"/>
          <p:cNvPicPr preferRelativeResize="0"/>
          <p:nvPr/>
        </p:nvPicPr>
        <p:blipFill rotWithShape="1">
          <a:blip r:embed="rId2">
            <a:alphaModFix/>
          </a:blip>
          <a:srcRect b="17299" l="0" r="37672" t="19023"/>
          <a:stretch/>
        </p:blipFill>
        <p:spPr>
          <a:xfrm>
            <a:off x="-10160" y="-78740"/>
            <a:ext cx="12202160" cy="7012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ítulo e conteúdo">
  <p:cSld name="2_Título e conteúdo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T-capa-canal-fundo-v02" id="35" name="Google Shape;35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780" y="-10160"/>
            <a:ext cx="12227560" cy="6878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4"/>
          <p:cNvSpPr txBox="1"/>
          <p:nvPr>
            <p:ph type="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38" name="Google Shape;38;p64"/>
          <p:cNvSpPr txBox="1"/>
          <p:nvPr>
            <p:ph idx="1" type="body"/>
          </p:nvPr>
        </p:nvSpPr>
        <p:spPr>
          <a:xfrm>
            <a:off x="1524000" y="3602037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5136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2400"/>
            </a:lvl5pPr>
            <a:lvl6pPr indent="-317500" lvl="5" marL="27432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3852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" name="Google Shape;39;p64"/>
          <p:cNvSpPr txBox="1"/>
          <p:nvPr>
            <p:ph idx="12" type="sldNum"/>
          </p:nvPr>
        </p:nvSpPr>
        <p:spPr>
          <a:xfrm>
            <a:off x="11089817" y="6404292"/>
            <a:ext cx="264000" cy="2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OBJEC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e455315dbc_0_169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1e455315dbc_0_169"/>
          <p:cNvSpPr txBox="1"/>
          <p:nvPr>
            <p:ph idx="1" type="body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3" name="Google Shape;43;g1e455315dbc_0_169"/>
          <p:cNvSpPr txBox="1"/>
          <p:nvPr>
            <p:ph idx="10" type="dt"/>
          </p:nvPr>
        </p:nvSpPr>
        <p:spPr>
          <a:xfrm>
            <a:off x="8677925" y="5883274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g1e455315dbc_0_169"/>
          <p:cNvSpPr txBox="1"/>
          <p:nvPr>
            <p:ph idx="11" type="ftr"/>
          </p:nvPr>
        </p:nvSpPr>
        <p:spPr>
          <a:xfrm>
            <a:off x="1484310" y="5883274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g1e455315dbc_0_169"/>
          <p:cNvSpPr txBox="1"/>
          <p:nvPr>
            <p:ph idx="12" type="sldNum"/>
          </p:nvPr>
        </p:nvSpPr>
        <p:spPr>
          <a:xfrm>
            <a:off x="9930363" y="5883274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">
  <p:cSld name="OBJECT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e455315dbc_0_350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1e455315dbc_0_350"/>
          <p:cNvSpPr txBox="1"/>
          <p:nvPr>
            <p:ph idx="1" type="body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9" name="Google Shape;49;g1e455315dbc_0_350"/>
          <p:cNvSpPr txBox="1"/>
          <p:nvPr>
            <p:ph idx="10" type="dt"/>
          </p:nvPr>
        </p:nvSpPr>
        <p:spPr>
          <a:xfrm>
            <a:off x="8677925" y="5883274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g1e455315dbc_0_350"/>
          <p:cNvSpPr txBox="1"/>
          <p:nvPr>
            <p:ph idx="11" type="ftr"/>
          </p:nvPr>
        </p:nvSpPr>
        <p:spPr>
          <a:xfrm>
            <a:off x="1484310" y="5883274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1e455315dbc_0_350"/>
          <p:cNvSpPr txBox="1"/>
          <p:nvPr>
            <p:ph idx="12" type="sldNum"/>
          </p:nvPr>
        </p:nvSpPr>
        <p:spPr>
          <a:xfrm>
            <a:off x="9930363" y="5883274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  <a:defRPr b="0" i="0" sz="4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25.png"/><Relationship Id="rId13" Type="http://schemas.openxmlformats.org/officeDocument/2006/relationships/image" Target="../media/image22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7.png"/><Relationship Id="rId4" Type="http://schemas.openxmlformats.org/officeDocument/2006/relationships/hyperlink" Target="https://streamelements.com/teomewhy/stor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7.png"/><Relationship Id="rId4" Type="http://schemas.openxmlformats.org/officeDocument/2006/relationships/hyperlink" Target="https://apoia.se/teomewhy" TargetMode="External"/><Relationship Id="rId5" Type="http://schemas.openxmlformats.org/officeDocument/2006/relationships/hyperlink" Target="https://livepix.gg/teomewhy" TargetMode="External"/><Relationship Id="rId6" Type="http://schemas.openxmlformats.org/officeDocument/2006/relationships/hyperlink" Target="https://twitch.tv/teomewhy" TargetMode="External"/><Relationship Id="rId7" Type="http://schemas.openxmlformats.org/officeDocument/2006/relationships/hyperlink" Target="https://www.youtube.com/@teomewhy" TargetMode="External"/><Relationship Id="rId8" Type="http://schemas.openxmlformats.org/officeDocument/2006/relationships/hyperlink" Target="https://github.com/sponsors/TeoMeWhy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Relationship Id="rId7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Relationship Id="rId7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Relationship Id="rId7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3.png"/><Relationship Id="rId4" Type="http://schemas.openxmlformats.org/officeDocument/2006/relationships/hyperlink" Target="https://docs.google.com/spreadsheets/d/1X0A2BZnjLF3AXVI5iikiPuvKjSUiDSgd8S-geB9MjCA/edit?usp=sharing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2.png"/><Relationship Id="rId4" Type="http://schemas.openxmlformats.org/officeDocument/2006/relationships/image" Target="../media/image7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9.png"/><Relationship Id="rId4" Type="http://schemas.openxmlformats.org/officeDocument/2006/relationships/image" Target="../media/image8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2.png"/><Relationship Id="rId4" Type="http://schemas.openxmlformats.org/officeDocument/2006/relationships/image" Target="../media/image9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2.png"/><Relationship Id="rId4" Type="http://schemas.openxmlformats.org/officeDocument/2006/relationships/image" Target="../media/image89.png"/><Relationship Id="rId5" Type="http://schemas.openxmlformats.org/officeDocument/2006/relationships/image" Target="../media/image9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2.png"/><Relationship Id="rId4" Type="http://schemas.openxmlformats.org/officeDocument/2006/relationships/image" Target="../media/image10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2.png"/><Relationship Id="rId4" Type="http://schemas.openxmlformats.org/officeDocument/2006/relationships/image" Target="../media/image89.png"/><Relationship Id="rId5" Type="http://schemas.openxmlformats.org/officeDocument/2006/relationships/image" Target="../media/image94.png"/><Relationship Id="rId6" Type="http://schemas.openxmlformats.org/officeDocument/2006/relationships/image" Target="../media/image10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2.png"/><Relationship Id="rId4" Type="http://schemas.openxmlformats.org/officeDocument/2006/relationships/image" Target="../media/image1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2.png"/><Relationship Id="rId4" Type="http://schemas.openxmlformats.org/officeDocument/2006/relationships/image" Target="../media/image89.png"/><Relationship Id="rId5" Type="http://schemas.openxmlformats.org/officeDocument/2006/relationships/image" Target="../media/image94.png"/><Relationship Id="rId6" Type="http://schemas.openxmlformats.org/officeDocument/2006/relationships/image" Target="../media/image104.png"/><Relationship Id="rId7" Type="http://schemas.openxmlformats.org/officeDocument/2006/relationships/image" Target="../media/image1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2.png"/><Relationship Id="rId4" Type="http://schemas.openxmlformats.org/officeDocument/2006/relationships/image" Target="../media/image89.png"/><Relationship Id="rId5" Type="http://schemas.openxmlformats.org/officeDocument/2006/relationships/image" Target="../media/image94.png"/><Relationship Id="rId6" Type="http://schemas.openxmlformats.org/officeDocument/2006/relationships/image" Target="../media/image104.png"/><Relationship Id="rId7" Type="http://schemas.openxmlformats.org/officeDocument/2006/relationships/image" Target="../media/image1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2.png"/><Relationship Id="rId4" Type="http://schemas.openxmlformats.org/officeDocument/2006/relationships/hyperlink" Target="https://docs.google.com/spreadsheets/d/1X0A2BZnjLF3AXVI5iikiPuvKjSUiDSgd8S-geB9MjCA/edit?usp=sharing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2.png"/><Relationship Id="rId4" Type="http://schemas.openxmlformats.org/officeDocument/2006/relationships/image" Target="../media/image132.png"/><Relationship Id="rId5" Type="http://schemas.openxmlformats.org/officeDocument/2006/relationships/image" Target="../media/image120.png"/><Relationship Id="rId6" Type="http://schemas.openxmlformats.org/officeDocument/2006/relationships/image" Target="../media/image1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2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2.png"/><Relationship Id="rId4" Type="http://schemas.openxmlformats.org/officeDocument/2006/relationships/image" Target="../media/image122.png"/><Relationship Id="rId5" Type="http://schemas.openxmlformats.org/officeDocument/2006/relationships/image" Target="../media/image137.png"/><Relationship Id="rId6" Type="http://schemas.openxmlformats.org/officeDocument/2006/relationships/image" Target="../media/image1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2.png"/><Relationship Id="rId4" Type="http://schemas.openxmlformats.org/officeDocument/2006/relationships/image" Target="../media/image118.png"/><Relationship Id="rId5" Type="http://schemas.openxmlformats.org/officeDocument/2006/relationships/image" Target="../media/image135.png"/><Relationship Id="rId6" Type="http://schemas.openxmlformats.org/officeDocument/2006/relationships/image" Target="../media/image123.png"/><Relationship Id="rId7" Type="http://schemas.openxmlformats.org/officeDocument/2006/relationships/image" Target="../media/image1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2.png"/><Relationship Id="rId4" Type="http://schemas.openxmlformats.org/officeDocument/2006/relationships/image" Target="../media/image118.png"/><Relationship Id="rId5" Type="http://schemas.openxmlformats.org/officeDocument/2006/relationships/image" Target="../media/image141.png"/><Relationship Id="rId6" Type="http://schemas.openxmlformats.org/officeDocument/2006/relationships/image" Target="../media/image1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2.png"/><Relationship Id="rId4" Type="http://schemas.openxmlformats.org/officeDocument/2006/relationships/image" Target="../media/image1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2.png"/><Relationship Id="rId4" Type="http://schemas.openxmlformats.org/officeDocument/2006/relationships/image" Target="../media/image1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2.png"/><Relationship Id="rId4" Type="http://schemas.openxmlformats.org/officeDocument/2006/relationships/image" Target="../media/image1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2.png"/><Relationship Id="rId4" Type="http://schemas.openxmlformats.org/officeDocument/2006/relationships/image" Target="../media/image1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2.png"/><Relationship Id="rId4" Type="http://schemas.openxmlformats.org/officeDocument/2006/relationships/image" Target="../media/image140.png"/><Relationship Id="rId5" Type="http://schemas.openxmlformats.org/officeDocument/2006/relationships/image" Target="../media/image139.png"/><Relationship Id="rId6" Type="http://schemas.openxmlformats.org/officeDocument/2006/relationships/image" Target="../media/image150.png"/><Relationship Id="rId7" Type="http://schemas.openxmlformats.org/officeDocument/2006/relationships/image" Target="../media/image14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2.png"/><Relationship Id="rId4" Type="http://schemas.openxmlformats.org/officeDocument/2006/relationships/image" Target="../media/image139.png"/><Relationship Id="rId5" Type="http://schemas.openxmlformats.org/officeDocument/2006/relationships/image" Target="../media/image15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2.png"/><Relationship Id="rId4" Type="http://schemas.openxmlformats.org/officeDocument/2006/relationships/image" Target="../media/image130.png"/><Relationship Id="rId5" Type="http://schemas.openxmlformats.org/officeDocument/2006/relationships/image" Target="../media/image16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2.png"/><Relationship Id="rId4" Type="http://schemas.openxmlformats.org/officeDocument/2006/relationships/image" Target="../media/image130.png"/><Relationship Id="rId5" Type="http://schemas.openxmlformats.org/officeDocument/2006/relationships/image" Target="../media/image16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2.png"/><Relationship Id="rId4" Type="http://schemas.openxmlformats.org/officeDocument/2006/relationships/image" Target="../media/image130.png"/><Relationship Id="rId5" Type="http://schemas.openxmlformats.org/officeDocument/2006/relationships/image" Target="../media/image153.png"/><Relationship Id="rId6" Type="http://schemas.openxmlformats.org/officeDocument/2006/relationships/image" Target="../media/image15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2.png"/><Relationship Id="rId4" Type="http://schemas.openxmlformats.org/officeDocument/2006/relationships/image" Target="../media/image151.png"/><Relationship Id="rId5" Type="http://schemas.openxmlformats.org/officeDocument/2006/relationships/image" Target="../media/image14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2.png"/><Relationship Id="rId4" Type="http://schemas.openxmlformats.org/officeDocument/2006/relationships/image" Target="../media/image146.png"/><Relationship Id="rId5" Type="http://schemas.openxmlformats.org/officeDocument/2006/relationships/image" Target="../media/image16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://drive.google.com/file/d/13d2zvj82V7dXfbOlPdmzyAuPLE9wZlxa/view" TargetMode="External"/><Relationship Id="rId4" Type="http://schemas.openxmlformats.org/officeDocument/2006/relationships/image" Target="../media/image14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2.png"/><Relationship Id="rId4" Type="http://schemas.openxmlformats.org/officeDocument/2006/relationships/image" Target="../media/image157.png"/><Relationship Id="rId5" Type="http://schemas.openxmlformats.org/officeDocument/2006/relationships/image" Target="../media/image16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44.png"/><Relationship Id="rId4" Type="http://schemas.openxmlformats.org/officeDocument/2006/relationships/image" Target="../media/image82.png"/><Relationship Id="rId5" Type="http://schemas.openxmlformats.org/officeDocument/2006/relationships/image" Target="../media/image15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2.png"/><Relationship Id="rId4" Type="http://schemas.openxmlformats.org/officeDocument/2006/relationships/image" Target="../media/image156.png"/><Relationship Id="rId5" Type="http://schemas.openxmlformats.org/officeDocument/2006/relationships/image" Target="../media/image14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2.png"/><Relationship Id="rId4" Type="http://schemas.openxmlformats.org/officeDocument/2006/relationships/image" Target="../media/image152.png"/><Relationship Id="rId5" Type="http://schemas.openxmlformats.org/officeDocument/2006/relationships/image" Target="../media/image155.png"/><Relationship Id="rId6" Type="http://schemas.openxmlformats.org/officeDocument/2006/relationships/image" Target="../media/image16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2.png"/><Relationship Id="rId4" Type="http://schemas.openxmlformats.org/officeDocument/2006/relationships/image" Target="../media/image16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2.png"/><Relationship Id="rId4" Type="http://schemas.openxmlformats.org/officeDocument/2006/relationships/image" Target="../media/image163.png"/><Relationship Id="rId5" Type="http://schemas.openxmlformats.org/officeDocument/2006/relationships/image" Target="../media/image17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2.png"/><Relationship Id="rId4" Type="http://schemas.openxmlformats.org/officeDocument/2006/relationships/image" Target="../media/image170.png"/><Relationship Id="rId5" Type="http://schemas.openxmlformats.org/officeDocument/2006/relationships/image" Target="../media/image14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2.png"/><Relationship Id="rId4" Type="http://schemas.openxmlformats.org/officeDocument/2006/relationships/hyperlink" Target="https://docs.google.com/spreadsheets/d/1X0A2BZnjLF3AXVI5iikiPuvKjSUiDSgd8S-geB9MjCA/edit#gid=544782226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3.png"/><Relationship Id="rId4" Type="http://schemas.openxmlformats.org/officeDocument/2006/relationships/image" Target="../media/image16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3.png"/><Relationship Id="rId4" Type="http://schemas.openxmlformats.org/officeDocument/2006/relationships/image" Target="../media/image16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3.png"/><Relationship Id="rId4" Type="http://schemas.openxmlformats.org/officeDocument/2006/relationships/image" Target="../media/image17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3.png"/><Relationship Id="rId4" Type="http://schemas.openxmlformats.org/officeDocument/2006/relationships/image" Target="../media/image185.png"/><Relationship Id="rId5" Type="http://schemas.openxmlformats.org/officeDocument/2006/relationships/image" Target="../media/image16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3.png"/><Relationship Id="rId4" Type="http://schemas.openxmlformats.org/officeDocument/2006/relationships/image" Target="../media/image18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3.png"/><Relationship Id="rId4" Type="http://schemas.openxmlformats.org/officeDocument/2006/relationships/image" Target="../media/image17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3.png"/><Relationship Id="rId4" Type="http://schemas.openxmlformats.org/officeDocument/2006/relationships/image" Target="../media/image173.png"/><Relationship Id="rId5" Type="http://schemas.openxmlformats.org/officeDocument/2006/relationships/image" Target="../media/image18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3.png"/><Relationship Id="rId4" Type="http://schemas.openxmlformats.org/officeDocument/2006/relationships/image" Target="../media/image175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3.png"/><Relationship Id="rId4" Type="http://schemas.openxmlformats.org/officeDocument/2006/relationships/image" Target="../media/image18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3.png"/><Relationship Id="rId4" Type="http://schemas.openxmlformats.org/officeDocument/2006/relationships/image" Target="../media/image18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3.png"/><Relationship Id="rId4" Type="http://schemas.openxmlformats.org/officeDocument/2006/relationships/image" Target="../media/image182.png"/><Relationship Id="rId5" Type="http://schemas.openxmlformats.org/officeDocument/2006/relationships/image" Target="../media/image20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3.png"/><Relationship Id="rId4" Type="http://schemas.openxmlformats.org/officeDocument/2006/relationships/image" Target="../media/image17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2.xml"/><Relationship Id="rId3" Type="http://schemas.openxmlformats.org/officeDocument/2006/relationships/hyperlink" Target="https://docs.google.com/spreadsheets/d/1X0A2BZnjLF3AXVI5iikiPuvKjSUiDSgd8S-geB9MjCA/edit#gid=544782226" TargetMode="External"/><Relationship Id="rId4" Type="http://schemas.openxmlformats.org/officeDocument/2006/relationships/image" Target="../media/image7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89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89.png"/><Relationship Id="rId4" Type="http://schemas.openxmlformats.org/officeDocument/2006/relationships/image" Target="../media/image176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89.png"/><Relationship Id="rId4" Type="http://schemas.openxmlformats.org/officeDocument/2006/relationships/image" Target="../media/image187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89.png"/><Relationship Id="rId4" Type="http://schemas.openxmlformats.org/officeDocument/2006/relationships/image" Target="../media/image203.png"/><Relationship Id="rId5" Type="http://schemas.openxmlformats.org/officeDocument/2006/relationships/image" Target="../media/image18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79.png"/><Relationship Id="rId4" Type="http://schemas.openxmlformats.org/officeDocument/2006/relationships/image" Target="../media/image194.png"/><Relationship Id="rId5" Type="http://schemas.openxmlformats.org/officeDocument/2006/relationships/image" Target="../media/image187.png"/><Relationship Id="rId6" Type="http://schemas.openxmlformats.org/officeDocument/2006/relationships/image" Target="../media/image189.png"/><Relationship Id="rId7" Type="http://schemas.openxmlformats.org/officeDocument/2006/relationships/image" Target="../media/image191.png"/><Relationship Id="rId8" Type="http://schemas.openxmlformats.org/officeDocument/2006/relationships/image" Target="../media/image192.png"/></Relationships>
</file>

<file path=ppt/slides/_rels/slide7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7.png"/><Relationship Id="rId10" Type="http://schemas.openxmlformats.org/officeDocument/2006/relationships/image" Target="../media/image187.png"/><Relationship Id="rId12" Type="http://schemas.openxmlformats.org/officeDocument/2006/relationships/image" Target="../media/image22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89.png"/><Relationship Id="rId4" Type="http://schemas.openxmlformats.org/officeDocument/2006/relationships/image" Target="../media/image193.png"/><Relationship Id="rId9" Type="http://schemas.openxmlformats.org/officeDocument/2006/relationships/image" Target="../media/image195.png"/><Relationship Id="rId5" Type="http://schemas.openxmlformats.org/officeDocument/2006/relationships/image" Target="../media/image212.png"/><Relationship Id="rId6" Type="http://schemas.openxmlformats.org/officeDocument/2006/relationships/image" Target="../media/image200.png"/><Relationship Id="rId7" Type="http://schemas.openxmlformats.org/officeDocument/2006/relationships/image" Target="../media/image186.png"/><Relationship Id="rId8" Type="http://schemas.openxmlformats.org/officeDocument/2006/relationships/image" Target="../media/image19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89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89.png"/><Relationship Id="rId4" Type="http://schemas.openxmlformats.org/officeDocument/2006/relationships/image" Target="../media/image198.png"/><Relationship Id="rId5" Type="http://schemas.openxmlformats.org/officeDocument/2006/relationships/image" Target="../media/image206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89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89.png"/><Relationship Id="rId4" Type="http://schemas.openxmlformats.org/officeDocument/2006/relationships/image" Target="../media/image202.png"/><Relationship Id="rId5" Type="http://schemas.openxmlformats.org/officeDocument/2006/relationships/image" Target="../media/image199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89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89.png"/><Relationship Id="rId4" Type="http://schemas.openxmlformats.org/officeDocument/2006/relationships/image" Target="../media/image210.png"/><Relationship Id="rId5" Type="http://schemas.openxmlformats.org/officeDocument/2006/relationships/image" Target="../media/image231.png"/><Relationship Id="rId6" Type="http://schemas.openxmlformats.org/officeDocument/2006/relationships/image" Target="../media/image209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89.png"/><Relationship Id="rId4" Type="http://schemas.openxmlformats.org/officeDocument/2006/relationships/image" Target="../media/image211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89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89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89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89.png"/><Relationship Id="rId4" Type="http://schemas.openxmlformats.org/officeDocument/2006/relationships/image" Target="../media/image201.png"/><Relationship Id="rId5" Type="http://schemas.openxmlformats.org/officeDocument/2006/relationships/image" Target="../media/image228.png"/><Relationship Id="rId6" Type="http://schemas.openxmlformats.org/officeDocument/2006/relationships/image" Target="../media/image208.png"/><Relationship Id="rId7" Type="http://schemas.openxmlformats.org/officeDocument/2006/relationships/image" Target="../media/image213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89.png"/><Relationship Id="rId4" Type="http://schemas.openxmlformats.org/officeDocument/2006/relationships/image" Target="../media/image228.png"/><Relationship Id="rId5" Type="http://schemas.openxmlformats.org/officeDocument/2006/relationships/image" Target="../media/image207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89.png"/><Relationship Id="rId4" Type="http://schemas.openxmlformats.org/officeDocument/2006/relationships/image" Target="../media/image205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89.png"/><Relationship Id="rId4" Type="http://schemas.openxmlformats.org/officeDocument/2006/relationships/image" Target="../media/image205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89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89.png"/><Relationship Id="rId4" Type="http://schemas.openxmlformats.org/officeDocument/2006/relationships/image" Target="../media/image232.png"/><Relationship Id="rId5" Type="http://schemas.openxmlformats.org/officeDocument/2006/relationships/image" Target="../media/image216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89.png"/><Relationship Id="rId4" Type="http://schemas.openxmlformats.org/officeDocument/2006/relationships/image" Target="../media/image218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89.png"/><Relationship Id="rId4" Type="http://schemas.openxmlformats.org/officeDocument/2006/relationships/image" Target="../media/image227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89.png"/><Relationship Id="rId4" Type="http://schemas.openxmlformats.org/officeDocument/2006/relationships/image" Target="../media/image234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89.png"/><Relationship Id="rId4" Type="http://schemas.openxmlformats.org/officeDocument/2006/relationships/image" Target="../media/image220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89.png"/><Relationship Id="rId4" Type="http://schemas.openxmlformats.org/officeDocument/2006/relationships/image" Target="../media/image220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89.png"/><Relationship Id="rId4" Type="http://schemas.openxmlformats.org/officeDocument/2006/relationships/image" Target="../media/image217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89.png"/><Relationship Id="rId4" Type="http://schemas.openxmlformats.org/officeDocument/2006/relationships/image" Target="../media/image233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89.png"/><Relationship Id="rId4" Type="http://schemas.openxmlformats.org/officeDocument/2006/relationships/image" Target="../media/image226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89.png"/><Relationship Id="rId4" Type="http://schemas.openxmlformats.org/officeDocument/2006/relationships/image" Target="../media/image251.png"/><Relationship Id="rId5" Type="http://schemas.openxmlformats.org/officeDocument/2006/relationships/image" Target="../media/image219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87.png"/></Relationships>
</file>

<file path=ppt/slides/_rels/slide10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7.png"/><Relationship Id="rId10" Type="http://schemas.openxmlformats.org/officeDocument/2006/relationships/image" Target="../media/image24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87.png"/><Relationship Id="rId4" Type="http://schemas.openxmlformats.org/officeDocument/2006/relationships/image" Target="../media/image35.png"/><Relationship Id="rId9" Type="http://schemas.openxmlformats.org/officeDocument/2006/relationships/image" Target="../media/image257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Relationship Id="rId7" Type="http://schemas.openxmlformats.org/officeDocument/2006/relationships/image" Target="../media/image33.png"/><Relationship Id="rId8" Type="http://schemas.openxmlformats.org/officeDocument/2006/relationships/image" Target="../media/image255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87.png"/><Relationship Id="rId4" Type="http://schemas.openxmlformats.org/officeDocument/2006/relationships/image" Target="../media/image255.png"/><Relationship Id="rId9" Type="http://schemas.openxmlformats.org/officeDocument/2006/relationships/image" Target="../media/image33.png"/><Relationship Id="rId5" Type="http://schemas.openxmlformats.org/officeDocument/2006/relationships/image" Target="../media/image243.png"/><Relationship Id="rId6" Type="http://schemas.openxmlformats.org/officeDocument/2006/relationships/image" Target="../media/image35.png"/><Relationship Id="rId7" Type="http://schemas.openxmlformats.org/officeDocument/2006/relationships/image" Target="../media/image32.png"/><Relationship Id="rId8" Type="http://schemas.openxmlformats.org/officeDocument/2006/relationships/image" Target="../media/image23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87.png"/><Relationship Id="rId4" Type="http://schemas.openxmlformats.org/officeDocument/2006/relationships/image" Target="../media/image255.png"/><Relationship Id="rId9" Type="http://schemas.openxmlformats.org/officeDocument/2006/relationships/image" Target="../media/image33.png"/><Relationship Id="rId5" Type="http://schemas.openxmlformats.org/officeDocument/2006/relationships/image" Target="../media/image243.png"/><Relationship Id="rId6" Type="http://schemas.openxmlformats.org/officeDocument/2006/relationships/image" Target="../media/image35.png"/><Relationship Id="rId7" Type="http://schemas.openxmlformats.org/officeDocument/2006/relationships/image" Target="../media/image32.png"/><Relationship Id="rId8" Type="http://schemas.openxmlformats.org/officeDocument/2006/relationships/image" Target="../media/image23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87.png"/><Relationship Id="rId4" Type="http://schemas.openxmlformats.org/officeDocument/2006/relationships/image" Target="../media/image236.png"/><Relationship Id="rId5" Type="http://schemas.openxmlformats.org/officeDocument/2006/relationships/image" Target="../media/image244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87.png"/><Relationship Id="rId4" Type="http://schemas.openxmlformats.org/officeDocument/2006/relationships/image" Target="../media/image239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87.png"/><Relationship Id="rId4" Type="http://schemas.openxmlformats.org/officeDocument/2006/relationships/image" Target="../media/image238.png"/><Relationship Id="rId5" Type="http://schemas.openxmlformats.org/officeDocument/2006/relationships/image" Target="../media/image249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87.png"/><Relationship Id="rId4" Type="http://schemas.openxmlformats.org/officeDocument/2006/relationships/image" Target="../media/image250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87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87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87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87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87.png"/><Relationship Id="rId4" Type="http://schemas.openxmlformats.org/officeDocument/2006/relationships/image" Target="../media/image235.png"/><Relationship Id="rId5" Type="http://schemas.openxmlformats.org/officeDocument/2006/relationships/image" Target="../media/image246.png"/><Relationship Id="rId6" Type="http://schemas.openxmlformats.org/officeDocument/2006/relationships/image" Target="../media/image240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87.png"/><Relationship Id="rId4" Type="http://schemas.openxmlformats.org/officeDocument/2006/relationships/image" Target="../media/image251.png"/><Relationship Id="rId5" Type="http://schemas.openxmlformats.org/officeDocument/2006/relationships/image" Target="../media/image242.png"/><Relationship Id="rId6" Type="http://schemas.openxmlformats.org/officeDocument/2006/relationships/image" Target="../media/image252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87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87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87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87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82.png"/><Relationship Id="rId6" Type="http://schemas.openxmlformats.org/officeDocument/2006/relationships/image" Target="../media/image73.png"/><Relationship Id="rId7" Type="http://schemas.openxmlformats.org/officeDocument/2006/relationships/image" Target="../media/image189.png"/><Relationship Id="rId8" Type="http://schemas.openxmlformats.org/officeDocument/2006/relationships/image" Target="../media/image87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258.png"/><Relationship Id="rId4" Type="http://schemas.openxmlformats.org/officeDocument/2006/relationships/image" Target="../media/image260.png"/><Relationship Id="rId5" Type="http://schemas.openxmlformats.org/officeDocument/2006/relationships/hyperlink" Target="http://www.linkedin.com/in/teocalvo" TargetMode="External"/><Relationship Id="rId6" Type="http://schemas.openxmlformats.org/officeDocument/2006/relationships/image" Target="../media/image259.png"/><Relationship Id="rId7" Type="http://schemas.openxmlformats.org/officeDocument/2006/relationships/image" Target="../media/image256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82.png"/><Relationship Id="rId4" Type="http://schemas.openxmlformats.org/officeDocument/2006/relationships/image" Target="../media/image87.png"/><Relationship Id="rId5" Type="http://schemas.openxmlformats.org/officeDocument/2006/relationships/image" Target="../media/image189.png"/><Relationship Id="rId6" Type="http://schemas.openxmlformats.org/officeDocument/2006/relationships/image" Target="../media/image7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idx="4294967295" type="ctrTitle"/>
          </p:nvPr>
        </p:nvSpPr>
        <p:spPr>
          <a:xfrm>
            <a:off x="1379125" y="813975"/>
            <a:ext cx="95955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Estatística </a:t>
            </a:r>
            <a:r>
              <a:rPr lang="en-US" sz="3500"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Básica</a:t>
            </a:r>
            <a:endParaRPr b="0" i="0" sz="3500" u="none" cap="none" strike="noStrike">
              <a:solidFill>
                <a:schemeClr val="dk1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Uma abordagem para pessoas iniciantes em dados</a:t>
            </a:r>
            <a:endParaRPr b="0" i="0" sz="2050" u="none" cap="none" strike="noStrike">
              <a:solidFill>
                <a:schemeClr val="dk1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665605" y="5718175"/>
            <a:ext cx="36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/0</a:t>
            </a: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/202</a:t>
            </a: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teomewhy-logo-v01" id="58" name="Google Shape;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6525" y="2687338"/>
            <a:ext cx="3415850" cy="2175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4875" y="2711601"/>
            <a:ext cx="5216026" cy="212664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 txBox="1"/>
          <p:nvPr/>
        </p:nvSpPr>
        <p:spPr>
          <a:xfrm>
            <a:off x="4190000" y="5564275"/>
            <a:ext cx="603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Estatística Básica</a:t>
            </a: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© 2024 by Téo Calvo is licensed under CC BY-NC-SA 4.0.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To view a copy of this license, visit https://creativecommons.org/licenses/by-nc-sa/4.0/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g1f54b1f7361_0_0"/>
          <p:cNvCxnSpPr/>
          <p:nvPr/>
        </p:nvCxnSpPr>
        <p:spPr>
          <a:xfrm>
            <a:off x="303525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6" name="Google Shape;66;g1f54b1f7361_0_0"/>
          <p:cNvCxnSpPr/>
          <p:nvPr/>
        </p:nvCxnSpPr>
        <p:spPr>
          <a:xfrm>
            <a:off x="9290514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g1f54b1f7361_0_0"/>
          <p:cNvSpPr txBox="1"/>
          <p:nvPr/>
        </p:nvSpPr>
        <p:spPr>
          <a:xfrm>
            <a:off x="489600" y="1445325"/>
            <a:ext cx="91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2016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1f54b1f7361_0_0"/>
          <p:cNvSpPr txBox="1"/>
          <p:nvPr/>
        </p:nvSpPr>
        <p:spPr>
          <a:xfrm>
            <a:off x="1773451" y="1445325"/>
            <a:ext cx="91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2017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1f54b1f7361_0_0"/>
          <p:cNvSpPr txBox="1"/>
          <p:nvPr/>
        </p:nvSpPr>
        <p:spPr>
          <a:xfrm>
            <a:off x="3057314" y="1445325"/>
            <a:ext cx="91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1f54b1f7361_0_0"/>
          <p:cNvSpPr txBox="1"/>
          <p:nvPr/>
        </p:nvSpPr>
        <p:spPr>
          <a:xfrm>
            <a:off x="4341177" y="1445325"/>
            <a:ext cx="91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1f54b1f7361_0_0"/>
          <p:cNvSpPr txBox="1"/>
          <p:nvPr/>
        </p:nvSpPr>
        <p:spPr>
          <a:xfrm>
            <a:off x="5625028" y="1445325"/>
            <a:ext cx="91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2020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1f54b1f7361_0_0"/>
          <p:cNvSpPr txBox="1"/>
          <p:nvPr/>
        </p:nvSpPr>
        <p:spPr>
          <a:xfrm>
            <a:off x="8227692" y="1445325"/>
            <a:ext cx="841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g1f54b1f736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2450" y="2350500"/>
            <a:ext cx="1133699" cy="4648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g1f54b1f7361_0_0"/>
          <p:cNvCxnSpPr/>
          <p:nvPr/>
        </p:nvCxnSpPr>
        <p:spPr>
          <a:xfrm>
            <a:off x="7156175" y="3166880"/>
            <a:ext cx="2543700" cy="0"/>
          </a:xfrm>
          <a:prstGeom prst="straightConnector1">
            <a:avLst/>
          </a:prstGeom>
          <a:noFill/>
          <a:ln cap="flat" cmpd="sng" w="38100">
            <a:solidFill>
              <a:srgbClr val="00519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gc" id="75" name="Google Shape;75;g1f54b1f736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8225" y="2395455"/>
            <a:ext cx="720725" cy="72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litch_Purple_RGB" id="76" name="Google Shape;76;g1f54b1f736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0628" y="5047170"/>
            <a:ext cx="612775" cy="6426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g1f54b1f7361_0_0"/>
          <p:cNvCxnSpPr/>
          <p:nvPr/>
        </p:nvCxnSpPr>
        <p:spPr>
          <a:xfrm>
            <a:off x="4882600" y="5812150"/>
            <a:ext cx="7572600" cy="0"/>
          </a:xfrm>
          <a:prstGeom prst="straightConnector1">
            <a:avLst/>
          </a:prstGeom>
          <a:noFill/>
          <a:ln cap="flat" cmpd="sng" w="38100">
            <a:solidFill>
              <a:srgbClr val="6441A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" name="Google Shape;78;g1f54b1f7361_0_0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Trajetória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" name="Google Shape;79;g1f54b1f7361_0_0"/>
          <p:cNvCxnSpPr/>
          <p:nvPr/>
        </p:nvCxnSpPr>
        <p:spPr>
          <a:xfrm>
            <a:off x="1587381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0" name="Google Shape;80;g1f54b1f7361_0_0"/>
          <p:cNvCxnSpPr/>
          <p:nvPr/>
        </p:nvCxnSpPr>
        <p:spPr>
          <a:xfrm>
            <a:off x="2871236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1" name="Google Shape;81;g1f54b1f7361_0_0"/>
          <p:cNvCxnSpPr/>
          <p:nvPr/>
        </p:nvCxnSpPr>
        <p:spPr>
          <a:xfrm>
            <a:off x="4155092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2" name="Google Shape;82;g1f54b1f7361_0_0"/>
          <p:cNvCxnSpPr/>
          <p:nvPr/>
        </p:nvCxnSpPr>
        <p:spPr>
          <a:xfrm>
            <a:off x="5438947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3" name="Google Shape;83;g1f54b1f7361_0_0"/>
          <p:cNvCxnSpPr/>
          <p:nvPr/>
        </p:nvCxnSpPr>
        <p:spPr>
          <a:xfrm>
            <a:off x="6722803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4" name="Google Shape;84;g1f54b1f7361_0_0"/>
          <p:cNvCxnSpPr/>
          <p:nvPr/>
        </p:nvCxnSpPr>
        <p:spPr>
          <a:xfrm>
            <a:off x="8006658" y="1609102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85" name="Google Shape;85;g1f54b1f7361_0_0"/>
          <p:cNvSpPr txBox="1"/>
          <p:nvPr/>
        </p:nvSpPr>
        <p:spPr>
          <a:xfrm>
            <a:off x="6908879" y="1445325"/>
            <a:ext cx="91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2021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g1f54b1f7361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26688" y="2169438"/>
            <a:ext cx="983154" cy="64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1f54b1f7361_0_0"/>
          <p:cNvPicPr preferRelativeResize="0"/>
          <p:nvPr/>
        </p:nvPicPr>
        <p:blipFill rotWithShape="1">
          <a:blip r:embed="rId7">
            <a:alphaModFix/>
          </a:blip>
          <a:srcRect b="0" l="0" r="57155" t="0"/>
          <a:stretch/>
        </p:blipFill>
        <p:spPr>
          <a:xfrm>
            <a:off x="556900" y="2045625"/>
            <a:ext cx="720727" cy="698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1f54b1f7361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80038" y="2483341"/>
            <a:ext cx="1209075" cy="111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g1f54b1f7361_0_0"/>
          <p:cNvCxnSpPr/>
          <p:nvPr/>
        </p:nvCxnSpPr>
        <p:spPr>
          <a:xfrm>
            <a:off x="10574369" y="1609521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90" name="Google Shape;90;g1f54b1f7361_0_0"/>
          <p:cNvSpPr txBox="1"/>
          <p:nvPr/>
        </p:nvSpPr>
        <p:spPr>
          <a:xfrm>
            <a:off x="9511555" y="1445325"/>
            <a:ext cx="841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g1f54b1f7361_0_0"/>
          <p:cNvCxnSpPr/>
          <p:nvPr/>
        </p:nvCxnSpPr>
        <p:spPr>
          <a:xfrm>
            <a:off x="3727175" y="2567690"/>
            <a:ext cx="1481700" cy="0"/>
          </a:xfrm>
          <a:prstGeom prst="straightConnector1">
            <a:avLst/>
          </a:prstGeom>
          <a:noFill/>
          <a:ln cap="flat" cmpd="sng" w="38100">
            <a:solidFill>
              <a:srgbClr val="F7822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" name="Google Shape;92;g1f54b1f7361_0_0"/>
          <p:cNvCxnSpPr/>
          <p:nvPr/>
        </p:nvCxnSpPr>
        <p:spPr>
          <a:xfrm>
            <a:off x="5236400" y="2867285"/>
            <a:ext cx="1724100" cy="0"/>
          </a:xfrm>
          <a:prstGeom prst="straightConnector1">
            <a:avLst/>
          </a:prstGeom>
          <a:noFill/>
          <a:ln cap="flat" cmpd="sng" w="38100">
            <a:solidFill>
              <a:srgbClr val="0CC5CA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" name="Google Shape;93;g1f54b1f7361_0_0"/>
          <p:cNvCxnSpPr/>
          <p:nvPr/>
        </p:nvCxnSpPr>
        <p:spPr>
          <a:xfrm>
            <a:off x="1938655" y="2268095"/>
            <a:ext cx="1676700" cy="0"/>
          </a:xfrm>
          <a:prstGeom prst="straightConnector1">
            <a:avLst/>
          </a:prstGeom>
          <a:noFill/>
          <a:ln cap="flat" cmpd="sng" w="38100">
            <a:solidFill>
              <a:srgbClr val="007CC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" name="Google Shape;94;g1f54b1f7361_0_0"/>
          <p:cNvCxnSpPr/>
          <p:nvPr/>
        </p:nvCxnSpPr>
        <p:spPr>
          <a:xfrm>
            <a:off x="1277620" y="1968500"/>
            <a:ext cx="656700" cy="0"/>
          </a:xfrm>
          <a:prstGeom prst="straightConnector1">
            <a:avLst/>
          </a:prstGeom>
          <a:noFill/>
          <a:ln cap="flat" cmpd="sng" w="38100">
            <a:solidFill>
              <a:srgbClr val="20C3F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5" name="Google Shape;95;g1f54b1f7361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32025" y="4459400"/>
            <a:ext cx="1000855" cy="1000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g1f54b1f7361_0_0"/>
          <p:cNvCxnSpPr/>
          <p:nvPr/>
        </p:nvCxnSpPr>
        <p:spPr>
          <a:xfrm>
            <a:off x="9448375" y="5464725"/>
            <a:ext cx="300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7" name="Google Shape;97;g1f54b1f7361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1f54b1f7361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580475" y="4711576"/>
            <a:ext cx="1000801" cy="10008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g1f54b1f7361_0_0"/>
          <p:cNvCxnSpPr/>
          <p:nvPr/>
        </p:nvCxnSpPr>
        <p:spPr>
          <a:xfrm>
            <a:off x="5460300" y="5636175"/>
            <a:ext cx="6995100" cy="0"/>
          </a:xfrm>
          <a:prstGeom prst="straightConnector1">
            <a:avLst/>
          </a:prstGeom>
          <a:noFill/>
          <a:ln cap="flat" cmpd="sng" w="38100">
            <a:solidFill>
              <a:srgbClr val="F9037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0" name="Google Shape;100;g1f54b1f7361_0_0"/>
          <p:cNvPicPr preferRelativeResize="0"/>
          <p:nvPr/>
        </p:nvPicPr>
        <p:blipFill rotWithShape="1">
          <a:blip r:embed="rId12">
            <a:alphaModFix/>
          </a:blip>
          <a:srcRect b="20137" l="0" r="0" t="20250"/>
          <a:stretch/>
        </p:blipFill>
        <p:spPr>
          <a:xfrm>
            <a:off x="9327912" y="3314075"/>
            <a:ext cx="1209075" cy="7207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g1f54b1f7361_0_0"/>
          <p:cNvCxnSpPr/>
          <p:nvPr/>
        </p:nvCxnSpPr>
        <p:spPr>
          <a:xfrm>
            <a:off x="10137925" y="3466475"/>
            <a:ext cx="456600" cy="0"/>
          </a:xfrm>
          <a:prstGeom prst="straightConnector1">
            <a:avLst/>
          </a:prstGeom>
          <a:noFill/>
          <a:ln cap="flat" cmpd="sng" w="38100">
            <a:solidFill>
              <a:srgbClr val="5400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g1f54b1f7361_0_0"/>
          <p:cNvSpPr txBox="1"/>
          <p:nvPr/>
        </p:nvSpPr>
        <p:spPr>
          <a:xfrm>
            <a:off x="10795406" y="1445325"/>
            <a:ext cx="841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g1f54b1f7361_0_0"/>
          <p:cNvCxnSpPr/>
          <p:nvPr/>
        </p:nvCxnSpPr>
        <p:spPr>
          <a:xfrm>
            <a:off x="11858225" y="1609521"/>
            <a:ext cx="0" cy="454350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104" name="Google Shape;104;g1f54b1f7361_0_0"/>
          <p:cNvPicPr preferRelativeResize="0"/>
          <p:nvPr/>
        </p:nvPicPr>
        <p:blipFill rotWithShape="1">
          <a:blip r:embed="rId13">
            <a:alphaModFix/>
          </a:blip>
          <a:srcRect b="21603" l="9712" r="33620" t="21243"/>
          <a:stretch/>
        </p:blipFill>
        <p:spPr>
          <a:xfrm>
            <a:off x="10658150" y="5712375"/>
            <a:ext cx="456600" cy="460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1f594e2931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1f594e2931f_0_0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Combinados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1f594e2931f_0_0"/>
          <p:cNvSpPr txBox="1"/>
          <p:nvPr/>
        </p:nvSpPr>
        <p:spPr>
          <a:xfrm>
            <a:off x="844250" y="1337675"/>
            <a:ext cx="110013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Sempre das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19:30 às 22 horas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estaremos online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Pausa às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20:</a:t>
            </a:r>
            <a:r>
              <a:rPr b="1"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45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hrs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até as 2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00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Notificações serão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desligadas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, mas sua contribuição é sempre bem-vinda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Quando houver ADs, a explicação é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pausada</a:t>
            </a:r>
            <a:endParaRPr b="1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Evite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spamar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a mesma coisa no chat, moderadores estarão de olho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Comentários discriminatórios e babacas receberam </a:t>
            </a:r>
            <a:r>
              <a:rPr b="1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banimento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sem aviso prévio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!ppt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para acessar todo materiald o curso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1f594e2931f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1f594e2931f_0_7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Avisos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g1f594e2931f_0_7"/>
          <p:cNvSpPr txBox="1"/>
          <p:nvPr/>
        </p:nvSpPr>
        <p:spPr>
          <a:xfrm>
            <a:off x="844250" y="1337675"/>
            <a:ext cx="11001300" cy="3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No último dia de curso teremos:</a:t>
            </a:r>
            <a:endParaRPr b="1" sz="25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Sorteio de livros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Prova para certificado*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*certificado apenas para Subs disponível na nossa </a:t>
            </a:r>
            <a:r>
              <a:rPr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lojinha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no valor de 1.500 datapoints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Por isso considere ser Sub e acompanhar todas as lives para adquirir conhecimento e datapoints.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1f594e2931f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1f594e2931f_0_18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Avisos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g1f594e2931f_0_18"/>
          <p:cNvSpPr txBox="1"/>
          <p:nvPr/>
        </p:nvSpPr>
        <p:spPr>
          <a:xfrm>
            <a:off x="844250" y="1337675"/>
            <a:ext cx="110013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Nosso foco </a:t>
            </a: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é</a:t>
            </a: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o básico bem feito;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Estamos melhorando ano após ano!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Tem algo que não abordei?</a:t>
            </a:r>
            <a:endParaRPr b="1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Tem algo que você explicaria diferente?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b="0" i="0" lang="en-US" sz="20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Tem algo mais complexo que deixei passar?</a:t>
            </a:r>
            <a:endParaRPr b="0" i="0" sz="20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9" name="Google Shape;129;g1f594e2931f_0_18"/>
          <p:cNvGrpSpPr/>
          <p:nvPr/>
        </p:nvGrpSpPr>
        <p:grpSpPr>
          <a:xfrm>
            <a:off x="7632738" y="3218875"/>
            <a:ext cx="4463163" cy="865800"/>
            <a:chOff x="7110713" y="3229650"/>
            <a:chExt cx="4463163" cy="865800"/>
          </a:xfrm>
        </p:grpSpPr>
        <p:sp>
          <p:nvSpPr>
            <p:cNvPr id="130" name="Google Shape;130;g1f594e2931f_0_18"/>
            <p:cNvSpPr/>
            <p:nvPr/>
          </p:nvSpPr>
          <p:spPr>
            <a:xfrm>
              <a:off x="7110713" y="3429000"/>
              <a:ext cx="934500" cy="467100"/>
            </a:xfrm>
            <a:prstGeom prst="notchedRightArrow">
              <a:avLst>
                <a:gd fmla="val 50000" name="adj1"/>
                <a:gd fmla="val 50000" name="adj2"/>
              </a:avLst>
            </a:prstGeom>
            <a:solidFill>
              <a:srgbClr val="D9D9D9"/>
            </a:solidFill>
            <a:ln cap="flat" cmpd="sng" w="2857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g1f594e2931f_0_18"/>
            <p:cNvSpPr txBox="1"/>
            <p:nvPr/>
          </p:nvSpPr>
          <p:spPr>
            <a:xfrm>
              <a:off x="8321275" y="3229650"/>
              <a:ext cx="3252600" cy="86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Faça um vídeo/material</a:t>
              </a:r>
              <a:endParaRPr b="0" i="0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2" name="Google Shape;132;g1f594e2931f_0_18"/>
          <p:cNvSpPr/>
          <p:nvPr/>
        </p:nvSpPr>
        <p:spPr>
          <a:xfrm>
            <a:off x="7076475" y="2605525"/>
            <a:ext cx="280200" cy="2092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1f594e2931f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1f594e2931f_0_29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Nos Apoie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g1f594e2931f_0_29"/>
          <p:cNvSpPr txBox="1"/>
          <p:nvPr/>
        </p:nvSpPr>
        <p:spPr>
          <a:xfrm>
            <a:off x="844250" y="1337675"/>
            <a:ext cx="11001300" cy="4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Nossos cursos são 100% gratuitos</a:t>
            </a:r>
            <a:endParaRPr b="1" sz="25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e você pode nos apoiar em diferentes plataformas: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Apoia.se: </a:t>
            </a:r>
            <a:r>
              <a:rPr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apoia.se/teomewhy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LivePix: </a:t>
            </a:r>
            <a:r>
              <a:rPr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livepix.gg/teomewhy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Assinante na Twitch: </a:t>
            </a:r>
            <a:r>
              <a:rPr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twitch.tv/teomewhy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Membros no YouTube: </a:t>
            </a:r>
            <a:r>
              <a:rPr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youtube.com/@teomewhy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GitHub Sponsors: </a:t>
            </a:r>
            <a:r>
              <a:rPr lang="en-US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github.com/sponsors/TeoMeWhy</a:t>
            </a:r>
            <a:endParaRPr sz="2000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1e4460966a3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1e4460966a3_0_13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Ementa (1/2)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g1e4460966a3_0_13"/>
          <p:cNvSpPr txBox="1"/>
          <p:nvPr/>
        </p:nvSpPr>
        <p:spPr>
          <a:xfrm>
            <a:off x="844250" y="1337675"/>
            <a:ext cx="9175800" cy="53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Introdução a Estatística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O que é e para o que serve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População vs Amostra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Conjunto de dados, Variáveis, Observações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Tipos de variáveis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Variáveis Qualitativas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Variáveis Quantitativas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Medidas Resumo</a:t>
            </a:r>
            <a:endParaRPr b="1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Tabela de frequências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Posição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Dispersão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Gráficos</a:t>
            </a:r>
            <a:endParaRPr b="1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Principais gráficos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Gráficos para não se utilizar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1e4460966a3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1e4460966a3_0_44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Ementa (2/2)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g1e4460966a3_0_44"/>
          <p:cNvSpPr txBox="1"/>
          <p:nvPr/>
        </p:nvSpPr>
        <p:spPr>
          <a:xfrm>
            <a:off x="844250" y="1337675"/>
            <a:ext cx="9175800" cy="4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Probabilidade Básica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Eventos e Espaço Amostral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Axiomas de Probabilidade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Probabilidade Conjunta e Probabilidade Condicional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Teorema de Bayes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Distribuição Normal</a:t>
            </a:r>
            <a:endParaRPr b="1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Introdução distribuição Normal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Propriedades e características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Normal padrão e sua tabela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 e Teste de Hipótese</a:t>
            </a:r>
            <a:endParaRPr b="1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Intervalo de confiança para a média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Teste de hipótese para média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- Comparação de duas médias</a:t>
            </a:r>
            <a:endParaRPr b="0" i="0" sz="1800" u="none" cap="none" strike="noStrike">
              <a:solidFill>
                <a:srgbClr val="3741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/>
          <p:nvPr/>
        </p:nvSpPr>
        <p:spPr>
          <a:xfrm>
            <a:off x="411675" y="1749575"/>
            <a:ext cx="4996200" cy="4968000"/>
          </a:xfrm>
          <a:prstGeom prst="ellipse">
            <a:avLst/>
          </a:prstGeom>
          <a:noFill/>
          <a:ln cap="flat" cmpd="sng" w="28575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Estatística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6375" y="2080438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4550" y="324832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11225" y="3028800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1438" y="446472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61313" y="551922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82050" y="2031918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96438" y="3068093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10813" y="4055731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12200" y="5411743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0450" y="5171550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0225" y="393307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0200" y="4154538"/>
            <a:ext cx="800400" cy="8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 txBox="1"/>
          <p:nvPr/>
        </p:nvSpPr>
        <p:spPr>
          <a:xfrm>
            <a:off x="6046625" y="1139975"/>
            <a:ext cx="6145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Quantas pessoas temos nessa população?</a:t>
            </a:r>
            <a:endParaRPr b="1"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6046625" y="2316405"/>
            <a:ext cx="6145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Quantas pessoas azuis?</a:t>
            </a:r>
            <a:endParaRPr b="1"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6046625" y="3492834"/>
            <a:ext cx="6145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Qual a taxa de vermelhos e amarelos?</a:t>
            </a:r>
            <a:endParaRPr b="1"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6046625" y="1606977"/>
            <a:ext cx="611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pessoas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6046625" y="2734094"/>
            <a:ext cx="611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Temos 4 pessoas azuis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6046625" y="3954523"/>
            <a:ext cx="611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vermelha e 3 amarelas -&gt; 4 / 12 = 1/3 = 33,33%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6046625" y="4954950"/>
            <a:ext cx="5361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Durante nosso dia a dia estamos cercados por estatísticas. Elas são muito utilizadas para resumir, sumarizar as características de uma população, conjunto de dados, observações e eventos.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e61820831e_0_28"/>
          <p:cNvSpPr txBox="1"/>
          <p:nvPr/>
        </p:nvSpPr>
        <p:spPr>
          <a:xfrm>
            <a:off x="-5663425" y="4545875"/>
            <a:ext cx="613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Sobre  computação</a:t>
            </a:r>
            <a:endParaRPr b="1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g1e61820831e_0_28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Estatística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g1e61820831e_0_28"/>
          <p:cNvSpPr txBox="1"/>
          <p:nvPr/>
        </p:nvSpPr>
        <p:spPr>
          <a:xfrm>
            <a:off x="844250" y="1476375"/>
            <a:ext cx="10281000" cy="4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Estatística é um conjunto de ferramentas utilizadas para cálculos que nos auxiliam a sumarizar e entender os dados. Estes dados podem ter origem de uma população, experimentação, sistemas, pesquisas de opinião/política e outras fontes.</a:t>
            </a:r>
            <a:endParaRPr b="0" i="0" sz="2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Sua aplicação é observada em diferentes áreas do conhecimento e indústrias no mercado de trabalho e meio acadêmico. Tanto na medicina, com experimentação de medicamentos e vacinas, quanto no MKT para avaliação de performance entre canais, ou até mesmo na indústria para detecção de falhas na linha de produção.</a:t>
            </a:r>
            <a:endParaRPr b="0" i="0" sz="2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90" name="Google Shape;190;g1e61820831e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e61820831e_0_55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População vs Amostra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6" name="Google Shape;196;g1e61820831e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1e61820831e_0_55"/>
          <p:cNvSpPr/>
          <p:nvPr/>
        </p:nvSpPr>
        <p:spPr>
          <a:xfrm>
            <a:off x="335475" y="1292375"/>
            <a:ext cx="4996200" cy="4968000"/>
          </a:xfrm>
          <a:prstGeom prst="ellipse">
            <a:avLst/>
          </a:prstGeom>
          <a:noFill/>
          <a:ln cap="flat" cmpd="sng" w="28575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1e61820831e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0175" y="1623238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1e61820831e_0_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8350" y="279112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1e61820831e_0_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35025" y="2571600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1e61820831e_0_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5238" y="400752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1e61820831e_0_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85113" y="506202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1e61820831e_0_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05850" y="1574718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1e61820831e_0_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20238" y="2610893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1e61820831e_0_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34613" y="3598531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1e61820831e_0_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36000" y="4954543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1e61820831e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4250" y="4714350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1e61820831e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4025" y="3475875"/>
            <a:ext cx="800400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1e61820831e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4000" y="3697338"/>
            <a:ext cx="800400" cy="8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1e61820831e_0_55"/>
          <p:cNvSpPr txBox="1"/>
          <p:nvPr/>
        </p:nvSpPr>
        <p:spPr>
          <a:xfrm>
            <a:off x="1519125" y="6292225"/>
            <a:ext cx="26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rPr>
              <a:t>População</a:t>
            </a:r>
            <a:endParaRPr b="1" i="0" sz="1800" u="none" cap="none" strike="noStrike">
              <a:solidFill>
                <a:srgbClr val="2F549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11" name="Google Shape;211;g1e61820831e_0_55"/>
          <p:cNvGrpSpPr/>
          <p:nvPr/>
        </p:nvGrpSpPr>
        <p:grpSpPr>
          <a:xfrm>
            <a:off x="9001225" y="188625"/>
            <a:ext cx="1257000" cy="1249800"/>
            <a:chOff x="8571500" y="1350025"/>
            <a:chExt cx="1257000" cy="1249800"/>
          </a:xfrm>
        </p:grpSpPr>
        <p:sp>
          <p:nvSpPr>
            <p:cNvPr id="212" name="Google Shape;212;g1e61820831e_0_55"/>
            <p:cNvSpPr/>
            <p:nvPr/>
          </p:nvSpPr>
          <p:spPr>
            <a:xfrm>
              <a:off x="8571500" y="1350025"/>
              <a:ext cx="1257000" cy="12498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3" name="Google Shape;213;g1e61820831e_0_5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99800" y="15052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4" name="Google Shape;214;g1e61820831e_0_55"/>
          <p:cNvGrpSpPr/>
          <p:nvPr/>
        </p:nvGrpSpPr>
        <p:grpSpPr>
          <a:xfrm>
            <a:off x="8488955" y="1602600"/>
            <a:ext cx="2220300" cy="2207400"/>
            <a:chOff x="8223705" y="2325300"/>
            <a:chExt cx="2220300" cy="2207400"/>
          </a:xfrm>
        </p:grpSpPr>
        <p:sp>
          <p:nvSpPr>
            <p:cNvPr id="215" name="Google Shape;215;g1e61820831e_0_55"/>
            <p:cNvSpPr/>
            <p:nvPr/>
          </p:nvSpPr>
          <p:spPr>
            <a:xfrm>
              <a:off x="8223705" y="2325300"/>
              <a:ext cx="2220300" cy="22074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6" name="Google Shape;216;g1e61820831e_0_5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70075" y="28969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g1e61820831e_0_5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29513" y="257159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g1e61820831e_0_5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29525" y="347586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9" name="Google Shape;219;g1e61820831e_0_55"/>
          <p:cNvGrpSpPr/>
          <p:nvPr/>
        </p:nvGrpSpPr>
        <p:grpSpPr>
          <a:xfrm>
            <a:off x="8223899" y="3974175"/>
            <a:ext cx="2750400" cy="2734500"/>
            <a:chOff x="8223899" y="4355175"/>
            <a:chExt cx="2750400" cy="2734500"/>
          </a:xfrm>
        </p:grpSpPr>
        <p:pic>
          <p:nvPicPr>
            <p:cNvPr id="220" name="Google Shape;220;g1e61820831e_0_5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26725" y="5754938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g1e61820831e_0_5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98900" y="6092125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g1e61820831e_0_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60550" y="57549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g1e61820831e_0_5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908838" y="495454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g1e61820831e_0_5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198888" y="5243306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g1e61820831e_0_5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29525" y="444290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g1e61820831e_0_5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458525" y="506201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g1e61820831e_0_55"/>
            <p:cNvSpPr/>
            <p:nvPr/>
          </p:nvSpPr>
          <p:spPr>
            <a:xfrm>
              <a:off x="8223899" y="4355175"/>
              <a:ext cx="2750400" cy="27345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g1e61820831e_0_55"/>
          <p:cNvSpPr/>
          <p:nvPr/>
        </p:nvSpPr>
        <p:spPr>
          <a:xfrm>
            <a:off x="5558202" y="3147900"/>
            <a:ext cx="1538400" cy="80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Amostras</a:t>
            </a:r>
            <a:endParaRPr b="1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g1e61820831e_0_55"/>
          <p:cNvSpPr/>
          <p:nvPr/>
        </p:nvSpPr>
        <p:spPr>
          <a:xfrm>
            <a:off x="7323150" y="342900"/>
            <a:ext cx="1068300" cy="6410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e61820831e_0_96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Amostra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5" name="Google Shape;235;g1e61820831e_0_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g1e61820831e_0_96"/>
          <p:cNvGrpSpPr/>
          <p:nvPr/>
        </p:nvGrpSpPr>
        <p:grpSpPr>
          <a:xfrm>
            <a:off x="9001225" y="188625"/>
            <a:ext cx="1257000" cy="1249800"/>
            <a:chOff x="8571500" y="1350025"/>
            <a:chExt cx="1257000" cy="1249800"/>
          </a:xfrm>
        </p:grpSpPr>
        <p:sp>
          <p:nvSpPr>
            <p:cNvPr id="237" name="Google Shape;237;g1e61820831e_0_96"/>
            <p:cNvSpPr/>
            <p:nvPr/>
          </p:nvSpPr>
          <p:spPr>
            <a:xfrm>
              <a:off x="8571500" y="1350025"/>
              <a:ext cx="1257000" cy="12498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8" name="Google Shape;238;g1e61820831e_0_9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99800" y="15052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9" name="Google Shape;239;g1e61820831e_0_96"/>
          <p:cNvGrpSpPr/>
          <p:nvPr/>
        </p:nvGrpSpPr>
        <p:grpSpPr>
          <a:xfrm>
            <a:off x="8488955" y="1602600"/>
            <a:ext cx="2220300" cy="2207400"/>
            <a:chOff x="8223705" y="2325300"/>
            <a:chExt cx="2220300" cy="2207400"/>
          </a:xfrm>
        </p:grpSpPr>
        <p:sp>
          <p:nvSpPr>
            <p:cNvPr id="240" name="Google Shape;240;g1e61820831e_0_96"/>
            <p:cNvSpPr/>
            <p:nvPr/>
          </p:nvSpPr>
          <p:spPr>
            <a:xfrm>
              <a:off x="8223705" y="2325300"/>
              <a:ext cx="2220300" cy="22074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1" name="Google Shape;241;g1e61820831e_0_9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70075" y="28969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g1e61820831e_0_9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29513" y="257159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g1e61820831e_0_9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29525" y="347586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4" name="Google Shape;244;g1e61820831e_0_96"/>
          <p:cNvGrpSpPr/>
          <p:nvPr/>
        </p:nvGrpSpPr>
        <p:grpSpPr>
          <a:xfrm>
            <a:off x="8223899" y="3974175"/>
            <a:ext cx="2750400" cy="2734500"/>
            <a:chOff x="8223899" y="4355175"/>
            <a:chExt cx="2750400" cy="2734500"/>
          </a:xfrm>
        </p:grpSpPr>
        <p:pic>
          <p:nvPicPr>
            <p:cNvPr id="245" name="Google Shape;245;g1e61820831e_0_9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26725" y="5754938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g1e61820831e_0_9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198900" y="6092125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g1e61820831e_0_9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560550" y="57549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g1e61820831e_0_9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908838" y="495454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g1e61820831e_0_9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98888" y="5243306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g1e61820831e_0_9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29525" y="444290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g1e61820831e_0_9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458525" y="506201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g1e61820831e_0_96"/>
            <p:cNvSpPr/>
            <p:nvPr/>
          </p:nvSpPr>
          <p:spPr>
            <a:xfrm>
              <a:off x="8223899" y="4355175"/>
              <a:ext cx="2750400" cy="27345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e61820831e_0_96"/>
          <p:cNvSpPr/>
          <p:nvPr/>
        </p:nvSpPr>
        <p:spPr>
          <a:xfrm>
            <a:off x="7323150" y="342900"/>
            <a:ext cx="1068300" cy="6410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1e61820831e_0_96"/>
          <p:cNvSpPr txBox="1"/>
          <p:nvPr/>
        </p:nvSpPr>
        <p:spPr>
          <a:xfrm>
            <a:off x="295275" y="1866900"/>
            <a:ext cx="68580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São utilizadas para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inferir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estatísticas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sobre nossa população.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Representam uma fatia, pedaço, parcela de nossa população, havendo diferentes maneiras para sua seleção.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profissionais de dados, buscamos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amostras representativas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não enviesadas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Para isso contamos com métodos de amostragem: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*Amostragem Aleatória*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e6ab53953b_0_208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Amostra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0" name="Google Shape;260;g1e6ab53953b_0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1" name="Google Shape;261;g1e6ab53953b_0_208"/>
          <p:cNvGraphicFramePr/>
          <p:nvPr/>
        </p:nvGraphicFramePr>
        <p:xfrm>
          <a:off x="1745838" y="192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{48C4D78B-840B-4CF0-B342-6041C879E8EB}</a:tableStyleId>
              </a:tblPr>
              <a:tblGrid>
                <a:gridCol w="2015225"/>
                <a:gridCol w="3426275"/>
                <a:gridCol w="3258800"/>
              </a:tblGrid>
              <a:tr h="544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Parâmetro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Estimador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83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Definição</a:t>
                      </a:r>
                      <a:endParaRPr b="1"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Descreve uma característica (medida) do conjunto de dados</a:t>
                      </a:r>
                      <a:endParaRPr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Estimativa de um parâmetro</a:t>
                      </a:r>
                      <a:endParaRPr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794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Conjunto de dados</a:t>
                      </a:r>
                      <a:endParaRPr b="1"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População</a:t>
                      </a:r>
                      <a:endParaRPr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Amostra</a:t>
                      </a:r>
                      <a:endParaRPr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83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Valor</a:t>
                      </a:r>
                      <a:endParaRPr b="1"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Fixo (normalmente desconhecido)</a:t>
                      </a:r>
                      <a:endParaRPr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Calculado e aleatório</a:t>
                      </a:r>
                      <a:endParaRPr sz="16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e61820831e_0_136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Amostra (exemplo)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7" name="Google Shape;267;g1e61820831e_0_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1e61820831e_0_136"/>
          <p:cNvSpPr txBox="1"/>
          <p:nvPr/>
        </p:nvSpPr>
        <p:spPr>
          <a:xfrm>
            <a:off x="398425" y="2474700"/>
            <a:ext cx="111348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População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Pessoas brasileiras que estão com a carteira de trabalho ativa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Amostra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Respondentes de uma enquete de salário no Glassdoor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Unidade Amostral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Indivíduo respondente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Variáveis (ou características)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Informações da unidade amostral: gênero, idade, estado de residência, escolaridade, </a:t>
            </a:r>
            <a:r>
              <a:rPr b="0" i="0" lang="en-US" sz="2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cargo, salário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9" name="Google Shape;269;g1e61820831e_0_136"/>
          <p:cNvSpPr txBox="1"/>
          <p:nvPr/>
        </p:nvSpPr>
        <p:spPr>
          <a:xfrm>
            <a:off x="398425" y="1317675"/>
            <a:ext cx="106890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Queremos descobrir a renda média das pessoas trabalhadoras do Brasil.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Podemos perguntar para todo mundo?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e61820831e_0_161"/>
          <p:cNvSpPr txBox="1"/>
          <p:nvPr>
            <p:ph idx="4294967295" type="title"/>
          </p:nvPr>
        </p:nvSpPr>
        <p:spPr>
          <a:xfrm>
            <a:off x="800500" y="2597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Amostra (exemplo)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5" name="Google Shape;275;g1e61820831e_0_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50" y="417225"/>
            <a:ext cx="685800" cy="68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6" name="Google Shape;276;g1e61820831e_0_161"/>
          <p:cNvGraphicFramePr/>
          <p:nvPr/>
        </p:nvGraphicFramePr>
        <p:xfrm>
          <a:off x="902488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{355372FC-7AE3-4518-9567-167C29EBA213}</a:tableStyleId>
              </a:tblPr>
              <a:tblGrid>
                <a:gridCol w="1165900"/>
                <a:gridCol w="1373100"/>
                <a:gridCol w="1760825"/>
                <a:gridCol w="1194475"/>
                <a:gridCol w="975400"/>
                <a:gridCol w="1713200"/>
                <a:gridCol w="1289725"/>
              </a:tblGrid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Nome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  <a:extLst>
                      <a:ext uri="http://customooxmlschemas.google.com/">
                        <go:slidesCustomData xmlns:go="http://customooxmlschemas.google.com/" cellId="27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Estado Residência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  <a:extLst>
                      <a:ext uri="http://customooxmlschemas.google.com/">
                        <go:slidesCustomData xmlns:go="http://customooxmlschemas.google.com/" cellId="276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Escolaridade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  <a:extLst>
                      <a:ext uri="http://customooxmlschemas.google.com/">
                        <go:slidesCustomData xmlns:go="http://customooxmlschemas.google.com/" cellId="276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Gênero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  <a:extLst>
                      <a:ext uri="http://customooxmlschemas.google.com/">
                        <go:slidesCustomData xmlns:go="http://customooxmlschemas.google.com/" cellId="276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Idade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  <a:extLst>
                      <a:ext uri="http://customooxmlschemas.google.com/">
                        <go:slidesCustomData xmlns:go="http://customooxmlschemas.google.com/" cellId="276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Cargo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  <a:extLst>
                      <a:ext uri="http://customooxmlschemas.google.com/">
                        <go:slidesCustomData xmlns:go="http://customooxmlschemas.google.com/" cellId="276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Salário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  <a:extLst>
                      <a:ext uri="http://customooxmlschemas.google.com/">
                        <go:slidesCustomData xmlns:go="http://customooxmlschemas.google.com/" cellId="276:0:6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Mariana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Pós Graduação Incompleta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59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Data Engineer Specialist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R$ 32.000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1:6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Tica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Fundamental Incompleto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64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Esport Manager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R$ 1.500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2:6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Giovana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Pós Graduação Completa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44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Pesquisador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R$ 6.000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3:6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Ariel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SP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Superior Incompleto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Designer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R$ 4.500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4:6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Mauricio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PR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Fundamental Incompleto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48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Auxiliar Advogado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R$ 40.000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5:6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Eduardo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RJ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Médio 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43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Construtor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R$ 7.600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6:6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Henrique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MG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Superior 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35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Pro Player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R$ 12.000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276:7:6"/>
                      </a:ext>
                    </a:extLst>
                  </a:tcPr>
                </a:tc>
              </a:tr>
            </a:tbl>
          </a:graphicData>
        </a:graphic>
      </p:graphicFrame>
      <p:grpSp>
        <p:nvGrpSpPr>
          <p:cNvPr id="277" name="Google Shape;277;g1e61820831e_0_161"/>
          <p:cNvGrpSpPr/>
          <p:nvPr/>
        </p:nvGrpSpPr>
        <p:grpSpPr>
          <a:xfrm>
            <a:off x="46025" y="2458017"/>
            <a:ext cx="735100" cy="3871097"/>
            <a:chOff x="46025" y="2476500"/>
            <a:chExt cx="735100" cy="3982200"/>
          </a:xfrm>
        </p:grpSpPr>
        <p:sp>
          <p:nvSpPr>
            <p:cNvPr id="278" name="Google Shape;278;g1e61820831e_0_161"/>
            <p:cNvSpPr/>
            <p:nvPr/>
          </p:nvSpPr>
          <p:spPr>
            <a:xfrm>
              <a:off x="619125" y="2476500"/>
              <a:ext cx="162000" cy="39822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1e61820831e_0_161"/>
            <p:cNvSpPr txBox="1"/>
            <p:nvPr/>
          </p:nvSpPr>
          <p:spPr>
            <a:xfrm rot="-5400000">
              <a:off x="-1154275" y="4267500"/>
              <a:ext cx="2800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2F549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AMOSTRA</a:t>
              </a:r>
              <a:endParaRPr b="1" i="0" sz="25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80" name="Google Shape;280;g1e61820831e_0_161"/>
          <p:cNvGrpSpPr/>
          <p:nvPr/>
        </p:nvGrpSpPr>
        <p:grpSpPr>
          <a:xfrm>
            <a:off x="902625" y="1169850"/>
            <a:ext cx="9470100" cy="716175"/>
            <a:chOff x="902625" y="1169850"/>
            <a:chExt cx="9470100" cy="716175"/>
          </a:xfrm>
        </p:grpSpPr>
        <p:sp>
          <p:nvSpPr>
            <p:cNvPr id="281" name="Google Shape;281;g1e61820831e_0_161"/>
            <p:cNvSpPr/>
            <p:nvPr/>
          </p:nvSpPr>
          <p:spPr>
            <a:xfrm rot="5400000">
              <a:off x="5466225" y="-3020475"/>
              <a:ext cx="342900" cy="94701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9050">
              <a:solidFill>
                <a:srgbClr val="FF6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1e61820831e_0_161"/>
            <p:cNvSpPr txBox="1"/>
            <p:nvPr/>
          </p:nvSpPr>
          <p:spPr>
            <a:xfrm>
              <a:off x="4238413" y="1169850"/>
              <a:ext cx="2800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rgbClr val="FF66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VARIÁVEIS</a:t>
              </a:r>
              <a:endParaRPr b="1" i="0" sz="2500" u="none" cap="none" strike="noStrike">
                <a:solidFill>
                  <a:srgbClr val="FF66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83" name="Google Shape;283;g1e61820831e_0_161"/>
          <p:cNvGrpSpPr/>
          <p:nvPr/>
        </p:nvGrpSpPr>
        <p:grpSpPr>
          <a:xfrm>
            <a:off x="10467975" y="2445020"/>
            <a:ext cx="1695300" cy="553055"/>
            <a:chOff x="10467975" y="2445000"/>
            <a:chExt cx="1695300" cy="615600"/>
          </a:xfrm>
        </p:grpSpPr>
        <p:sp>
          <p:nvSpPr>
            <p:cNvPr id="284" name="Google Shape;284;g1e61820831e_0_161"/>
            <p:cNvSpPr/>
            <p:nvPr/>
          </p:nvSpPr>
          <p:spPr>
            <a:xfrm>
              <a:off x="10467975" y="2457450"/>
              <a:ext cx="114300" cy="590700"/>
            </a:xfrm>
            <a:prstGeom prst="rightBrace">
              <a:avLst>
                <a:gd fmla="val 50000" name="adj1"/>
                <a:gd fmla="val 50000" name="adj2"/>
              </a:avLst>
            </a:prstGeom>
            <a:noFill/>
            <a:ln cap="flat" cmpd="sng" w="28575">
              <a:solidFill>
                <a:srgbClr val="5481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1e61820831e_0_161"/>
            <p:cNvSpPr txBox="1"/>
            <p:nvPr/>
          </p:nvSpPr>
          <p:spPr>
            <a:xfrm>
              <a:off x="10582275" y="2445000"/>
              <a:ext cx="1581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548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UNIDADE</a:t>
              </a:r>
              <a:endParaRPr b="1" i="0" sz="1600" u="none" cap="none" strike="noStrike">
                <a:solidFill>
                  <a:srgbClr val="5481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548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AMOSTRAL</a:t>
              </a:r>
              <a:endParaRPr b="1" i="0" sz="1600" u="none" cap="none" strike="noStrike">
                <a:solidFill>
                  <a:srgbClr val="5481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86" name="Google Shape;286;g1e61820831e_0_161"/>
          <p:cNvGrpSpPr/>
          <p:nvPr/>
        </p:nvGrpSpPr>
        <p:grpSpPr>
          <a:xfrm>
            <a:off x="10451325" y="5223320"/>
            <a:ext cx="1695300" cy="553055"/>
            <a:chOff x="10467975" y="2445000"/>
            <a:chExt cx="1695300" cy="615600"/>
          </a:xfrm>
        </p:grpSpPr>
        <p:sp>
          <p:nvSpPr>
            <p:cNvPr id="287" name="Google Shape;287;g1e61820831e_0_161"/>
            <p:cNvSpPr/>
            <p:nvPr/>
          </p:nvSpPr>
          <p:spPr>
            <a:xfrm>
              <a:off x="10467975" y="2457450"/>
              <a:ext cx="114300" cy="590700"/>
            </a:xfrm>
            <a:prstGeom prst="rightBrace">
              <a:avLst>
                <a:gd fmla="val 50000" name="adj1"/>
                <a:gd fmla="val 50000" name="adj2"/>
              </a:avLst>
            </a:prstGeom>
            <a:noFill/>
            <a:ln cap="flat" cmpd="sng" w="28575">
              <a:solidFill>
                <a:srgbClr val="5481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1e61820831e_0_161"/>
            <p:cNvSpPr txBox="1"/>
            <p:nvPr/>
          </p:nvSpPr>
          <p:spPr>
            <a:xfrm>
              <a:off x="10582275" y="2445000"/>
              <a:ext cx="1581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548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UNIDADE</a:t>
              </a:r>
              <a:endParaRPr b="1" i="0" sz="1600" u="none" cap="none" strike="noStrike">
                <a:solidFill>
                  <a:srgbClr val="5481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5481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AMOSTRAL</a:t>
              </a:r>
              <a:endParaRPr b="1" i="0" sz="1600" u="none" cap="none" strike="noStrike">
                <a:solidFill>
                  <a:srgbClr val="5481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g1e4460966a3_0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1e4460966a3_0_208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Tipos de Variáveis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g1e4460966a3_0_208"/>
          <p:cNvSpPr/>
          <p:nvPr/>
        </p:nvSpPr>
        <p:spPr>
          <a:xfrm>
            <a:off x="1747875" y="3370788"/>
            <a:ext cx="1323900" cy="600000"/>
          </a:xfrm>
          <a:prstGeom prst="roundRect">
            <a:avLst>
              <a:gd fmla="val 16667" name="adj"/>
            </a:avLst>
          </a:prstGeom>
          <a:solidFill>
            <a:srgbClr val="274E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Variáveis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1e4460966a3_0_208"/>
          <p:cNvSpPr/>
          <p:nvPr/>
        </p:nvSpPr>
        <p:spPr>
          <a:xfrm>
            <a:off x="5434050" y="1946275"/>
            <a:ext cx="1795500" cy="6000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Qualitativas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1e4460966a3_0_208"/>
          <p:cNvSpPr/>
          <p:nvPr/>
        </p:nvSpPr>
        <p:spPr>
          <a:xfrm>
            <a:off x="5434050" y="4749750"/>
            <a:ext cx="1795500" cy="6000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Quantitativas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1e4460966a3_0_208"/>
          <p:cNvSpPr/>
          <p:nvPr/>
        </p:nvSpPr>
        <p:spPr>
          <a:xfrm>
            <a:off x="8743950" y="1463825"/>
            <a:ext cx="1838100" cy="573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Nominais</a:t>
            </a:r>
            <a:endParaRPr b="1" i="0" sz="1900" u="none" cap="none" strike="noStrike">
              <a:solidFill>
                <a:srgbClr val="274E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1e4460966a3_0_208"/>
          <p:cNvSpPr/>
          <p:nvPr/>
        </p:nvSpPr>
        <p:spPr>
          <a:xfrm>
            <a:off x="8743950" y="2797802"/>
            <a:ext cx="1838100" cy="573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Ordinais</a:t>
            </a:r>
            <a:endParaRPr b="1" i="0" sz="1900" u="none" cap="none" strike="noStrike">
              <a:solidFill>
                <a:srgbClr val="274E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1e4460966a3_0_208"/>
          <p:cNvSpPr/>
          <p:nvPr/>
        </p:nvSpPr>
        <p:spPr>
          <a:xfrm>
            <a:off x="8743950" y="4131780"/>
            <a:ext cx="1838100" cy="573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Discretas</a:t>
            </a:r>
            <a:endParaRPr b="1" i="0" sz="1900" u="none" cap="none" strike="noStrike">
              <a:solidFill>
                <a:srgbClr val="274E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1e4460966a3_0_208"/>
          <p:cNvSpPr/>
          <p:nvPr/>
        </p:nvSpPr>
        <p:spPr>
          <a:xfrm>
            <a:off x="8743950" y="5465757"/>
            <a:ext cx="1838100" cy="5730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Contínuas</a:t>
            </a:r>
            <a:endParaRPr b="1" i="0" sz="1900" u="none" cap="none" strike="noStrike">
              <a:solidFill>
                <a:srgbClr val="274E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g1e4460966a3_0_208"/>
          <p:cNvCxnSpPr>
            <a:stCxn id="296" idx="3"/>
            <a:endCxn id="297" idx="1"/>
          </p:cNvCxnSpPr>
          <p:nvPr/>
        </p:nvCxnSpPr>
        <p:spPr>
          <a:xfrm flipH="1" rot="10800000">
            <a:off x="3071775" y="2246388"/>
            <a:ext cx="2362200" cy="1424400"/>
          </a:xfrm>
          <a:prstGeom prst="straightConnector1">
            <a:avLst/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4" name="Google Shape;304;g1e4460966a3_0_208"/>
          <p:cNvCxnSpPr>
            <a:stCxn id="296" idx="3"/>
            <a:endCxn id="298" idx="1"/>
          </p:cNvCxnSpPr>
          <p:nvPr/>
        </p:nvCxnSpPr>
        <p:spPr>
          <a:xfrm>
            <a:off x="3071775" y="3670788"/>
            <a:ext cx="2362200" cy="1379100"/>
          </a:xfrm>
          <a:prstGeom prst="straightConnector1">
            <a:avLst/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5" name="Google Shape;305;g1e4460966a3_0_208"/>
          <p:cNvCxnSpPr>
            <a:stCxn id="298" idx="3"/>
            <a:endCxn id="301" idx="1"/>
          </p:cNvCxnSpPr>
          <p:nvPr/>
        </p:nvCxnSpPr>
        <p:spPr>
          <a:xfrm flipH="1" rot="10800000">
            <a:off x="7229550" y="4418250"/>
            <a:ext cx="1514400" cy="631500"/>
          </a:xfrm>
          <a:prstGeom prst="straightConnector1">
            <a:avLst/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6" name="Google Shape;306;g1e4460966a3_0_208"/>
          <p:cNvCxnSpPr>
            <a:stCxn id="298" idx="3"/>
            <a:endCxn id="302" idx="1"/>
          </p:cNvCxnSpPr>
          <p:nvPr/>
        </p:nvCxnSpPr>
        <p:spPr>
          <a:xfrm>
            <a:off x="7229550" y="5049750"/>
            <a:ext cx="1514400" cy="702600"/>
          </a:xfrm>
          <a:prstGeom prst="straightConnector1">
            <a:avLst/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7" name="Google Shape;307;g1e4460966a3_0_208"/>
          <p:cNvCxnSpPr>
            <a:stCxn id="297" idx="3"/>
            <a:endCxn id="299" idx="1"/>
          </p:cNvCxnSpPr>
          <p:nvPr/>
        </p:nvCxnSpPr>
        <p:spPr>
          <a:xfrm flipH="1" rot="10800000">
            <a:off x="7229550" y="1750375"/>
            <a:ext cx="1514400" cy="495900"/>
          </a:xfrm>
          <a:prstGeom prst="straightConnector1">
            <a:avLst/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8" name="Google Shape;308;g1e4460966a3_0_208"/>
          <p:cNvCxnSpPr>
            <a:stCxn id="297" idx="3"/>
            <a:endCxn id="300" idx="1"/>
          </p:cNvCxnSpPr>
          <p:nvPr/>
        </p:nvCxnSpPr>
        <p:spPr>
          <a:xfrm>
            <a:off x="7229550" y="2246275"/>
            <a:ext cx="1514400" cy="837900"/>
          </a:xfrm>
          <a:prstGeom prst="straightConnector1">
            <a:avLst/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g1e61820831e_0_2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1e61820831e_0_214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Tipos de Variáveis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6" name="Google Shape;316;g1e61820831e_0_214"/>
          <p:cNvGraphicFramePr/>
          <p:nvPr/>
        </p:nvGraphicFramePr>
        <p:xfrm>
          <a:off x="13431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{48C4D78B-840B-4CF0-B342-6041C879E8EB}</a:tableStyleId>
              </a:tblPr>
              <a:tblGrid>
                <a:gridCol w="2376450"/>
                <a:gridCol w="2376450"/>
                <a:gridCol w="2376450"/>
                <a:gridCol w="2376450"/>
              </a:tblGrid>
              <a:tr h="4724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lt1"/>
                          </a:solidFill>
                        </a:rPr>
                        <a:t>Variáveis</a:t>
                      </a:r>
                      <a:endParaRPr b="1" sz="1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  <a:tc hMerge="1"/>
                <a:tc hMerge="1"/>
                <a:tc hMerge="1"/>
              </a:tr>
              <a:tr h="47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lt1"/>
                          </a:solidFill>
                        </a:rPr>
                        <a:t>Qualitativas / Categóricas</a:t>
                      </a:r>
                      <a:endParaRPr b="1" sz="1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lt1"/>
                          </a:solidFill>
                        </a:rPr>
                        <a:t>Quantitativas / Numéricas</a:t>
                      </a:r>
                      <a:endParaRPr b="1" sz="1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 hMerge="1"/>
              </a:tr>
              <a:tr h="47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274E13"/>
                          </a:solidFill>
                        </a:rPr>
                        <a:t>Nominais</a:t>
                      </a:r>
                      <a:endParaRPr b="1" sz="1900" u="none" cap="none" strike="noStrike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274E13"/>
                          </a:solidFill>
                        </a:rPr>
                        <a:t>Ordinais</a:t>
                      </a:r>
                      <a:endParaRPr b="1" sz="1900" u="none" cap="none" strike="noStrike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274E13"/>
                          </a:solidFill>
                        </a:rPr>
                        <a:t>Discretas</a:t>
                      </a:r>
                      <a:endParaRPr b="1" sz="1900" u="none" cap="none" strike="noStrike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274E13"/>
                          </a:solidFill>
                        </a:rPr>
                        <a:t>Contínuas</a:t>
                      </a:r>
                      <a:endParaRPr b="1" sz="1900" u="none" cap="none" strike="noStrike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Nome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Escolaridade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Idade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Salário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Estado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Cargo (?)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-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-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Gênero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-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-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F6622"/>
                          </a:solidFill>
                        </a:rPr>
                        <a:t>-</a:t>
                      </a:r>
                      <a:endParaRPr b="1" sz="1900" u="none" cap="none" strike="noStrike">
                        <a:solidFill>
                          <a:srgbClr val="3F662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g2cc5363ff2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2cc5363ff24_0_0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Exercícios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g2cc5363ff24_0_0"/>
          <p:cNvSpPr txBox="1"/>
          <p:nvPr/>
        </p:nvSpPr>
        <p:spPr>
          <a:xfrm>
            <a:off x="751500" y="1652550"/>
            <a:ext cx="106890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latin typeface="Montserrat Medium"/>
                <a:ea typeface="Montserrat Medium"/>
                <a:cs typeface="Montserrat Medium"/>
                <a:sym typeface="Montserrat Medium"/>
              </a:rPr>
              <a:t>Considere a base de transações para criar tabelas de frequência com os dados de Pontos, Produto e Quantidade.</a:t>
            </a:r>
            <a:endParaRPr sz="1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4"/>
              </a:rPr>
              <a:t>Acesso os dados aqui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g1e6ab53953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1e6ab53953b_0_0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Medidas de Resumo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g1e6ab53953b_0_0"/>
          <p:cNvSpPr txBox="1"/>
          <p:nvPr/>
        </p:nvSpPr>
        <p:spPr>
          <a:xfrm>
            <a:off x="1425300" y="1686400"/>
            <a:ext cx="91710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As Medidas de Resumo, também conhecidas como Estatísticas Descritivas, são valores que resumem e descrevem um conjunto de dados de forma concisa, permitindo uma compreensão mais rápida e fácil das características centrais e distribuição dos dados. Elas são amplamente utilizadas na estatística para apresentar informações significativas sobre um conjunto de dados. -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GPT, chat</a:t>
            </a:r>
            <a:endParaRPr b="1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e6ab53953b_0_25"/>
          <p:cNvSpPr txBox="1"/>
          <p:nvPr/>
        </p:nvSpPr>
        <p:spPr>
          <a:xfrm>
            <a:off x="1425300" y="3617475"/>
            <a:ext cx="9171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Frequência Absoluta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Podemos denotar por         a quantidade de ocorrência (frequência) do i-ésimo nível da variável.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Para exemplo, vamos considerar os dados que apresentamos anteriormente.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9" name="Google Shape;339;g1e6ab53953b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1e6ab53953b_0_25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g1e6ab53953b_0_25"/>
          <p:cNvSpPr txBox="1"/>
          <p:nvPr/>
        </p:nvSpPr>
        <p:spPr>
          <a:xfrm>
            <a:off x="1425300" y="1686400"/>
            <a:ext cx="9171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As tabelas de frequências são utilizadas para descrever a distribuição de </a:t>
            </a:r>
            <a:r>
              <a:rPr b="1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variáveis qualitativas</a:t>
            </a: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Desta maneira conseguimos identificar quanto cada nível (ou valor) da variável ocorre e sua representação em todo conjunto de dados.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2" name="Google Shape;342;g1e6ab53953b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5925" y="4179175"/>
            <a:ext cx="288450" cy="21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" name="Google Shape;348;g1e6ab53953b_0_21"/>
          <p:cNvGraphicFramePr/>
          <p:nvPr/>
        </p:nvGraphicFramePr>
        <p:xfrm>
          <a:off x="732588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{355372FC-7AE3-4518-9567-167C29EBA213}</a:tableStyleId>
              </a:tblPr>
              <a:tblGrid>
                <a:gridCol w="1165900"/>
                <a:gridCol w="1194475"/>
              </a:tblGrid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Nome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  <a:extLst>
                      <a:ext uri="http://customooxmlschemas.google.com/">
                        <go:slidesCustomData xmlns:go="http://customooxmlschemas.google.com/" cellId="34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Gênero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  <a:extLst>
                      <a:ext uri="http://customooxmlschemas.google.com/">
                        <go:slidesCustomData xmlns:go="http://customooxmlschemas.google.com/" cellId="348:0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Mariana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4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48:1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Tica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4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48:2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Giovana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4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48:3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Ariel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4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48:4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Mauricio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4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48:5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Eduardo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48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48:6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Henrique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48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48:7:1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349" name="Google Shape;349;g1e6ab53953b_0_21"/>
          <p:cNvGraphicFramePr/>
          <p:nvPr/>
        </p:nvGraphicFramePr>
        <p:xfrm>
          <a:off x="3763125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{48C4D78B-840B-4CF0-B342-6041C879E8EB}</a:tableStyleId>
              </a:tblPr>
              <a:tblGrid>
                <a:gridCol w="2332875"/>
                <a:gridCol w="2332875"/>
              </a:tblGrid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Nível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Absoluta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Feminino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Masculino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N/A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350" name="Google Shape;350;g1e6ab53953b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7102" y="2174500"/>
            <a:ext cx="308350" cy="23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1e6ab53953b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1e6ab53953b_0_21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e6ab53953b_0_48"/>
          <p:cNvSpPr txBox="1"/>
          <p:nvPr/>
        </p:nvSpPr>
        <p:spPr>
          <a:xfrm>
            <a:off x="1425300" y="1864875"/>
            <a:ext cx="917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Frequência Relativa (ou propoção)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Podemos denotar por         a proporção de ocorrência do i-ésimo nível da variável em relação ao total de observações no conjunto de dados.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9" name="Google Shape;359;g1e6ab53953b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1e6ab53953b_0_48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1" name="Google Shape;361;g1e6ab53953b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4125" y="2292925"/>
            <a:ext cx="333750" cy="43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Google Shape;367;g1e6ab53953b_0_39"/>
          <p:cNvGraphicFramePr/>
          <p:nvPr/>
        </p:nvGraphicFramePr>
        <p:xfrm>
          <a:off x="732588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{355372FC-7AE3-4518-9567-167C29EBA213}</a:tableStyleId>
              </a:tblPr>
              <a:tblGrid>
                <a:gridCol w="1165900"/>
                <a:gridCol w="1194475"/>
              </a:tblGrid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Nome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  <a:extLst>
                      <a:ext uri="http://customooxmlschemas.google.com/">
                        <go:slidesCustomData xmlns:go="http://customooxmlschemas.google.com/" cellId="367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Gênero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  <a:extLst>
                      <a:ext uri="http://customooxmlschemas.google.com/">
                        <go:slidesCustomData xmlns:go="http://customooxmlschemas.google.com/" cellId="367:0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Mariana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7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7:1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Tica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7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7:2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Giovana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7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7:3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Ariel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7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7:4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Mauricio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7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7:5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Eduardo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7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7:6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Henrique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7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7:7:1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368" name="Google Shape;368;g1e6ab53953b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g1e6ab53953b_0_39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70" name="Google Shape;370;g1e6ab53953b_0_39"/>
          <p:cNvGraphicFramePr/>
          <p:nvPr/>
        </p:nvGraphicFramePr>
        <p:xfrm>
          <a:off x="3763125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{48C4D78B-840B-4CF0-B342-6041C879E8EB}</a:tableStyleId>
              </a:tblPr>
              <a:tblGrid>
                <a:gridCol w="2394125"/>
                <a:gridCol w="2394125"/>
                <a:gridCol w="2394125"/>
              </a:tblGrid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Nível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Absoluta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Relativa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Feminino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Masculino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0,4285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N/A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371" name="Google Shape;371;g1e6ab53953b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139" y="2164975"/>
            <a:ext cx="308350" cy="23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1e6ab53953b_0_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6050" y="2063988"/>
            <a:ext cx="333750" cy="43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e6ab53953b_0_62"/>
          <p:cNvSpPr txBox="1"/>
          <p:nvPr/>
        </p:nvSpPr>
        <p:spPr>
          <a:xfrm>
            <a:off x="1425300" y="1864875"/>
            <a:ext cx="917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Frequência Absoluta Acumulada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Podemos denotar por         a ocorrência acumulada do i-ésimo nível da variável no conjunto de dados, dado o acúmulo das frequências dos níveis anteriores.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9" name="Google Shape;379;g1e6ab53953b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1e6ab53953b_0_62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1" name="Google Shape;381;g1e6ab53953b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1075" y="2333463"/>
            <a:ext cx="419550" cy="3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7" name="Google Shape;387;g1e6ab53953b_0_71"/>
          <p:cNvGraphicFramePr/>
          <p:nvPr/>
        </p:nvGraphicFramePr>
        <p:xfrm>
          <a:off x="732588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{355372FC-7AE3-4518-9567-167C29EBA213}</a:tableStyleId>
              </a:tblPr>
              <a:tblGrid>
                <a:gridCol w="1165900"/>
                <a:gridCol w="1194475"/>
              </a:tblGrid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Nome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  <a:extLst>
                      <a:ext uri="http://customooxmlschemas.google.com/">
                        <go:slidesCustomData xmlns:go="http://customooxmlschemas.google.com/" cellId="387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Gênero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  <a:extLst>
                      <a:ext uri="http://customooxmlschemas.google.com/">
                        <go:slidesCustomData xmlns:go="http://customooxmlschemas.google.com/" cellId="387:0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Mariana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87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87:1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Tica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87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87:2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Giovana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87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87:3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Ariel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87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87:4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Mauricio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87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87:5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Eduardo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87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87:6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Henrique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87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87:7:1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388" name="Google Shape;388;g1e6ab53953b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1e6ab53953b_0_71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90" name="Google Shape;390;g1e6ab53953b_0_71"/>
          <p:cNvGraphicFramePr/>
          <p:nvPr/>
        </p:nvGraphicFramePr>
        <p:xfrm>
          <a:off x="3763125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{48C4D78B-840B-4CF0-B342-6041C879E8EB}</a:tableStyleId>
              </a:tblPr>
              <a:tblGrid>
                <a:gridCol w="1935025"/>
                <a:gridCol w="1935025"/>
                <a:gridCol w="1935025"/>
                <a:gridCol w="1935025"/>
              </a:tblGrid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Nível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Abs.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Acum.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Rela.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Feminino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Masculino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5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0,4285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N/A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391" name="Google Shape;391;g1e6ab53953b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6139" y="2164975"/>
            <a:ext cx="308350" cy="23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1e6ab53953b_0_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69125" y="2063988"/>
            <a:ext cx="333750" cy="43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1e6ab53953b_0_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2038" y="2104525"/>
            <a:ext cx="419550" cy="3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e6ab53953b_0_93"/>
          <p:cNvSpPr txBox="1"/>
          <p:nvPr/>
        </p:nvSpPr>
        <p:spPr>
          <a:xfrm>
            <a:off x="1425300" y="1864875"/>
            <a:ext cx="917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Frequência Relativa Acumulada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Podemos denotar por         a proporção acumulada do i-ésimo nível da variável no conjunto de dados, dado o acúmulo das proporções dos níveis anteriores.</a:t>
            </a:r>
            <a:endParaRPr b="0" i="0" sz="18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0" name="Google Shape;400;g1e6ab53953b_0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1e6ab53953b_0_93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2" name="Google Shape;402;g1e6ab53953b_0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8375" y="2301600"/>
            <a:ext cx="419550" cy="4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8" name="Google Shape;408;g1e6ab53953b_0_102"/>
          <p:cNvGraphicFramePr/>
          <p:nvPr/>
        </p:nvGraphicFramePr>
        <p:xfrm>
          <a:off x="732588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{355372FC-7AE3-4518-9567-167C29EBA213}</a:tableStyleId>
              </a:tblPr>
              <a:tblGrid>
                <a:gridCol w="1165900"/>
                <a:gridCol w="1194475"/>
              </a:tblGrid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Nome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  <a:extLst>
                      <a:ext uri="http://customooxmlschemas.google.com/">
                        <go:slidesCustomData xmlns:go="http://customooxmlschemas.google.com/" cellId="40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Gênero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  <a:extLst>
                      <a:ext uri="http://customooxmlschemas.google.com/">
                        <go:slidesCustomData xmlns:go="http://customooxmlschemas.google.com/" cellId="408:0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Mariana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40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408:1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Tica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40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Feminino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408:2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Giovana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40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408:3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Ariel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40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N/A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408:4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Mauricio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40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408:5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Eduardo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408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408:6:1"/>
                      </a:ext>
                    </a:extLst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Henrique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408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Masculino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408:7:1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409" name="Google Shape;409;g1e6ab53953b_0_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1e6ab53953b_0_102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Tabela de Frequências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11" name="Google Shape;411;g1e6ab53953b_0_102"/>
          <p:cNvGraphicFramePr/>
          <p:nvPr/>
        </p:nvGraphicFramePr>
        <p:xfrm>
          <a:off x="3763125" y="174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{48C4D78B-840B-4CF0-B342-6041C879E8EB}</a:tableStyleId>
              </a:tblPr>
              <a:tblGrid>
                <a:gridCol w="1548025"/>
                <a:gridCol w="1548025"/>
                <a:gridCol w="1548025"/>
                <a:gridCol w="1548025"/>
                <a:gridCol w="1548025"/>
              </a:tblGrid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Nível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Abs.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Acum.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Frequência Rela.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Freq. Rela. Acum.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Feminino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Masculino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5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0,4285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0,7142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6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N/A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412" name="Google Shape;412;g1e6ab53953b_0_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8889" y="2225425"/>
            <a:ext cx="308350" cy="23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g1e6ab53953b_0_1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350" y="2063988"/>
            <a:ext cx="333750" cy="43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1e6ab53953b_0_10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14013" y="2104525"/>
            <a:ext cx="419550" cy="3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g1e6ab53953b_0_10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13225" y="2072663"/>
            <a:ext cx="419550" cy="4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g1e6ab53953b_0_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1e6ab53953b_0_114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Exemplo de Escolaridade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23" name="Google Shape;423;g1e6ab53953b_0_114"/>
          <p:cNvGraphicFramePr/>
          <p:nvPr/>
        </p:nvGraphicFramePr>
        <p:xfrm>
          <a:off x="3763125" y="151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{48C4D78B-840B-4CF0-B342-6041C879E8EB}</a:tableStyleId>
              </a:tblPr>
              <a:tblGrid>
                <a:gridCol w="1725475"/>
                <a:gridCol w="1394025"/>
                <a:gridCol w="1394025"/>
                <a:gridCol w="1394025"/>
                <a:gridCol w="1394025"/>
              </a:tblGrid>
              <a:tr h="496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Nível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009A"/>
                    </a:solidFill>
                  </a:tcPr>
                </a:tc>
              </a:tr>
              <a:tr h="6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Fundamental Incompleto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0,2857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Médio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Completo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3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0,1428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0,4285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Superior Incompleto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4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0,1428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0,5714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Superior Completo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0,1428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0,7142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Pós Graduação Incompleta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6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0,1428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0,8571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Pós Graduação Completa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</a:t>
                      </a:r>
                      <a:endParaRPr sz="1500" u="none" cap="none" strike="noStrik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0,1428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424" name="Google Shape;424;g1e6ab53953b_0_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5825" y="1581513"/>
            <a:ext cx="452702" cy="34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g1e6ab53953b_0_1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00900" y="1542225"/>
            <a:ext cx="323506" cy="42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g1e6ab53953b_0_1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9368" y="1581513"/>
            <a:ext cx="406672" cy="34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1e6ab53953b_0_1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39253" y="1550633"/>
            <a:ext cx="406672" cy="4066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8" name="Google Shape;428;g1e6ab53953b_0_114"/>
          <p:cNvGraphicFramePr/>
          <p:nvPr/>
        </p:nvGraphicFramePr>
        <p:xfrm>
          <a:off x="739488" y="151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{355372FC-7AE3-4518-9567-167C29EBA213}</a:tableStyleId>
              </a:tblPr>
              <a:tblGrid>
                <a:gridCol w="1165900"/>
                <a:gridCol w="1760825"/>
              </a:tblGrid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Nome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Escolaridade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Mariana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Pós Graduação Incompleta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Tica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Fundamental Incompleto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Giovana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Pós Graduação Completa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Ariel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Superior Incompleto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Mauricio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Fundamental Incompleto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Eduardo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Médio 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5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Henrique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Superior Completo</a:t>
                      </a:r>
                      <a:endParaRPr sz="1500" u="none" cap="none" strike="noStrik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g1e6ab53953b_0_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g1e6ab53953b_0_127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Exemplo de Escola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g1e6ab53953b_0_127"/>
          <p:cNvSpPr txBox="1"/>
          <p:nvPr/>
        </p:nvSpPr>
        <p:spPr>
          <a:xfrm>
            <a:off x="2647650" y="2373875"/>
            <a:ext cx="6896700" cy="16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fazer isso em uma planilha eletrônica?</a:t>
            </a:r>
            <a:endParaRPr b="0" i="0" sz="4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7" name="Google Shape;437;g1e6ab53953b_0_127"/>
          <p:cNvSpPr txBox="1"/>
          <p:nvPr/>
        </p:nvSpPr>
        <p:spPr>
          <a:xfrm>
            <a:off x="2647700" y="4557100"/>
            <a:ext cx="6896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Acesse a planilha com os dados aqui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 favor, faça uma cópia da planilha</a:t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g1e6ab53953b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g1e6ab53953b_0_142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Medidas de posição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g1e6ab53953b_0_142"/>
          <p:cNvSpPr txBox="1"/>
          <p:nvPr/>
        </p:nvSpPr>
        <p:spPr>
          <a:xfrm>
            <a:off x="2647650" y="2373875"/>
            <a:ext cx="6896700" cy="16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Mas antes….</a:t>
            </a:r>
            <a:endParaRPr b="0" i="0" sz="4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6" name="Google Shape;446;g1e6ab53953b_0_142"/>
          <p:cNvSpPr txBox="1"/>
          <p:nvPr/>
        </p:nvSpPr>
        <p:spPr>
          <a:xfrm>
            <a:off x="2647700" y="4557100"/>
            <a:ext cx="6896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Vamos aprender a somar</a:t>
            </a:r>
            <a:endParaRPr b="0" i="0" sz="2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g1e6ab53953b_0_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g1e6ab53953b_0_151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Somatórios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4" name="Google Shape;454;g1e6ab53953b_0_1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025" y="1729137"/>
            <a:ext cx="1017700" cy="153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1e6ab53953b_0_1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037" y="3688625"/>
            <a:ext cx="10809925" cy="231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1e6ab53953b_0_1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2500" y="1463815"/>
            <a:ext cx="4923102" cy="1920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g1e6ab53953b_0_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g1e6ab53953b_0_162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Somatórios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4" name="Google Shape;464;g1e6ab53953b_0_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025" y="3683498"/>
            <a:ext cx="5469325" cy="26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g1e6ab53953b_0_1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025" y="1463825"/>
            <a:ext cx="1420477" cy="1799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g1e6ab53953b_0_1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2750" y="1616215"/>
            <a:ext cx="5726850" cy="2233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g1e6ab53953b_0_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g1e6ab53953b_0_172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Somatórios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4" name="Google Shape;474;g1e6ab53953b_0_1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500" y="1597875"/>
            <a:ext cx="2052489" cy="15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g1e6ab53953b_0_1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501" y="3495025"/>
            <a:ext cx="8841550" cy="282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g1e6ab53953b_0_1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5554" y="1378276"/>
            <a:ext cx="5047446" cy="19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g1e6ab53953b_0_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g1e6ab53953b_0_182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Somatórios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4" name="Google Shape;484;g1e6ab53953b_0_1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775" y="1702025"/>
            <a:ext cx="5907386" cy="573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g1e6ab53953b_0_1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775" y="2688866"/>
            <a:ext cx="1019125" cy="122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1e6ab53953b_0_1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775" y="4331601"/>
            <a:ext cx="7111325" cy="18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g1e6ab53953b_0_18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6711" y="2009390"/>
            <a:ext cx="5065040" cy="2443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g1e6ab53953b_0_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g1e6ab53953b_0_198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Somatórios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5" name="Google Shape;495;g1e6ab53953b_0_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775" y="1702025"/>
            <a:ext cx="5907386" cy="573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g1e6ab53953b_0_1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775" y="2666662"/>
            <a:ext cx="1155082" cy="129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g1e6ab53953b_0_1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775" y="4355100"/>
            <a:ext cx="7645377" cy="195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g1e6ab53953b_0_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g1e6ab53953b_0_235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Agora que sabemos somar, vamos para 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5" name="Google Shape;505;g1e6ab53953b_0_2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500" y="1549500"/>
            <a:ext cx="6853950" cy="467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g1f54b1f7361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g1f54b1f7361_1_0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Agora que sabemos somar, vamos para 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13" name="Google Shape;513;g1f54b1f7361_1_0"/>
          <p:cNvGrpSpPr/>
          <p:nvPr/>
        </p:nvGrpSpPr>
        <p:grpSpPr>
          <a:xfrm>
            <a:off x="791154" y="1463734"/>
            <a:ext cx="1392498" cy="2397652"/>
            <a:chOff x="791200" y="1463813"/>
            <a:chExt cx="1621446" cy="2791863"/>
          </a:xfrm>
        </p:grpSpPr>
        <p:grpSp>
          <p:nvGrpSpPr>
            <p:cNvPr id="514" name="Google Shape;514;g1f54b1f7361_1_0"/>
            <p:cNvGrpSpPr/>
            <p:nvPr/>
          </p:nvGrpSpPr>
          <p:grpSpPr>
            <a:xfrm>
              <a:off x="791200" y="2602325"/>
              <a:ext cx="1621446" cy="1653350"/>
              <a:chOff x="791200" y="2640850"/>
              <a:chExt cx="1621446" cy="1653350"/>
            </a:xfrm>
          </p:grpSpPr>
          <p:sp>
            <p:nvSpPr>
              <p:cNvPr id="515" name="Google Shape;515;g1f54b1f7361_1_0"/>
              <p:cNvSpPr/>
              <p:nvPr/>
            </p:nvSpPr>
            <p:spPr>
              <a:xfrm>
                <a:off x="791200" y="3237575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g1f54b1f7361_1_0"/>
              <p:cNvSpPr/>
              <p:nvPr/>
            </p:nvSpPr>
            <p:spPr>
              <a:xfrm>
                <a:off x="1371973" y="3237575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g1f54b1f7361_1_0"/>
              <p:cNvSpPr/>
              <p:nvPr/>
            </p:nvSpPr>
            <p:spPr>
              <a:xfrm>
                <a:off x="1952746" y="3237575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g1f54b1f7361_1_0"/>
              <p:cNvSpPr/>
              <p:nvPr/>
            </p:nvSpPr>
            <p:spPr>
              <a:xfrm>
                <a:off x="791200" y="3834300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g1f54b1f7361_1_0"/>
              <p:cNvSpPr/>
              <p:nvPr/>
            </p:nvSpPr>
            <p:spPr>
              <a:xfrm>
                <a:off x="1371973" y="3834300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g1f54b1f7361_1_0"/>
              <p:cNvSpPr/>
              <p:nvPr/>
            </p:nvSpPr>
            <p:spPr>
              <a:xfrm>
                <a:off x="791200" y="2640850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g1f54b1f7361_1_0"/>
              <p:cNvSpPr/>
              <p:nvPr/>
            </p:nvSpPr>
            <p:spPr>
              <a:xfrm>
                <a:off x="1371973" y="2640850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g1f54b1f7361_1_0"/>
              <p:cNvSpPr/>
              <p:nvPr/>
            </p:nvSpPr>
            <p:spPr>
              <a:xfrm>
                <a:off x="1952746" y="2640850"/>
                <a:ext cx="459900" cy="459900"/>
              </a:xfrm>
              <a:prstGeom prst="rect">
                <a:avLst/>
              </a:prstGeom>
              <a:solidFill>
                <a:srgbClr val="A700FF"/>
              </a:solidFill>
              <a:ln cap="flat" cmpd="sng" w="1905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523" name="Google Shape;523;g1f54b1f7361_1_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01725" y="146381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4" name="Google Shape;524;g1f54b1f7361_1_0"/>
          <p:cNvGrpSpPr/>
          <p:nvPr/>
        </p:nvGrpSpPr>
        <p:grpSpPr>
          <a:xfrm>
            <a:off x="3818976" y="1463734"/>
            <a:ext cx="1392498" cy="1885184"/>
            <a:chOff x="2880696" y="1463813"/>
            <a:chExt cx="1621446" cy="2195138"/>
          </a:xfrm>
        </p:grpSpPr>
        <p:grpSp>
          <p:nvGrpSpPr>
            <p:cNvPr id="525" name="Google Shape;525;g1f54b1f7361_1_0"/>
            <p:cNvGrpSpPr/>
            <p:nvPr/>
          </p:nvGrpSpPr>
          <p:grpSpPr>
            <a:xfrm>
              <a:off x="2880696" y="2602325"/>
              <a:ext cx="1621446" cy="1056625"/>
              <a:chOff x="2880696" y="2640850"/>
              <a:chExt cx="1621446" cy="1056625"/>
            </a:xfrm>
          </p:grpSpPr>
          <p:sp>
            <p:nvSpPr>
              <p:cNvPr id="526" name="Google Shape;526;g1f54b1f7361_1_0"/>
              <p:cNvSpPr/>
              <p:nvPr/>
            </p:nvSpPr>
            <p:spPr>
              <a:xfrm>
                <a:off x="2880696" y="3237575"/>
                <a:ext cx="459900" cy="459900"/>
              </a:xfrm>
              <a:prstGeom prst="rect">
                <a:avLst/>
              </a:prstGeom>
              <a:solidFill>
                <a:srgbClr val="60D44B"/>
              </a:solidFill>
              <a:ln cap="flat" cmpd="sng" w="19050">
                <a:solidFill>
                  <a:srgbClr val="09390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g1f54b1f7361_1_0"/>
              <p:cNvSpPr/>
              <p:nvPr/>
            </p:nvSpPr>
            <p:spPr>
              <a:xfrm>
                <a:off x="2880696" y="2640850"/>
                <a:ext cx="459900" cy="459900"/>
              </a:xfrm>
              <a:prstGeom prst="rect">
                <a:avLst/>
              </a:prstGeom>
              <a:solidFill>
                <a:srgbClr val="60D44B"/>
              </a:solidFill>
              <a:ln cap="flat" cmpd="sng" w="19050">
                <a:solidFill>
                  <a:srgbClr val="09390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g1f54b1f7361_1_0"/>
              <p:cNvSpPr/>
              <p:nvPr/>
            </p:nvSpPr>
            <p:spPr>
              <a:xfrm>
                <a:off x="3461469" y="2640850"/>
                <a:ext cx="459900" cy="459900"/>
              </a:xfrm>
              <a:prstGeom prst="rect">
                <a:avLst/>
              </a:prstGeom>
              <a:solidFill>
                <a:srgbClr val="60D44B"/>
              </a:solidFill>
              <a:ln cap="flat" cmpd="sng" w="19050">
                <a:solidFill>
                  <a:srgbClr val="09390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g1f54b1f7361_1_0"/>
              <p:cNvSpPr/>
              <p:nvPr/>
            </p:nvSpPr>
            <p:spPr>
              <a:xfrm>
                <a:off x="4042242" y="2640850"/>
                <a:ext cx="459900" cy="459900"/>
              </a:xfrm>
              <a:prstGeom prst="rect">
                <a:avLst/>
              </a:prstGeom>
              <a:solidFill>
                <a:srgbClr val="60D44B"/>
              </a:solidFill>
              <a:ln cap="flat" cmpd="sng" w="19050">
                <a:solidFill>
                  <a:srgbClr val="09390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530" name="Google Shape;530;g1f54b1f7361_1_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91225" y="146381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1" name="Google Shape;531;g1f54b1f7361_1_0"/>
          <p:cNvGrpSpPr/>
          <p:nvPr/>
        </p:nvGrpSpPr>
        <p:grpSpPr>
          <a:xfrm>
            <a:off x="6846798" y="1463734"/>
            <a:ext cx="1392501" cy="3921872"/>
            <a:chOff x="4970199" y="1463813"/>
            <a:chExt cx="1621450" cy="4566688"/>
          </a:xfrm>
        </p:grpSpPr>
        <p:pic>
          <p:nvPicPr>
            <p:cNvPr id="532" name="Google Shape;532;g1f54b1f7361_1_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725" y="146381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33" name="Google Shape;533;g1f54b1f7361_1_0"/>
            <p:cNvGrpSpPr/>
            <p:nvPr/>
          </p:nvGrpSpPr>
          <p:grpSpPr>
            <a:xfrm>
              <a:off x="4970199" y="2602325"/>
              <a:ext cx="1621450" cy="3428176"/>
              <a:chOff x="6938824" y="2640850"/>
              <a:chExt cx="1621450" cy="3428176"/>
            </a:xfrm>
          </p:grpSpPr>
          <p:grpSp>
            <p:nvGrpSpPr>
              <p:cNvPr id="534" name="Google Shape;534;g1f54b1f7361_1_0"/>
              <p:cNvGrpSpPr/>
              <p:nvPr/>
            </p:nvGrpSpPr>
            <p:grpSpPr>
              <a:xfrm>
                <a:off x="6938828" y="2640850"/>
                <a:ext cx="1621446" cy="2846801"/>
                <a:chOff x="6938828" y="2640850"/>
                <a:chExt cx="1621446" cy="2846801"/>
              </a:xfrm>
            </p:grpSpPr>
            <p:sp>
              <p:nvSpPr>
                <p:cNvPr id="535" name="Google Shape;535;g1f54b1f7361_1_0"/>
                <p:cNvSpPr/>
                <p:nvPr/>
              </p:nvSpPr>
              <p:spPr>
                <a:xfrm>
                  <a:off x="6938828" y="3237575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6" name="Google Shape;536;g1f54b1f7361_1_0"/>
                <p:cNvSpPr/>
                <p:nvPr/>
              </p:nvSpPr>
              <p:spPr>
                <a:xfrm>
                  <a:off x="7519601" y="3237575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7" name="Google Shape;537;g1f54b1f7361_1_0"/>
                <p:cNvSpPr/>
                <p:nvPr/>
              </p:nvSpPr>
              <p:spPr>
                <a:xfrm>
                  <a:off x="8100374" y="3237575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8" name="Google Shape;538;g1f54b1f7361_1_0"/>
                <p:cNvSpPr/>
                <p:nvPr/>
              </p:nvSpPr>
              <p:spPr>
                <a:xfrm>
                  <a:off x="6938828" y="3834300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9" name="Google Shape;539;g1f54b1f7361_1_0"/>
                <p:cNvSpPr/>
                <p:nvPr/>
              </p:nvSpPr>
              <p:spPr>
                <a:xfrm>
                  <a:off x="7519601" y="3834300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0" name="Google Shape;540;g1f54b1f7361_1_0"/>
                <p:cNvSpPr/>
                <p:nvPr/>
              </p:nvSpPr>
              <p:spPr>
                <a:xfrm>
                  <a:off x="8100374" y="3834300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1" name="Google Shape;541;g1f54b1f7361_1_0"/>
                <p:cNvSpPr/>
                <p:nvPr/>
              </p:nvSpPr>
              <p:spPr>
                <a:xfrm>
                  <a:off x="6938828" y="4431025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2" name="Google Shape;542;g1f54b1f7361_1_0"/>
                <p:cNvSpPr/>
                <p:nvPr/>
              </p:nvSpPr>
              <p:spPr>
                <a:xfrm>
                  <a:off x="7519601" y="4431025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3" name="Google Shape;543;g1f54b1f7361_1_0"/>
                <p:cNvSpPr/>
                <p:nvPr/>
              </p:nvSpPr>
              <p:spPr>
                <a:xfrm>
                  <a:off x="8100374" y="4431025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4" name="Google Shape;544;g1f54b1f7361_1_0"/>
                <p:cNvSpPr/>
                <p:nvPr/>
              </p:nvSpPr>
              <p:spPr>
                <a:xfrm>
                  <a:off x="6938828" y="5027751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5" name="Google Shape;545;g1f54b1f7361_1_0"/>
                <p:cNvSpPr/>
                <p:nvPr/>
              </p:nvSpPr>
              <p:spPr>
                <a:xfrm>
                  <a:off x="7519601" y="5027751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" name="Google Shape;546;g1f54b1f7361_1_0"/>
                <p:cNvSpPr/>
                <p:nvPr/>
              </p:nvSpPr>
              <p:spPr>
                <a:xfrm>
                  <a:off x="8100374" y="5027751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" name="Google Shape;547;g1f54b1f7361_1_0"/>
                <p:cNvSpPr/>
                <p:nvPr/>
              </p:nvSpPr>
              <p:spPr>
                <a:xfrm>
                  <a:off x="6938828" y="2640850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" name="Google Shape;548;g1f54b1f7361_1_0"/>
                <p:cNvSpPr/>
                <p:nvPr/>
              </p:nvSpPr>
              <p:spPr>
                <a:xfrm>
                  <a:off x="7519601" y="2640850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" name="Google Shape;549;g1f54b1f7361_1_0"/>
                <p:cNvSpPr/>
                <p:nvPr/>
              </p:nvSpPr>
              <p:spPr>
                <a:xfrm>
                  <a:off x="8100374" y="2640850"/>
                  <a:ext cx="459900" cy="459900"/>
                </a:xfrm>
                <a:prstGeom prst="rect">
                  <a:avLst/>
                </a:prstGeom>
                <a:solidFill>
                  <a:srgbClr val="F2D300"/>
                </a:solidFill>
                <a:ln cap="flat" cmpd="sng" w="19050">
                  <a:solidFill>
                    <a:srgbClr val="62310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50" name="Google Shape;550;g1f54b1f7361_1_0"/>
              <p:cNvSpPr/>
              <p:nvPr/>
            </p:nvSpPr>
            <p:spPr>
              <a:xfrm>
                <a:off x="6938824" y="5609126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51" name="Google Shape;551;g1f54b1f7361_1_0"/>
          <p:cNvGrpSpPr/>
          <p:nvPr/>
        </p:nvGrpSpPr>
        <p:grpSpPr>
          <a:xfrm>
            <a:off x="9874624" y="1463834"/>
            <a:ext cx="1392498" cy="2910119"/>
            <a:chOff x="7059692" y="1463813"/>
            <a:chExt cx="1621446" cy="3388588"/>
          </a:xfrm>
        </p:grpSpPr>
        <p:pic>
          <p:nvPicPr>
            <p:cNvPr id="552" name="Google Shape;552;g1f54b1f7361_1_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70225" y="146381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53" name="Google Shape;553;g1f54b1f7361_1_0"/>
            <p:cNvGrpSpPr/>
            <p:nvPr/>
          </p:nvGrpSpPr>
          <p:grpSpPr>
            <a:xfrm>
              <a:off x="7059692" y="2602325"/>
              <a:ext cx="1621446" cy="2250075"/>
              <a:chOff x="7059692" y="2602325"/>
              <a:chExt cx="1621446" cy="2250075"/>
            </a:xfrm>
          </p:grpSpPr>
          <p:sp>
            <p:nvSpPr>
              <p:cNvPr id="554" name="Google Shape;554;g1f54b1f7361_1_0"/>
              <p:cNvSpPr/>
              <p:nvPr/>
            </p:nvSpPr>
            <p:spPr>
              <a:xfrm>
                <a:off x="7059692" y="3199050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g1f54b1f7361_1_0"/>
              <p:cNvSpPr/>
              <p:nvPr/>
            </p:nvSpPr>
            <p:spPr>
              <a:xfrm>
                <a:off x="7640465" y="3199050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g1f54b1f7361_1_0"/>
              <p:cNvSpPr/>
              <p:nvPr/>
            </p:nvSpPr>
            <p:spPr>
              <a:xfrm>
                <a:off x="8221238" y="3199050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g1f54b1f7361_1_0"/>
              <p:cNvSpPr/>
              <p:nvPr/>
            </p:nvSpPr>
            <p:spPr>
              <a:xfrm>
                <a:off x="7059692" y="3795775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g1f54b1f7361_1_0"/>
              <p:cNvSpPr/>
              <p:nvPr/>
            </p:nvSpPr>
            <p:spPr>
              <a:xfrm>
                <a:off x="7640465" y="3795775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g1f54b1f7361_1_0"/>
              <p:cNvSpPr/>
              <p:nvPr/>
            </p:nvSpPr>
            <p:spPr>
              <a:xfrm>
                <a:off x="7059692" y="2602325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g1f54b1f7361_1_0"/>
              <p:cNvSpPr/>
              <p:nvPr/>
            </p:nvSpPr>
            <p:spPr>
              <a:xfrm>
                <a:off x="7640465" y="2602325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g1f54b1f7361_1_0"/>
              <p:cNvSpPr/>
              <p:nvPr/>
            </p:nvSpPr>
            <p:spPr>
              <a:xfrm>
                <a:off x="8221238" y="2602325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g1f54b1f7361_1_0"/>
              <p:cNvSpPr/>
              <p:nvPr/>
            </p:nvSpPr>
            <p:spPr>
              <a:xfrm>
                <a:off x="8221238" y="3795775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g1f54b1f7361_1_0"/>
              <p:cNvSpPr/>
              <p:nvPr/>
            </p:nvSpPr>
            <p:spPr>
              <a:xfrm>
                <a:off x="7059692" y="4392500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g1f54b1f7361_1_0"/>
              <p:cNvSpPr/>
              <p:nvPr/>
            </p:nvSpPr>
            <p:spPr>
              <a:xfrm>
                <a:off x="7640465" y="4392500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g1f54b1f7361_1_0"/>
              <p:cNvSpPr/>
              <p:nvPr/>
            </p:nvSpPr>
            <p:spPr>
              <a:xfrm>
                <a:off x="8221238" y="4392500"/>
                <a:ext cx="459900" cy="459900"/>
              </a:xfrm>
              <a:prstGeom prst="rect">
                <a:avLst/>
              </a:prstGeom>
              <a:solidFill>
                <a:srgbClr val="00BCF4"/>
              </a:solidFill>
              <a:ln cap="flat" cmpd="sng" w="19050">
                <a:solidFill>
                  <a:srgbClr val="013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g1f54b1f7361_1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g1f54b1f7361_1_59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Agora que sabemos somar, vamos para 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73" name="Google Shape;573;g1f54b1f7361_1_59"/>
          <p:cNvGrpSpPr/>
          <p:nvPr/>
        </p:nvGrpSpPr>
        <p:grpSpPr>
          <a:xfrm>
            <a:off x="791154" y="2441489"/>
            <a:ext cx="1392636" cy="1420035"/>
            <a:chOff x="791154" y="2441489"/>
            <a:chExt cx="1392636" cy="1420035"/>
          </a:xfrm>
        </p:grpSpPr>
        <p:sp>
          <p:nvSpPr>
            <p:cNvPr id="574" name="Google Shape;574;g1f54b1f7361_1_59"/>
            <p:cNvSpPr/>
            <p:nvPr/>
          </p:nvSpPr>
          <p:spPr>
            <a:xfrm>
              <a:off x="791154" y="2953956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g1f54b1f7361_1_59"/>
            <p:cNvSpPr/>
            <p:nvPr/>
          </p:nvSpPr>
          <p:spPr>
            <a:xfrm>
              <a:off x="1289922" y="2953956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g1f54b1f7361_1_59"/>
            <p:cNvSpPr/>
            <p:nvPr/>
          </p:nvSpPr>
          <p:spPr>
            <a:xfrm>
              <a:off x="1788690" y="2953956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g1f54b1f7361_1_59"/>
            <p:cNvSpPr/>
            <p:nvPr/>
          </p:nvSpPr>
          <p:spPr>
            <a:xfrm>
              <a:off x="791154" y="3466424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g1f54b1f7361_1_59"/>
            <p:cNvSpPr/>
            <p:nvPr/>
          </p:nvSpPr>
          <p:spPr>
            <a:xfrm>
              <a:off x="1289922" y="3466424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g1f54b1f7361_1_59"/>
            <p:cNvSpPr/>
            <p:nvPr/>
          </p:nvSpPr>
          <p:spPr>
            <a:xfrm>
              <a:off x="791154" y="2441489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g1f54b1f7361_1_59"/>
            <p:cNvSpPr/>
            <p:nvPr/>
          </p:nvSpPr>
          <p:spPr>
            <a:xfrm>
              <a:off x="1289922" y="2441489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g1f54b1f7361_1_59"/>
            <p:cNvSpPr/>
            <p:nvPr/>
          </p:nvSpPr>
          <p:spPr>
            <a:xfrm>
              <a:off x="1788690" y="2441489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82" name="Google Shape;582;g1f54b1f7361_1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713" y="1463734"/>
            <a:ext cx="687384" cy="687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3" name="Google Shape;583;g1f54b1f7361_1_59"/>
          <p:cNvGrpSpPr/>
          <p:nvPr/>
        </p:nvGrpSpPr>
        <p:grpSpPr>
          <a:xfrm>
            <a:off x="3818976" y="2441489"/>
            <a:ext cx="1392498" cy="907430"/>
            <a:chOff x="2880696" y="2640850"/>
            <a:chExt cx="1621446" cy="1056625"/>
          </a:xfrm>
        </p:grpSpPr>
        <p:sp>
          <p:nvSpPr>
            <p:cNvPr id="584" name="Google Shape;584;g1f54b1f7361_1_59"/>
            <p:cNvSpPr/>
            <p:nvPr/>
          </p:nvSpPr>
          <p:spPr>
            <a:xfrm>
              <a:off x="2880696" y="3237575"/>
              <a:ext cx="459900" cy="4599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g1f54b1f7361_1_59"/>
            <p:cNvSpPr/>
            <p:nvPr/>
          </p:nvSpPr>
          <p:spPr>
            <a:xfrm>
              <a:off x="2880696" y="2640850"/>
              <a:ext cx="459900" cy="4599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g1f54b1f7361_1_59"/>
            <p:cNvSpPr/>
            <p:nvPr/>
          </p:nvSpPr>
          <p:spPr>
            <a:xfrm>
              <a:off x="3461469" y="2640850"/>
              <a:ext cx="459900" cy="4599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g1f54b1f7361_1_59"/>
            <p:cNvSpPr/>
            <p:nvPr/>
          </p:nvSpPr>
          <p:spPr>
            <a:xfrm>
              <a:off x="4042242" y="2640850"/>
              <a:ext cx="459900" cy="4599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88" name="Google Shape;588;g1f54b1f7361_1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1538" y="1463734"/>
            <a:ext cx="687384" cy="68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g1f54b1f7361_1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9358" y="1463734"/>
            <a:ext cx="687384" cy="687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0" name="Google Shape;590;g1f54b1f7361_1_59"/>
          <p:cNvGrpSpPr/>
          <p:nvPr/>
        </p:nvGrpSpPr>
        <p:grpSpPr>
          <a:xfrm>
            <a:off x="6846798" y="2441489"/>
            <a:ext cx="1392501" cy="2944117"/>
            <a:chOff x="6938824" y="2640850"/>
            <a:chExt cx="1621450" cy="3428176"/>
          </a:xfrm>
        </p:grpSpPr>
        <p:grpSp>
          <p:nvGrpSpPr>
            <p:cNvPr id="591" name="Google Shape;591;g1f54b1f7361_1_59"/>
            <p:cNvGrpSpPr/>
            <p:nvPr/>
          </p:nvGrpSpPr>
          <p:grpSpPr>
            <a:xfrm>
              <a:off x="6938828" y="2640850"/>
              <a:ext cx="1621446" cy="2846801"/>
              <a:chOff x="6938828" y="2640850"/>
              <a:chExt cx="1621446" cy="2846801"/>
            </a:xfrm>
          </p:grpSpPr>
          <p:sp>
            <p:nvSpPr>
              <p:cNvPr id="592" name="Google Shape;592;g1f54b1f7361_1_59"/>
              <p:cNvSpPr/>
              <p:nvPr/>
            </p:nvSpPr>
            <p:spPr>
              <a:xfrm>
                <a:off x="6938828" y="3237575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g1f54b1f7361_1_59"/>
              <p:cNvSpPr/>
              <p:nvPr/>
            </p:nvSpPr>
            <p:spPr>
              <a:xfrm>
                <a:off x="7519601" y="3237575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g1f54b1f7361_1_59"/>
              <p:cNvSpPr/>
              <p:nvPr/>
            </p:nvSpPr>
            <p:spPr>
              <a:xfrm>
                <a:off x="8100374" y="3237575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g1f54b1f7361_1_59"/>
              <p:cNvSpPr/>
              <p:nvPr/>
            </p:nvSpPr>
            <p:spPr>
              <a:xfrm>
                <a:off x="6938828" y="3834300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g1f54b1f7361_1_59"/>
              <p:cNvSpPr/>
              <p:nvPr/>
            </p:nvSpPr>
            <p:spPr>
              <a:xfrm>
                <a:off x="7519601" y="3834300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g1f54b1f7361_1_59"/>
              <p:cNvSpPr/>
              <p:nvPr/>
            </p:nvSpPr>
            <p:spPr>
              <a:xfrm>
                <a:off x="8100374" y="3834300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g1f54b1f7361_1_59"/>
              <p:cNvSpPr/>
              <p:nvPr/>
            </p:nvSpPr>
            <p:spPr>
              <a:xfrm>
                <a:off x="6938828" y="4431025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g1f54b1f7361_1_59"/>
              <p:cNvSpPr/>
              <p:nvPr/>
            </p:nvSpPr>
            <p:spPr>
              <a:xfrm>
                <a:off x="7519601" y="4431025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g1f54b1f7361_1_59"/>
              <p:cNvSpPr/>
              <p:nvPr/>
            </p:nvSpPr>
            <p:spPr>
              <a:xfrm>
                <a:off x="8100374" y="4431025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g1f54b1f7361_1_59"/>
              <p:cNvSpPr/>
              <p:nvPr/>
            </p:nvSpPr>
            <p:spPr>
              <a:xfrm>
                <a:off x="6938828" y="5027751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g1f54b1f7361_1_59"/>
              <p:cNvSpPr/>
              <p:nvPr/>
            </p:nvSpPr>
            <p:spPr>
              <a:xfrm>
                <a:off x="7519601" y="5027751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g1f54b1f7361_1_59"/>
              <p:cNvSpPr/>
              <p:nvPr/>
            </p:nvSpPr>
            <p:spPr>
              <a:xfrm>
                <a:off x="8100374" y="5027751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g1f54b1f7361_1_59"/>
              <p:cNvSpPr/>
              <p:nvPr/>
            </p:nvSpPr>
            <p:spPr>
              <a:xfrm>
                <a:off x="6938828" y="2640850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g1f54b1f7361_1_59"/>
              <p:cNvSpPr/>
              <p:nvPr/>
            </p:nvSpPr>
            <p:spPr>
              <a:xfrm>
                <a:off x="7519601" y="2640850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g1f54b1f7361_1_59"/>
              <p:cNvSpPr/>
              <p:nvPr/>
            </p:nvSpPr>
            <p:spPr>
              <a:xfrm>
                <a:off x="8100374" y="2640850"/>
                <a:ext cx="459900" cy="459900"/>
              </a:xfrm>
              <a:prstGeom prst="rect">
                <a:avLst/>
              </a:prstGeom>
              <a:solidFill>
                <a:srgbClr val="F2D300"/>
              </a:solidFill>
              <a:ln cap="flat" cmpd="sng" w="19050">
                <a:solidFill>
                  <a:srgbClr val="62310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07" name="Google Shape;607;g1f54b1f7361_1_59"/>
            <p:cNvSpPr/>
            <p:nvPr/>
          </p:nvSpPr>
          <p:spPr>
            <a:xfrm>
              <a:off x="6938824" y="5609126"/>
              <a:ext cx="459900" cy="4599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08" name="Google Shape;608;g1f54b1f7361_1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7189" y="1463834"/>
            <a:ext cx="687384" cy="687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9" name="Google Shape;609;g1f54b1f7361_1_59"/>
          <p:cNvGrpSpPr/>
          <p:nvPr/>
        </p:nvGrpSpPr>
        <p:grpSpPr>
          <a:xfrm>
            <a:off x="9874624" y="2441589"/>
            <a:ext cx="1392498" cy="1932365"/>
            <a:chOff x="7059692" y="2602325"/>
            <a:chExt cx="1621446" cy="2250075"/>
          </a:xfrm>
        </p:grpSpPr>
        <p:sp>
          <p:nvSpPr>
            <p:cNvPr id="610" name="Google Shape;610;g1f54b1f7361_1_59"/>
            <p:cNvSpPr/>
            <p:nvPr/>
          </p:nvSpPr>
          <p:spPr>
            <a:xfrm>
              <a:off x="7059692" y="3199050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g1f54b1f7361_1_59"/>
            <p:cNvSpPr/>
            <p:nvPr/>
          </p:nvSpPr>
          <p:spPr>
            <a:xfrm>
              <a:off x="7640465" y="3199050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g1f54b1f7361_1_59"/>
            <p:cNvSpPr/>
            <p:nvPr/>
          </p:nvSpPr>
          <p:spPr>
            <a:xfrm>
              <a:off x="8221238" y="3199050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g1f54b1f7361_1_59"/>
            <p:cNvSpPr/>
            <p:nvPr/>
          </p:nvSpPr>
          <p:spPr>
            <a:xfrm>
              <a:off x="7059692" y="3795775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g1f54b1f7361_1_59"/>
            <p:cNvSpPr/>
            <p:nvPr/>
          </p:nvSpPr>
          <p:spPr>
            <a:xfrm>
              <a:off x="7640465" y="3795775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g1f54b1f7361_1_59"/>
            <p:cNvSpPr/>
            <p:nvPr/>
          </p:nvSpPr>
          <p:spPr>
            <a:xfrm>
              <a:off x="7059692" y="2602325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g1f54b1f7361_1_59"/>
            <p:cNvSpPr/>
            <p:nvPr/>
          </p:nvSpPr>
          <p:spPr>
            <a:xfrm>
              <a:off x="7640465" y="2602325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g1f54b1f7361_1_59"/>
            <p:cNvSpPr/>
            <p:nvPr/>
          </p:nvSpPr>
          <p:spPr>
            <a:xfrm>
              <a:off x="8221238" y="2602325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g1f54b1f7361_1_59"/>
            <p:cNvSpPr/>
            <p:nvPr/>
          </p:nvSpPr>
          <p:spPr>
            <a:xfrm>
              <a:off x="8221238" y="3795775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g1f54b1f7361_1_59"/>
            <p:cNvSpPr/>
            <p:nvPr/>
          </p:nvSpPr>
          <p:spPr>
            <a:xfrm>
              <a:off x="7059692" y="4392500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g1f54b1f7361_1_59"/>
            <p:cNvSpPr/>
            <p:nvPr/>
          </p:nvSpPr>
          <p:spPr>
            <a:xfrm>
              <a:off x="7640465" y="4392500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g1f54b1f7361_1_59"/>
            <p:cNvSpPr/>
            <p:nvPr/>
          </p:nvSpPr>
          <p:spPr>
            <a:xfrm>
              <a:off x="8221238" y="4392500"/>
              <a:ext cx="459900" cy="4599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2" name="Google Shape;622;g1f54b1f7361_1_59"/>
          <p:cNvSpPr/>
          <p:nvPr/>
        </p:nvSpPr>
        <p:spPr>
          <a:xfrm>
            <a:off x="791092" y="5863514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1f54b1f7361_1_59"/>
          <p:cNvSpPr/>
          <p:nvPr/>
        </p:nvSpPr>
        <p:spPr>
          <a:xfrm>
            <a:off x="1289842" y="5863964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1f54b1f7361_1_59"/>
          <p:cNvSpPr/>
          <p:nvPr/>
        </p:nvSpPr>
        <p:spPr>
          <a:xfrm>
            <a:off x="3818967" y="5863289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1f54b1f7361_1_59"/>
          <p:cNvSpPr/>
          <p:nvPr/>
        </p:nvSpPr>
        <p:spPr>
          <a:xfrm>
            <a:off x="4317717" y="5863739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1f54b1f7361_1_59"/>
          <p:cNvSpPr/>
          <p:nvPr/>
        </p:nvSpPr>
        <p:spPr>
          <a:xfrm>
            <a:off x="6846842" y="5863064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1f54b1f7361_1_59"/>
          <p:cNvSpPr/>
          <p:nvPr/>
        </p:nvSpPr>
        <p:spPr>
          <a:xfrm>
            <a:off x="7345592" y="5863514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1f54b1f7361_1_59"/>
          <p:cNvSpPr/>
          <p:nvPr/>
        </p:nvSpPr>
        <p:spPr>
          <a:xfrm>
            <a:off x="9874717" y="5862839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1f54b1f7361_1_59"/>
          <p:cNvSpPr/>
          <p:nvPr/>
        </p:nvSpPr>
        <p:spPr>
          <a:xfrm>
            <a:off x="10373467" y="5863289"/>
            <a:ext cx="395100" cy="395100"/>
          </a:xfrm>
          <a:prstGeom prst="rect">
            <a:avLst/>
          </a:prstGeom>
          <a:solidFill>
            <a:srgbClr val="A700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1f54b1f7361_1_59"/>
          <p:cNvSpPr/>
          <p:nvPr/>
        </p:nvSpPr>
        <p:spPr>
          <a:xfrm>
            <a:off x="1788601" y="5863981"/>
            <a:ext cx="395100" cy="395100"/>
          </a:xfrm>
          <a:prstGeom prst="rect">
            <a:avLst/>
          </a:prstGeom>
          <a:solidFill>
            <a:srgbClr val="60D44B"/>
          </a:solidFill>
          <a:ln cap="flat" cmpd="sng" w="19050">
            <a:solidFill>
              <a:srgbClr val="093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g1f54b1f7361_1_59"/>
          <p:cNvSpPr/>
          <p:nvPr/>
        </p:nvSpPr>
        <p:spPr>
          <a:xfrm>
            <a:off x="4816476" y="5863981"/>
            <a:ext cx="395100" cy="395100"/>
          </a:xfrm>
          <a:prstGeom prst="rect">
            <a:avLst/>
          </a:prstGeom>
          <a:solidFill>
            <a:srgbClr val="60D44B"/>
          </a:solidFill>
          <a:ln cap="flat" cmpd="sng" w="19050">
            <a:solidFill>
              <a:srgbClr val="093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1f54b1f7361_1_59"/>
          <p:cNvSpPr/>
          <p:nvPr/>
        </p:nvSpPr>
        <p:spPr>
          <a:xfrm>
            <a:off x="7844351" y="5862856"/>
            <a:ext cx="395100" cy="395100"/>
          </a:xfrm>
          <a:prstGeom prst="rect">
            <a:avLst/>
          </a:prstGeom>
          <a:solidFill>
            <a:srgbClr val="60D44B"/>
          </a:solidFill>
          <a:ln cap="flat" cmpd="sng" w="19050">
            <a:solidFill>
              <a:srgbClr val="093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1f54b1f7361_1_59"/>
          <p:cNvSpPr/>
          <p:nvPr/>
        </p:nvSpPr>
        <p:spPr>
          <a:xfrm>
            <a:off x="10872226" y="5863531"/>
            <a:ext cx="395100" cy="395100"/>
          </a:xfrm>
          <a:prstGeom prst="rect">
            <a:avLst/>
          </a:prstGeom>
          <a:solidFill>
            <a:srgbClr val="60D44B"/>
          </a:solidFill>
          <a:ln cap="flat" cmpd="sng" w="19050">
            <a:solidFill>
              <a:srgbClr val="093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1f54b1f7361_1_59"/>
          <p:cNvSpPr/>
          <p:nvPr/>
        </p:nvSpPr>
        <p:spPr>
          <a:xfrm>
            <a:off x="791098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1f54b1f7361_1_59"/>
          <p:cNvSpPr/>
          <p:nvPr/>
        </p:nvSpPr>
        <p:spPr>
          <a:xfrm>
            <a:off x="128986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1f54b1f7361_1_59"/>
          <p:cNvSpPr/>
          <p:nvPr/>
        </p:nvSpPr>
        <p:spPr>
          <a:xfrm>
            <a:off x="178861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1f54b1f7361_1_59"/>
          <p:cNvSpPr/>
          <p:nvPr/>
        </p:nvSpPr>
        <p:spPr>
          <a:xfrm>
            <a:off x="791111" y="4907669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1f54b1f7361_1_59"/>
          <p:cNvSpPr/>
          <p:nvPr/>
        </p:nvSpPr>
        <p:spPr>
          <a:xfrm>
            <a:off x="3818948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g1f54b1f7361_1_59"/>
          <p:cNvSpPr/>
          <p:nvPr/>
        </p:nvSpPr>
        <p:spPr>
          <a:xfrm>
            <a:off x="431771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1f54b1f7361_1_59"/>
          <p:cNvSpPr/>
          <p:nvPr/>
        </p:nvSpPr>
        <p:spPr>
          <a:xfrm>
            <a:off x="481646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1f54b1f7361_1_59"/>
          <p:cNvSpPr/>
          <p:nvPr/>
        </p:nvSpPr>
        <p:spPr>
          <a:xfrm>
            <a:off x="3818961" y="4907669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1f54b1f7361_1_59"/>
          <p:cNvSpPr/>
          <p:nvPr/>
        </p:nvSpPr>
        <p:spPr>
          <a:xfrm>
            <a:off x="6846798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1f54b1f7361_1_59"/>
          <p:cNvSpPr/>
          <p:nvPr/>
        </p:nvSpPr>
        <p:spPr>
          <a:xfrm>
            <a:off x="734556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1f54b1f7361_1_59"/>
          <p:cNvSpPr/>
          <p:nvPr/>
        </p:nvSpPr>
        <p:spPr>
          <a:xfrm>
            <a:off x="784431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g1f54b1f7361_1_59"/>
          <p:cNvSpPr/>
          <p:nvPr/>
        </p:nvSpPr>
        <p:spPr>
          <a:xfrm>
            <a:off x="6846811" y="4907669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1f54b1f7361_1_59"/>
          <p:cNvSpPr/>
          <p:nvPr/>
        </p:nvSpPr>
        <p:spPr>
          <a:xfrm>
            <a:off x="9874548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1f54b1f7361_1_59"/>
          <p:cNvSpPr/>
          <p:nvPr/>
        </p:nvSpPr>
        <p:spPr>
          <a:xfrm>
            <a:off x="1037331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1f54b1f7361_1_59"/>
          <p:cNvSpPr/>
          <p:nvPr/>
        </p:nvSpPr>
        <p:spPr>
          <a:xfrm>
            <a:off x="10872061" y="5385594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1f54b1f7361_1_59"/>
          <p:cNvSpPr/>
          <p:nvPr/>
        </p:nvSpPr>
        <p:spPr>
          <a:xfrm>
            <a:off x="9874561" y="4907669"/>
            <a:ext cx="395100" cy="395100"/>
          </a:xfrm>
          <a:prstGeom prst="rect">
            <a:avLst/>
          </a:prstGeom>
          <a:solidFill>
            <a:srgbClr val="F2D300"/>
          </a:solidFill>
          <a:ln cap="flat" cmpd="sng" w="19050">
            <a:solidFill>
              <a:srgbClr val="623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1f54b1f7361_1_59"/>
          <p:cNvSpPr/>
          <p:nvPr/>
        </p:nvSpPr>
        <p:spPr>
          <a:xfrm>
            <a:off x="1289861" y="4907216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g1f54b1f7361_1_59"/>
          <p:cNvSpPr/>
          <p:nvPr/>
        </p:nvSpPr>
        <p:spPr>
          <a:xfrm>
            <a:off x="1788599" y="4907216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1f54b1f7361_1_59"/>
          <p:cNvSpPr/>
          <p:nvPr/>
        </p:nvSpPr>
        <p:spPr>
          <a:xfrm>
            <a:off x="791099" y="4425929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1f54b1f7361_1_59"/>
          <p:cNvSpPr/>
          <p:nvPr/>
        </p:nvSpPr>
        <p:spPr>
          <a:xfrm>
            <a:off x="4317711" y="4907891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1f54b1f7361_1_59"/>
          <p:cNvSpPr/>
          <p:nvPr/>
        </p:nvSpPr>
        <p:spPr>
          <a:xfrm>
            <a:off x="4816449" y="4907891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1f54b1f7361_1_59"/>
          <p:cNvSpPr/>
          <p:nvPr/>
        </p:nvSpPr>
        <p:spPr>
          <a:xfrm>
            <a:off x="3818949" y="4426604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g1f54b1f7361_1_59"/>
          <p:cNvSpPr/>
          <p:nvPr/>
        </p:nvSpPr>
        <p:spPr>
          <a:xfrm>
            <a:off x="7345511" y="4908116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1f54b1f7361_1_59"/>
          <p:cNvSpPr/>
          <p:nvPr/>
        </p:nvSpPr>
        <p:spPr>
          <a:xfrm>
            <a:off x="7844249" y="4908116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1f54b1f7361_1_59"/>
          <p:cNvSpPr/>
          <p:nvPr/>
        </p:nvSpPr>
        <p:spPr>
          <a:xfrm>
            <a:off x="6846749" y="4426829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1f54b1f7361_1_59"/>
          <p:cNvSpPr/>
          <p:nvPr/>
        </p:nvSpPr>
        <p:spPr>
          <a:xfrm>
            <a:off x="10373311" y="4908341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1f54b1f7361_1_59"/>
          <p:cNvSpPr/>
          <p:nvPr/>
        </p:nvSpPr>
        <p:spPr>
          <a:xfrm>
            <a:off x="10872049" y="4908341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1f54b1f7361_1_59"/>
          <p:cNvSpPr/>
          <p:nvPr/>
        </p:nvSpPr>
        <p:spPr>
          <a:xfrm>
            <a:off x="9874549" y="4427054"/>
            <a:ext cx="395100" cy="395100"/>
          </a:xfrm>
          <a:prstGeom prst="rect">
            <a:avLst/>
          </a:prstGeom>
          <a:solidFill>
            <a:srgbClr val="00BCF4"/>
          </a:solidFill>
          <a:ln cap="flat" cmpd="sng" w="19050">
            <a:solidFill>
              <a:srgbClr val="0131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8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4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6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9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g1f54b1f7361_1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g1f54b1f7361_1_154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Agora que sabemos somar, vamos para 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9" name="Google Shape;669;g1f54b1f7361_1_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713" y="1463734"/>
            <a:ext cx="687384" cy="68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g1f54b1f7361_1_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1538" y="1463734"/>
            <a:ext cx="687384" cy="68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g1f54b1f7361_1_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9358" y="1463734"/>
            <a:ext cx="687384" cy="68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g1f54b1f7361_1_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7189" y="1463834"/>
            <a:ext cx="687384" cy="687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3" name="Google Shape;673;g1f54b1f7361_1_154"/>
          <p:cNvGrpSpPr/>
          <p:nvPr/>
        </p:nvGrpSpPr>
        <p:grpSpPr>
          <a:xfrm>
            <a:off x="791092" y="2673329"/>
            <a:ext cx="10476235" cy="1833153"/>
            <a:chOff x="791092" y="2673329"/>
            <a:chExt cx="10476235" cy="1833153"/>
          </a:xfrm>
        </p:grpSpPr>
        <p:sp>
          <p:nvSpPr>
            <p:cNvPr id="674" name="Google Shape;674;g1f54b1f7361_1_154"/>
            <p:cNvSpPr/>
            <p:nvPr/>
          </p:nvSpPr>
          <p:spPr>
            <a:xfrm>
              <a:off x="791092" y="4110914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g1f54b1f7361_1_154"/>
            <p:cNvSpPr/>
            <p:nvPr/>
          </p:nvSpPr>
          <p:spPr>
            <a:xfrm>
              <a:off x="1289842" y="4111364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g1f54b1f7361_1_154"/>
            <p:cNvSpPr/>
            <p:nvPr/>
          </p:nvSpPr>
          <p:spPr>
            <a:xfrm>
              <a:off x="3818967" y="4110689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g1f54b1f7361_1_154"/>
            <p:cNvSpPr/>
            <p:nvPr/>
          </p:nvSpPr>
          <p:spPr>
            <a:xfrm>
              <a:off x="4317717" y="4111139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g1f54b1f7361_1_154"/>
            <p:cNvSpPr/>
            <p:nvPr/>
          </p:nvSpPr>
          <p:spPr>
            <a:xfrm>
              <a:off x="6846842" y="4110464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g1f54b1f7361_1_154"/>
            <p:cNvSpPr/>
            <p:nvPr/>
          </p:nvSpPr>
          <p:spPr>
            <a:xfrm>
              <a:off x="7345592" y="4110914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g1f54b1f7361_1_154"/>
            <p:cNvSpPr/>
            <p:nvPr/>
          </p:nvSpPr>
          <p:spPr>
            <a:xfrm>
              <a:off x="9874717" y="4110239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g1f54b1f7361_1_154"/>
            <p:cNvSpPr/>
            <p:nvPr/>
          </p:nvSpPr>
          <p:spPr>
            <a:xfrm>
              <a:off x="10373467" y="4110689"/>
              <a:ext cx="395100" cy="395100"/>
            </a:xfrm>
            <a:prstGeom prst="rect">
              <a:avLst/>
            </a:prstGeom>
            <a:solidFill>
              <a:srgbClr val="A700FF"/>
            </a:solidFill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g1f54b1f7361_1_154"/>
            <p:cNvSpPr/>
            <p:nvPr/>
          </p:nvSpPr>
          <p:spPr>
            <a:xfrm>
              <a:off x="1788601" y="4111381"/>
              <a:ext cx="395100" cy="3951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g1f54b1f7361_1_154"/>
            <p:cNvSpPr/>
            <p:nvPr/>
          </p:nvSpPr>
          <p:spPr>
            <a:xfrm>
              <a:off x="4816476" y="4111381"/>
              <a:ext cx="395100" cy="3951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g1f54b1f7361_1_154"/>
            <p:cNvSpPr/>
            <p:nvPr/>
          </p:nvSpPr>
          <p:spPr>
            <a:xfrm>
              <a:off x="7844351" y="4110256"/>
              <a:ext cx="395100" cy="3951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g1f54b1f7361_1_154"/>
            <p:cNvSpPr/>
            <p:nvPr/>
          </p:nvSpPr>
          <p:spPr>
            <a:xfrm>
              <a:off x="10872226" y="4110931"/>
              <a:ext cx="395100" cy="395100"/>
            </a:xfrm>
            <a:prstGeom prst="rect">
              <a:avLst/>
            </a:prstGeom>
            <a:solidFill>
              <a:srgbClr val="60D44B"/>
            </a:solidFill>
            <a:ln cap="flat" cmpd="sng" w="19050">
              <a:solidFill>
                <a:srgbClr val="0939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g1f54b1f7361_1_154"/>
            <p:cNvSpPr/>
            <p:nvPr/>
          </p:nvSpPr>
          <p:spPr>
            <a:xfrm>
              <a:off x="791098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g1f54b1f7361_1_154"/>
            <p:cNvSpPr/>
            <p:nvPr/>
          </p:nvSpPr>
          <p:spPr>
            <a:xfrm>
              <a:off x="128986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g1f54b1f7361_1_154"/>
            <p:cNvSpPr/>
            <p:nvPr/>
          </p:nvSpPr>
          <p:spPr>
            <a:xfrm>
              <a:off x="178861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g1f54b1f7361_1_154"/>
            <p:cNvSpPr/>
            <p:nvPr/>
          </p:nvSpPr>
          <p:spPr>
            <a:xfrm>
              <a:off x="791111" y="3155069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g1f54b1f7361_1_154"/>
            <p:cNvSpPr/>
            <p:nvPr/>
          </p:nvSpPr>
          <p:spPr>
            <a:xfrm>
              <a:off x="3818948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g1f54b1f7361_1_154"/>
            <p:cNvSpPr/>
            <p:nvPr/>
          </p:nvSpPr>
          <p:spPr>
            <a:xfrm>
              <a:off x="431771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g1f54b1f7361_1_154"/>
            <p:cNvSpPr/>
            <p:nvPr/>
          </p:nvSpPr>
          <p:spPr>
            <a:xfrm>
              <a:off x="481646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g1f54b1f7361_1_154"/>
            <p:cNvSpPr/>
            <p:nvPr/>
          </p:nvSpPr>
          <p:spPr>
            <a:xfrm>
              <a:off x="3818961" y="3155069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g1f54b1f7361_1_154"/>
            <p:cNvSpPr/>
            <p:nvPr/>
          </p:nvSpPr>
          <p:spPr>
            <a:xfrm>
              <a:off x="6846798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g1f54b1f7361_1_154"/>
            <p:cNvSpPr/>
            <p:nvPr/>
          </p:nvSpPr>
          <p:spPr>
            <a:xfrm>
              <a:off x="734556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g1f54b1f7361_1_154"/>
            <p:cNvSpPr/>
            <p:nvPr/>
          </p:nvSpPr>
          <p:spPr>
            <a:xfrm>
              <a:off x="784431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g1f54b1f7361_1_154"/>
            <p:cNvSpPr/>
            <p:nvPr/>
          </p:nvSpPr>
          <p:spPr>
            <a:xfrm>
              <a:off x="6846811" y="3155069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g1f54b1f7361_1_154"/>
            <p:cNvSpPr/>
            <p:nvPr/>
          </p:nvSpPr>
          <p:spPr>
            <a:xfrm>
              <a:off x="9874548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g1f54b1f7361_1_154"/>
            <p:cNvSpPr/>
            <p:nvPr/>
          </p:nvSpPr>
          <p:spPr>
            <a:xfrm>
              <a:off x="1037331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g1f54b1f7361_1_154"/>
            <p:cNvSpPr/>
            <p:nvPr/>
          </p:nvSpPr>
          <p:spPr>
            <a:xfrm>
              <a:off x="10872061" y="3632994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g1f54b1f7361_1_154"/>
            <p:cNvSpPr/>
            <p:nvPr/>
          </p:nvSpPr>
          <p:spPr>
            <a:xfrm>
              <a:off x="9874561" y="3155069"/>
              <a:ext cx="395100" cy="395100"/>
            </a:xfrm>
            <a:prstGeom prst="rect">
              <a:avLst/>
            </a:prstGeom>
            <a:solidFill>
              <a:srgbClr val="F2D300"/>
            </a:solidFill>
            <a:ln cap="flat" cmpd="sng" w="19050">
              <a:solidFill>
                <a:srgbClr val="623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g1f54b1f7361_1_154"/>
            <p:cNvSpPr/>
            <p:nvPr/>
          </p:nvSpPr>
          <p:spPr>
            <a:xfrm>
              <a:off x="1289861" y="3154616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g1f54b1f7361_1_154"/>
            <p:cNvSpPr/>
            <p:nvPr/>
          </p:nvSpPr>
          <p:spPr>
            <a:xfrm>
              <a:off x="1788599" y="3154616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g1f54b1f7361_1_154"/>
            <p:cNvSpPr/>
            <p:nvPr/>
          </p:nvSpPr>
          <p:spPr>
            <a:xfrm>
              <a:off x="791099" y="2673329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g1f54b1f7361_1_154"/>
            <p:cNvSpPr/>
            <p:nvPr/>
          </p:nvSpPr>
          <p:spPr>
            <a:xfrm>
              <a:off x="4317711" y="3155291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g1f54b1f7361_1_154"/>
            <p:cNvSpPr/>
            <p:nvPr/>
          </p:nvSpPr>
          <p:spPr>
            <a:xfrm>
              <a:off x="4816449" y="3155291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g1f54b1f7361_1_154"/>
            <p:cNvSpPr/>
            <p:nvPr/>
          </p:nvSpPr>
          <p:spPr>
            <a:xfrm>
              <a:off x="3818949" y="2674004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g1f54b1f7361_1_154"/>
            <p:cNvSpPr/>
            <p:nvPr/>
          </p:nvSpPr>
          <p:spPr>
            <a:xfrm>
              <a:off x="7345511" y="3155516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g1f54b1f7361_1_154"/>
            <p:cNvSpPr/>
            <p:nvPr/>
          </p:nvSpPr>
          <p:spPr>
            <a:xfrm>
              <a:off x="7844249" y="3155516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g1f54b1f7361_1_154"/>
            <p:cNvSpPr/>
            <p:nvPr/>
          </p:nvSpPr>
          <p:spPr>
            <a:xfrm>
              <a:off x="6846749" y="2674229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g1f54b1f7361_1_154"/>
            <p:cNvSpPr/>
            <p:nvPr/>
          </p:nvSpPr>
          <p:spPr>
            <a:xfrm>
              <a:off x="10373311" y="3155741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g1f54b1f7361_1_154"/>
            <p:cNvSpPr/>
            <p:nvPr/>
          </p:nvSpPr>
          <p:spPr>
            <a:xfrm>
              <a:off x="10872049" y="3155741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g1f54b1f7361_1_154"/>
            <p:cNvSpPr/>
            <p:nvPr/>
          </p:nvSpPr>
          <p:spPr>
            <a:xfrm>
              <a:off x="9874549" y="2674454"/>
              <a:ext cx="395100" cy="395100"/>
            </a:xfrm>
            <a:prstGeom prst="rect">
              <a:avLst/>
            </a:prstGeom>
            <a:solidFill>
              <a:srgbClr val="00BCF4"/>
            </a:solidFill>
            <a:ln cap="flat" cmpd="sng" w="19050">
              <a:solidFill>
                <a:srgbClr val="013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14" name="Google Shape;714;g1f54b1f7361_1_154"/>
          <p:cNvCxnSpPr/>
          <p:nvPr/>
        </p:nvCxnSpPr>
        <p:spPr>
          <a:xfrm>
            <a:off x="723325" y="4815900"/>
            <a:ext cx="105645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5" name="Google Shape;715;g1f54b1f7361_1_154"/>
          <p:cNvSpPr txBox="1"/>
          <p:nvPr/>
        </p:nvSpPr>
        <p:spPr>
          <a:xfrm>
            <a:off x="878263" y="5028675"/>
            <a:ext cx="121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Montserrat SemiBold"/>
                <a:ea typeface="Montserrat SemiBold"/>
                <a:cs typeface="Montserrat SemiBold"/>
                <a:sym typeface="Montserrat SemiBold"/>
              </a:rPr>
              <a:t>10</a:t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16" name="Google Shape;716;g1f54b1f7361_1_154"/>
          <p:cNvSpPr txBox="1"/>
          <p:nvPr/>
        </p:nvSpPr>
        <p:spPr>
          <a:xfrm>
            <a:off x="3857388" y="5028675"/>
            <a:ext cx="121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Montserrat SemiBold"/>
                <a:ea typeface="Montserrat SemiBold"/>
                <a:cs typeface="Montserrat SemiBold"/>
                <a:sym typeface="Montserrat SemiBold"/>
              </a:rPr>
              <a:t>10</a:t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17" name="Google Shape;717;g1f54b1f7361_1_154"/>
          <p:cNvSpPr txBox="1"/>
          <p:nvPr/>
        </p:nvSpPr>
        <p:spPr>
          <a:xfrm>
            <a:off x="6933888" y="5028675"/>
            <a:ext cx="121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Montserrat SemiBold"/>
                <a:ea typeface="Montserrat SemiBold"/>
                <a:cs typeface="Montserrat SemiBold"/>
                <a:sym typeface="Montserrat SemiBold"/>
              </a:rPr>
              <a:t>10</a:t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18" name="Google Shape;718;g1f54b1f7361_1_154"/>
          <p:cNvSpPr txBox="1"/>
          <p:nvPr/>
        </p:nvSpPr>
        <p:spPr>
          <a:xfrm>
            <a:off x="10010388" y="5028575"/>
            <a:ext cx="121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Montserrat SemiBold"/>
                <a:ea typeface="Montserrat SemiBold"/>
                <a:cs typeface="Montserrat SemiBold"/>
                <a:sym typeface="Montserrat SemiBold"/>
              </a:rPr>
              <a:t>10</a:t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g1e6ab53953b_0_5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g1e6ab53953b_0_528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Definição da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26" name="Google Shape;726;g1e6ab53953b_0_528"/>
          <p:cNvGrpSpPr/>
          <p:nvPr/>
        </p:nvGrpSpPr>
        <p:grpSpPr>
          <a:xfrm>
            <a:off x="6964350" y="3429000"/>
            <a:ext cx="3819600" cy="2919300"/>
            <a:chOff x="6964350" y="3429000"/>
            <a:chExt cx="3819600" cy="2919300"/>
          </a:xfrm>
        </p:grpSpPr>
        <p:sp>
          <p:nvSpPr>
            <p:cNvPr id="727" name="Google Shape;727;g1e6ab53953b_0_528"/>
            <p:cNvSpPr/>
            <p:nvPr/>
          </p:nvSpPr>
          <p:spPr>
            <a:xfrm>
              <a:off x="6964350" y="3429000"/>
              <a:ext cx="3819600" cy="29193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8" name="Google Shape;728;g1e6ab53953b_0_5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72681" y="4769675"/>
              <a:ext cx="2802937" cy="146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9" name="Google Shape;729;g1e6ab53953b_0_528"/>
            <p:cNvSpPr txBox="1"/>
            <p:nvPr/>
          </p:nvSpPr>
          <p:spPr>
            <a:xfrm>
              <a:off x="7156200" y="3759625"/>
              <a:ext cx="34359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Para dados</a:t>
              </a:r>
              <a:endParaRPr b="0" i="0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amostrais</a:t>
              </a:r>
              <a:endParaRPr b="0" i="0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730" name="Google Shape;730;g1e6ab53953b_0_5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3913" y="683475"/>
            <a:ext cx="4780476" cy="24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g1e6ab53953b_0_5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3100" y="1653338"/>
            <a:ext cx="3819600" cy="14286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2" name="Google Shape;732;g1e6ab53953b_0_528"/>
          <p:cNvGrpSpPr/>
          <p:nvPr/>
        </p:nvGrpSpPr>
        <p:grpSpPr>
          <a:xfrm>
            <a:off x="1044300" y="3429000"/>
            <a:ext cx="3819600" cy="2919300"/>
            <a:chOff x="1044300" y="3429000"/>
            <a:chExt cx="3819600" cy="2919300"/>
          </a:xfrm>
        </p:grpSpPr>
        <p:sp>
          <p:nvSpPr>
            <p:cNvPr id="733" name="Google Shape;733;g1e6ab53953b_0_528"/>
            <p:cNvSpPr/>
            <p:nvPr/>
          </p:nvSpPr>
          <p:spPr>
            <a:xfrm>
              <a:off x="1044300" y="3429000"/>
              <a:ext cx="3819600" cy="29193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g1e6ab53953b_0_528"/>
            <p:cNvSpPr txBox="1"/>
            <p:nvPr/>
          </p:nvSpPr>
          <p:spPr>
            <a:xfrm>
              <a:off x="1236150" y="3759625"/>
              <a:ext cx="34359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Para dados populacionais</a:t>
              </a:r>
              <a:endParaRPr b="0" i="0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735" name="Google Shape;735;g1e6ab53953b_0_52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427312" y="4567100"/>
              <a:ext cx="3053575" cy="1572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g1e6b53436af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g1e6b53436af_0_33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Definição da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43" name="Google Shape;743;g1e6b53436af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913" y="683475"/>
            <a:ext cx="4780476" cy="24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g1e6b53436af_0_33"/>
          <p:cNvSpPr txBox="1"/>
          <p:nvPr/>
        </p:nvSpPr>
        <p:spPr>
          <a:xfrm>
            <a:off x="1484875" y="3565150"/>
            <a:ext cx="91818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média é uma medida de tendência central. Isto é, ela é o ponto mais próximo de todos os outros pontos do nosso conjunto de dados. Por este motivo, muitas vezes é utilizada para ser a representante do conjunto de dados.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 outras palavras, ela é uma fortíssima candidata para sumarizar o conjunto de dados em um único valor.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45" name="Google Shape;745;g1e6b53436af_0_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3100" y="1653338"/>
            <a:ext cx="3819600" cy="142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g1e6b53436a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g1e6b53436af_0_0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Definição da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53" name="Google Shape;753;g1e6b53436af_0_0"/>
          <p:cNvPicPr preferRelativeResize="0"/>
          <p:nvPr/>
        </p:nvPicPr>
        <p:blipFill rotWithShape="1">
          <a:blip r:embed="rId4">
            <a:alphaModFix/>
          </a:blip>
          <a:srcRect b="86171" l="0" r="39132" t="0"/>
          <a:stretch/>
        </p:blipFill>
        <p:spPr>
          <a:xfrm>
            <a:off x="7850800" y="696825"/>
            <a:ext cx="3444725" cy="53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g1e6b53436af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500" y="1803050"/>
            <a:ext cx="9516600" cy="41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g1e6b53436af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g1e6b53436af_0_20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Definição da Média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2" name="Google Shape;762;g1e6b53436af_0_20"/>
          <p:cNvPicPr preferRelativeResize="0"/>
          <p:nvPr/>
        </p:nvPicPr>
        <p:blipFill rotWithShape="1">
          <a:blip r:embed="rId4">
            <a:alphaModFix/>
          </a:blip>
          <a:srcRect b="86171" l="0" r="39132" t="0"/>
          <a:stretch/>
        </p:blipFill>
        <p:spPr>
          <a:xfrm>
            <a:off x="7850800" y="696825"/>
            <a:ext cx="3444725" cy="53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g1e6b53436af_0_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00" y="1534750"/>
            <a:ext cx="8578599" cy="4816901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g1e6b53436af_0_20"/>
          <p:cNvSpPr/>
          <p:nvPr/>
        </p:nvSpPr>
        <p:spPr>
          <a:xfrm rot="10800000">
            <a:off x="9665125" y="3653100"/>
            <a:ext cx="1160100" cy="5802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5" name="Google Shape;765;g1e6b53436af_0_20"/>
          <p:cNvGrpSpPr/>
          <p:nvPr/>
        </p:nvGrpSpPr>
        <p:grpSpPr>
          <a:xfrm>
            <a:off x="10043575" y="1818975"/>
            <a:ext cx="403200" cy="4248450"/>
            <a:chOff x="10043575" y="1818975"/>
            <a:chExt cx="403200" cy="4248450"/>
          </a:xfrm>
        </p:grpSpPr>
        <p:sp>
          <p:nvSpPr>
            <p:cNvPr id="766" name="Google Shape;766;g1e6b53436af_0_20"/>
            <p:cNvSpPr/>
            <p:nvPr/>
          </p:nvSpPr>
          <p:spPr>
            <a:xfrm>
              <a:off x="10043575" y="1818975"/>
              <a:ext cx="403200" cy="806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F4CCCC"/>
            </a:solidFill>
            <a:ln cap="flat" cmpd="sng" w="38100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g1e6b53436af_0_20"/>
            <p:cNvSpPr/>
            <p:nvPr/>
          </p:nvSpPr>
          <p:spPr>
            <a:xfrm rot="10800000">
              <a:off x="10043575" y="5261025"/>
              <a:ext cx="403200" cy="806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F4CCCC"/>
            </a:solidFill>
            <a:ln cap="flat" cmpd="sng" w="38100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g1e6b53436af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g1e6b53436af_0_50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 sobre a mediana?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5" name="Google Shape;775;g1e6b53436af_0_50"/>
          <p:cNvPicPr preferRelativeResize="0"/>
          <p:nvPr/>
        </p:nvPicPr>
        <p:blipFill rotWithShape="1">
          <a:blip r:embed="rId4">
            <a:alphaModFix/>
          </a:blip>
          <a:srcRect b="86171" l="0" r="39132" t="0"/>
          <a:stretch/>
        </p:blipFill>
        <p:spPr>
          <a:xfrm>
            <a:off x="1425300" y="3162400"/>
            <a:ext cx="3444725" cy="5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g1e6b53436af_0_50"/>
          <p:cNvSpPr txBox="1"/>
          <p:nvPr/>
        </p:nvSpPr>
        <p:spPr>
          <a:xfrm>
            <a:off x="1484763" y="1639550"/>
            <a:ext cx="9222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mediana também é uma medida de tendência central. A questão é que ela considera a ordem dos valores e divide os dados em sua metade. Isto é, 50% dos valores são maiores que ela, e 50% dos valores são menores do que ela.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77" name="Google Shape;777;g1e6b53436af_0_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2275" y="3162400"/>
            <a:ext cx="4165625" cy="5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g1e6b53436af_0_50"/>
          <p:cNvSpPr/>
          <p:nvPr/>
        </p:nvSpPr>
        <p:spPr>
          <a:xfrm>
            <a:off x="9036775" y="3603250"/>
            <a:ext cx="381300" cy="5331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381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g1e6b53436af_0_50"/>
          <p:cNvSpPr txBox="1"/>
          <p:nvPr/>
        </p:nvSpPr>
        <p:spPr>
          <a:xfrm>
            <a:off x="1484638" y="4375450"/>
            <a:ext cx="9222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temos uma quantidade de elementos par, o valor da medida está entre 8 e 12. Assim, podemos somar os dois valores e dividi-los por 2.</a:t>
            </a:r>
            <a:endParaRPr b="0" i="0" sz="17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0" name="Google Shape;780;g1e6b53436af_0_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61600" y="5438925"/>
            <a:ext cx="3268801" cy="8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g1e6b53436af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g1e6b53436af_0_70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 sobre a mediana? Fórmula geral.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8" name="Google Shape;788;g1e6b53436af_0_70"/>
          <p:cNvSpPr txBox="1"/>
          <p:nvPr/>
        </p:nvSpPr>
        <p:spPr>
          <a:xfrm>
            <a:off x="1484763" y="1639550"/>
            <a:ext cx="922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quantidade par de elementos no conjunto de dados: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89" name="Google Shape;789;g1e6b53436af_0_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5300" y="2345235"/>
            <a:ext cx="9222602" cy="4093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g1e6b53436af_0_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67350" y="2181175"/>
            <a:ext cx="3140024" cy="17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6" name="Google Shape;796;g1e6b53436af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g1e6b53436af_0_85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 sobre a mediana? Fórmula geral.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8" name="Google Shape;798;g1e6b53436af_0_85"/>
          <p:cNvSpPr txBox="1"/>
          <p:nvPr/>
        </p:nvSpPr>
        <p:spPr>
          <a:xfrm>
            <a:off x="1484763" y="1639550"/>
            <a:ext cx="922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quantidade ímpar de elementos no conjunto de dados:</a:t>
            </a:r>
            <a:endParaRPr b="0" i="0" sz="1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99" name="Google Shape;799;g1e6b53436af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5300" y="2487950"/>
            <a:ext cx="9658801" cy="3807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g1e6b53436af_0_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5942" y="2181175"/>
            <a:ext cx="3782833" cy="17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g1e6b53436af_0_106" title="hist_media_mediana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3827" y="2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g1e6b53436af_0_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g1e6b53436af_0_116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 sobre a mediana? Quando utilizá-la?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4" name="Google Shape;814;g1e6b53436af_0_116"/>
          <p:cNvSpPr txBox="1"/>
          <p:nvPr/>
        </p:nvSpPr>
        <p:spPr>
          <a:xfrm>
            <a:off x="1484763" y="1639550"/>
            <a:ext cx="9222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vimos no vídeo anterior, a mediana é menos sensível a dados que se distanciam da maior concentração. Lembram que a média busca sempre ter a menor distância entre todos os valores do conjunto de dados, assim, ela “corre” para os valores que estão se distanciando dos demais.</a:t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g1e6b53436af_0_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g1e6b53436af_0_166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Quartis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2" name="Google Shape;822;g1e6b53436af_0_166"/>
          <p:cNvSpPr txBox="1"/>
          <p:nvPr/>
        </p:nvSpPr>
        <p:spPr>
          <a:xfrm>
            <a:off x="1484763" y="1639550"/>
            <a:ext cx="9222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3" name="Google Shape;823;g1e6b53436af_0_166"/>
          <p:cNvSpPr/>
          <p:nvPr/>
        </p:nvSpPr>
        <p:spPr>
          <a:xfrm>
            <a:off x="6292950" y="2301375"/>
            <a:ext cx="869100" cy="5367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F3F3F3"/>
          </a:solidFill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1e6b53436af_0_166"/>
          <p:cNvSpPr/>
          <p:nvPr/>
        </p:nvSpPr>
        <p:spPr>
          <a:xfrm>
            <a:off x="6292950" y="4496625"/>
            <a:ext cx="869100" cy="5367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F3F3F3"/>
          </a:solidFill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1e6b53436af_0_166"/>
          <p:cNvSpPr txBox="1"/>
          <p:nvPr/>
        </p:nvSpPr>
        <p:spPr>
          <a:xfrm>
            <a:off x="7373975" y="2138775"/>
            <a:ext cx="4078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25% dos valores são menores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75% dos valores são maiores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1e6b53436af_0_166"/>
          <p:cNvSpPr txBox="1"/>
          <p:nvPr/>
        </p:nvSpPr>
        <p:spPr>
          <a:xfrm>
            <a:off x="7373975" y="4334025"/>
            <a:ext cx="4078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75% dos valores são menores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25% dos valores são maiores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7" name="Google Shape;827;g1e6b53436af_0_1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975" y="4311800"/>
            <a:ext cx="4733167" cy="90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g1e6b53436af_0_1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7987" y="2116550"/>
            <a:ext cx="4733159" cy="9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g1e6e955fa83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6225" y="702500"/>
            <a:ext cx="3140024" cy="17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g1e6e955fa83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g1e6e955fa83_0_14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Quartis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7" name="Google Shape;837;g1e6e955fa83_0_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625" y="2409425"/>
            <a:ext cx="7299901" cy="38740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8" name="Google Shape;838;g1e6e955fa83_0_14"/>
          <p:cNvGrpSpPr/>
          <p:nvPr/>
        </p:nvGrpSpPr>
        <p:grpSpPr>
          <a:xfrm>
            <a:off x="8369300" y="3429000"/>
            <a:ext cx="3140024" cy="573200"/>
            <a:chOff x="8369300" y="3429000"/>
            <a:chExt cx="3140024" cy="573200"/>
          </a:xfrm>
        </p:grpSpPr>
        <p:sp>
          <p:nvSpPr>
            <p:cNvPr id="839" name="Google Shape;839;g1e6e955fa83_0_14"/>
            <p:cNvSpPr/>
            <p:nvPr/>
          </p:nvSpPr>
          <p:spPr>
            <a:xfrm>
              <a:off x="9430450" y="3473300"/>
              <a:ext cx="499500" cy="5289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g1e6e955fa83_0_14"/>
            <p:cNvSpPr/>
            <p:nvPr/>
          </p:nvSpPr>
          <p:spPr>
            <a:xfrm>
              <a:off x="9929950" y="3473300"/>
              <a:ext cx="1540200" cy="5289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1" name="Google Shape;841;g1e6e955fa83_0_14"/>
            <p:cNvPicPr preferRelativeResize="0"/>
            <p:nvPr/>
          </p:nvPicPr>
          <p:blipFill rotWithShape="1">
            <a:blip r:embed="rId3">
              <a:alphaModFix/>
            </a:blip>
            <a:srcRect b="0" l="0" r="0" t="67703"/>
            <a:stretch/>
          </p:blipFill>
          <p:spPr>
            <a:xfrm>
              <a:off x="8369300" y="3429000"/>
              <a:ext cx="3140024" cy="57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2" name="Google Shape;842;g1e6e955fa83_0_14"/>
          <p:cNvGrpSpPr/>
          <p:nvPr/>
        </p:nvGrpSpPr>
        <p:grpSpPr>
          <a:xfrm>
            <a:off x="8369300" y="5710300"/>
            <a:ext cx="3140024" cy="573200"/>
            <a:chOff x="8369300" y="5710300"/>
            <a:chExt cx="3140024" cy="573200"/>
          </a:xfrm>
        </p:grpSpPr>
        <p:sp>
          <p:nvSpPr>
            <p:cNvPr id="843" name="Google Shape;843;g1e6e955fa83_0_14"/>
            <p:cNvSpPr/>
            <p:nvPr/>
          </p:nvSpPr>
          <p:spPr>
            <a:xfrm>
              <a:off x="9430450" y="5754600"/>
              <a:ext cx="1488600" cy="5289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g1e6e955fa83_0_14"/>
            <p:cNvSpPr/>
            <p:nvPr/>
          </p:nvSpPr>
          <p:spPr>
            <a:xfrm>
              <a:off x="10918950" y="5754600"/>
              <a:ext cx="551100" cy="5289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5" name="Google Shape;845;g1e6e955fa83_0_14"/>
            <p:cNvPicPr preferRelativeResize="0"/>
            <p:nvPr/>
          </p:nvPicPr>
          <p:blipFill rotWithShape="1">
            <a:blip r:embed="rId3">
              <a:alphaModFix/>
            </a:blip>
            <a:srcRect b="0" l="0" r="0" t="67703"/>
            <a:stretch/>
          </p:blipFill>
          <p:spPr>
            <a:xfrm>
              <a:off x="8369300" y="5710300"/>
              <a:ext cx="3140024" cy="573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g1e6b53436af_0_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g1e6b53436af_0_125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O que está na moda?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3" name="Google Shape;853;g1e6b53436af_0_125"/>
          <p:cNvSpPr txBox="1"/>
          <p:nvPr/>
        </p:nvSpPr>
        <p:spPr>
          <a:xfrm>
            <a:off x="1484763" y="1487150"/>
            <a:ext cx="9222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moda é mais uma medida de posição onde consideramos o valor que mais aparece no conjunto de dados, isto é, valor com maior frequência. Ela é muito utilizada para valores discretos e variáveis qualitativas, uma vez que seu cálculo é mais simples de ser realizado.</a:t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Quando temos dados contínuos, é necessário criar intervalos entre os valores para definirmos a moda.</a:t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54" name="Google Shape;854;g1e6b53436af_0_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4775" y="4996450"/>
            <a:ext cx="4901950" cy="1000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5" name="Google Shape;855;g1e6b53436af_0_125"/>
          <p:cNvCxnSpPr/>
          <p:nvPr/>
        </p:nvCxnSpPr>
        <p:spPr>
          <a:xfrm>
            <a:off x="8548700" y="6229275"/>
            <a:ext cx="236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56" name="Google Shape;856;g1e6b53436af_0_125"/>
          <p:cNvGrpSpPr/>
          <p:nvPr/>
        </p:nvGrpSpPr>
        <p:grpSpPr>
          <a:xfrm>
            <a:off x="8543925" y="4324350"/>
            <a:ext cx="2367000" cy="1905000"/>
            <a:chOff x="8543925" y="4324350"/>
            <a:chExt cx="2367000" cy="1905000"/>
          </a:xfrm>
        </p:grpSpPr>
        <p:grpSp>
          <p:nvGrpSpPr>
            <p:cNvPr id="857" name="Google Shape;857;g1e6b53436af_0_125"/>
            <p:cNvGrpSpPr/>
            <p:nvPr/>
          </p:nvGrpSpPr>
          <p:grpSpPr>
            <a:xfrm>
              <a:off x="8543925" y="4324350"/>
              <a:ext cx="2367000" cy="1905000"/>
              <a:chOff x="8543925" y="4324350"/>
              <a:chExt cx="2367000" cy="1905000"/>
            </a:xfrm>
          </p:grpSpPr>
          <p:grpSp>
            <p:nvGrpSpPr>
              <p:cNvPr id="858" name="Google Shape;858;g1e6b53436af_0_125"/>
              <p:cNvGrpSpPr/>
              <p:nvPr/>
            </p:nvGrpSpPr>
            <p:grpSpPr>
              <a:xfrm>
                <a:off x="8722050" y="4329125"/>
                <a:ext cx="2099053" cy="1900200"/>
                <a:chOff x="8722050" y="4329125"/>
                <a:chExt cx="2099053" cy="1900200"/>
              </a:xfrm>
            </p:grpSpPr>
            <p:pic>
              <p:nvPicPr>
                <p:cNvPr id="859" name="Google Shape;859;g1e6b53436af_0_12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8722050" y="4404075"/>
                  <a:ext cx="2099053" cy="180444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860" name="Google Shape;860;g1e6b53436af_0_125"/>
                <p:cNvCxnSpPr/>
                <p:nvPr/>
              </p:nvCxnSpPr>
              <p:spPr>
                <a:xfrm>
                  <a:off x="9444050" y="4329125"/>
                  <a:ext cx="0" cy="1900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61" name="Google Shape;861;g1e6b53436af_0_125"/>
              <p:cNvCxnSpPr/>
              <p:nvPr/>
            </p:nvCxnSpPr>
            <p:spPr>
              <a:xfrm>
                <a:off x="8543925" y="4329125"/>
                <a:ext cx="0" cy="1900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2" name="Google Shape;862;g1e6b53436af_0_125"/>
              <p:cNvCxnSpPr/>
              <p:nvPr/>
            </p:nvCxnSpPr>
            <p:spPr>
              <a:xfrm>
                <a:off x="10910900" y="4324350"/>
                <a:ext cx="0" cy="190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3" name="Google Shape;863;g1e6b53436af_0_125"/>
              <p:cNvCxnSpPr/>
              <p:nvPr/>
            </p:nvCxnSpPr>
            <p:spPr>
              <a:xfrm>
                <a:off x="8543925" y="4327875"/>
                <a:ext cx="236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864" name="Google Shape;864;g1e6b53436af_0_125"/>
            <p:cNvCxnSpPr/>
            <p:nvPr/>
          </p:nvCxnSpPr>
          <p:spPr>
            <a:xfrm>
              <a:off x="8543925" y="4656300"/>
              <a:ext cx="2367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Google Shape;870;g1e6b53436af_0_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g1e6b53436af_0_145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Mínimo e Máximo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2" name="Google Shape;872;g1e6b53436af_0_145"/>
          <p:cNvSpPr txBox="1"/>
          <p:nvPr/>
        </p:nvSpPr>
        <p:spPr>
          <a:xfrm>
            <a:off x="1172550" y="1921025"/>
            <a:ext cx="9846900" cy="43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Ponto de Mínimo</a:t>
            </a:r>
            <a:r>
              <a:rPr b="0" i="0" lang="en-US" sz="18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O ponto de mínimo refere-se ao valor mais baixo em um conjunto de dados. É o número que possui o valor mais baixo entre todos os valores presentes.</a:t>
            </a:r>
            <a:endParaRPr b="0" i="0" sz="1800" u="none" cap="none" strike="noStrike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Ponto de Máximo</a:t>
            </a:r>
            <a:r>
              <a:rPr b="0" i="0" lang="en-US" sz="18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O ponto de máximo refere-se ao valor mais alto em um conjunto de dados. É o número que possui o valor mais alto entre todos os valores presentes.</a:t>
            </a:r>
            <a:endParaRPr b="0" i="0" sz="1800" u="none" cap="none" strike="noStrike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Esses termos são bastante intuitivos e são frequentemente usados para se referir aos valores extremos em um conjunto de dados.</a:t>
            </a:r>
            <a:endParaRPr b="0" i="0" sz="1800" u="none" cap="none" strike="noStrike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g1e6e955fa83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g1e6e955fa83_0_34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Mas e a distribuição dos valores?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0" name="Google Shape;880;g1e6e955fa83_0_34"/>
          <p:cNvSpPr txBox="1"/>
          <p:nvPr/>
        </p:nvSpPr>
        <p:spPr>
          <a:xfrm>
            <a:off x="1425300" y="1539675"/>
            <a:ext cx="9601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 calcularmos novamente a distância entre todos os pontos?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Mas dessa vez considerando a melhor medida que temos, que é a média?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81" name="Google Shape;881;g1e6e955fa83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5300" y="2696575"/>
            <a:ext cx="2384100" cy="1211675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g1e6e955fa83_0_34"/>
          <p:cNvSpPr txBox="1"/>
          <p:nvPr/>
        </p:nvSpPr>
        <p:spPr>
          <a:xfrm>
            <a:off x="1295250" y="4277350"/>
            <a:ext cx="96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Qual será essa distância média?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3" name="Google Shape;883;g1e6e955fa83_0_34"/>
          <p:cNvSpPr/>
          <p:nvPr/>
        </p:nvSpPr>
        <p:spPr>
          <a:xfrm>
            <a:off x="7454300" y="1623177"/>
            <a:ext cx="4842666" cy="2870640"/>
          </a:xfrm>
          <a:prstGeom prst="irregularSeal2">
            <a:avLst/>
          </a:prstGeom>
          <a:solidFill>
            <a:srgbClr val="FFD966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Variância!</a:t>
            </a:r>
            <a:endParaRPr b="1" i="0" sz="2700" u="none" cap="none" strike="noStrike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4" name="Google Shape;884;g1e6e955fa83_0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5300" y="4815250"/>
            <a:ext cx="2679209" cy="138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g1e6e955fa83_0_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10753" y="4815250"/>
            <a:ext cx="3816035" cy="138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Google Shape;891;g1e6e955fa83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g1e6e955fa83_0_47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As coisas mudam um pouco para amostras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3" name="Google Shape;893;g1e6e955fa83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6088" y="2338388"/>
            <a:ext cx="6219825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9" name="Google Shape;899;g1e6e955fa83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g1e6e955fa83_0_60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Medida quadrática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1" name="Google Shape;901;g1e6e955fa83_0_60"/>
          <p:cNvSpPr txBox="1"/>
          <p:nvPr/>
        </p:nvSpPr>
        <p:spPr>
          <a:xfrm>
            <a:off x="1425300" y="1539675"/>
            <a:ext cx="9601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variância é uma medida quadrática, então podemos calcular a raiz quadrada do valor final para poder obter maior interpretabilidade do valor.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902" name="Google Shape;902;g1e6e955fa83_0_60"/>
          <p:cNvGrpSpPr/>
          <p:nvPr/>
        </p:nvGrpSpPr>
        <p:grpSpPr>
          <a:xfrm>
            <a:off x="6994050" y="246852"/>
            <a:ext cx="4842666" cy="2870640"/>
            <a:chOff x="7454300" y="1623177"/>
            <a:chExt cx="4842666" cy="2870640"/>
          </a:xfrm>
        </p:grpSpPr>
        <p:sp>
          <p:nvSpPr>
            <p:cNvPr id="903" name="Google Shape;903;g1e6e955fa83_0_60"/>
            <p:cNvSpPr/>
            <p:nvPr/>
          </p:nvSpPr>
          <p:spPr>
            <a:xfrm>
              <a:off x="7454300" y="1623177"/>
              <a:ext cx="4842666" cy="2870640"/>
            </a:xfrm>
            <a:prstGeom prst="irregularSeal2">
              <a:avLst/>
            </a:prstGeom>
            <a:solidFill>
              <a:srgbClr val="FFD966"/>
            </a:solidFill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t/>
              </a:r>
              <a:endParaRPr b="1" i="0" sz="2700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04" name="Google Shape;904;g1e6e955fa83_0_60"/>
            <p:cNvSpPr txBox="1"/>
            <p:nvPr/>
          </p:nvSpPr>
          <p:spPr>
            <a:xfrm rot="-822325">
              <a:off x="7905452" y="2446214"/>
              <a:ext cx="3427595" cy="132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-US" sz="3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Desvio</a:t>
              </a:r>
              <a:endParaRPr b="0" i="0" sz="3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-US" sz="3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Padrão!</a:t>
              </a:r>
              <a:endParaRPr b="0" i="0" sz="3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5" name="Google Shape;905;g1e6e955fa83_0_60"/>
          <p:cNvGrpSpPr/>
          <p:nvPr/>
        </p:nvGrpSpPr>
        <p:grpSpPr>
          <a:xfrm>
            <a:off x="6449013" y="3304750"/>
            <a:ext cx="4634100" cy="2742000"/>
            <a:chOff x="6449013" y="3304750"/>
            <a:chExt cx="4634100" cy="2742000"/>
          </a:xfrm>
        </p:grpSpPr>
        <p:sp>
          <p:nvSpPr>
            <p:cNvPr id="906" name="Google Shape;906;g1e6e955fa83_0_60"/>
            <p:cNvSpPr/>
            <p:nvPr/>
          </p:nvSpPr>
          <p:spPr>
            <a:xfrm>
              <a:off x="6449013" y="3304750"/>
              <a:ext cx="4634100" cy="2742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g1e6e955fa83_0_60"/>
            <p:cNvSpPr txBox="1"/>
            <p:nvPr/>
          </p:nvSpPr>
          <p:spPr>
            <a:xfrm>
              <a:off x="7363100" y="3422300"/>
              <a:ext cx="3263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Para dados amostrais</a:t>
              </a:r>
              <a:endParaRPr b="0" i="0" sz="16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908" name="Google Shape;908;g1e6e955fa83_0_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94570" y="4127300"/>
              <a:ext cx="4143026" cy="17432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9" name="Google Shape;909;g1e6e955fa83_0_60"/>
          <p:cNvGrpSpPr/>
          <p:nvPr/>
        </p:nvGrpSpPr>
        <p:grpSpPr>
          <a:xfrm>
            <a:off x="1103225" y="3304750"/>
            <a:ext cx="4634100" cy="2742000"/>
            <a:chOff x="1103225" y="3304750"/>
            <a:chExt cx="4634100" cy="2742000"/>
          </a:xfrm>
        </p:grpSpPr>
        <p:sp>
          <p:nvSpPr>
            <p:cNvPr id="910" name="Google Shape;910;g1e6e955fa83_0_60"/>
            <p:cNvSpPr/>
            <p:nvPr/>
          </p:nvSpPr>
          <p:spPr>
            <a:xfrm>
              <a:off x="1103225" y="3304750"/>
              <a:ext cx="4634100" cy="2742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g1e6e955fa83_0_60"/>
            <p:cNvSpPr txBox="1"/>
            <p:nvPr/>
          </p:nvSpPr>
          <p:spPr>
            <a:xfrm>
              <a:off x="2017313" y="3422300"/>
              <a:ext cx="3263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Para dados populacionais</a:t>
              </a:r>
              <a:endParaRPr b="0" i="0" sz="16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912" name="Google Shape;912;g1e6e955fa83_0_6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48758" y="4165551"/>
              <a:ext cx="4143025" cy="17049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8" name="Google Shape;918;g1e6f83c462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g1e6f83c462a_0_0"/>
          <p:cNvSpPr txBox="1"/>
          <p:nvPr>
            <p:ph idx="4294967295" type="title"/>
          </p:nvPr>
        </p:nvSpPr>
        <p:spPr>
          <a:xfrm>
            <a:off x="1425300" y="463025"/>
            <a:ext cx="10147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Amplitude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0" name="Google Shape;920;g1e6f83c462a_0_0"/>
          <p:cNvSpPr txBox="1"/>
          <p:nvPr/>
        </p:nvSpPr>
        <p:spPr>
          <a:xfrm>
            <a:off x="1425300" y="1539675"/>
            <a:ext cx="9601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Podemos inferir a extensão de nossos dados a partir da amplitude, subtraindo o valor máximo pelo mínimo de nosso conjunto de dados.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21" name="Google Shape;921;g1e6f83c462a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7562" y="2960425"/>
            <a:ext cx="7896876" cy="5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g1e6f83c462a_0_0"/>
          <p:cNvSpPr txBox="1"/>
          <p:nvPr/>
        </p:nvSpPr>
        <p:spPr>
          <a:xfrm>
            <a:off x="1295250" y="4088950"/>
            <a:ext cx="9601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Quando há presença de pontos discrepantes, muito distantes da região central, a amplitude é impactada. Além disso, não temos informações sobre a distribuição interna do conjunto de dados.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923" name="Google Shape;923;g1e6f83c462a_0_0"/>
          <p:cNvGrpSpPr/>
          <p:nvPr/>
        </p:nvGrpSpPr>
        <p:grpSpPr>
          <a:xfrm>
            <a:off x="8293100" y="5321050"/>
            <a:ext cx="3140024" cy="581450"/>
            <a:chOff x="8369300" y="5702050"/>
            <a:chExt cx="3140024" cy="581450"/>
          </a:xfrm>
        </p:grpSpPr>
        <p:sp>
          <p:nvSpPr>
            <p:cNvPr id="924" name="Google Shape;924;g1e6f83c462a_0_0"/>
            <p:cNvSpPr/>
            <p:nvPr/>
          </p:nvSpPr>
          <p:spPr>
            <a:xfrm>
              <a:off x="9430450" y="5754600"/>
              <a:ext cx="465600" cy="5289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g1e6f83c462a_0_0"/>
            <p:cNvSpPr/>
            <p:nvPr/>
          </p:nvSpPr>
          <p:spPr>
            <a:xfrm>
              <a:off x="10918950" y="5754600"/>
              <a:ext cx="551100" cy="5289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6" name="Google Shape;926;g1e6f83c462a_0_0"/>
            <p:cNvPicPr preferRelativeResize="0"/>
            <p:nvPr/>
          </p:nvPicPr>
          <p:blipFill rotWithShape="1">
            <a:blip r:embed="rId5">
              <a:alphaModFix/>
            </a:blip>
            <a:srcRect b="0" l="0" r="0" t="67703"/>
            <a:stretch/>
          </p:blipFill>
          <p:spPr>
            <a:xfrm>
              <a:off x="8369300" y="5702050"/>
              <a:ext cx="3140024" cy="573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g2cc5363ff24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500" y="6205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g2cc5363ff24_0_7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Exercício</a:t>
            </a: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 de Escola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4" name="Google Shape;934;g2cc5363ff24_0_7"/>
          <p:cNvSpPr txBox="1"/>
          <p:nvPr/>
        </p:nvSpPr>
        <p:spPr>
          <a:xfrm>
            <a:off x="2647650" y="2373875"/>
            <a:ext cx="6896700" cy="16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>
                <a:latin typeface="Montserrat Medium"/>
                <a:ea typeface="Montserrat Medium"/>
                <a:cs typeface="Montserrat Medium"/>
                <a:sym typeface="Montserrat Medium"/>
              </a:rPr>
              <a:t>Calcule cada estatística descritiva das variáveis numéricas</a:t>
            </a:r>
            <a:endParaRPr b="0" i="0" sz="4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35" name="Google Shape;935;g2cc5363ff24_0_7"/>
          <p:cNvSpPr txBox="1"/>
          <p:nvPr/>
        </p:nvSpPr>
        <p:spPr>
          <a:xfrm>
            <a:off x="2647700" y="4557100"/>
            <a:ext cx="6896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Acesse a planilha com os dados aqui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 favor, faça uma cópia da planilha</a:t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g1e6f83c462a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050" y="37780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g1e6f83c462a_0_23"/>
          <p:cNvSpPr txBox="1"/>
          <p:nvPr/>
        </p:nvSpPr>
        <p:spPr>
          <a:xfrm>
            <a:off x="1022550" y="282100"/>
            <a:ext cx="298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3" name="Google Shape;943;g1e6f83c462a_0_23"/>
          <p:cNvSpPr txBox="1"/>
          <p:nvPr/>
        </p:nvSpPr>
        <p:spPr>
          <a:xfrm>
            <a:off x="888325" y="3076400"/>
            <a:ext cx="5077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que usar?</a:t>
            </a:r>
            <a:endParaRPr b="0" i="0" sz="26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que </a:t>
            </a:r>
            <a:r>
              <a:rPr b="1" i="0" lang="en-US" sz="2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não</a:t>
            </a:r>
            <a:r>
              <a:rPr b="0" i="0" lang="en-US" sz="26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usar?</a:t>
            </a:r>
            <a:endParaRPr b="0" i="0" sz="26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9" name="Google Shape;949;g1e6f83c462a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g1e6f83c462a_0_31"/>
          <p:cNvSpPr txBox="1"/>
          <p:nvPr/>
        </p:nvSpPr>
        <p:spPr>
          <a:xfrm>
            <a:off x="1463300" y="546525"/>
            <a:ext cx="635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 de barras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1" name="Google Shape;951;g1e6f83c462a_0_31"/>
          <p:cNvSpPr txBox="1"/>
          <p:nvPr/>
        </p:nvSpPr>
        <p:spPr>
          <a:xfrm>
            <a:off x="1463300" y="1423725"/>
            <a:ext cx="772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Utilizado para representar variáveis qualitativas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52" name="Google Shape;952;g1e6f83c462a_0_31" title="Gráfico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1688" y="2224825"/>
            <a:ext cx="6608625" cy="408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8" name="Google Shape;958;g1e6f83c462a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g1e6f83c462a_0_40"/>
          <p:cNvSpPr txBox="1"/>
          <p:nvPr/>
        </p:nvSpPr>
        <p:spPr>
          <a:xfrm>
            <a:off x="1463300" y="546525"/>
            <a:ext cx="635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 de linhas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0" name="Google Shape;960;g1e6f83c462a_0_40"/>
          <p:cNvSpPr txBox="1"/>
          <p:nvPr/>
        </p:nvSpPr>
        <p:spPr>
          <a:xfrm>
            <a:off x="1463300" y="1423725"/>
            <a:ext cx="9326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Utilizado para representar variáveis quantitativas, normalmente ao longo do tempo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61" name="Google Shape;961;g1e6f83c462a_0_40" title="Gráfico"/>
          <p:cNvPicPr preferRelativeResize="0"/>
          <p:nvPr/>
        </p:nvPicPr>
        <p:blipFill rotWithShape="1">
          <a:blip r:embed="rId4">
            <a:alphaModFix/>
          </a:blip>
          <a:srcRect b="9990" l="0" r="0" t="0"/>
          <a:stretch/>
        </p:blipFill>
        <p:spPr>
          <a:xfrm>
            <a:off x="2660100" y="2405275"/>
            <a:ext cx="6871798" cy="381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g1e6f83c462a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g1e6f83c462a_0_49"/>
          <p:cNvSpPr txBox="1"/>
          <p:nvPr/>
        </p:nvSpPr>
        <p:spPr>
          <a:xfrm>
            <a:off x="1463300" y="546525"/>
            <a:ext cx="635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Histograma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9" name="Google Shape;969;g1e6f83c462a_0_49"/>
          <p:cNvSpPr txBox="1"/>
          <p:nvPr/>
        </p:nvSpPr>
        <p:spPr>
          <a:xfrm>
            <a:off x="1463300" y="1423725"/>
            <a:ext cx="932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Utilizado para representar a distribuição de dados quantitativos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70" name="Google Shape;970;g1e6f83c462a_0_49" title="Gráfico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7975" y="2066175"/>
            <a:ext cx="6256050" cy="4264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g1e6f83c462a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g1e6f83c462a_0_58"/>
          <p:cNvSpPr txBox="1"/>
          <p:nvPr/>
        </p:nvSpPr>
        <p:spPr>
          <a:xfrm>
            <a:off x="1463300" y="546525"/>
            <a:ext cx="635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Histograma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8" name="Google Shape;978;g1e6f83c462a_0_58"/>
          <p:cNvSpPr txBox="1"/>
          <p:nvPr/>
        </p:nvSpPr>
        <p:spPr>
          <a:xfrm>
            <a:off x="1463300" y="1423725"/>
            <a:ext cx="93261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funciona?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AutoNum type="arabi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Precisamos definir a quantidade de bins (intervalos)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AutoNum type="alphaL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Regra de Sturges: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AutoNum type="alphaL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Regra da Raiz Quadrada: 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AutoNum type="alphaL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Definir um valor arbitrário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AutoNum type="arabi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Calcular a frequência em cada um dos bins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AutoNum type="arabi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Esboçar o gráfico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79" name="Google Shape;979;g1e6f83c462a_0_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8375" y="2739400"/>
            <a:ext cx="2818225" cy="3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g1e6f83c462a_0_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1075" y="3340713"/>
            <a:ext cx="1706791" cy="3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g1e6f83c462a_0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g1e6f83c462a_0_68"/>
          <p:cNvSpPr txBox="1"/>
          <p:nvPr/>
        </p:nvSpPr>
        <p:spPr>
          <a:xfrm>
            <a:off x="1463300" y="546525"/>
            <a:ext cx="635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Boxplot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8" name="Google Shape;988;g1e6f83c462a_0_68"/>
          <p:cNvPicPr preferRelativeResize="0"/>
          <p:nvPr/>
        </p:nvPicPr>
        <p:blipFill rotWithShape="1">
          <a:blip r:embed="rId4">
            <a:alphaModFix/>
          </a:blip>
          <a:srcRect b="9536" l="2489" r="8288" t="5241"/>
          <a:stretch/>
        </p:blipFill>
        <p:spPr>
          <a:xfrm>
            <a:off x="2362400" y="1524675"/>
            <a:ext cx="6600250" cy="47282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9" name="Google Shape;989;g1e6f83c462a_0_68"/>
          <p:cNvCxnSpPr/>
          <p:nvPr/>
        </p:nvCxnSpPr>
        <p:spPr>
          <a:xfrm flipH="1" rot="10800000">
            <a:off x="6487775" y="4892175"/>
            <a:ext cx="2670900" cy="476100"/>
          </a:xfrm>
          <a:prstGeom prst="straightConnector1">
            <a:avLst/>
          </a:prstGeom>
          <a:noFill/>
          <a:ln cap="flat" cmpd="sng" w="19050">
            <a:solidFill>
              <a:srgbClr val="FF8B2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0" name="Google Shape;990;g1e6f83c462a_0_68"/>
          <p:cNvSpPr txBox="1"/>
          <p:nvPr/>
        </p:nvSpPr>
        <p:spPr>
          <a:xfrm>
            <a:off x="9132200" y="4663100"/>
            <a:ext cx="178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8B25"/>
                </a:solidFill>
                <a:latin typeface="Montserrat"/>
                <a:ea typeface="Montserrat"/>
                <a:cs typeface="Montserrat"/>
                <a:sym typeface="Montserrat"/>
              </a:rPr>
              <a:t>Mediana</a:t>
            </a:r>
            <a:endParaRPr b="1" i="0" sz="1400" u="none" cap="none" strike="noStrike">
              <a:solidFill>
                <a:srgbClr val="FF8B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1" name="Google Shape;991;g1e6f83c462a_0_68"/>
          <p:cNvCxnSpPr/>
          <p:nvPr/>
        </p:nvCxnSpPr>
        <p:spPr>
          <a:xfrm>
            <a:off x="6478950" y="5597475"/>
            <a:ext cx="263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2" name="Google Shape;992;g1e6f83c462a_0_68"/>
          <p:cNvSpPr txBox="1"/>
          <p:nvPr/>
        </p:nvSpPr>
        <p:spPr>
          <a:xfrm>
            <a:off x="9163050" y="5397375"/>
            <a:ext cx="178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1o Quartil</a:t>
            </a:r>
            <a:endParaRPr b="1" i="0" sz="14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3" name="Google Shape;993;g1e6f83c462a_0_68"/>
          <p:cNvCxnSpPr/>
          <p:nvPr/>
        </p:nvCxnSpPr>
        <p:spPr>
          <a:xfrm>
            <a:off x="6507575" y="3891375"/>
            <a:ext cx="2631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4" name="Google Shape;994;g1e6f83c462a_0_68"/>
          <p:cNvSpPr txBox="1"/>
          <p:nvPr/>
        </p:nvSpPr>
        <p:spPr>
          <a:xfrm>
            <a:off x="9158650" y="3691275"/>
            <a:ext cx="178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3o Quartil</a:t>
            </a:r>
            <a:endParaRPr b="1" i="0" sz="14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5" name="Google Shape;995;g1e6f83c462a_0_68"/>
          <p:cNvCxnSpPr/>
          <p:nvPr/>
        </p:nvCxnSpPr>
        <p:spPr>
          <a:xfrm>
            <a:off x="6329100" y="5973475"/>
            <a:ext cx="28032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6" name="Google Shape;996;g1e6f83c462a_0_68"/>
          <p:cNvSpPr txBox="1"/>
          <p:nvPr/>
        </p:nvSpPr>
        <p:spPr>
          <a:xfrm>
            <a:off x="9132200" y="5779050"/>
            <a:ext cx="178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Limite Inferior</a:t>
            </a:r>
            <a:endParaRPr b="1" i="0" sz="1400" u="none" cap="none" strike="noStrike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7" name="Google Shape;997;g1e6f83c462a_0_68"/>
          <p:cNvCxnSpPr/>
          <p:nvPr/>
        </p:nvCxnSpPr>
        <p:spPr>
          <a:xfrm>
            <a:off x="6285025" y="2067650"/>
            <a:ext cx="28779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8" name="Google Shape;998;g1e6f83c462a_0_68"/>
          <p:cNvSpPr txBox="1"/>
          <p:nvPr/>
        </p:nvSpPr>
        <p:spPr>
          <a:xfrm>
            <a:off x="9163050" y="1867550"/>
            <a:ext cx="178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Limite Superior</a:t>
            </a:r>
            <a:endParaRPr b="1" i="0" sz="1400" u="none" cap="none" strike="noStrike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4" name="Google Shape;1004;g1e6f83c462a_0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g1e6f83c462a_0_88"/>
          <p:cNvSpPr txBox="1"/>
          <p:nvPr/>
        </p:nvSpPr>
        <p:spPr>
          <a:xfrm>
            <a:off x="1463300" y="546525"/>
            <a:ext cx="6355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Boxplot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6" name="Google Shape;1006;g1e6f83c462a_0_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3300" y="2077600"/>
            <a:ext cx="5623900" cy="29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2" name="Google Shape;1012;g1e6f83c462a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g1e6f83c462a_0_107"/>
          <p:cNvSpPr txBox="1"/>
          <p:nvPr/>
        </p:nvSpPr>
        <p:spPr>
          <a:xfrm>
            <a:off x="1463300" y="546525"/>
            <a:ext cx="1012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Relação Boxplot / Histograma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4" name="Google Shape;1014;g1e6f83c462a_0_107" title="Gráfico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9175" y="1478125"/>
            <a:ext cx="5967801" cy="406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g1e6f83c462a_0_107"/>
          <p:cNvPicPr preferRelativeResize="0"/>
          <p:nvPr/>
        </p:nvPicPr>
        <p:blipFill rotWithShape="1">
          <a:blip r:embed="rId5">
            <a:alphaModFix/>
          </a:blip>
          <a:srcRect b="12138" l="43238" r="41032" t="13345"/>
          <a:stretch/>
        </p:blipFill>
        <p:spPr>
          <a:xfrm rot="5400000">
            <a:off x="5974300" y="3407900"/>
            <a:ext cx="665525" cy="46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oogle Shape;1021;g1e6f83c462a_0_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g1e6f83c462a_0_115"/>
          <p:cNvSpPr txBox="1"/>
          <p:nvPr/>
        </p:nvSpPr>
        <p:spPr>
          <a:xfrm>
            <a:off x="1463300" y="546525"/>
            <a:ext cx="1012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Boxplot / Histograma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3" name="Google Shape;1023;g1e6f83c462a_0_115"/>
          <p:cNvSpPr txBox="1"/>
          <p:nvPr/>
        </p:nvSpPr>
        <p:spPr>
          <a:xfrm>
            <a:off x="1463300" y="1804725"/>
            <a:ext cx="93261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 que usar ambos?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 o histograma, muitas vezes fica mais simples de identificar a distribuição dos dados, e qual função que pode gerá-los. Além de ser mais intuitivo para pessoas não técnicas.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Boxplot deixa claro a presença de outliers, isto é, pontos que se distanciam de maneira considerável da centralidade do conjunto de dados, ultrapassando os limites (inferior ou superior).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Google Shape;1029;g1e6f83c462a_0_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g1e6f83c462a_0_124"/>
          <p:cNvSpPr txBox="1"/>
          <p:nvPr/>
        </p:nvSpPr>
        <p:spPr>
          <a:xfrm>
            <a:off x="1463300" y="546525"/>
            <a:ext cx="1012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 de dispersão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1" name="Google Shape;1031;g1e6f83c462a_0_124"/>
          <p:cNvSpPr txBox="1"/>
          <p:nvPr/>
        </p:nvSpPr>
        <p:spPr>
          <a:xfrm>
            <a:off x="1463300" y="1423725"/>
            <a:ext cx="932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Primeira vez que utilizamos 2 variáveis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32" name="Google Shape;1032;g1e6f83c462a_0_124" title="Gráfico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5675" y="2130450"/>
            <a:ext cx="6540651" cy="4044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3" name="Google Shape;1033;g1e6f83c462a_0_124"/>
          <p:cNvGrpSpPr/>
          <p:nvPr/>
        </p:nvGrpSpPr>
        <p:grpSpPr>
          <a:xfrm rot="1776279">
            <a:off x="8376727" y="206046"/>
            <a:ext cx="3891986" cy="2869845"/>
            <a:chOff x="8330100" y="383037"/>
            <a:chExt cx="3490722" cy="2573964"/>
          </a:xfrm>
        </p:grpSpPr>
        <p:sp>
          <p:nvSpPr>
            <p:cNvPr id="1034" name="Google Shape;1034;g1e6f83c462a_0_124"/>
            <p:cNvSpPr/>
            <p:nvPr/>
          </p:nvSpPr>
          <p:spPr>
            <a:xfrm>
              <a:off x="8330100" y="383037"/>
              <a:ext cx="3490722" cy="2573964"/>
            </a:xfrm>
            <a:prstGeom prst="irregularSeal1">
              <a:avLst/>
            </a:prstGeom>
            <a:solidFill>
              <a:srgbClr val="FFE599"/>
            </a:solidFill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g1e6f83c462a_0_124"/>
            <p:cNvSpPr txBox="1"/>
            <p:nvPr/>
          </p:nvSpPr>
          <p:spPr>
            <a:xfrm>
              <a:off x="8691575" y="1057800"/>
              <a:ext cx="2767800" cy="115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CC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Existe</a:t>
              </a:r>
              <a:endParaRPr b="0" i="0" sz="2200" u="none" cap="none" strike="noStrike">
                <a:solidFill>
                  <a:srgbClr val="CC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CC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associação?</a:t>
              </a:r>
              <a:endParaRPr b="0" i="0" sz="2200" u="none" cap="none" strike="noStrike">
                <a:solidFill>
                  <a:srgbClr val="CC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1" name="Google Shape;1041;g1e6f83c462a_0_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75" y="21910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g1e6f83c462a_0_136"/>
          <p:cNvSpPr txBox="1"/>
          <p:nvPr/>
        </p:nvSpPr>
        <p:spPr>
          <a:xfrm>
            <a:off x="858175" y="123400"/>
            <a:ext cx="1012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 de dispersão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3" name="Google Shape;1043;g1e6f83c462a_0_136"/>
          <p:cNvSpPr txBox="1"/>
          <p:nvPr/>
        </p:nvSpPr>
        <p:spPr>
          <a:xfrm>
            <a:off x="858175" y="1000600"/>
            <a:ext cx="932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Primeira vez que utilizamos 2 variáveis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44" name="Google Shape;1044;g1e6f83c462a_0_1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5713" y="2149926"/>
            <a:ext cx="7260576" cy="11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g1e6f83c462a_0_136"/>
          <p:cNvSpPr txBox="1"/>
          <p:nvPr/>
        </p:nvSpPr>
        <p:spPr>
          <a:xfrm>
            <a:off x="796475" y="4225725"/>
            <a:ext cx="9326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Coeficiente de correlação de Pearson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Mensura a relação linear entre duas variáveis quantitativas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046" name="Google Shape;1046;g1e6f83c462a_0_136"/>
          <p:cNvCxnSpPr/>
          <p:nvPr/>
        </p:nvCxnSpPr>
        <p:spPr>
          <a:xfrm rot="10800000">
            <a:off x="858175" y="562000"/>
            <a:ext cx="6364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g1e6f83c462a_0_136"/>
          <p:cNvCxnSpPr/>
          <p:nvPr/>
        </p:nvCxnSpPr>
        <p:spPr>
          <a:xfrm rot="10800000">
            <a:off x="858175" y="696775"/>
            <a:ext cx="6364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g1e6f83c462a_0_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g1e6f83c462a_0_164"/>
          <p:cNvSpPr txBox="1"/>
          <p:nvPr/>
        </p:nvSpPr>
        <p:spPr>
          <a:xfrm>
            <a:off x="1463300" y="546525"/>
            <a:ext cx="1012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Gráficos proibidos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55" name="Google Shape;1055;g1e6f83c462a_0_164" title="Gráfico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0624" y="1790902"/>
            <a:ext cx="6070749" cy="37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g1e6f83c462a_0_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g1e6f83c462a_0_172"/>
          <p:cNvSpPr txBox="1"/>
          <p:nvPr/>
        </p:nvSpPr>
        <p:spPr>
          <a:xfrm>
            <a:off x="1463300" y="546525"/>
            <a:ext cx="1012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Gráficos proibidos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3" name="Google Shape;1063;g1e6f83c462a_0_172" title="Gráfico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800" y="2203725"/>
            <a:ext cx="5231949" cy="323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g1e6f83c462a_0_172" title="Gráfico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8750" y="2203725"/>
            <a:ext cx="5231949" cy="32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g1e6f83c462a_0_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g1e6f83c462a_0_180"/>
          <p:cNvSpPr txBox="1"/>
          <p:nvPr/>
        </p:nvSpPr>
        <p:spPr>
          <a:xfrm>
            <a:off x="1463300" y="546525"/>
            <a:ext cx="1012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Gráficos proibidos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2" name="Google Shape;1072;g1e6f83c462a_0_180" title="Gráfico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2825" y="1567300"/>
            <a:ext cx="6526350" cy="46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2cc5363ff24_0_15"/>
          <p:cNvSpPr txBox="1"/>
          <p:nvPr>
            <p:ph idx="4294967295" type="title"/>
          </p:nvPr>
        </p:nvSpPr>
        <p:spPr>
          <a:xfrm>
            <a:off x="1425300" y="463015"/>
            <a:ext cx="61914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Exercícios de ecommerce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9" name="Google Shape;1079;g2cc5363ff24_0_15"/>
          <p:cNvSpPr txBox="1"/>
          <p:nvPr/>
        </p:nvSpPr>
        <p:spPr>
          <a:xfrm>
            <a:off x="2647650" y="1877075"/>
            <a:ext cx="6896700" cy="21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>
                <a:latin typeface="Montserrat Medium"/>
                <a:ea typeface="Montserrat Medium"/>
                <a:cs typeface="Montserrat Medium"/>
                <a:sym typeface="Montserrat Medium"/>
              </a:rPr>
              <a:t>Elabore os gráficos mais interessantes para os dados a seguir</a:t>
            </a:r>
            <a:endParaRPr b="0" i="0" sz="4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80" name="Google Shape;1080;g2cc5363ff24_0_15"/>
          <p:cNvSpPr txBox="1"/>
          <p:nvPr/>
        </p:nvSpPr>
        <p:spPr>
          <a:xfrm>
            <a:off x="2292150" y="4398750"/>
            <a:ext cx="7607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Acesse a planilha com os dados aqui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Considere as abas de </a:t>
            </a: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transações</a:t>
            </a: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sumario_usuarios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 favor, faça uma cópia da planilha</a:t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81" name="Google Shape;1081;g2cc5363ff24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800" y="642225"/>
            <a:ext cx="6858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g1e6f83c462a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2925" y="2456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g1e6f83c462a_0_189"/>
          <p:cNvSpPr txBox="1"/>
          <p:nvPr/>
        </p:nvSpPr>
        <p:spPr>
          <a:xfrm>
            <a:off x="6540675" y="149925"/>
            <a:ext cx="5447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4" name="Google Shape;1094;g1e6f83c462a_0_1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g1e6f83c462a_0_195"/>
          <p:cNvSpPr txBox="1"/>
          <p:nvPr/>
        </p:nvSpPr>
        <p:spPr>
          <a:xfrm>
            <a:off x="1586700" y="520150"/>
            <a:ext cx="5447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Eventos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6" name="Google Shape;1096;g1e6f83c462a_0_195"/>
          <p:cNvSpPr txBox="1"/>
          <p:nvPr/>
        </p:nvSpPr>
        <p:spPr>
          <a:xfrm>
            <a:off x="1354750" y="1698725"/>
            <a:ext cx="99459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Um evento é o resultado observado de um experimento.</a:t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Experimento: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Lançar uma moeda e observar qual lado ficou para cima</a:t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Eventos possíveis: {Cara, Coroa}</a:t>
            </a:r>
            <a:endParaRPr b="0" i="0" sz="15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Experimento: </a:t>
            </a:r>
            <a:r>
              <a:rPr b="1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Entrevistar uma pessoa brasileira e anotar seu Estado de residência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Eventos possíveis: {AC, AL, … , SE, TO}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Experimento: </a:t>
            </a:r>
            <a:r>
              <a:rPr b="1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nota um estudante de Estatística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Eventos possíveis: 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Experimento: </a:t>
            </a:r>
            <a:r>
              <a:rPr b="1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Lançar um dado e avaliar se o número da face superior é múltiplo de 3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Eventos possíveis: {Verdadeiro, Falso}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97" name="Google Shape;1097;g1e6f83c462a_0_1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5275" y="4898675"/>
            <a:ext cx="3197249" cy="34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g27eb944c4c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g27eb944c4c9_0_0"/>
          <p:cNvSpPr txBox="1"/>
          <p:nvPr/>
        </p:nvSpPr>
        <p:spPr>
          <a:xfrm>
            <a:off x="1586700" y="520150"/>
            <a:ext cx="5447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Espaço amostral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5" name="Google Shape;1105;g27eb944c4c9_0_0"/>
          <p:cNvSpPr txBox="1"/>
          <p:nvPr/>
        </p:nvSpPr>
        <p:spPr>
          <a:xfrm>
            <a:off x="1354750" y="1698725"/>
            <a:ext cx="99459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É o espaço onde todas as possibilidades de evento podem ocorrer.</a:t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Podemos entender que cada evento pertence a um espaço amostral, dentre tantos outros eventos.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Experimento: </a:t>
            </a:r>
            <a:r>
              <a:rPr b="1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Lançar uma moeda e observar qual lado ficou para cima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Espaço Amostral: {Cara, Coroa}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Experimento: </a:t>
            </a:r>
            <a:r>
              <a:rPr b="1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Lançar dois dados e observar o resultado de ambos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Espaço Amostral: {(1,1) , (1,2) … (1,6),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		        (2,1) , (2,2) … (2,6),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		       …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			       (6,1) , (6,2) … (6,6)}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06" name="Google Shape;1106;g27eb944c4c9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2950" y="692050"/>
            <a:ext cx="504825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2" name="Google Shape;1112;g27eb944c4c9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g27eb944c4c9_0_8"/>
          <p:cNvSpPr txBox="1"/>
          <p:nvPr/>
        </p:nvSpPr>
        <p:spPr>
          <a:xfrm>
            <a:off x="1586700" y="520150"/>
            <a:ext cx="5447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4" name="Google Shape;1114;g27eb944c4c9_0_8"/>
          <p:cNvSpPr txBox="1"/>
          <p:nvPr/>
        </p:nvSpPr>
        <p:spPr>
          <a:xfrm>
            <a:off x="1354750" y="1698725"/>
            <a:ext cx="9945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Definimos a probabilidade de um evento acontecer como:</a:t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isso temos alguns axiomas de probabilidade:</a:t>
            </a:r>
            <a:endParaRPr b="0" i="0" sz="1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15" name="Google Shape;1115;g27eb944c4c9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2650" y="1781350"/>
            <a:ext cx="685800" cy="311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g27eb944c4c9_0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3295075"/>
            <a:ext cx="11887201" cy="2141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7eb944c4c9_0_18"/>
          <p:cNvSpPr/>
          <p:nvPr/>
        </p:nvSpPr>
        <p:spPr>
          <a:xfrm>
            <a:off x="668950" y="2362400"/>
            <a:ext cx="2997000" cy="2900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g27eb944c4c9_0_18"/>
          <p:cNvSpPr/>
          <p:nvPr/>
        </p:nvSpPr>
        <p:spPr>
          <a:xfrm>
            <a:off x="668950" y="2362400"/>
            <a:ext cx="2997000" cy="1445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g27eb944c4c9_0_18"/>
          <p:cNvSpPr/>
          <p:nvPr/>
        </p:nvSpPr>
        <p:spPr>
          <a:xfrm>
            <a:off x="668950" y="3808100"/>
            <a:ext cx="2997000" cy="1445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5" name="Google Shape;1125;g27eb944c4c9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238" y="2843788"/>
            <a:ext cx="2542425" cy="48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g27eb944c4c9_0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250" y="4313213"/>
            <a:ext cx="2542400" cy="43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g27eb944c4c9_0_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82775" y="3578512"/>
            <a:ext cx="457025" cy="4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g27eb944c4c9_0_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g27eb944c4c9_0_18"/>
          <p:cNvSpPr txBox="1"/>
          <p:nvPr/>
        </p:nvSpPr>
        <p:spPr>
          <a:xfrm>
            <a:off x="1586700" y="520150"/>
            <a:ext cx="5447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0" name="Google Shape;1130;g27eb944c4c9_0_18"/>
          <p:cNvSpPr txBox="1"/>
          <p:nvPr/>
        </p:nvSpPr>
        <p:spPr>
          <a:xfrm>
            <a:off x="668950" y="1642700"/>
            <a:ext cx="29970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Lançamento de uma moeda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1" name="Google Shape;1131;g27eb944c4c9_0_18"/>
          <p:cNvSpPr/>
          <p:nvPr/>
        </p:nvSpPr>
        <p:spPr>
          <a:xfrm>
            <a:off x="4072500" y="3498213"/>
            <a:ext cx="1287000" cy="6435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D9D9D9"/>
          </a:solidFill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2" name="Google Shape;1132;g27eb944c4c9_0_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0900" y="1642688"/>
            <a:ext cx="2633075" cy="120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g27eb944c4c9_0_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0900" y="3125145"/>
            <a:ext cx="4571199" cy="1389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1e7b04da0fe_4_17"/>
          <p:cNvSpPr/>
          <p:nvPr/>
        </p:nvSpPr>
        <p:spPr>
          <a:xfrm>
            <a:off x="668950" y="2362400"/>
            <a:ext cx="4525200" cy="2900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g1e7b04da0fe_4_17"/>
          <p:cNvSpPr/>
          <p:nvPr/>
        </p:nvSpPr>
        <p:spPr>
          <a:xfrm>
            <a:off x="668950" y="2362400"/>
            <a:ext cx="1508400" cy="14457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1" name="Google Shape;1141;g1e7b04da0fe_4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g1e7b04da0fe_4_17"/>
          <p:cNvSpPr txBox="1"/>
          <p:nvPr/>
        </p:nvSpPr>
        <p:spPr>
          <a:xfrm>
            <a:off x="1586700" y="520150"/>
            <a:ext cx="5447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3" name="Google Shape;1143;g1e7b04da0fe_4_17"/>
          <p:cNvSpPr txBox="1"/>
          <p:nvPr/>
        </p:nvSpPr>
        <p:spPr>
          <a:xfrm>
            <a:off x="668950" y="1718925"/>
            <a:ext cx="45252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Lançamento de um dado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44" name="Google Shape;1144;g1e7b04da0fe_4_17"/>
          <p:cNvSpPr/>
          <p:nvPr/>
        </p:nvSpPr>
        <p:spPr>
          <a:xfrm>
            <a:off x="2177350" y="2362400"/>
            <a:ext cx="1508400" cy="1445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g1e7b04da0fe_4_17"/>
          <p:cNvSpPr/>
          <p:nvPr/>
        </p:nvSpPr>
        <p:spPr>
          <a:xfrm>
            <a:off x="3685750" y="2362400"/>
            <a:ext cx="1508400" cy="1445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g1e7b04da0fe_4_17"/>
          <p:cNvSpPr/>
          <p:nvPr/>
        </p:nvSpPr>
        <p:spPr>
          <a:xfrm>
            <a:off x="668950" y="3808100"/>
            <a:ext cx="1508400" cy="1445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g1e7b04da0fe_4_17"/>
          <p:cNvSpPr/>
          <p:nvPr/>
        </p:nvSpPr>
        <p:spPr>
          <a:xfrm>
            <a:off x="2177350" y="3808100"/>
            <a:ext cx="1508400" cy="14457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g1e7b04da0fe_4_17"/>
          <p:cNvSpPr/>
          <p:nvPr/>
        </p:nvSpPr>
        <p:spPr>
          <a:xfrm>
            <a:off x="3685750" y="3808100"/>
            <a:ext cx="1508400" cy="1445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9" name="Google Shape;1149;g1e7b04da0fe_4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6763" y="2897314"/>
            <a:ext cx="1292766" cy="37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g1e7b04da0fe_4_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78213" y="2896968"/>
            <a:ext cx="1306677" cy="376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g1e7b04da0fe_4_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93575" y="2896974"/>
            <a:ext cx="1292765" cy="376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g1e7b04da0fe_4_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3953" y="4345463"/>
            <a:ext cx="1298386" cy="370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g1e7b04da0fe_4_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87978" y="4342658"/>
            <a:ext cx="1287144" cy="376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4" name="Google Shape;1154;g1e7b04da0fe_4_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90760" y="4342654"/>
            <a:ext cx="1292765" cy="376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g1e7b04da0fe_4_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99001" y="3622625"/>
            <a:ext cx="351074" cy="37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g1e7b04da0fe_4_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57525" y="2742050"/>
            <a:ext cx="2463450" cy="46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g1e7b04da0fe_4_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57525" y="3630900"/>
            <a:ext cx="4089651" cy="12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g1e7b04da0fe_4_17"/>
          <p:cNvSpPr/>
          <p:nvPr/>
        </p:nvSpPr>
        <p:spPr>
          <a:xfrm>
            <a:off x="5452500" y="3490688"/>
            <a:ext cx="1287000" cy="6435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D9D9D9"/>
          </a:solidFill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g1e7b04da0fe_4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g1e7b04da0fe_4_50"/>
          <p:cNvSpPr txBox="1"/>
          <p:nvPr/>
        </p:nvSpPr>
        <p:spPr>
          <a:xfrm>
            <a:off x="1586700" y="520150"/>
            <a:ext cx="5447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6" name="Google Shape;1166;g1e7b04da0fe_4_50"/>
          <p:cNvSpPr txBox="1"/>
          <p:nvPr/>
        </p:nvSpPr>
        <p:spPr>
          <a:xfrm>
            <a:off x="1586700" y="1577875"/>
            <a:ext cx="928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podemos calcular (inferir) a probabilidade?</a:t>
            </a:r>
            <a:endParaRPr b="0" i="0" sz="25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67" name="Google Shape;1167;g1e7b04da0fe_4_50"/>
          <p:cNvSpPr txBox="1"/>
          <p:nvPr/>
        </p:nvSpPr>
        <p:spPr>
          <a:xfrm>
            <a:off x="1586700" y="2529900"/>
            <a:ext cx="7924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Definir a probabilidade associada a cada evento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Realizar experimentos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Assumir uma função que gera os dados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Experiências passadas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3" name="Google Shape;1173;g1e7b04da0fe_4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g1e7b04da0fe_4_58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 Condicional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5" name="Google Shape;1175;g1e7b04da0fe_4_58"/>
          <p:cNvSpPr txBox="1"/>
          <p:nvPr/>
        </p:nvSpPr>
        <p:spPr>
          <a:xfrm>
            <a:off x="1533825" y="1544400"/>
            <a:ext cx="92820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Probabilidade condicional é a probabilidade baseada em alguma informação previamente conhecida. Isto é, predizer a respeito do evento A, quando já sabemos a ocorrência do evento B. Denotaremos por       , leia-se probabilidade do evento A dado o evento B.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Dizemos ainda que, caso                                 , então podemos dizer que A e B são eventos independentes.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76" name="Google Shape;1176;g1e7b04da0fe_4_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9650" y="2470925"/>
            <a:ext cx="960825" cy="29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g1e7b04da0fe_4_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6213" y="3708875"/>
            <a:ext cx="2026233" cy="29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g1e7b04da0fe_4_58"/>
          <p:cNvSpPr txBox="1"/>
          <p:nvPr/>
        </p:nvSpPr>
        <p:spPr>
          <a:xfrm>
            <a:off x="1533825" y="5209600"/>
            <a:ext cx="928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Pense em probabilidade condicional como adição de informação, ou dica a respeito do evento de interesse.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4" name="Google Shape;1184;g1e7b04da0fe_4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g1e7b04da0fe_4_70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 Condicional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6" name="Google Shape;1186;g1e7b04da0fe_4_70"/>
          <p:cNvSpPr txBox="1"/>
          <p:nvPr/>
        </p:nvSpPr>
        <p:spPr>
          <a:xfrm>
            <a:off x="668950" y="1346275"/>
            <a:ext cx="109050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 do resultado do lançamento de um dado ser 4, sabendo que o resultado foi par?</a:t>
            </a:r>
            <a:endParaRPr b="0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Probabilidade do resultado do lançamento de um dado ser 5, sabendo que o resultado foi maior que 3?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Lancei dois dados, qual a probabilidade de um dado ser 3, sabendo que o outro foi 2?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 a probabilidade de eu cancelar a Netflix, sabendo que não assisto há 5 semanas?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2" name="Google Shape;1192;g1e7b04da0fe_4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g1e7b04da0fe_4_81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 Conjunta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4" name="Google Shape;1194;g1e7b04da0fe_4_81"/>
          <p:cNvSpPr txBox="1"/>
          <p:nvPr/>
        </p:nvSpPr>
        <p:spPr>
          <a:xfrm>
            <a:off x="1354750" y="1565500"/>
            <a:ext cx="9470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probabilidade conjunta é a probabilidade de dois ou mais eventos ocorrerem simultaneamente. Em um caso particular de apenas dois eventos, seguimos com a notação: 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95" name="Google Shape;1195;g1e7b04da0fe_4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7008" y="3219950"/>
            <a:ext cx="7457980" cy="41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6" name="Google Shape;1196;g1e7b04da0fe_4_81"/>
          <p:cNvGrpSpPr/>
          <p:nvPr/>
        </p:nvGrpSpPr>
        <p:grpSpPr>
          <a:xfrm>
            <a:off x="1360800" y="4264225"/>
            <a:ext cx="9470400" cy="1332924"/>
            <a:chOff x="1360800" y="4264225"/>
            <a:chExt cx="9470400" cy="1332924"/>
          </a:xfrm>
        </p:grpSpPr>
        <p:sp>
          <p:nvSpPr>
            <p:cNvPr id="1197" name="Google Shape;1197;g1e7b04da0fe_4_81"/>
            <p:cNvSpPr txBox="1"/>
            <p:nvPr/>
          </p:nvSpPr>
          <p:spPr>
            <a:xfrm>
              <a:off x="1360800" y="4264225"/>
              <a:ext cx="9470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Repare que no caso de eventos independentes, temos:</a:t>
              </a:r>
              <a:endParaRPr b="0" i="0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1198" name="Google Shape;1198;g1e7b04da0fe_4_8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00876" y="5179049"/>
              <a:ext cx="6590260" cy="418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4" name="Google Shape;1204;g1e7b04da0fe_4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g1e7b04da0fe_4_94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 Conjunta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6" name="Google Shape;1206;g1e7b04da0fe_4_94"/>
          <p:cNvSpPr txBox="1"/>
          <p:nvPr/>
        </p:nvSpPr>
        <p:spPr>
          <a:xfrm>
            <a:off x="1360800" y="1928025"/>
            <a:ext cx="9470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Lançar dois dados e aparecer o número 3 em ambos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Lançar uma moeda 3 vezes e aparecer 3 caras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Chover e ter relâmpagos 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2" name="Google Shape;1212;g1e7b04da0fe_4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g1e7b04da0fe_4_104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Teorema de Bayes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14" name="Google Shape;1214;g1e7b04da0fe_4_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4475" y="1715275"/>
            <a:ext cx="5823050" cy="5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g1e7b04da0fe_4_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8262" y="3092075"/>
            <a:ext cx="4035475" cy="108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g1e7b04da0fe_4_10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50597" y="4933450"/>
            <a:ext cx="4690807" cy="108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2" name="Google Shape;1222;g1e7b04da0fe_4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g1e7b04da0fe_4_118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Teorema de Bayes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4" name="Google Shape;1224;g1e7b04da0fe_4_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6125" y="3085200"/>
            <a:ext cx="6799751" cy="15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0" name="Google Shape;1230;g1e7b2ed87f4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g1e7b2ed87f4_1_0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Teorema de Bayes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2" name="Google Shape;1232;g1e7b2ed87f4_1_0"/>
          <p:cNvSpPr txBox="1"/>
          <p:nvPr/>
        </p:nvSpPr>
        <p:spPr>
          <a:xfrm>
            <a:off x="668950" y="1570875"/>
            <a:ext cx="1090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Probabilidade do resultado do lançamento de um dado ser 4, sabendo que o resultado foi par?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8" name="Google Shape;1238;g1e7b2ed87f4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g1e7b2ed87f4_2_0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Teorema de Bayes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0" name="Google Shape;1240;g1e7b2ed87f4_2_0"/>
          <p:cNvSpPr txBox="1"/>
          <p:nvPr/>
        </p:nvSpPr>
        <p:spPr>
          <a:xfrm>
            <a:off x="668950" y="1570875"/>
            <a:ext cx="1090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Lancei dois dados, qual a probabilidade de um dado ser 3, sabendo que o outro foi 2?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6" name="Google Shape;1246;g1e7b2ed87f4_2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g1e7b2ed87f4_2_7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Teorema de Bayes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8" name="Google Shape;1248;g1e7b2ed87f4_2_7"/>
          <p:cNvSpPr txBox="1"/>
          <p:nvPr/>
        </p:nvSpPr>
        <p:spPr>
          <a:xfrm>
            <a:off x="668950" y="1570875"/>
            <a:ext cx="1090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Atualizando probabilidades (Monty Hall)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4" name="Google Shape;1254;g1e7b2ed87f4_2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g1e7b2ed87f4_2_14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Distribuições de 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6" name="Google Shape;1256;g1e7b2ed87f4_2_14"/>
          <p:cNvSpPr txBox="1"/>
          <p:nvPr/>
        </p:nvSpPr>
        <p:spPr>
          <a:xfrm>
            <a:off x="1127850" y="1544150"/>
            <a:ext cx="998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 função que descreve o comportamento de uma moeda?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57" name="Google Shape;1257;g1e7b2ed87f4_2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850" y="4794650"/>
            <a:ext cx="3197075" cy="4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g1e7b2ed87f4_2_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850" y="2106445"/>
            <a:ext cx="3197075" cy="1303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g1e7b2ed87f4_2_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875" y="4119475"/>
            <a:ext cx="3197031" cy="4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g1e7b2ed87f4_2_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5838" y="4403150"/>
            <a:ext cx="4919312" cy="4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g1e7b2ed87f4_2_14"/>
          <p:cNvSpPr/>
          <p:nvPr/>
        </p:nvSpPr>
        <p:spPr>
          <a:xfrm>
            <a:off x="4874225" y="4426650"/>
            <a:ext cx="831000" cy="4155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7" name="Google Shape;1267;g1e7b2ed87f4_2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g1e7b2ed87f4_2_32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Distribuições de 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9" name="Google Shape;1269;g1e7b2ed87f4_2_32"/>
          <p:cNvSpPr txBox="1"/>
          <p:nvPr/>
        </p:nvSpPr>
        <p:spPr>
          <a:xfrm>
            <a:off x="1127850" y="1544150"/>
            <a:ext cx="998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 função que descreve o comportamento de uma moeda?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0" name="Google Shape;1270;g1e7b2ed87f4_2_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42450" y="1544145"/>
            <a:ext cx="3197075" cy="1303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g1e7b2ed87f4_2_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7238" y="3219225"/>
            <a:ext cx="9657174" cy="28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7" name="Google Shape;1277;g1e7b2ed87f4_2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g1e7b2ed87f4_2_46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Distribuição Bernoulli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9" name="Google Shape;1279;g1e7b2ed87f4_2_46"/>
          <p:cNvSpPr txBox="1"/>
          <p:nvPr/>
        </p:nvSpPr>
        <p:spPr>
          <a:xfrm>
            <a:off x="1127850" y="1544150"/>
            <a:ext cx="998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 função que descreve o comportamento de uma moeda?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80" name="Google Shape;1280;g1e7b2ed87f4_2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7350" y="3542125"/>
            <a:ext cx="88773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6" name="Google Shape;1286;g27f5496aa1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g27f5496aa14_0_0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Distribuição Bernoulli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8" name="Google Shape;1288;g27f5496aa14_0_0"/>
          <p:cNvSpPr txBox="1"/>
          <p:nvPr/>
        </p:nvSpPr>
        <p:spPr>
          <a:xfrm>
            <a:off x="1127850" y="1544150"/>
            <a:ext cx="998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 função que descreve o comportamento de uma moeda?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89" name="Google Shape;1289;g27f5496aa1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7350" y="3542125"/>
            <a:ext cx="88773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g27f5496aa14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g27f5496aa14_0_8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Distribuições de Probabilidade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7" name="Google Shape;1297;g27f5496aa14_0_8"/>
          <p:cNvSpPr txBox="1"/>
          <p:nvPr/>
        </p:nvSpPr>
        <p:spPr>
          <a:xfrm>
            <a:off x="1657350" y="1354550"/>
            <a:ext cx="998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 dados discretos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8" name="Google Shape;1298;g27f5496aa14_0_8"/>
          <p:cNvSpPr txBox="1"/>
          <p:nvPr/>
        </p:nvSpPr>
        <p:spPr>
          <a:xfrm>
            <a:off x="1657350" y="2371225"/>
            <a:ext cx="50775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Distribuição Bernoulli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Distribuição Binomial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Distribuição Geométrica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Distribuição Hipergeométrica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Distribuição de Poison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 Medium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Distribuição Multinominal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4" name="Google Shape;1304;g27f5496aa14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g27f5496aa14_0_17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Distribuições Normal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6" name="Google Shape;1306;g27f5496aa14_0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7700" y="1397350"/>
            <a:ext cx="5436600" cy="10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g27f5496aa14_0_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1450" y="2611275"/>
            <a:ext cx="5865457" cy="4399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1313;g27f7d314d46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g27f7d314d46_0_1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Distribuições Normal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15" name="Google Shape;1315;g27f7d314d46_0_1"/>
          <p:cNvPicPr preferRelativeResize="0"/>
          <p:nvPr/>
        </p:nvPicPr>
        <p:blipFill rotWithShape="1">
          <a:blip r:embed="rId4">
            <a:alphaModFix/>
          </a:blip>
          <a:srcRect b="2124" l="0" r="0" t="2125"/>
          <a:stretch/>
        </p:blipFill>
        <p:spPr>
          <a:xfrm>
            <a:off x="1994225" y="1022875"/>
            <a:ext cx="8125302" cy="583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g27f7d314d46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g27f7d314d46_0_18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Distribuições Normal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3" name="Google Shape;1323;g27f7d314d46_0_18"/>
          <p:cNvPicPr preferRelativeResize="0"/>
          <p:nvPr/>
        </p:nvPicPr>
        <p:blipFill rotWithShape="1">
          <a:blip r:embed="rId4">
            <a:alphaModFix/>
          </a:blip>
          <a:srcRect b="2124" l="0" r="0" t="2125"/>
          <a:stretch/>
        </p:blipFill>
        <p:spPr>
          <a:xfrm>
            <a:off x="1994225" y="1022875"/>
            <a:ext cx="8125302" cy="583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9" name="Google Shape;1329;g27f7d314d46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g27f7d314d46_0_25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 na prática?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1" name="Google Shape;1331;g27f7d314d46_0_25"/>
          <p:cNvPicPr preferRelativeResize="0"/>
          <p:nvPr/>
        </p:nvPicPr>
        <p:blipFill rotWithShape="1">
          <a:blip r:embed="rId4">
            <a:alphaModFix/>
          </a:blip>
          <a:srcRect b="1549" l="0" r="0" t="1550"/>
          <a:stretch/>
        </p:blipFill>
        <p:spPr>
          <a:xfrm>
            <a:off x="2249563" y="1267325"/>
            <a:ext cx="7692877" cy="5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7" name="Google Shape;1337;g27f7d314d46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g27f7d314d46_0_33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 na prática?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9" name="Google Shape;1339;g27f7d314d46_0_33"/>
          <p:cNvPicPr preferRelativeResize="0"/>
          <p:nvPr/>
        </p:nvPicPr>
        <p:blipFill rotWithShape="1">
          <a:blip r:embed="rId4">
            <a:alphaModFix/>
          </a:blip>
          <a:srcRect b="0" l="0" r="0" t="3100"/>
          <a:stretch/>
        </p:blipFill>
        <p:spPr>
          <a:xfrm>
            <a:off x="2249563" y="1267325"/>
            <a:ext cx="7692877" cy="5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5" name="Google Shape;1345;g27f7d314d46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6" name="Google Shape;1346;g27f7d314d46_0_44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 na prática?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7" name="Google Shape;1347;g27f7d314d46_0_44"/>
          <p:cNvPicPr preferRelativeResize="0"/>
          <p:nvPr/>
        </p:nvPicPr>
        <p:blipFill rotWithShape="1">
          <a:blip r:embed="rId4">
            <a:alphaModFix/>
          </a:blip>
          <a:srcRect b="0" l="0" r="0" t="3100"/>
          <a:stretch/>
        </p:blipFill>
        <p:spPr>
          <a:xfrm>
            <a:off x="2249563" y="1267325"/>
            <a:ext cx="7692877" cy="5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3" name="Google Shape;1353;g27f7d314d46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g27f7d314d46_0_51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 na prática?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5" name="Google Shape;1355;g27f7d314d46_0_51"/>
          <p:cNvPicPr preferRelativeResize="0"/>
          <p:nvPr/>
        </p:nvPicPr>
        <p:blipFill rotWithShape="1">
          <a:blip r:embed="rId4">
            <a:alphaModFix/>
          </a:blip>
          <a:srcRect b="1549" l="0" r="0" t="1550"/>
          <a:stretch/>
        </p:blipFill>
        <p:spPr>
          <a:xfrm>
            <a:off x="2249563" y="1267325"/>
            <a:ext cx="7692877" cy="5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" name="Google Shape;1361;g27f7d314d46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g27f7d314d46_0_58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 na prática?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3" name="Google Shape;1363;g27f7d314d46_0_58"/>
          <p:cNvPicPr preferRelativeResize="0"/>
          <p:nvPr/>
        </p:nvPicPr>
        <p:blipFill rotWithShape="1">
          <a:blip r:embed="rId4">
            <a:alphaModFix/>
          </a:blip>
          <a:srcRect b="1549" l="0" r="0" t="1550"/>
          <a:stretch/>
        </p:blipFill>
        <p:spPr>
          <a:xfrm>
            <a:off x="2249563" y="1267325"/>
            <a:ext cx="7692877" cy="5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9" name="Google Shape;1369;g27f7d314d46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g27f7d314d46_0_65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 na prática?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71" name="Google Shape;1371;g27f7d314d46_0_65"/>
          <p:cNvPicPr preferRelativeResize="0"/>
          <p:nvPr/>
        </p:nvPicPr>
        <p:blipFill rotWithShape="1">
          <a:blip r:embed="rId4">
            <a:alphaModFix/>
          </a:blip>
          <a:srcRect b="1549" l="0" r="0" t="1550"/>
          <a:stretch/>
        </p:blipFill>
        <p:spPr>
          <a:xfrm>
            <a:off x="2249563" y="1267325"/>
            <a:ext cx="7692877" cy="5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g27f7d314d46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g27f7d314d46_0_72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funciona na prática?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9" name="Google Shape;1379;g27f7d314d46_0_72"/>
          <p:cNvSpPr txBox="1"/>
          <p:nvPr/>
        </p:nvSpPr>
        <p:spPr>
          <a:xfrm>
            <a:off x="668950" y="1763000"/>
            <a:ext cx="1016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que define o melhor ajuste da distribuição Normal?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80" name="Google Shape;1380;g27f7d314d46_0_72"/>
          <p:cNvSpPr txBox="1"/>
          <p:nvPr/>
        </p:nvSpPr>
        <p:spPr>
          <a:xfrm>
            <a:off x="668950" y="2994100"/>
            <a:ext cx="1016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estimativa de Mu e Sigma impactam diretamente o ajuste da curva.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81" name="Google Shape;1381;g27f7d314d46_0_72"/>
          <p:cNvSpPr txBox="1"/>
          <p:nvPr/>
        </p:nvSpPr>
        <p:spPr>
          <a:xfrm>
            <a:off x="668950" y="4225200"/>
            <a:ext cx="1016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Como saber o quão distante esses valores estão do verdadeiro valor?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382" name="Google Shape;1382;g27f7d314d46_0_72"/>
          <p:cNvGrpSpPr/>
          <p:nvPr/>
        </p:nvGrpSpPr>
        <p:grpSpPr>
          <a:xfrm>
            <a:off x="668950" y="5456300"/>
            <a:ext cx="10905000" cy="954300"/>
            <a:chOff x="668950" y="5456300"/>
            <a:chExt cx="10905000" cy="954300"/>
          </a:xfrm>
        </p:grpSpPr>
        <p:sp>
          <p:nvSpPr>
            <p:cNvPr id="1383" name="Google Shape;1383;g27f7d314d46_0_72"/>
            <p:cNvSpPr txBox="1"/>
            <p:nvPr/>
          </p:nvSpPr>
          <p:spPr>
            <a:xfrm>
              <a:off x="668950" y="5456300"/>
              <a:ext cx="109050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Tanto       , quanto       , são estimadores pontuais. Temos como criar um estimador</a:t>
              </a:r>
              <a:endParaRPr b="0" i="0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intervalar?</a:t>
              </a:r>
              <a:endParaRPr b="0" i="0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1384" name="Google Shape;1384;g27f7d314d46_0_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86700" y="5582588"/>
              <a:ext cx="205025" cy="240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5" name="Google Shape;1385;g27f7d314d46_0_7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525" y="5557850"/>
              <a:ext cx="260124" cy="289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g1e7bd84b71a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g1e7bd84b71a_0_4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3" name="Google Shape;1393;g1e7bd84b71a_0_4"/>
          <p:cNvSpPr txBox="1"/>
          <p:nvPr/>
        </p:nvSpPr>
        <p:spPr>
          <a:xfrm>
            <a:off x="668950" y="1775525"/>
            <a:ext cx="10905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Nos traz informações sobre uma região de confiança onde acreditamos que o verdadeiro valor se encontra, com base em uma probabilidade associada.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Então, para cada amostra que retiramos a partir da população, temos uma chance (probabilidade) de cobrir o verdadeiro valor, com base em sua variabilidade. Ganhamos mais poder decisão a partir das regiões de confiança do que acreditar em um valor pontual.</a:t>
            </a:r>
            <a:endParaRPr b="0" i="0" sz="2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9" name="Google Shape;1399;g1e7bd84b71a_0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g1e7bd84b71a_0_93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1" name="Google Shape;1401;g1e7bd84b71a_0_93"/>
          <p:cNvSpPr/>
          <p:nvPr/>
        </p:nvSpPr>
        <p:spPr>
          <a:xfrm>
            <a:off x="668938" y="2614365"/>
            <a:ext cx="3133500" cy="3115800"/>
          </a:xfrm>
          <a:prstGeom prst="ellipse">
            <a:avLst/>
          </a:prstGeom>
          <a:noFill/>
          <a:ln cap="flat" cmpd="sng" w="28575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2" name="Google Shape;1402;g1e7bd84b71a_0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8979" y="282187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3" name="Google Shape;1403;g1e7bd84b71a_0_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0946" y="3554338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4" name="Google Shape;1404;g1e7bd84b71a_0_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6475" y="3416658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g1e7bd84b71a_0_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3386" y="4317229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g1e7bd84b71a_0_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7130" y="4978581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g1e7bd84b71a_0_9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8399" y="279144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g1e7bd84b71a_0_9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76443" y="3441302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g1e7bd84b71a_0_9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24479" y="4060720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g1e7bd84b71a_0_9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59156" y="4911172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1" name="Google Shape;1411;g1e7bd84b71a_0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5120" y="4760529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2" name="Google Shape;1412;g1e7bd84b71a_0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2815" y="398379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3" name="Google Shape;1413;g1e7bd84b71a_0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1314" y="4122688"/>
            <a:ext cx="501988" cy="501988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g1e7bd84b71a_0_93"/>
          <p:cNvSpPr txBox="1"/>
          <p:nvPr/>
        </p:nvSpPr>
        <p:spPr>
          <a:xfrm>
            <a:off x="1411290" y="5750127"/>
            <a:ext cx="1648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rPr>
              <a:t>População</a:t>
            </a:r>
            <a:endParaRPr b="1" i="0" sz="1800" u="none" cap="none" strike="noStrike">
              <a:solidFill>
                <a:srgbClr val="2F549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15" name="Google Shape;1415;g1e7bd84b71a_0_93"/>
          <p:cNvGrpSpPr/>
          <p:nvPr/>
        </p:nvGrpSpPr>
        <p:grpSpPr>
          <a:xfrm>
            <a:off x="6104093" y="1922164"/>
            <a:ext cx="788390" cy="783875"/>
            <a:chOff x="8571500" y="1350025"/>
            <a:chExt cx="1257000" cy="1249800"/>
          </a:xfrm>
        </p:grpSpPr>
        <p:sp>
          <p:nvSpPr>
            <p:cNvPr id="1416" name="Google Shape;1416;g1e7bd84b71a_0_93"/>
            <p:cNvSpPr/>
            <p:nvPr/>
          </p:nvSpPr>
          <p:spPr>
            <a:xfrm>
              <a:off x="8571500" y="1350025"/>
              <a:ext cx="1257000" cy="12498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17" name="Google Shape;1417;g1e7bd84b71a_0_9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99800" y="15052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8" name="Google Shape;1418;g1e7bd84b71a_0_93"/>
          <p:cNvGrpSpPr/>
          <p:nvPr/>
        </p:nvGrpSpPr>
        <p:grpSpPr>
          <a:xfrm>
            <a:off x="5782802" y="2808996"/>
            <a:ext cx="1392572" cy="1384481"/>
            <a:chOff x="8223705" y="2325300"/>
            <a:chExt cx="2220300" cy="2207400"/>
          </a:xfrm>
        </p:grpSpPr>
        <p:sp>
          <p:nvSpPr>
            <p:cNvPr id="1419" name="Google Shape;1419;g1e7bd84b71a_0_93"/>
            <p:cNvSpPr/>
            <p:nvPr/>
          </p:nvSpPr>
          <p:spPr>
            <a:xfrm>
              <a:off x="8223705" y="2325300"/>
              <a:ext cx="2220300" cy="22074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20" name="Google Shape;1420;g1e7bd84b71a_0_9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70075" y="28969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1" name="Google Shape;1421;g1e7bd84b71a_0_9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29513" y="257159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2" name="Google Shape;1422;g1e7bd84b71a_0_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29525" y="347586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3" name="Google Shape;1423;g1e7bd84b71a_0_93"/>
          <p:cNvGrpSpPr/>
          <p:nvPr/>
        </p:nvGrpSpPr>
        <p:grpSpPr>
          <a:xfrm>
            <a:off x="5616566" y="4296438"/>
            <a:ext cx="1725051" cy="1715078"/>
            <a:chOff x="8223899" y="4355175"/>
            <a:chExt cx="2750400" cy="2734500"/>
          </a:xfrm>
        </p:grpSpPr>
        <p:pic>
          <p:nvPicPr>
            <p:cNvPr id="1424" name="Google Shape;1424;g1e7bd84b71a_0_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26725" y="5754938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5" name="Google Shape;1425;g1e7bd84b71a_0_9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98900" y="6092125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6" name="Google Shape;1426;g1e7bd84b71a_0_9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60550" y="575495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7" name="Google Shape;1427;g1e7bd84b71a_0_9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908838" y="495454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8" name="Google Shape;1428;g1e7bd84b71a_0_9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198888" y="5243306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9" name="Google Shape;1429;g1e7bd84b71a_0_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29525" y="4442900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0" name="Google Shape;1430;g1e7bd84b71a_0_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458525" y="5062013"/>
              <a:ext cx="800400" cy="80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1" name="Google Shape;1431;g1e7bd84b71a_0_93"/>
            <p:cNvSpPr/>
            <p:nvPr/>
          </p:nvSpPr>
          <p:spPr>
            <a:xfrm>
              <a:off x="8223899" y="4355175"/>
              <a:ext cx="2750400" cy="2734500"/>
            </a:xfrm>
            <a:prstGeom prst="ellipse">
              <a:avLst/>
            </a:prstGeom>
            <a:noFill/>
            <a:ln cap="flat" cmpd="sng" w="28575">
              <a:solidFill>
                <a:srgbClr val="2F54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2" name="Google Shape;1432;g1e7bd84b71a_0_93"/>
          <p:cNvSpPr/>
          <p:nvPr/>
        </p:nvSpPr>
        <p:spPr>
          <a:xfrm>
            <a:off x="3944487" y="3778097"/>
            <a:ext cx="964800" cy="50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3" name="Google Shape;1433;g1e7bd84b71a_0_93"/>
          <p:cNvSpPr/>
          <p:nvPr/>
        </p:nvSpPr>
        <p:spPr>
          <a:xfrm>
            <a:off x="5051413" y="2018882"/>
            <a:ext cx="669900" cy="402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g1e7bd84b71a_0_93"/>
          <p:cNvSpPr txBox="1"/>
          <p:nvPr/>
        </p:nvSpPr>
        <p:spPr>
          <a:xfrm>
            <a:off x="2926888" y="34166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rPr>
              <a:t>Amostras</a:t>
            </a:r>
            <a:endParaRPr b="0" i="0" sz="1400" u="none" cap="none" strike="noStrike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5" name="Google Shape;1435;g1e7bd84b71a_0_9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9575" y="2033225"/>
            <a:ext cx="3802450" cy="372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6" name="Google Shape;1436;g1e7bd84b71a_0_9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95643" y="3261725"/>
            <a:ext cx="3357795" cy="33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7" name="Google Shape;1437;g1e7bd84b71a_0_9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95648" y="4986725"/>
            <a:ext cx="3357795" cy="33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8" name="Google Shape;1438;g1e7bd84b71a_0_9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95660" y="2146850"/>
            <a:ext cx="2362583" cy="3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4" name="Google Shape;1444;g1e7bd84b71a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g1e7bd84b71a_0_139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6" name="Google Shape;1446;g1e7bd84b71a_0_1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75" y="2033225"/>
            <a:ext cx="3802450" cy="3727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7" name="Google Shape;1447;g1e7bd84b71a_0_139"/>
          <p:cNvCxnSpPr/>
          <p:nvPr/>
        </p:nvCxnSpPr>
        <p:spPr>
          <a:xfrm>
            <a:off x="8418250" y="2062700"/>
            <a:ext cx="0" cy="417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48" name="Google Shape;1448;g1e7bd84b71a_0_1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0374" y="1573250"/>
            <a:ext cx="1875750" cy="40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9" name="Google Shape;1449;g1e7bd84b71a_0_139"/>
          <p:cNvCxnSpPr/>
          <p:nvPr/>
        </p:nvCxnSpPr>
        <p:spPr>
          <a:xfrm>
            <a:off x="8180225" y="219862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0" name="Google Shape;1450;g1e7bd84b71a_0_139"/>
          <p:cNvCxnSpPr/>
          <p:nvPr/>
        </p:nvCxnSpPr>
        <p:spPr>
          <a:xfrm>
            <a:off x="8508925" y="258885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1" name="Google Shape;1451;g1e7bd84b71a_0_139"/>
          <p:cNvCxnSpPr/>
          <p:nvPr/>
        </p:nvCxnSpPr>
        <p:spPr>
          <a:xfrm>
            <a:off x="7708600" y="297907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2" name="Google Shape;1452;g1e7bd84b71a_0_139"/>
          <p:cNvCxnSpPr/>
          <p:nvPr/>
        </p:nvCxnSpPr>
        <p:spPr>
          <a:xfrm>
            <a:off x="8055650" y="336930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3" name="Google Shape;1453;g1e7bd84b71a_0_139"/>
          <p:cNvCxnSpPr/>
          <p:nvPr/>
        </p:nvCxnSpPr>
        <p:spPr>
          <a:xfrm>
            <a:off x="7141450" y="375952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4" name="Google Shape;1454;g1e7bd84b71a_0_139"/>
          <p:cNvCxnSpPr/>
          <p:nvPr/>
        </p:nvCxnSpPr>
        <p:spPr>
          <a:xfrm>
            <a:off x="7708600" y="414975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5" name="Google Shape;1455;g1e7bd84b71a_0_139"/>
          <p:cNvCxnSpPr/>
          <p:nvPr/>
        </p:nvCxnSpPr>
        <p:spPr>
          <a:xfrm>
            <a:off x="7287550" y="453997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6" name="Google Shape;1456;g1e7bd84b71a_0_139"/>
          <p:cNvCxnSpPr/>
          <p:nvPr/>
        </p:nvCxnSpPr>
        <p:spPr>
          <a:xfrm>
            <a:off x="8180225" y="493020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7" name="Google Shape;1457;g1e7bd84b71a_0_139"/>
          <p:cNvCxnSpPr/>
          <p:nvPr/>
        </p:nvCxnSpPr>
        <p:spPr>
          <a:xfrm>
            <a:off x="6896000" y="532042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8" name="Google Shape;1458;g1e7bd84b71a_0_139"/>
          <p:cNvCxnSpPr/>
          <p:nvPr/>
        </p:nvCxnSpPr>
        <p:spPr>
          <a:xfrm>
            <a:off x="8315300" y="571065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59" name="Google Shape;1459;g1e7bd84b71a_0_139"/>
          <p:cNvCxnSpPr/>
          <p:nvPr/>
        </p:nvCxnSpPr>
        <p:spPr>
          <a:xfrm>
            <a:off x="7650350" y="610087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1460" name="Google Shape;1460;g1e7bd84b71a_0_139"/>
          <p:cNvSpPr/>
          <p:nvPr/>
        </p:nvSpPr>
        <p:spPr>
          <a:xfrm>
            <a:off x="668938" y="2614365"/>
            <a:ext cx="3133500" cy="3115800"/>
          </a:xfrm>
          <a:prstGeom prst="ellipse">
            <a:avLst/>
          </a:prstGeom>
          <a:noFill/>
          <a:ln cap="flat" cmpd="sng" w="28575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1" name="Google Shape;1461;g1e7bd84b71a_0_1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58979" y="282187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2" name="Google Shape;1462;g1e7bd84b71a_0_1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0946" y="3554338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3" name="Google Shape;1463;g1e7bd84b71a_0_1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6475" y="3416658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4" name="Google Shape;1464;g1e7bd84b71a_0_1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3386" y="4317229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5" name="Google Shape;1465;g1e7bd84b71a_0_1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17130" y="4978581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6" name="Google Shape;1466;g1e7bd84b71a_0_1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8399" y="279144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g1e7bd84b71a_0_1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76443" y="3441302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g1e7bd84b71a_0_1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24479" y="4060720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9" name="Google Shape;1469;g1e7bd84b71a_0_1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59156" y="4911172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" name="Google Shape;1470;g1e7bd84b71a_0_1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75120" y="4760529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1" name="Google Shape;1471;g1e7bd84b71a_0_1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32815" y="398379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2" name="Google Shape;1472;g1e7bd84b71a_0_1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1314" y="4122688"/>
            <a:ext cx="501988" cy="501988"/>
          </a:xfrm>
          <a:prstGeom prst="rect">
            <a:avLst/>
          </a:prstGeom>
          <a:noFill/>
          <a:ln>
            <a:noFill/>
          </a:ln>
        </p:spPr>
      </p:pic>
      <p:sp>
        <p:nvSpPr>
          <p:cNvPr id="1473" name="Google Shape;1473;g1e7bd84b71a_0_139"/>
          <p:cNvSpPr txBox="1"/>
          <p:nvPr/>
        </p:nvSpPr>
        <p:spPr>
          <a:xfrm>
            <a:off x="1411290" y="5750127"/>
            <a:ext cx="1648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rPr>
              <a:t>População</a:t>
            </a:r>
            <a:endParaRPr b="1" i="0" sz="1800" u="none" cap="none" strike="noStrike">
              <a:solidFill>
                <a:srgbClr val="2F549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4" name="Google Shape;1474;g1e7bd84b71a_0_139"/>
          <p:cNvSpPr/>
          <p:nvPr/>
        </p:nvSpPr>
        <p:spPr>
          <a:xfrm>
            <a:off x="3944487" y="3778097"/>
            <a:ext cx="964800" cy="50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5" name="Google Shape;1475;g1e7bd84b71a_0_139"/>
          <p:cNvSpPr txBox="1"/>
          <p:nvPr/>
        </p:nvSpPr>
        <p:spPr>
          <a:xfrm>
            <a:off x="2926888" y="34166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rPr>
              <a:t>Amostras</a:t>
            </a:r>
            <a:endParaRPr b="0" i="0" sz="1400" u="none" cap="none" strike="noStrike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1" name="Google Shape;1481;g1e7bd84b71a_0_2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g1e7bd84b71a_0_216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83" name="Google Shape;1483;g1e7bd84b71a_0_2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75" y="2033225"/>
            <a:ext cx="3802450" cy="3727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4" name="Google Shape;1484;g1e7bd84b71a_0_216"/>
          <p:cNvCxnSpPr/>
          <p:nvPr/>
        </p:nvCxnSpPr>
        <p:spPr>
          <a:xfrm>
            <a:off x="8418250" y="2062700"/>
            <a:ext cx="0" cy="417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85" name="Google Shape;1485;g1e7bd84b71a_0_2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0374" y="1573250"/>
            <a:ext cx="1875750" cy="40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6" name="Google Shape;1486;g1e7bd84b71a_0_216"/>
          <p:cNvCxnSpPr/>
          <p:nvPr/>
        </p:nvCxnSpPr>
        <p:spPr>
          <a:xfrm>
            <a:off x="8180225" y="219862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87" name="Google Shape;1487;g1e7bd84b71a_0_216"/>
          <p:cNvCxnSpPr/>
          <p:nvPr/>
        </p:nvCxnSpPr>
        <p:spPr>
          <a:xfrm>
            <a:off x="8508925" y="258885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88" name="Google Shape;1488;g1e7bd84b71a_0_216"/>
          <p:cNvCxnSpPr/>
          <p:nvPr/>
        </p:nvCxnSpPr>
        <p:spPr>
          <a:xfrm>
            <a:off x="7708600" y="297907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89" name="Google Shape;1489;g1e7bd84b71a_0_216"/>
          <p:cNvCxnSpPr/>
          <p:nvPr/>
        </p:nvCxnSpPr>
        <p:spPr>
          <a:xfrm>
            <a:off x="8055650" y="336930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90" name="Google Shape;1490;g1e7bd84b71a_0_216"/>
          <p:cNvCxnSpPr/>
          <p:nvPr/>
        </p:nvCxnSpPr>
        <p:spPr>
          <a:xfrm>
            <a:off x="7141450" y="375952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91" name="Google Shape;1491;g1e7bd84b71a_0_216"/>
          <p:cNvCxnSpPr/>
          <p:nvPr/>
        </p:nvCxnSpPr>
        <p:spPr>
          <a:xfrm>
            <a:off x="7708600" y="414975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92" name="Google Shape;1492;g1e7bd84b71a_0_216"/>
          <p:cNvCxnSpPr/>
          <p:nvPr/>
        </p:nvCxnSpPr>
        <p:spPr>
          <a:xfrm>
            <a:off x="7287550" y="453997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93" name="Google Shape;1493;g1e7bd84b71a_0_216"/>
          <p:cNvCxnSpPr/>
          <p:nvPr/>
        </p:nvCxnSpPr>
        <p:spPr>
          <a:xfrm>
            <a:off x="8180225" y="493020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94" name="Google Shape;1494;g1e7bd84b71a_0_216"/>
          <p:cNvCxnSpPr/>
          <p:nvPr/>
        </p:nvCxnSpPr>
        <p:spPr>
          <a:xfrm>
            <a:off x="6896000" y="532042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95" name="Google Shape;1495;g1e7bd84b71a_0_216"/>
          <p:cNvCxnSpPr/>
          <p:nvPr/>
        </p:nvCxnSpPr>
        <p:spPr>
          <a:xfrm>
            <a:off x="8315300" y="5710650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496" name="Google Shape;1496;g1e7bd84b71a_0_216"/>
          <p:cNvCxnSpPr/>
          <p:nvPr/>
        </p:nvCxnSpPr>
        <p:spPr>
          <a:xfrm>
            <a:off x="7650350" y="6100875"/>
            <a:ext cx="14193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1497" name="Google Shape;1497;g1e7bd84b71a_0_216"/>
          <p:cNvSpPr/>
          <p:nvPr/>
        </p:nvSpPr>
        <p:spPr>
          <a:xfrm>
            <a:off x="668938" y="2614365"/>
            <a:ext cx="3133500" cy="3115800"/>
          </a:xfrm>
          <a:prstGeom prst="ellipse">
            <a:avLst/>
          </a:prstGeom>
          <a:noFill/>
          <a:ln cap="flat" cmpd="sng" w="28575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8" name="Google Shape;1498;g1e7bd84b71a_0_2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58979" y="282187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9" name="Google Shape;1499;g1e7bd84b71a_0_2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0946" y="3554338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0" name="Google Shape;1500;g1e7bd84b71a_0_2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6475" y="3416658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g1e7bd84b71a_0_2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3386" y="4317229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2" name="Google Shape;1502;g1e7bd84b71a_0_2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17130" y="4978581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3" name="Google Shape;1503;g1e7bd84b71a_0_2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8399" y="279144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4" name="Google Shape;1504;g1e7bd84b71a_0_2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76443" y="3441302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5" name="Google Shape;1505;g1e7bd84b71a_0_2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24479" y="4060720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6" name="Google Shape;1506;g1e7bd84b71a_0_2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59156" y="4911172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7" name="Google Shape;1507;g1e7bd84b71a_0_2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75120" y="4760529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8" name="Google Shape;1508;g1e7bd84b71a_0_2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32815" y="3983793"/>
            <a:ext cx="501988" cy="50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9" name="Google Shape;1509;g1e7bd84b71a_0_2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1314" y="4122688"/>
            <a:ext cx="501988" cy="501988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g1e7bd84b71a_0_216"/>
          <p:cNvSpPr txBox="1"/>
          <p:nvPr/>
        </p:nvSpPr>
        <p:spPr>
          <a:xfrm>
            <a:off x="1411290" y="5750127"/>
            <a:ext cx="1648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rPr>
              <a:t>População</a:t>
            </a:r>
            <a:endParaRPr b="1" i="0" sz="1800" u="none" cap="none" strike="noStrike">
              <a:solidFill>
                <a:srgbClr val="2F549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1" name="Google Shape;1511;g1e7bd84b71a_0_216"/>
          <p:cNvSpPr/>
          <p:nvPr/>
        </p:nvSpPr>
        <p:spPr>
          <a:xfrm>
            <a:off x="3944487" y="3778097"/>
            <a:ext cx="964800" cy="50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2" name="Google Shape;1512;g1e7bd84b71a_0_216"/>
          <p:cNvSpPr txBox="1"/>
          <p:nvPr/>
        </p:nvSpPr>
        <p:spPr>
          <a:xfrm>
            <a:off x="2926888" y="34166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Montserrat"/>
                <a:ea typeface="Montserrat"/>
                <a:cs typeface="Montserrat"/>
                <a:sym typeface="Montserrat"/>
              </a:rPr>
              <a:t>Amostras</a:t>
            </a:r>
            <a:endParaRPr b="0" i="0" sz="1400" u="none" cap="none" strike="noStrike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Google Shape;1518;g1e7bd84b71a_0_2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g1e7bd84b71a_0_252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20" name="Google Shape;1520;g1e7bd84b71a_0_2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54201" y="2900100"/>
            <a:ext cx="6283600" cy="1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g1e7bd84b71a_0_252"/>
          <p:cNvSpPr txBox="1"/>
          <p:nvPr/>
        </p:nvSpPr>
        <p:spPr>
          <a:xfrm>
            <a:off x="1586700" y="1604325"/>
            <a:ext cx="507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variância populacional conhecida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522" name="Google Shape;1522;g1e7bd84b71a_0_252"/>
          <p:cNvGrpSpPr/>
          <p:nvPr/>
        </p:nvGrpSpPr>
        <p:grpSpPr>
          <a:xfrm>
            <a:off x="1586700" y="5619050"/>
            <a:ext cx="5077500" cy="569400"/>
            <a:chOff x="1586700" y="4950375"/>
            <a:chExt cx="5077500" cy="569400"/>
          </a:xfrm>
        </p:grpSpPr>
        <p:sp>
          <p:nvSpPr>
            <p:cNvPr id="1523" name="Google Shape;1523;g1e7bd84b71a_0_252"/>
            <p:cNvSpPr txBox="1"/>
            <p:nvPr/>
          </p:nvSpPr>
          <p:spPr>
            <a:xfrm>
              <a:off x="1586700" y="4950375"/>
              <a:ext cx="50775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O que caralhos é              ???</a:t>
              </a:r>
              <a:endParaRPr b="0" i="0" sz="25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1524" name="Google Shape;1524;g1e7bd84b71a_0_25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33425" y="5004225"/>
              <a:ext cx="825311" cy="461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0" name="Google Shape;1530;g1e7bd84b71a_0_2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g1e7bd84b71a_0_293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32" name="Google Shape;1532;g1e7bd84b71a_0_293"/>
          <p:cNvPicPr preferRelativeResize="0"/>
          <p:nvPr/>
        </p:nvPicPr>
        <p:blipFill rotWithShape="1">
          <a:blip r:embed="rId4">
            <a:alphaModFix/>
          </a:blip>
          <a:srcRect b="5251" l="5345" r="9124" t="6015"/>
          <a:stretch/>
        </p:blipFill>
        <p:spPr>
          <a:xfrm>
            <a:off x="2561463" y="1397350"/>
            <a:ext cx="7069071" cy="55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8" name="Google Shape;1538;g1e7bd84b71a_0_3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9" name="Google Shape;1539;g1e7bd84b71a_0_312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0" name="Google Shape;1540;g1e7bd84b71a_0_312"/>
          <p:cNvSpPr txBox="1"/>
          <p:nvPr/>
        </p:nvSpPr>
        <p:spPr>
          <a:xfrm>
            <a:off x="1586700" y="1604325"/>
            <a:ext cx="507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variância populacional desconhecida</a:t>
            </a:r>
            <a:endParaRPr b="0" i="0" sz="1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41" name="Google Shape;1541;g1e7bd84b71a_0_312"/>
          <p:cNvSpPr txBox="1"/>
          <p:nvPr/>
        </p:nvSpPr>
        <p:spPr>
          <a:xfrm>
            <a:off x="1586700" y="5619050"/>
            <a:ext cx="8479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que caralhos é                       ???</a:t>
            </a:r>
            <a:endParaRPr b="0" i="0" sz="25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42" name="Google Shape;1542;g1e7bd84b71a_0_3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4313" y="2482875"/>
            <a:ext cx="7103375" cy="11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g1e7bd84b71a_0_3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4750" y="5726750"/>
            <a:ext cx="1723613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9" name="Google Shape;1549;g1e7bd84b71a_0_3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0" name="Google Shape;1550;g1e7bd84b71a_0_325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51" name="Google Shape;1551;g1e7bd84b71a_0_325"/>
          <p:cNvPicPr preferRelativeResize="0"/>
          <p:nvPr/>
        </p:nvPicPr>
        <p:blipFill rotWithShape="1">
          <a:blip r:embed="rId4">
            <a:alphaModFix/>
          </a:blip>
          <a:srcRect b="5210" l="5696" r="8126" t="6168"/>
          <a:stretch/>
        </p:blipFill>
        <p:spPr>
          <a:xfrm>
            <a:off x="2555975" y="1397350"/>
            <a:ext cx="7080059" cy="546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g1e7bd84b71a_0_3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g1e7bd84b71a_0_332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9" name="Google Shape;1559;g1e7bd84b71a_0_332"/>
          <p:cNvSpPr txBox="1"/>
          <p:nvPr/>
        </p:nvSpPr>
        <p:spPr>
          <a:xfrm>
            <a:off x="668950" y="1639550"/>
            <a:ext cx="10905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Uma campanha de marketing gerou um ticket médio de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R$155,00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 um desvio padrão de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R$27,00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com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50 usuários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Se a gente rodasse a campanha para a base toda, qual seria a expectativa de receita por pedido, considerando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95%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confiança estatística?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5" name="Google Shape;1565;g1e7bd84b71a_0_3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6" name="Google Shape;1566;g1e7bd84b71a_0_340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Intervalo de confiança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7" name="Google Shape;1567;g1e7bd84b71a_0_340"/>
          <p:cNvSpPr txBox="1"/>
          <p:nvPr/>
        </p:nvSpPr>
        <p:spPr>
          <a:xfrm>
            <a:off x="668950" y="1639550"/>
            <a:ext cx="10905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Uma nova funcionalidade em nosso site foi testada com um grupo de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200 usuários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Observou-se que o tempo médio de sessão por usuário é de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 minutos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 o desvio padrão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minuto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Caso a funcionalidade for implementada para todos os usuários da base, o tempo médio de sessão estará entre quais valores? Considerando 99% de confiança estatística.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Google Shape;1573;g1e7bd84b71a_0_3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g1e7bd84b71a_0_354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Teste de Hipótese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5" name="Google Shape;1575;g1e7bd84b71a_0_354"/>
          <p:cNvSpPr txBox="1"/>
          <p:nvPr/>
        </p:nvSpPr>
        <p:spPr>
          <a:xfrm>
            <a:off x="668950" y="1639550"/>
            <a:ext cx="109050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intervalo de confiança no traz a informação intervalar dos nossos estimadores.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Caso quiséssemos entender se por exemplo houve melhoria significativa em alguma funcionalidade de nosso site, como podemos provar isso estatisticamente?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Hoje a média de tempo que um usuário leva para fazer o cadastro é de 3 minutos. Com um redesign do fluxo de cadastro, esperamos obter um número abaixo de 2.5 minutos. Como podemos provar que alcançamos este objetivo?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1" name="Google Shape;1581;g1e7bd84b71a_0_3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g1e7bd84b71a_0_361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Teste de Hipótese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3" name="Google Shape;1583;g1e7bd84b71a_0_361"/>
          <p:cNvSpPr txBox="1"/>
          <p:nvPr/>
        </p:nvSpPr>
        <p:spPr>
          <a:xfrm>
            <a:off x="668950" y="1639550"/>
            <a:ext cx="109050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Fazemos um experimento com um público de 120 usuários em cima do novo fluxo de cadastro. Obtivemos o resultados: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Média: 2.1 minutos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Desvio padrão: 0.32 minutos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Nível de confiança: 90%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Qual o resultado do experimento? Realmente melhoramos o tempo?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Atingimos o objetivo?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1e7bd84b71a_0_368"/>
          <p:cNvSpPr/>
          <p:nvPr/>
        </p:nvSpPr>
        <p:spPr>
          <a:xfrm>
            <a:off x="7137295" y="3271700"/>
            <a:ext cx="3596400" cy="3208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g1e7bd84b71a_0_368"/>
          <p:cNvSpPr txBox="1"/>
          <p:nvPr/>
        </p:nvSpPr>
        <p:spPr>
          <a:xfrm>
            <a:off x="7137295" y="3605924"/>
            <a:ext cx="359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variância populacional desconhecida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1" name="Google Shape;1591;g1e7bd84b71a_0_368"/>
          <p:cNvSpPr/>
          <p:nvPr/>
        </p:nvSpPr>
        <p:spPr>
          <a:xfrm>
            <a:off x="1392750" y="3271700"/>
            <a:ext cx="3596400" cy="3208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2" name="Google Shape;1592;g1e7bd84b71a_0_3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3" name="Google Shape;1593;g1e7bd84b71a_0_368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Teste de Hipótese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94" name="Google Shape;1594;g1e7bd84b71a_0_3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3450" y="4910174"/>
            <a:ext cx="3135002" cy="1319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g1e7bd84b71a_0_3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1779" y="4910189"/>
            <a:ext cx="2947433" cy="131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596" name="Google Shape;1596;g1e7bd84b71a_0_368"/>
          <p:cNvSpPr txBox="1"/>
          <p:nvPr/>
        </p:nvSpPr>
        <p:spPr>
          <a:xfrm>
            <a:off x="1392750" y="3605924"/>
            <a:ext cx="359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variância populacional conhecida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97" name="Google Shape;1597;g1e7bd84b71a_0_3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7963" y="1506225"/>
            <a:ext cx="2536075" cy="12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3" name="Google Shape;1603;g1e7bd84b71a_0_3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4" name="Google Shape;1604;g1e7bd84b71a_0_382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Teste de Hipótese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5" name="Google Shape;1605;g1e7bd84b71a_0_382"/>
          <p:cNvSpPr txBox="1"/>
          <p:nvPr/>
        </p:nvSpPr>
        <p:spPr>
          <a:xfrm>
            <a:off x="1586700" y="1754150"/>
            <a:ext cx="1043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cálculo dessas estatística pode ser interpretado da seguinte maneira: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Qual a probabilidade de observarmos      dado que a média verdadeira é         .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06" name="Google Shape;1606;g1e7bd84b71a_0_3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9650" y="2461075"/>
            <a:ext cx="242400" cy="283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7" name="Google Shape;1607;g1e7bd84b71a_0_3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81475" y="2461075"/>
            <a:ext cx="398367" cy="28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8" name="Google Shape;1608;g1e7bd84b71a_0_382"/>
          <p:cNvSpPr txBox="1"/>
          <p:nvPr/>
        </p:nvSpPr>
        <p:spPr>
          <a:xfrm>
            <a:off x="1586700" y="3951575"/>
            <a:ext cx="10436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 outras palavras, qual a probabilidade de termos coletado esses dados, supondo que a distribuição de probabilidade que gera eles, é uma 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09" name="Google Shape;1609;g1e7bd84b71a_0_3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3575" y="4508575"/>
            <a:ext cx="1410425" cy="3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5" name="Google Shape;1615;g1e7bd84b71a_0_4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g1e7bd84b71a_0_400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Teste de Hipótese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2" name="Google Shape;1622;g1e7bd84b71a_0_4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3" name="Google Shape;1623;g1e7bd84b71a_0_411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Comparando médias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4" name="Google Shape;1624;g1e7bd84b71a_0_411"/>
          <p:cNvSpPr txBox="1"/>
          <p:nvPr/>
        </p:nvSpPr>
        <p:spPr>
          <a:xfrm>
            <a:off x="2133200" y="2353575"/>
            <a:ext cx="507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5" name="Google Shape;1625;g1e7bd84b71a_0_411"/>
          <p:cNvSpPr txBox="1"/>
          <p:nvPr/>
        </p:nvSpPr>
        <p:spPr>
          <a:xfrm>
            <a:off x="1586700" y="1754150"/>
            <a:ext cx="96171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Estamos em um momento de reformular todo check-in de nosso site. Foram propostas duas versões do novo check-in.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Versão 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Dark-mode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Versão B</a:t>
            </a: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White-mode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Queremos saber qual das duas traz uma melhor experiência para o usuário. Para isso, consideraremos o tempo deste processo como critério de sucesso.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1" name="Google Shape;1631;g1e7bd84b71a_0_4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2" name="Google Shape;1632;g1e7bd84b71a_0_419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Comparando médias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3" name="Google Shape;1633;g1e7bd84b71a_0_419"/>
          <p:cNvSpPr txBox="1"/>
          <p:nvPr/>
        </p:nvSpPr>
        <p:spPr>
          <a:xfrm>
            <a:off x="2133200" y="2353575"/>
            <a:ext cx="507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g1e7bd84b71a_0_419"/>
          <p:cNvSpPr txBox="1"/>
          <p:nvPr/>
        </p:nvSpPr>
        <p:spPr>
          <a:xfrm>
            <a:off x="748500" y="1754150"/>
            <a:ext cx="96171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Versão A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Usuários: 145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Média de tempo: 2.5min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Desvio Padrão: 0.5min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Versão B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Usuários: 145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Média de tempo: 3.1min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Desvio Padrão: 0.5min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0" name="Google Shape;1640;g1e7bd84b71a_0_4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0" y="6158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1" name="Google Shape;1641;g1e7bd84b71a_0_435"/>
          <p:cNvSpPr txBox="1"/>
          <p:nvPr/>
        </p:nvSpPr>
        <p:spPr>
          <a:xfrm>
            <a:off x="1586700" y="520150"/>
            <a:ext cx="9987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Comparando médias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2" name="Google Shape;1642;g1e7bd84b71a_0_435"/>
          <p:cNvSpPr txBox="1"/>
          <p:nvPr/>
        </p:nvSpPr>
        <p:spPr>
          <a:xfrm>
            <a:off x="2133200" y="2353575"/>
            <a:ext cx="507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g1e7bd84b71a_0_435"/>
          <p:cNvSpPr txBox="1"/>
          <p:nvPr/>
        </p:nvSpPr>
        <p:spPr>
          <a:xfrm>
            <a:off x="1586700" y="1754150"/>
            <a:ext cx="10348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 uma campanha de CRM há aumento significativo de receita?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Como podemos fazer este experimento? Quais métricas devemos comparar?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1e7bd84b71a_0_443"/>
          <p:cNvSpPr txBox="1"/>
          <p:nvPr/>
        </p:nvSpPr>
        <p:spPr>
          <a:xfrm>
            <a:off x="608225" y="625850"/>
            <a:ext cx="557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Considerações finais</a:t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5" name="Google Shape;1655;g1e7bd84b71a_0_456"/>
          <p:cNvGrpSpPr/>
          <p:nvPr/>
        </p:nvGrpSpPr>
        <p:grpSpPr>
          <a:xfrm>
            <a:off x="986650" y="831125"/>
            <a:ext cx="6056575" cy="685800"/>
            <a:chOff x="986650" y="831125"/>
            <a:chExt cx="6056575" cy="685800"/>
          </a:xfrm>
        </p:grpSpPr>
        <p:pic>
          <p:nvPicPr>
            <p:cNvPr id="1656" name="Google Shape;1656;g1e7bd84b71a_0_4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6650" y="831125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7" name="Google Shape;1657;g1e7bd84b71a_0_456"/>
            <p:cNvSpPr txBox="1"/>
            <p:nvPr/>
          </p:nvSpPr>
          <p:spPr>
            <a:xfrm>
              <a:off x="1965725" y="943175"/>
              <a:ext cx="5077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Este é só o primeiro passo</a:t>
              </a:r>
              <a:endParaRPr b="0" i="0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658" name="Google Shape;1658;g1e7bd84b71a_0_456"/>
          <p:cNvGrpSpPr/>
          <p:nvPr/>
        </p:nvGrpSpPr>
        <p:grpSpPr>
          <a:xfrm>
            <a:off x="986650" y="1679785"/>
            <a:ext cx="6056575" cy="685800"/>
            <a:chOff x="986650" y="1679785"/>
            <a:chExt cx="6056575" cy="685800"/>
          </a:xfrm>
        </p:grpSpPr>
        <p:pic>
          <p:nvPicPr>
            <p:cNvPr id="1659" name="Google Shape;1659;g1e7bd84b71a_0_4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6650" y="1679785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0" name="Google Shape;1660;g1e7bd84b71a_0_456"/>
            <p:cNvSpPr txBox="1"/>
            <p:nvPr/>
          </p:nvSpPr>
          <p:spPr>
            <a:xfrm>
              <a:off x="1965725" y="1791825"/>
              <a:ext cx="5077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Não há como voltar</a:t>
              </a:r>
              <a:endParaRPr b="0" i="0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661" name="Google Shape;1661;g1e7bd84b71a_0_456"/>
          <p:cNvGrpSpPr/>
          <p:nvPr/>
        </p:nvGrpSpPr>
        <p:grpSpPr>
          <a:xfrm>
            <a:off x="986650" y="2528445"/>
            <a:ext cx="11080975" cy="685800"/>
            <a:chOff x="986650" y="2528445"/>
            <a:chExt cx="11080975" cy="685800"/>
          </a:xfrm>
        </p:grpSpPr>
        <p:pic>
          <p:nvPicPr>
            <p:cNvPr id="1662" name="Google Shape;1662;g1e7bd84b71a_0_4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6650" y="2528445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3" name="Google Shape;1663;g1e7bd84b71a_0_456"/>
            <p:cNvSpPr txBox="1"/>
            <p:nvPr/>
          </p:nvSpPr>
          <p:spPr>
            <a:xfrm>
              <a:off x="1965725" y="2640475"/>
              <a:ext cx="10101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Busque gráficos que representem de maneira suficiente e necessária</a:t>
              </a:r>
              <a:endParaRPr b="0" i="0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664" name="Google Shape;1664;g1e7bd84b71a_0_456"/>
          <p:cNvGrpSpPr/>
          <p:nvPr/>
        </p:nvGrpSpPr>
        <p:grpSpPr>
          <a:xfrm>
            <a:off x="986650" y="3377105"/>
            <a:ext cx="9282775" cy="685800"/>
            <a:chOff x="986650" y="3377105"/>
            <a:chExt cx="9282775" cy="685800"/>
          </a:xfrm>
        </p:grpSpPr>
        <p:pic>
          <p:nvPicPr>
            <p:cNvPr id="1665" name="Google Shape;1665;g1e7bd84b71a_0_45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6650" y="3377105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6" name="Google Shape;1666;g1e7bd84b71a_0_456"/>
            <p:cNvSpPr txBox="1"/>
            <p:nvPr/>
          </p:nvSpPr>
          <p:spPr>
            <a:xfrm>
              <a:off x="1965725" y="3489125"/>
              <a:ext cx="8303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Exercite probabilidade, vá atrás de problemas e exercícios</a:t>
              </a:r>
              <a:endParaRPr b="0" i="0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667" name="Google Shape;1667;g1e7bd84b71a_0_456"/>
          <p:cNvGrpSpPr/>
          <p:nvPr/>
        </p:nvGrpSpPr>
        <p:grpSpPr>
          <a:xfrm>
            <a:off x="986650" y="4225765"/>
            <a:ext cx="11080975" cy="685800"/>
            <a:chOff x="986650" y="4225765"/>
            <a:chExt cx="11080975" cy="685800"/>
          </a:xfrm>
        </p:grpSpPr>
        <p:pic>
          <p:nvPicPr>
            <p:cNvPr id="1668" name="Google Shape;1668;g1e7bd84b71a_0_45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86650" y="4225765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9" name="Google Shape;1669;g1e7bd84b71a_0_456"/>
            <p:cNvSpPr txBox="1"/>
            <p:nvPr/>
          </p:nvSpPr>
          <p:spPr>
            <a:xfrm>
              <a:off x="1965725" y="4337775"/>
              <a:ext cx="10101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Entenda os diferentes tipos de testes estatísticos e suas premissas</a:t>
              </a:r>
              <a:endParaRPr b="0" i="0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670" name="Google Shape;1670;g1e7bd84b71a_0_456"/>
          <p:cNvGrpSpPr/>
          <p:nvPr/>
        </p:nvGrpSpPr>
        <p:grpSpPr>
          <a:xfrm>
            <a:off x="986650" y="5074425"/>
            <a:ext cx="11080975" cy="685800"/>
            <a:chOff x="986650" y="5074425"/>
            <a:chExt cx="11080975" cy="685800"/>
          </a:xfrm>
        </p:grpSpPr>
        <p:pic>
          <p:nvPicPr>
            <p:cNvPr id="1671" name="Google Shape;1671;g1e7bd84b71a_0_45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86650" y="5074425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2" name="Google Shape;1672;g1e7bd84b71a_0_456"/>
            <p:cNvSpPr txBox="1"/>
            <p:nvPr/>
          </p:nvSpPr>
          <p:spPr>
            <a:xfrm>
              <a:off x="1965725" y="5186425"/>
              <a:ext cx="10101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O que é erro tipo II?</a:t>
              </a:r>
              <a:endParaRPr b="0" i="0" sz="1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53"/>
          <p:cNvSpPr txBox="1"/>
          <p:nvPr/>
        </p:nvSpPr>
        <p:spPr>
          <a:xfrm>
            <a:off x="17407" y="-209439"/>
            <a:ext cx="1460700" cy="132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0"/>
              <a:buFont typeface="Aria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Big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8" name="Google Shape;167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577" cy="58013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Google Shape;1679;p53"/>
          <p:cNvSpPr/>
          <p:nvPr/>
        </p:nvSpPr>
        <p:spPr>
          <a:xfrm>
            <a:off x="352425" y="1937886"/>
            <a:ext cx="348645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0" i="0" lang="en-US" sz="35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stories need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53"/>
          <p:cNvSpPr txBox="1"/>
          <p:nvPr/>
        </p:nvSpPr>
        <p:spPr>
          <a:xfrm>
            <a:off x="352425" y="590283"/>
            <a:ext cx="29338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0"/>
              <a:buFont typeface="Arial"/>
              <a:buNone/>
            </a:pPr>
            <a:r>
              <a:rPr b="0" i="0" lang="en-US" sz="725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“Big </a:t>
            </a:r>
            <a:endParaRPr b="0" i="0" sz="7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53"/>
          <p:cNvSpPr/>
          <p:nvPr/>
        </p:nvSpPr>
        <p:spPr>
          <a:xfrm>
            <a:off x="1423988" y="2492058"/>
            <a:ext cx="4032568" cy="1092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00"/>
              <a:buFont typeface="Arial"/>
              <a:buNone/>
            </a:pPr>
            <a:r>
              <a:rPr b="1" i="0" lang="en-US" sz="6050" u="none" cap="none" strike="noStrike">
                <a:solidFill>
                  <a:srgbClr val="3C78D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</a:t>
            </a:r>
            <a:endParaRPr b="1" i="0" sz="6050" u="none" cap="none" strike="noStrike">
              <a:solidFill>
                <a:srgbClr val="3C78D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2" name="Google Shape;1682;p53"/>
          <p:cNvSpPr/>
          <p:nvPr/>
        </p:nvSpPr>
        <p:spPr>
          <a:xfrm>
            <a:off x="352434" y="3392960"/>
            <a:ext cx="293385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0" i="0" lang="en-US" sz="35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stakes”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53"/>
          <p:cNvSpPr/>
          <p:nvPr/>
        </p:nvSpPr>
        <p:spPr>
          <a:xfrm>
            <a:off x="1424074" y="4286107"/>
            <a:ext cx="251445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Aaron Swartz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4" name="Google Shape;1684;p53"/>
          <p:cNvGrpSpPr/>
          <p:nvPr/>
        </p:nvGrpSpPr>
        <p:grpSpPr>
          <a:xfrm>
            <a:off x="456198" y="6132566"/>
            <a:ext cx="3278947" cy="503232"/>
            <a:chOff x="360945" y="5025600"/>
            <a:chExt cx="2711105" cy="416100"/>
          </a:xfrm>
        </p:grpSpPr>
        <p:pic>
          <p:nvPicPr>
            <p:cNvPr id="1685" name="Google Shape;1685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0945" y="5056650"/>
              <a:ext cx="354001" cy="353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6" name="Google Shape;1686;p53"/>
            <p:cNvSpPr txBox="1"/>
            <p:nvPr/>
          </p:nvSpPr>
          <p:spPr>
            <a:xfrm>
              <a:off x="714950" y="5025600"/>
              <a:ext cx="2357100" cy="4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575" lIns="110575" spcFirstLastPara="1" rIns="110575" wrap="square" tIns="1105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teo@teomewhy.org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7" name="Google Shape;1687;p53"/>
          <p:cNvGrpSpPr/>
          <p:nvPr/>
        </p:nvGrpSpPr>
        <p:grpSpPr>
          <a:xfrm>
            <a:off x="4727967" y="6163767"/>
            <a:ext cx="3977005" cy="428129"/>
            <a:chOff x="3436149" y="5025599"/>
            <a:chExt cx="3288301" cy="354001"/>
          </a:xfrm>
        </p:grpSpPr>
        <p:sp>
          <p:nvSpPr>
            <p:cNvPr id="1688" name="Google Shape;1688;p53"/>
            <p:cNvSpPr txBox="1"/>
            <p:nvPr/>
          </p:nvSpPr>
          <p:spPr>
            <a:xfrm>
              <a:off x="3790150" y="5025600"/>
              <a:ext cx="2934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91425" spcFirstLastPara="1" rIns="91425" wrap="square" tIns="456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4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C78D8"/>
                  </a:solidFill>
                  <a:uFill>
                    <a:noFill/>
                  </a:u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/teocalvo</a:t>
              </a:r>
              <a:endParaRPr b="0" i="0" sz="16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89" name="Google Shape;1689;p5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36149" y="5025599"/>
              <a:ext cx="354001" cy="3540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0" name="Google Shape;1690;p53"/>
          <p:cNvGrpSpPr/>
          <p:nvPr/>
        </p:nvGrpSpPr>
        <p:grpSpPr>
          <a:xfrm>
            <a:off x="8625915" y="6163507"/>
            <a:ext cx="3416935" cy="441360"/>
            <a:chOff x="7131625" y="5020134"/>
            <a:chExt cx="2825400" cy="364941"/>
          </a:xfrm>
        </p:grpSpPr>
        <p:sp>
          <p:nvSpPr>
            <p:cNvPr id="1691" name="Google Shape;1691;p53"/>
            <p:cNvSpPr txBox="1"/>
            <p:nvPr/>
          </p:nvSpPr>
          <p:spPr>
            <a:xfrm>
              <a:off x="7485625" y="5049900"/>
              <a:ext cx="24714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575" lIns="110575" spcFirstLastPara="1" rIns="110575" wrap="square" tIns="1105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3C78D8"/>
                  </a:solidFill>
                  <a:latin typeface="Arial"/>
                  <a:ea typeface="Arial"/>
                  <a:cs typeface="Arial"/>
                  <a:sym typeface="Arial"/>
                </a:rPr>
                <a:t>/teomewhy</a:t>
              </a:r>
              <a:endParaRPr b="1" i="0" sz="14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92" name="Google Shape;1692;p5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131625" y="5020134"/>
              <a:ext cx="354000" cy="3649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8" name="Google Shape;1698;g1e4460966a3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8100" y="4584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9" name="Google Shape;1699;g1e4460966a3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6300" y="4584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0" name="Google Shape;1700;g1e4460966a3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6400" y="408010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g1e4460966a3_0_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78100" y="12966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g1e4460966a3_0_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94600" y="408010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g1e4460966a3_0_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6550" y="390400"/>
            <a:ext cx="6858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2022-03-20T13:37:41Z</dcterms:created>
  <dc:creator>teo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1033-11.1.0.10920</vt:lpwstr>
  </property>
</Properties>
</file>